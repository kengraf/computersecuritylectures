
<file path=[Content_Types].xml><?xml version="1.0" encoding="utf-8"?>
<Types xmlns="http://schemas.openxmlformats.org/package/2006/content-types">
  <Default Extension="png" ContentType="image/png"/>
  <Default Extension="rels" ContentType="application/vnd.openxmlformats-package.relationships+xml"/>
  <Default Extension="tmp" ContentType="image/p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Lst>
  <p:notesMasterIdLst>
    <p:notesMasterId r:id="rId25"/>
  </p:notesMasterIdLst>
  <p:sldIdLst>
    <p:sldId id="267" r:id="rId5"/>
    <p:sldId id="285" r:id="rId6"/>
    <p:sldId id="288" r:id="rId7"/>
    <p:sldId id="298" r:id="rId8"/>
    <p:sldId id="302" r:id="rId9"/>
    <p:sldId id="303" r:id="rId10"/>
    <p:sldId id="291" r:id="rId11"/>
    <p:sldId id="299" r:id="rId12"/>
    <p:sldId id="300" r:id="rId13"/>
    <p:sldId id="292" r:id="rId14"/>
    <p:sldId id="304" r:id="rId15"/>
    <p:sldId id="293" r:id="rId16"/>
    <p:sldId id="301" r:id="rId17"/>
    <p:sldId id="297" r:id="rId18"/>
    <p:sldId id="318" r:id="rId19"/>
    <p:sldId id="319" r:id="rId20"/>
    <p:sldId id="320" r:id="rId21"/>
    <p:sldId id="321" r:id="rId22"/>
    <p:sldId id="322" r:id="rId23"/>
    <p:sldId id="286" r:id="rId24"/>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05464D-B90C-0208-326C-F5204210E512}" v="59" dt="2020-02-12T20:48:19.8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2" autoAdjust="0"/>
    <p:restoredTop sz="81269" autoAdjust="0"/>
  </p:normalViewPr>
  <p:slideViewPr>
    <p:cSldViewPr>
      <p:cViewPr varScale="1">
        <p:scale>
          <a:sx n="67" d="100"/>
          <a:sy n="67" d="100"/>
        </p:scale>
        <p:origin x="84" y="108"/>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p:cViewPr varScale="1">
        <p:scale>
          <a:sx n="85" d="100"/>
          <a:sy n="85" d="100"/>
        </p:scale>
        <p:origin x="1116"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neth Graf" userId="d1890dd4-deb6-4a9b-a156-5113ac77bda8" providerId="ADAL" clId="{A293111D-3F1F-4FAA-B413-CAC84337AC82}"/>
    <pc:docChg chg="custSel addSld delSld modSld">
      <pc:chgData name="Kenneth Graf" userId="d1890dd4-deb6-4a9b-a156-5113ac77bda8" providerId="ADAL" clId="{A293111D-3F1F-4FAA-B413-CAC84337AC82}" dt="2020-02-01T22:56:22.097" v="82" actId="47"/>
      <pc:docMkLst>
        <pc:docMk/>
      </pc:docMkLst>
      <pc:sldChg chg="add">
        <pc:chgData name="Kenneth Graf" userId="d1890dd4-deb6-4a9b-a156-5113ac77bda8" providerId="ADAL" clId="{A293111D-3F1F-4FAA-B413-CAC84337AC82}" dt="2020-01-08T20:42:49.003" v="0"/>
        <pc:sldMkLst>
          <pc:docMk/>
          <pc:sldMk cId="3868971682" sldId="285"/>
        </pc:sldMkLst>
      </pc:sldChg>
      <pc:sldChg chg="add">
        <pc:chgData name="Kenneth Graf" userId="d1890dd4-deb6-4a9b-a156-5113ac77bda8" providerId="ADAL" clId="{A293111D-3F1F-4FAA-B413-CAC84337AC82}" dt="2020-01-08T20:42:49.003" v="0"/>
        <pc:sldMkLst>
          <pc:docMk/>
          <pc:sldMk cId="2608629566" sldId="286"/>
        </pc:sldMkLst>
      </pc:sldChg>
      <pc:sldChg chg="modSp add">
        <pc:chgData name="Kenneth Graf" userId="d1890dd4-deb6-4a9b-a156-5113ac77bda8" providerId="ADAL" clId="{A293111D-3F1F-4FAA-B413-CAC84337AC82}" dt="2020-01-08T20:42:49.077" v="1" actId="27636"/>
        <pc:sldMkLst>
          <pc:docMk/>
          <pc:sldMk cId="884891868" sldId="288"/>
        </pc:sldMkLst>
        <pc:spChg chg="mod">
          <ac:chgData name="Kenneth Graf" userId="d1890dd4-deb6-4a9b-a156-5113ac77bda8" providerId="ADAL" clId="{A293111D-3F1F-4FAA-B413-CAC84337AC82}" dt="2020-01-08T20:42:49.077" v="1" actId="27636"/>
          <ac:spMkLst>
            <pc:docMk/>
            <pc:sldMk cId="884891868" sldId="288"/>
            <ac:spMk id="3" creationId="{00000000-0000-0000-0000-000000000000}"/>
          </ac:spMkLst>
        </pc:spChg>
      </pc:sldChg>
      <pc:sldChg chg="modSp add">
        <pc:chgData name="Kenneth Graf" userId="d1890dd4-deb6-4a9b-a156-5113ac77bda8" providerId="ADAL" clId="{A293111D-3F1F-4FAA-B413-CAC84337AC82}" dt="2020-01-08T20:42:49.081" v="2" actId="27636"/>
        <pc:sldMkLst>
          <pc:docMk/>
          <pc:sldMk cId="1684632007" sldId="291"/>
        </pc:sldMkLst>
        <pc:spChg chg="mod">
          <ac:chgData name="Kenneth Graf" userId="d1890dd4-deb6-4a9b-a156-5113ac77bda8" providerId="ADAL" clId="{A293111D-3F1F-4FAA-B413-CAC84337AC82}" dt="2020-01-08T20:42:49.081" v="2" actId="27636"/>
          <ac:spMkLst>
            <pc:docMk/>
            <pc:sldMk cId="1684632007" sldId="291"/>
            <ac:spMk id="3" creationId="{00000000-0000-0000-0000-000000000000}"/>
          </ac:spMkLst>
        </pc:spChg>
      </pc:sldChg>
      <pc:sldChg chg="add">
        <pc:chgData name="Kenneth Graf" userId="d1890dd4-deb6-4a9b-a156-5113ac77bda8" providerId="ADAL" clId="{A293111D-3F1F-4FAA-B413-CAC84337AC82}" dt="2020-01-08T20:42:49.003" v="0"/>
        <pc:sldMkLst>
          <pc:docMk/>
          <pc:sldMk cId="1138355875" sldId="292"/>
        </pc:sldMkLst>
      </pc:sldChg>
      <pc:sldChg chg="add">
        <pc:chgData name="Kenneth Graf" userId="d1890dd4-deb6-4a9b-a156-5113ac77bda8" providerId="ADAL" clId="{A293111D-3F1F-4FAA-B413-CAC84337AC82}" dt="2020-01-08T20:42:49.003" v="0"/>
        <pc:sldMkLst>
          <pc:docMk/>
          <pc:sldMk cId="1056519305" sldId="293"/>
        </pc:sldMkLst>
      </pc:sldChg>
      <pc:sldChg chg="add del">
        <pc:chgData name="Kenneth Graf" userId="d1890dd4-deb6-4a9b-a156-5113ac77bda8" providerId="ADAL" clId="{A293111D-3F1F-4FAA-B413-CAC84337AC82}" dt="2020-01-19T05:16:33.081" v="5" actId="47"/>
        <pc:sldMkLst>
          <pc:docMk/>
          <pc:sldMk cId="4202739561" sldId="294"/>
        </pc:sldMkLst>
      </pc:sldChg>
      <pc:sldChg chg="add del">
        <pc:chgData name="Kenneth Graf" userId="d1890dd4-deb6-4a9b-a156-5113ac77bda8" providerId="ADAL" clId="{A293111D-3F1F-4FAA-B413-CAC84337AC82}" dt="2020-01-21T17:16:25.471" v="6" actId="47"/>
        <pc:sldMkLst>
          <pc:docMk/>
          <pc:sldMk cId="2861319743" sldId="296"/>
        </pc:sldMkLst>
      </pc:sldChg>
      <pc:sldChg chg="add">
        <pc:chgData name="Kenneth Graf" userId="d1890dd4-deb6-4a9b-a156-5113ac77bda8" providerId="ADAL" clId="{A293111D-3F1F-4FAA-B413-CAC84337AC82}" dt="2020-01-08T20:42:49.003" v="0"/>
        <pc:sldMkLst>
          <pc:docMk/>
          <pc:sldMk cId="2038021612" sldId="297"/>
        </pc:sldMkLst>
      </pc:sldChg>
      <pc:sldChg chg="add">
        <pc:chgData name="Kenneth Graf" userId="d1890dd4-deb6-4a9b-a156-5113ac77bda8" providerId="ADAL" clId="{A293111D-3F1F-4FAA-B413-CAC84337AC82}" dt="2020-01-08T20:42:49.003" v="0"/>
        <pc:sldMkLst>
          <pc:docMk/>
          <pc:sldMk cId="3660493812" sldId="298"/>
        </pc:sldMkLst>
      </pc:sldChg>
      <pc:sldChg chg="add">
        <pc:chgData name="Kenneth Graf" userId="d1890dd4-deb6-4a9b-a156-5113ac77bda8" providerId="ADAL" clId="{A293111D-3F1F-4FAA-B413-CAC84337AC82}" dt="2020-01-08T20:42:49.003" v="0"/>
        <pc:sldMkLst>
          <pc:docMk/>
          <pc:sldMk cId="3524085947" sldId="299"/>
        </pc:sldMkLst>
      </pc:sldChg>
      <pc:sldChg chg="add">
        <pc:chgData name="Kenneth Graf" userId="d1890dd4-deb6-4a9b-a156-5113ac77bda8" providerId="ADAL" clId="{A293111D-3F1F-4FAA-B413-CAC84337AC82}" dt="2020-01-08T20:42:49.003" v="0"/>
        <pc:sldMkLst>
          <pc:docMk/>
          <pc:sldMk cId="1805289698" sldId="300"/>
        </pc:sldMkLst>
      </pc:sldChg>
      <pc:sldChg chg="add">
        <pc:chgData name="Kenneth Graf" userId="d1890dd4-deb6-4a9b-a156-5113ac77bda8" providerId="ADAL" clId="{A293111D-3F1F-4FAA-B413-CAC84337AC82}" dt="2020-01-08T20:42:49.003" v="0"/>
        <pc:sldMkLst>
          <pc:docMk/>
          <pc:sldMk cId="60911187" sldId="301"/>
        </pc:sldMkLst>
      </pc:sldChg>
      <pc:sldChg chg="add">
        <pc:chgData name="Kenneth Graf" userId="d1890dd4-deb6-4a9b-a156-5113ac77bda8" providerId="ADAL" clId="{A293111D-3F1F-4FAA-B413-CAC84337AC82}" dt="2020-01-08T20:42:49.003" v="0"/>
        <pc:sldMkLst>
          <pc:docMk/>
          <pc:sldMk cId="3158600348" sldId="302"/>
        </pc:sldMkLst>
      </pc:sldChg>
      <pc:sldChg chg="add">
        <pc:chgData name="Kenneth Graf" userId="d1890dd4-deb6-4a9b-a156-5113ac77bda8" providerId="ADAL" clId="{A293111D-3F1F-4FAA-B413-CAC84337AC82}" dt="2020-01-08T20:42:49.003" v="0"/>
        <pc:sldMkLst>
          <pc:docMk/>
          <pc:sldMk cId="251787925" sldId="303"/>
        </pc:sldMkLst>
      </pc:sldChg>
      <pc:sldChg chg="add">
        <pc:chgData name="Kenneth Graf" userId="d1890dd4-deb6-4a9b-a156-5113ac77bda8" providerId="ADAL" clId="{A293111D-3F1F-4FAA-B413-CAC84337AC82}" dt="2020-01-08T20:42:49.003" v="0"/>
        <pc:sldMkLst>
          <pc:docMk/>
          <pc:sldMk cId="2703924117" sldId="304"/>
        </pc:sldMkLst>
      </pc:sldChg>
      <pc:sldChg chg="add del">
        <pc:chgData name="Kenneth Graf" userId="d1890dd4-deb6-4a9b-a156-5113ac77bda8" providerId="ADAL" clId="{A293111D-3F1F-4FAA-B413-CAC84337AC82}" dt="2020-01-19T05:16:27.762" v="4" actId="2696"/>
        <pc:sldMkLst>
          <pc:docMk/>
          <pc:sldMk cId="539747686" sldId="317"/>
        </pc:sldMkLst>
      </pc:sldChg>
      <pc:sldChg chg="add">
        <pc:chgData name="Kenneth Graf" userId="d1890dd4-deb6-4a9b-a156-5113ac77bda8" providerId="ADAL" clId="{A293111D-3F1F-4FAA-B413-CAC84337AC82}" dt="2020-01-19T05:16:20.504" v="3"/>
        <pc:sldMkLst>
          <pc:docMk/>
          <pc:sldMk cId="1709791060" sldId="318"/>
        </pc:sldMkLst>
      </pc:sldChg>
      <pc:sldChg chg="add">
        <pc:chgData name="Kenneth Graf" userId="d1890dd4-deb6-4a9b-a156-5113ac77bda8" providerId="ADAL" clId="{A293111D-3F1F-4FAA-B413-CAC84337AC82}" dt="2020-01-19T05:16:20.504" v="3"/>
        <pc:sldMkLst>
          <pc:docMk/>
          <pc:sldMk cId="1915101947" sldId="319"/>
        </pc:sldMkLst>
      </pc:sldChg>
      <pc:sldChg chg="add">
        <pc:chgData name="Kenneth Graf" userId="d1890dd4-deb6-4a9b-a156-5113ac77bda8" providerId="ADAL" clId="{A293111D-3F1F-4FAA-B413-CAC84337AC82}" dt="2020-01-19T05:16:20.504" v="3"/>
        <pc:sldMkLst>
          <pc:docMk/>
          <pc:sldMk cId="3166404543" sldId="320"/>
        </pc:sldMkLst>
      </pc:sldChg>
      <pc:sldChg chg="add">
        <pc:chgData name="Kenneth Graf" userId="d1890dd4-deb6-4a9b-a156-5113ac77bda8" providerId="ADAL" clId="{A293111D-3F1F-4FAA-B413-CAC84337AC82}" dt="2020-01-19T05:16:20.504" v="3"/>
        <pc:sldMkLst>
          <pc:docMk/>
          <pc:sldMk cId="2991476625" sldId="321"/>
        </pc:sldMkLst>
      </pc:sldChg>
      <pc:sldChg chg="addSp delSp modSp add">
        <pc:chgData name="Kenneth Graf" userId="d1890dd4-deb6-4a9b-a156-5113ac77bda8" providerId="ADAL" clId="{A293111D-3F1F-4FAA-B413-CAC84337AC82}" dt="2020-01-21T17:37:21.141" v="81"/>
        <pc:sldMkLst>
          <pc:docMk/>
          <pc:sldMk cId="419863872" sldId="322"/>
        </pc:sldMkLst>
        <pc:spChg chg="mod">
          <ac:chgData name="Kenneth Graf" userId="d1890dd4-deb6-4a9b-a156-5113ac77bda8" providerId="ADAL" clId="{A293111D-3F1F-4FAA-B413-CAC84337AC82}" dt="2020-01-21T17:36:57.692" v="49" actId="20577"/>
          <ac:spMkLst>
            <pc:docMk/>
            <pc:sldMk cId="419863872" sldId="322"/>
            <ac:spMk id="2" creationId="{692601B6-0B11-4148-ADCE-95B9DA5B7869}"/>
          </ac:spMkLst>
        </pc:spChg>
        <pc:spChg chg="del">
          <ac:chgData name="Kenneth Graf" userId="d1890dd4-deb6-4a9b-a156-5113ac77bda8" providerId="ADAL" clId="{A293111D-3F1F-4FAA-B413-CAC84337AC82}" dt="2020-01-21T17:16:56.853" v="20"/>
          <ac:spMkLst>
            <pc:docMk/>
            <pc:sldMk cId="419863872" sldId="322"/>
            <ac:spMk id="3" creationId="{9DEF3B8D-79C1-4521-B51B-F78C8A81137A}"/>
          </ac:spMkLst>
        </pc:spChg>
        <pc:spChg chg="add mod">
          <ac:chgData name="Kenneth Graf" userId="d1890dd4-deb6-4a9b-a156-5113ac77bda8" providerId="ADAL" clId="{A293111D-3F1F-4FAA-B413-CAC84337AC82}" dt="2020-01-21T17:37:21.141" v="81"/>
          <ac:spMkLst>
            <pc:docMk/>
            <pc:sldMk cId="419863872" sldId="322"/>
            <ac:spMk id="5" creationId="{235ED330-5543-4C2E-A500-86C1CE6A7D5E}"/>
          </ac:spMkLst>
        </pc:spChg>
        <pc:picChg chg="add mod">
          <ac:chgData name="Kenneth Graf" userId="d1890dd4-deb6-4a9b-a156-5113ac77bda8" providerId="ADAL" clId="{A293111D-3F1F-4FAA-B413-CAC84337AC82}" dt="2020-01-21T17:16:56.853" v="20"/>
          <ac:picMkLst>
            <pc:docMk/>
            <pc:sldMk cId="419863872" sldId="322"/>
            <ac:picMk id="4" creationId="{9165B41D-A516-49F1-A197-785F797813A1}"/>
          </ac:picMkLst>
        </pc:picChg>
      </pc:sldChg>
      <pc:sldChg chg="addSp delSp modSp add del modNotesTx">
        <pc:chgData name="Kenneth Graf" userId="d1890dd4-deb6-4a9b-a156-5113ac77bda8" providerId="ADAL" clId="{A293111D-3F1F-4FAA-B413-CAC84337AC82}" dt="2020-02-01T22:56:22.097" v="82" actId="47"/>
        <pc:sldMkLst>
          <pc:docMk/>
          <pc:sldMk cId="841582349" sldId="323"/>
        </pc:sldMkLst>
        <pc:spChg chg="mod">
          <ac:chgData name="Kenneth Graf" userId="d1890dd4-deb6-4a9b-a156-5113ac77bda8" providerId="ADAL" clId="{A293111D-3F1F-4FAA-B413-CAC84337AC82}" dt="2020-01-21T17:31:17.392" v="33" actId="20577"/>
          <ac:spMkLst>
            <pc:docMk/>
            <pc:sldMk cId="841582349" sldId="323"/>
            <ac:spMk id="2" creationId="{A5803F85-52E1-40BE-91AE-0F8ABDB06BA0}"/>
          </ac:spMkLst>
        </pc:spChg>
        <pc:spChg chg="del">
          <ac:chgData name="Kenneth Graf" userId="d1890dd4-deb6-4a9b-a156-5113ac77bda8" providerId="ADAL" clId="{A293111D-3F1F-4FAA-B413-CAC84337AC82}" dt="2020-01-21T17:30:57.300" v="22"/>
          <ac:spMkLst>
            <pc:docMk/>
            <pc:sldMk cId="841582349" sldId="323"/>
            <ac:spMk id="3" creationId="{2B7EBD69-B3FA-4C75-8A48-612904874199}"/>
          </ac:spMkLst>
        </pc:spChg>
        <pc:picChg chg="add mod">
          <ac:chgData name="Kenneth Graf" userId="d1890dd4-deb6-4a9b-a156-5113ac77bda8" providerId="ADAL" clId="{A293111D-3F1F-4FAA-B413-CAC84337AC82}" dt="2020-01-21T17:30:57.300" v="22"/>
          <ac:picMkLst>
            <pc:docMk/>
            <pc:sldMk cId="841582349" sldId="323"/>
            <ac:picMk id="4" creationId="{542CE100-F258-4651-A8DD-A4CCEB2183F0}"/>
          </ac:picMkLst>
        </pc:picChg>
      </pc:sldChg>
      <pc:sldMasterChg chg="delSldLayout">
        <pc:chgData name="Kenneth Graf" userId="d1890dd4-deb6-4a9b-a156-5113ac77bda8" providerId="ADAL" clId="{A293111D-3F1F-4FAA-B413-CAC84337AC82}" dt="2020-01-19T05:16:33.081" v="5" actId="47"/>
        <pc:sldMasterMkLst>
          <pc:docMk/>
          <pc:sldMasterMk cId="2241473956" sldId="2147483673"/>
        </pc:sldMasterMkLst>
        <pc:sldLayoutChg chg="del">
          <pc:chgData name="Kenneth Graf" userId="d1890dd4-deb6-4a9b-a156-5113ac77bda8" providerId="ADAL" clId="{A293111D-3F1F-4FAA-B413-CAC84337AC82}" dt="2020-01-19T05:16:33.081" v="5" actId="47"/>
          <pc:sldLayoutMkLst>
            <pc:docMk/>
            <pc:sldMasterMk cId="2241473956" sldId="2147483673"/>
            <pc:sldLayoutMk cId="1069439708" sldId="2147483678"/>
          </pc:sldLayoutMkLst>
        </pc:sldLayoutChg>
      </pc:sldMasterChg>
    </pc:docChg>
  </pc:docChgLst>
  <pc:docChgLst>
    <pc:chgData name="Graf, Kenneth" userId="S::kmh722@unh.edu::d1890dd4-deb6-4a9b-a156-5113ac77bda8" providerId="AD" clId="Web-{F605464D-B90C-0208-326C-F5204210E512}"/>
    <pc:docChg chg="modSld">
      <pc:chgData name="Graf, Kenneth" userId="S::kmh722@unh.edu::d1890dd4-deb6-4a9b-a156-5113ac77bda8" providerId="AD" clId="Web-{F605464D-B90C-0208-326C-F5204210E512}" dt="2020-02-12T20:48:19.809" v="58" actId="20577"/>
      <pc:docMkLst>
        <pc:docMk/>
      </pc:docMkLst>
      <pc:sldChg chg="modSp">
        <pc:chgData name="Graf, Kenneth" userId="S::kmh722@unh.edu::d1890dd4-deb6-4a9b-a156-5113ac77bda8" providerId="AD" clId="Web-{F605464D-B90C-0208-326C-F5204210E512}" dt="2020-02-12T20:48:19.809" v="57" actId="20577"/>
        <pc:sldMkLst>
          <pc:docMk/>
          <pc:sldMk cId="60911187" sldId="301"/>
        </pc:sldMkLst>
        <pc:spChg chg="mod">
          <ac:chgData name="Graf, Kenneth" userId="S::kmh722@unh.edu::d1890dd4-deb6-4a9b-a156-5113ac77bda8" providerId="AD" clId="Web-{F605464D-B90C-0208-326C-F5204210E512}" dt="2020-02-12T20:48:19.809" v="57" actId="20577"/>
          <ac:spMkLst>
            <pc:docMk/>
            <pc:sldMk cId="60911187" sldId="301"/>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A8F3AA64-1AA2-40FC-9C4D-FF0C9CC41531}" type="datetimeFigureOut">
              <a:rPr lang="en-US" smtClean="0"/>
              <a:t>2/12/2020</a:t>
            </a:fld>
            <a:endParaRPr lang="en-US" dirty="0"/>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EBE13BA3-2BF5-478F-8F09-F40177E242D0}" type="slidenum">
              <a:rPr lang="en-US" smtClean="0"/>
              <a:t>‹#›</a:t>
            </a:fld>
            <a:endParaRPr lang="en-US" dirty="0"/>
          </a:p>
        </p:txBody>
      </p:sp>
    </p:spTree>
    <p:extLst>
      <p:ext uri="{BB962C8B-B14F-4D97-AF65-F5344CB8AC3E}">
        <p14:creationId xmlns:p14="http://schemas.microsoft.com/office/powerpoint/2010/main" val="45420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csrc.nist.gov/groups/ST/hash/sha-3/Round3/submissions_rnd3.html" TargetMode="External"/><Relationship Id="rId2" Type="http://schemas.openxmlformats.org/officeDocument/2006/relationships/slide" Target="../slides/slide12.xml"/><Relationship Id="rId1" Type="http://schemas.openxmlformats.org/officeDocument/2006/relationships/notesMaster" Target="../notesMasters/notesMaster1.xml"/><Relationship Id="rId5" Type="http://schemas.openxmlformats.org/officeDocument/2006/relationships/hyperlink" Target="https://en.wikipedia.org/wiki/NIST" TargetMode="External"/><Relationship Id="rId4" Type="http://schemas.openxmlformats.org/officeDocument/2006/relationships/hyperlink" Target="http://csrc.nist.gov/groups/ST/hash/sha-3/Round3/documents/Email_Announcing_Finalists.pdf"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marcian.com/what-is-dkim/"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2</a:t>
            </a:fld>
            <a:endParaRPr lang="en-US" dirty="0"/>
          </a:p>
        </p:txBody>
      </p:sp>
    </p:spTree>
    <p:extLst>
      <p:ext uri="{BB962C8B-B14F-4D97-AF65-F5344CB8AC3E}">
        <p14:creationId xmlns:p14="http://schemas.microsoft.com/office/powerpoint/2010/main" val="2720130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algorithms designed to very efficient</a:t>
            </a:r>
            <a:r>
              <a:rPr lang="en-US" baseline="0" dirty="0"/>
              <a:t> in hardware</a:t>
            </a:r>
          </a:p>
          <a:p>
            <a:endParaRPr lang="en-US" baseline="0" dirty="0"/>
          </a:p>
          <a:p>
            <a:r>
              <a:rPr lang="en-US" baseline="0" dirty="0"/>
              <a:t>Need to balance speed and strength</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3</a:t>
            </a:fld>
            <a:endParaRPr lang="en-US" dirty="0"/>
          </a:p>
        </p:txBody>
      </p:sp>
    </p:spTree>
    <p:extLst>
      <p:ext uri="{BB962C8B-B14F-4D97-AF65-F5344CB8AC3E}">
        <p14:creationId xmlns:p14="http://schemas.microsoft.com/office/powerpoint/2010/main" val="16966299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Solution</a:t>
            </a:r>
          </a:p>
          <a:p>
            <a:r>
              <a:rPr lang="pt-BR" dirty="0"/>
              <a:t>“Treat your password like your toothbrush. Don't let anybody else use it. And get a new one every six months.” - Clifford Stoll</a:t>
            </a:r>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6</a:t>
            </a:fld>
            <a:endParaRPr lang="en-US" dirty="0"/>
          </a:p>
        </p:txBody>
      </p:sp>
    </p:spTree>
    <p:extLst>
      <p:ext uri="{BB962C8B-B14F-4D97-AF65-F5344CB8AC3E}">
        <p14:creationId xmlns:p14="http://schemas.microsoft.com/office/powerpoint/2010/main" val="30197760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algorithms designed to very efficient</a:t>
            </a:r>
            <a:r>
              <a:rPr lang="en-US" baseline="0" dirty="0"/>
              <a:t> in hardware</a:t>
            </a:r>
          </a:p>
          <a:p>
            <a:endParaRPr lang="en-US" baseline="0" dirty="0"/>
          </a:p>
          <a:p>
            <a:r>
              <a:rPr lang="en-US" baseline="0" dirty="0"/>
              <a:t>Need to balance speed and strength</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7</a:t>
            </a:fld>
            <a:endParaRPr lang="en-US" dirty="0"/>
          </a:p>
        </p:txBody>
      </p:sp>
    </p:spTree>
    <p:extLst>
      <p:ext uri="{BB962C8B-B14F-4D97-AF65-F5344CB8AC3E}">
        <p14:creationId xmlns:p14="http://schemas.microsoft.com/office/powerpoint/2010/main" val="17470119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a:t>
            </a:r>
          </a:p>
          <a:p>
            <a:endParaRPr lang="en-US" dirty="0"/>
          </a:p>
          <a:p>
            <a:r>
              <a:rPr lang="en-US" dirty="0"/>
              <a:t>Select</a:t>
            </a:r>
            <a:r>
              <a:rPr lang="en-US" baseline="0" dirty="0"/>
              <a:t> 2 primes (p,q)  p=211 q=233</a:t>
            </a:r>
          </a:p>
          <a:p>
            <a:endParaRPr lang="en-US" baseline="0" dirty="0"/>
          </a:p>
          <a:p>
            <a:r>
              <a:rPr lang="en-US" baseline="0" dirty="0"/>
              <a:t>Compute n = p*q = 49163</a:t>
            </a:r>
          </a:p>
          <a:p>
            <a:endParaRPr lang="en-US" baseline="0" dirty="0"/>
          </a:p>
          <a:p>
            <a:r>
              <a:rPr lang="en-US" baseline="0" dirty="0"/>
              <a:t>Compute phi = (p-1)(q-1) = (211-1)(233-1) = 48720</a:t>
            </a:r>
          </a:p>
          <a:p>
            <a:endParaRPr lang="en-US" baseline="0" dirty="0"/>
          </a:p>
          <a:p>
            <a:r>
              <a:rPr lang="en-US" baseline="0" dirty="0"/>
              <a:t>Select e such that gcd(e,phi) = 1.  e=17</a:t>
            </a:r>
          </a:p>
          <a:p>
            <a:endParaRPr lang="en-US" baseline="0" dirty="0"/>
          </a:p>
          <a:p>
            <a:r>
              <a:rPr lang="en-US" baseline="0" dirty="0"/>
              <a:t>Compute d such that (e * d ) mod phi = 1; d=25793</a:t>
            </a:r>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10</a:t>
            </a:fld>
            <a:endParaRPr lang="en-US" dirty="0"/>
          </a:p>
        </p:txBody>
      </p:sp>
    </p:spTree>
    <p:extLst>
      <p:ext uri="{BB962C8B-B14F-4D97-AF65-F5344CB8AC3E}">
        <p14:creationId xmlns:p14="http://schemas.microsoft.com/office/powerpoint/2010/main" val="6013963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Sample encrypt/decrypt:</a:t>
            </a:r>
          </a:p>
          <a:p>
            <a:pPr marL="400050" lvl="1" indent="0">
              <a:buNone/>
            </a:pPr>
            <a:r>
              <a:rPr lang="en-US" dirty="0"/>
              <a:t>14</a:t>
            </a:r>
            <a:r>
              <a:rPr lang="en-US" baseline="30000" dirty="0"/>
              <a:t>7</a:t>
            </a:r>
            <a:r>
              <a:rPr lang="en-US" dirty="0"/>
              <a:t> mod 33 = 20 </a:t>
            </a:r>
          </a:p>
          <a:p>
            <a:pPr marL="400050" lvl="1" indent="0">
              <a:buNone/>
            </a:pPr>
            <a:r>
              <a:rPr lang="en-US" dirty="0"/>
              <a:t>20</a:t>
            </a:r>
            <a:r>
              <a:rPr lang="en-US" baseline="30000" dirty="0"/>
              <a:t>3</a:t>
            </a:r>
            <a:r>
              <a:rPr lang="en-US" dirty="0"/>
              <a:t> mod 33 = 14</a:t>
            </a:r>
          </a:p>
          <a:p>
            <a:endParaRPr lang="en-US" dirty="0"/>
          </a:p>
          <a:p>
            <a:r>
              <a:rPr lang="en-US" sz="1200" b="0" i="0" kern="1200" dirty="0">
                <a:solidFill>
                  <a:schemeClr val="tx1"/>
                </a:solidFill>
                <a:effectLst/>
                <a:latin typeface="+mn-lt"/>
                <a:ea typeface="+mn-ea"/>
                <a:cs typeface="+mn-cs"/>
              </a:rPr>
              <a:t>Choose p = 3 and q = 11</a:t>
            </a:r>
          </a:p>
          <a:p>
            <a:r>
              <a:rPr lang="en-US" sz="1200" b="0" i="0" kern="1200" dirty="0">
                <a:solidFill>
                  <a:schemeClr val="tx1"/>
                </a:solidFill>
                <a:effectLst/>
                <a:latin typeface="+mn-lt"/>
                <a:ea typeface="+mn-ea"/>
                <a:cs typeface="+mn-cs"/>
              </a:rPr>
              <a:t>Compute n = p * q = 3 * 11 = 33</a:t>
            </a:r>
          </a:p>
          <a:p>
            <a:r>
              <a:rPr lang="en-US" sz="1200" b="0" i="0" kern="1200" dirty="0">
                <a:solidFill>
                  <a:schemeClr val="tx1"/>
                </a:solidFill>
                <a:effectLst/>
                <a:latin typeface="+mn-lt"/>
                <a:ea typeface="+mn-ea"/>
                <a:cs typeface="+mn-cs"/>
              </a:rPr>
              <a:t>Compute φ(n) = (p - 1) * (q - 1) = 2 * 10 = 20</a:t>
            </a:r>
          </a:p>
          <a:p>
            <a:r>
              <a:rPr lang="en-US" sz="1200" b="0" i="0" kern="1200" dirty="0">
                <a:solidFill>
                  <a:schemeClr val="tx1"/>
                </a:solidFill>
                <a:effectLst/>
                <a:latin typeface="+mn-lt"/>
                <a:ea typeface="+mn-ea"/>
                <a:cs typeface="+mn-cs"/>
              </a:rPr>
              <a:t>Choose e such that 1 &lt; e &lt; φ(n) and e and n are coprime. Let e = 3</a:t>
            </a:r>
          </a:p>
          <a:p>
            <a:r>
              <a:rPr lang="en-US" sz="1200" b="0" i="0" kern="1200" dirty="0">
                <a:solidFill>
                  <a:schemeClr val="tx1"/>
                </a:solidFill>
                <a:effectLst/>
                <a:latin typeface="+mn-lt"/>
                <a:ea typeface="+mn-ea"/>
                <a:cs typeface="+mn-cs"/>
              </a:rPr>
              <a:t>Compute a value for d such that (d * e) % φ(n) = 1. One solution is d = 7 [(7 * 3) % 20 = 1]</a:t>
            </a:r>
          </a:p>
          <a:p>
            <a:r>
              <a:rPr lang="en-US" sz="1200" b="0" i="0" kern="1200" dirty="0">
                <a:solidFill>
                  <a:schemeClr val="tx1"/>
                </a:solidFill>
                <a:effectLst/>
                <a:latin typeface="+mn-lt"/>
                <a:ea typeface="+mn-ea"/>
                <a:cs typeface="+mn-cs"/>
              </a:rPr>
              <a:t>Public key is (e, n) =&gt; (3, 33)</a:t>
            </a:r>
          </a:p>
          <a:p>
            <a:r>
              <a:rPr lang="en-US" sz="1200" b="0" i="0" kern="1200" dirty="0">
                <a:solidFill>
                  <a:schemeClr val="tx1"/>
                </a:solidFill>
                <a:effectLst/>
                <a:latin typeface="+mn-lt"/>
                <a:ea typeface="+mn-ea"/>
                <a:cs typeface="+mn-cs"/>
              </a:rPr>
              <a:t>Private key is (d, n) =&gt; (7, 33)</a:t>
            </a:r>
          </a:p>
        </p:txBody>
      </p:sp>
      <p:sp>
        <p:nvSpPr>
          <p:cNvPr id="4" name="Slide Number Placeholder 3"/>
          <p:cNvSpPr>
            <a:spLocks noGrp="1"/>
          </p:cNvSpPr>
          <p:nvPr>
            <p:ph type="sldNum" sz="quarter" idx="10"/>
          </p:nvPr>
        </p:nvSpPr>
        <p:spPr/>
        <p:txBody>
          <a:bodyPr/>
          <a:lstStyle/>
          <a:p>
            <a:fld id="{EBE13BA3-2BF5-478F-8F09-F40177E242D0}" type="slidenum">
              <a:rPr lang="en-US" smtClean="0"/>
              <a:t>11</a:t>
            </a:fld>
            <a:endParaRPr lang="en-US" dirty="0"/>
          </a:p>
        </p:txBody>
      </p:sp>
    </p:spTree>
    <p:extLst>
      <p:ext uri="{BB962C8B-B14F-4D97-AF65-F5344CB8AC3E}">
        <p14:creationId xmlns:p14="http://schemas.microsoft.com/office/powerpoint/2010/main" val="1124735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NIST has selected </a:t>
            </a:r>
            <a:r>
              <a:rPr lang="en-US" u="sng" dirty="0">
                <a:hlinkClick r:id="rId3"/>
              </a:rPr>
              <a:t>five SHA-3 finalists</a:t>
            </a:r>
            <a:r>
              <a:rPr lang="en-US" dirty="0"/>
              <a:t> - </a:t>
            </a:r>
            <a:r>
              <a:rPr lang="en-US" b="1" i="1" dirty="0"/>
              <a:t>BLAKE, Grøstl, JH, Keccak,</a:t>
            </a:r>
            <a:r>
              <a:rPr lang="en-US" dirty="0"/>
              <a:t> and</a:t>
            </a:r>
            <a:r>
              <a:rPr lang="en-US" b="1" i="1" dirty="0"/>
              <a:t>Skein</a:t>
            </a:r>
            <a:r>
              <a:rPr lang="en-US" dirty="0"/>
              <a:t> to advance to the third (and final) round of the SHA-3competition. The email announcement was sent to the hash-forum listserv on December 9, 2010.</a:t>
            </a:r>
            <a:r>
              <a:rPr lang="en-US" u="sng" dirty="0">
                <a:hlinkClick r:id="rId4"/>
              </a:rPr>
              <a:t>[PDF]</a:t>
            </a:r>
            <a:endParaRPr lang="en-US" dirty="0"/>
          </a:p>
          <a:p>
            <a:endParaRPr lang="en-US" dirty="0"/>
          </a:p>
          <a:p>
            <a:r>
              <a:rPr lang="en-US" dirty="0"/>
              <a:t>NIST hosted a one-year public comment period in 2012</a:t>
            </a:r>
          </a:p>
          <a:p>
            <a:endParaRPr lang="en-US" dirty="0"/>
          </a:p>
          <a:p>
            <a:r>
              <a:rPr lang="en-GB" sz="1200" b="0" i="0" kern="1200" dirty="0">
                <a:solidFill>
                  <a:schemeClr val="tx1"/>
                </a:solidFill>
                <a:effectLst/>
                <a:latin typeface="+mn-lt"/>
                <a:ea typeface="+mn-ea"/>
                <a:cs typeface="+mn-cs"/>
              </a:rPr>
              <a:t>The SHA-3 standard (KECCAK) was released by </a:t>
            </a:r>
            <a:r>
              <a:rPr lang="en-GB" sz="1200" b="0" i="0" u="none" strike="noStrike" kern="1200" dirty="0">
                <a:solidFill>
                  <a:schemeClr val="tx1"/>
                </a:solidFill>
                <a:effectLst/>
                <a:latin typeface="+mn-lt"/>
                <a:ea typeface="+mn-ea"/>
                <a:cs typeface="+mn-cs"/>
                <a:hlinkClick r:id="rId5" tooltip="NIST"/>
              </a:rPr>
              <a:t>NIST</a:t>
            </a:r>
            <a:r>
              <a:rPr lang="en-GB" sz="1200" b="0" i="0" kern="1200" dirty="0">
                <a:solidFill>
                  <a:schemeClr val="tx1"/>
                </a:solidFill>
                <a:effectLst/>
                <a:latin typeface="+mn-lt"/>
                <a:ea typeface="+mn-ea"/>
                <a:cs typeface="+mn-cs"/>
              </a:rPr>
              <a:t> on August 5, 2015. </a:t>
            </a:r>
          </a:p>
          <a:p>
            <a:r>
              <a:rPr lang="en-GB" sz="1200" b="0" i="0" kern="1200" dirty="0">
                <a:solidFill>
                  <a:schemeClr val="tx1"/>
                </a:solidFill>
                <a:effectLst/>
                <a:latin typeface="+mn-lt"/>
                <a:ea typeface="+mn-ea"/>
                <a:cs typeface="+mn-cs"/>
              </a:rPr>
              <a:t>SHA-3, the state consists of a 5 × 5 array of 64-bit words, 1600 bits total.</a:t>
            </a:r>
          </a:p>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12</a:t>
            </a:fld>
            <a:endParaRPr lang="en-US" dirty="0"/>
          </a:p>
        </p:txBody>
      </p:sp>
    </p:spTree>
    <p:extLst>
      <p:ext uri="{BB962C8B-B14F-4D97-AF65-F5344CB8AC3E}">
        <p14:creationId xmlns:p14="http://schemas.microsoft.com/office/powerpoint/2010/main" val="2182239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C80722-37B5-41F8-AE74-4EDADEBE4825}" type="slidenum">
              <a:rPr lang="en-US"/>
              <a:pPr/>
              <a:t>15</a:t>
            </a:fld>
            <a:endParaRPr lang="en-US" dirty="0"/>
          </a:p>
        </p:txBody>
      </p:sp>
      <p:sp>
        <p:nvSpPr>
          <p:cNvPr id="429058" name="Rectangle 2"/>
          <p:cNvSpPr>
            <a:spLocks noGrp="1" noRot="1" noChangeAspect="1" noChangeArrowheads="1" noTextEdit="1"/>
          </p:cNvSpPr>
          <p:nvPr>
            <p:ph type="sldImg"/>
          </p:nvPr>
        </p:nvSpPr>
        <p:spPr>
          <a:ln/>
        </p:spPr>
      </p:sp>
      <p:sp>
        <p:nvSpPr>
          <p:cNvPr id="429059" name="Rectangle 3"/>
          <p:cNvSpPr>
            <a:spLocks noGrp="1" noChangeArrowheads="1"/>
          </p:cNvSpPr>
          <p:nvPr>
            <p:ph type="body" idx="1"/>
          </p:nvPr>
        </p:nvSpPr>
        <p:spPr/>
        <p:txBody>
          <a:bodyPr/>
          <a:lstStyle/>
          <a:p>
            <a:r>
              <a:rPr lang="en-US" sz="1400" dirty="0"/>
              <a:t>In this next example we are going to use Alice &amp; Bob who are trying to communicate with one another over an insecure channel.  </a:t>
            </a:r>
          </a:p>
          <a:p>
            <a:endParaRPr lang="en-US" sz="1400" dirty="0"/>
          </a:p>
          <a:p>
            <a:r>
              <a:rPr lang="en-US" sz="1400" dirty="0"/>
              <a:t>They want to achieve message protection:</a:t>
            </a:r>
          </a:p>
          <a:p>
            <a:pPr lvl="1">
              <a:buFontTx/>
              <a:buChar char="•"/>
            </a:pPr>
            <a:r>
              <a:rPr lang="en-US" sz="1400" dirty="0"/>
              <a:t>“sealed” so that only they can read it</a:t>
            </a:r>
          </a:p>
          <a:p>
            <a:pPr lvl="1">
              <a:buFontTx/>
              <a:buChar char="•"/>
            </a:pPr>
            <a:r>
              <a:rPr lang="en-US" sz="1400" dirty="0"/>
              <a:t>“hashed” so that Bob knows it wasn’t modified enroute.</a:t>
            </a:r>
          </a:p>
          <a:p>
            <a:pPr lvl="1">
              <a:buFontTx/>
              <a:buChar char="•"/>
            </a:pPr>
            <a:endParaRPr lang="en-US" sz="1400" dirty="0"/>
          </a:p>
          <a:p>
            <a:r>
              <a:rPr lang="en-US" sz="1400" dirty="0"/>
              <a:t>Alice therefore uses a session key  and encrypts using Bob’s public key.    </a:t>
            </a:r>
            <a:endParaRPr lang="en-US" dirty="0"/>
          </a:p>
        </p:txBody>
      </p:sp>
    </p:spTree>
    <p:extLst>
      <p:ext uri="{BB962C8B-B14F-4D97-AF65-F5344CB8AC3E}">
        <p14:creationId xmlns:p14="http://schemas.microsoft.com/office/powerpoint/2010/main" val="40095527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1C0718-5FA4-4096-90E1-4C782FB39296}" type="slidenum">
              <a:rPr lang="en-US"/>
              <a:pPr/>
              <a:t>16</a:t>
            </a:fld>
            <a:endParaRPr lang="en-US" dirty="0"/>
          </a:p>
        </p:txBody>
      </p:sp>
      <p:sp>
        <p:nvSpPr>
          <p:cNvPr id="430082" name="Rectangle 2"/>
          <p:cNvSpPr>
            <a:spLocks noGrp="1" noRot="1" noChangeAspect="1" noChangeArrowheads="1" noTextEdit="1"/>
          </p:cNvSpPr>
          <p:nvPr>
            <p:ph type="sldImg"/>
          </p:nvPr>
        </p:nvSpPr>
        <p:spPr>
          <a:ln/>
        </p:spPr>
      </p:sp>
      <p:sp>
        <p:nvSpPr>
          <p:cNvPr id="430083" name="Rectangle 3"/>
          <p:cNvSpPr>
            <a:spLocks noGrp="1" noChangeArrowheads="1"/>
          </p:cNvSpPr>
          <p:nvPr>
            <p:ph type="body" idx="1"/>
          </p:nvPr>
        </p:nvSpPr>
        <p:spPr/>
        <p:txBody>
          <a:bodyPr/>
          <a:lstStyle/>
          <a:p>
            <a:r>
              <a:rPr lang="en-US" sz="1400" dirty="0"/>
              <a:t>When Bob receives Alice’s message he applies his private key to decrypt the message.  </a:t>
            </a:r>
            <a:endParaRPr lang="en-US" dirty="0"/>
          </a:p>
        </p:txBody>
      </p:sp>
    </p:spTree>
    <p:extLst>
      <p:ext uri="{BB962C8B-B14F-4D97-AF65-F5344CB8AC3E}">
        <p14:creationId xmlns:p14="http://schemas.microsoft.com/office/powerpoint/2010/main" val="42795179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CA46B6-0C7C-4050-99BA-8AF1169F88A7}" type="slidenum">
              <a:rPr lang="en-US"/>
              <a:pPr/>
              <a:t>17</a:t>
            </a:fld>
            <a:endParaRPr lang="en-US" dirty="0"/>
          </a:p>
        </p:txBody>
      </p:sp>
      <p:sp>
        <p:nvSpPr>
          <p:cNvPr id="432130" name="Rectangle 2"/>
          <p:cNvSpPr>
            <a:spLocks noGrp="1" noRot="1" noChangeAspect="1" noChangeArrowheads="1" noTextEdit="1"/>
          </p:cNvSpPr>
          <p:nvPr>
            <p:ph type="sldImg"/>
          </p:nvPr>
        </p:nvSpPr>
        <p:spPr>
          <a:ln/>
        </p:spPr>
      </p:sp>
      <p:sp>
        <p:nvSpPr>
          <p:cNvPr id="432131" name="Rectangle 3"/>
          <p:cNvSpPr>
            <a:spLocks noGrp="1" noChangeArrowheads="1"/>
          </p:cNvSpPr>
          <p:nvPr>
            <p:ph type="body" idx="1"/>
          </p:nvPr>
        </p:nvSpPr>
        <p:spPr/>
        <p:txBody>
          <a:bodyPr/>
          <a:lstStyle/>
          <a:p>
            <a:r>
              <a:rPr lang="en-US" sz="1400" dirty="0"/>
              <a:t>Now lets modify the process to introduce digital signature.  Alice will create a message AND a hashing function.  She will sign both the message and the hash with her private key.</a:t>
            </a:r>
          </a:p>
          <a:p>
            <a:endParaRPr lang="en-US" sz="1400" dirty="0"/>
          </a:p>
          <a:p>
            <a:r>
              <a:rPr lang="en-US" sz="1400" dirty="0"/>
              <a:t>If one can decrypt something with Alice’s public key, then in means only Alice’s private key could have encrypted it.</a:t>
            </a:r>
          </a:p>
          <a:p>
            <a:endParaRPr lang="en-US" sz="1400" dirty="0"/>
          </a:p>
          <a:p>
            <a:r>
              <a:rPr lang="en-US" sz="1400" dirty="0"/>
              <a:t>Assuming Alice has done a good job of protecting her private key (such that no one else could have used it, the message must be from Alice.</a:t>
            </a:r>
          </a:p>
          <a:p>
            <a:endParaRPr lang="en-US" sz="1400" dirty="0"/>
          </a:p>
        </p:txBody>
      </p:sp>
    </p:spTree>
    <p:extLst>
      <p:ext uri="{BB962C8B-B14F-4D97-AF65-F5344CB8AC3E}">
        <p14:creationId xmlns:p14="http://schemas.microsoft.com/office/powerpoint/2010/main" val="41072045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4558738-EC6F-4497-B978-4FFF29BCE78D}" type="slidenum">
              <a:rPr lang="en-US"/>
              <a:pPr/>
              <a:t>18</a:t>
            </a:fld>
            <a:endParaRPr lang="en-US" dirty="0"/>
          </a:p>
        </p:txBody>
      </p:sp>
      <p:sp>
        <p:nvSpPr>
          <p:cNvPr id="433154" name="Rectangle 1026"/>
          <p:cNvSpPr>
            <a:spLocks noGrp="1" noRot="1" noChangeAspect="1" noChangeArrowheads="1" noTextEdit="1"/>
          </p:cNvSpPr>
          <p:nvPr>
            <p:ph type="sldImg"/>
          </p:nvPr>
        </p:nvSpPr>
        <p:spPr>
          <a:ln/>
        </p:spPr>
      </p:sp>
      <p:sp>
        <p:nvSpPr>
          <p:cNvPr id="433155" name="Rectangle 1027"/>
          <p:cNvSpPr>
            <a:spLocks noGrp="1" noChangeArrowheads="1"/>
          </p:cNvSpPr>
          <p:nvPr>
            <p:ph type="body" idx="1"/>
          </p:nvPr>
        </p:nvSpPr>
        <p:spPr/>
        <p:txBody>
          <a:bodyPr/>
          <a:lstStyle/>
          <a:p>
            <a:endParaRPr lang="en-US" sz="1400" dirty="0"/>
          </a:p>
          <a:p>
            <a:r>
              <a:rPr lang="en-US" sz="1400" dirty="0"/>
              <a:t>If one can decrypt something with Alice’s public key, then in means only Alice’s private key could have encrypted it.</a:t>
            </a:r>
          </a:p>
          <a:p>
            <a:endParaRPr lang="en-US" sz="1400" dirty="0"/>
          </a:p>
          <a:p>
            <a:r>
              <a:rPr lang="en-US" sz="1400" dirty="0"/>
              <a:t>Assuming Alice has done a good job of protecting her private key (such that no one else could have used it, the message must be from Alice.</a:t>
            </a:r>
          </a:p>
          <a:p>
            <a:endParaRPr lang="en-US" dirty="0"/>
          </a:p>
        </p:txBody>
      </p:sp>
    </p:spTree>
    <p:extLst>
      <p:ext uri="{BB962C8B-B14F-4D97-AF65-F5344CB8AC3E}">
        <p14:creationId xmlns:p14="http://schemas.microsoft.com/office/powerpoint/2010/main" val="9466540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https://dmarcian.com/what-is-dkim/</a:t>
            </a:r>
            <a:br>
              <a:rPr lang="en-US" dirty="0"/>
            </a:br>
            <a:r>
              <a:rPr lang="en-US" sz="1200" b="0" i="0" kern="1200" dirty="0">
                <a:solidFill>
                  <a:schemeClr val="tx1"/>
                </a:solidFill>
                <a:effectLst/>
                <a:latin typeface="+mn-lt"/>
                <a:ea typeface="+mn-ea"/>
                <a:cs typeface="+mn-cs"/>
              </a:rPr>
              <a:t>DKIM is a free technology that is used to link a piece of email back to a domain. When an email is sent, it is signed using a private domain key and then validated on the receiving mail server (or ISP) using a public key that is located within the DNS. This action authenticates that the content of the email was not modified during its transfer. It prevents someone from intercepting your email, altering it, then sending it along with altered information.</a:t>
            </a:r>
            <a:br>
              <a:rPr lang="en-US" dirty="0"/>
            </a:br>
            <a:r>
              <a:rPr lang="en-US" sz="1200" b="0" i="0" kern="1200" dirty="0">
                <a:solidFill>
                  <a:schemeClr val="tx1"/>
                </a:solidFill>
                <a:effectLst/>
                <a:latin typeface="+mn-lt"/>
                <a:ea typeface="+mn-ea"/>
                <a:cs typeface="+mn-cs"/>
              </a:rPr>
              <a:t>DKIM signatures can survive forwarding, which makes it superior to SPF and a great way to secure your email.</a:t>
            </a:r>
            <a:endParaRPr lang="en-US" dirty="0"/>
          </a:p>
        </p:txBody>
      </p:sp>
      <p:sp>
        <p:nvSpPr>
          <p:cNvPr id="4" name="Slide Number Placeholder 3"/>
          <p:cNvSpPr>
            <a:spLocks noGrp="1"/>
          </p:cNvSpPr>
          <p:nvPr>
            <p:ph type="sldNum" sz="quarter" idx="5"/>
          </p:nvPr>
        </p:nvSpPr>
        <p:spPr/>
        <p:txBody>
          <a:bodyPr/>
          <a:lstStyle/>
          <a:p>
            <a:fld id="{EBE13BA3-2BF5-478F-8F09-F40177E242D0}" type="slidenum">
              <a:rPr lang="en-US" smtClean="0"/>
              <a:t>19</a:t>
            </a:fld>
            <a:endParaRPr lang="en-US" dirty="0"/>
          </a:p>
        </p:txBody>
      </p:sp>
    </p:spTree>
    <p:extLst>
      <p:ext uri="{BB962C8B-B14F-4D97-AF65-F5344CB8AC3E}">
        <p14:creationId xmlns:p14="http://schemas.microsoft.com/office/powerpoint/2010/main" val="22421612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20</a:t>
            </a:fld>
            <a:endParaRPr lang="en-US" dirty="0"/>
          </a:p>
        </p:txBody>
      </p:sp>
    </p:spTree>
    <p:extLst>
      <p:ext uri="{BB962C8B-B14F-4D97-AF65-F5344CB8AC3E}">
        <p14:creationId xmlns:p14="http://schemas.microsoft.com/office/powerpoint/2010/main" val="10785456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828800" y="3200400"/>
            <a:ext cx="8534400" cy="2438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Title 1"/>
          <p:cNvSpPr>
            <a:spLocks noGrp="1"/>
          </p:cNvSpPr>
          <p:nvPr>
            <p:ph type="ctrTitle" hasCustomPrompt="1"/>
          </p:nvPr>
        </p:nvSpPr>
        <p:spPr>
          <a:xfrm>
            <a:off x="609600" y="1295401"/>
            <a:ext cx="10972800" cy="1470025"/>
          </a:xfrm>
        </p:spPr>
        <p:txBody>
          <a:bodyPr/>
          <a:lstStyle>
            <a:lvl1pPr algn="ctr">
              <a:defRPr baseline="0"/>
            </a:lvl1pPr>
          </a:lstStyle>
          <a:p>
            <a:r>
              <a:rPr lang="en-US" dirty="0"/>
              <a:t>IT666 : Computer Security</a:t>
            </a:r>
          </a:p>
        </p:txBody>
      </p:sp>
      <p:sp>
        <p:nvSpPr>
          <p:cNvPr id="10" name="Date Placeholder 3"/>
          <p:cNvSpPr txBox="1">
            <a:spLocks/>
          </p:cNvSpPr>
          <p:nvPr/>
        </p:nvSpPr>
        <p:spPr>
          <a:xfrm>
            <a:off x="914400" y="6348476"/>
            <a:ext cx="284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p>
        </p:txBody>
      </p:sp>
      <p:sp>
        <p:nvSpPr>
          <p:cNvPr id="11" name="Footer Placeholder 4"/>
          <p:cNvSpPr txBox="1">
            <a:spLocks/>
          </p:cNvSpPr>
          <p:nvPr/>
        </p:nvSpPr>
        <p:spPr>
          <a:xfrm>
            <a:off x="7112000" y="6348475"/>
            <a:ext cx="41656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800" dirty="0"/>
              <a:t>Instructor : ken.graf@unh.edu</a:t>
            </a:r>
          </a:p>
        </p:txBody>
      </p:sp>
      <p:pic>
        <p:nvPicPr>
          <p:cNvPr id="12" name="Picture 2" descr="University of New Hampshire">
            <a:extLst>
              <a:ext uri="{FF2B5EF4-FFF2-40B4-BE49-F238E27FC236}">
                <a16:creationId xmlns:a16="http://schemas.microsoft.com/office/drawing/2014/main" id="{52E3954D-70A0-416F-A7AB-55B49D629FD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09600" y="304800"/>
            <a:ext cx="2914650" cy="76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0512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39762"/>
          </a:xfrm>
        </p:spPr>
        <p:txBody>
          <a:bodyPr>
            <a:normAutofit/>
          </a:bodyPr>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609600" y="1371601"/>
            <a:ext cx="10972800" cy="4754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3"/>
          <p:cNvSpPr>
            <a:spLocks noGrp="1"/>
          </p:cNvSpPr>
          <p:nvPr>
            <p:ph type="ftr" sz="quarter" idx="11"/>
          </p:nvPr>
        </p:nvSpPr>
        <p:spPr>
          <a:xfrm>
            <a:off x="609600" y="6356351"/>
            <a:ext cx="10972800" cy="365125"/>
          </a:xfrm>
          <a:prstGeom prst="rect">
            <a:avLst/>
          </a:prstGeom>
        </p:spPr>
        <p:txBody>
          <a:bodyPr/>
          <a:lstStyle/>
          <a:p>
            <a:endParaRPr lang="en-US" dirty="0"/>
          </a:p>
        </p:txBody>
      </p:sp>
    </p:spTree>
    <p:extLst>
      <p:ext uri="{BB962C8B-B14F-4D97-AF65-F5344CB8AC3E}">
        <p14:creationId xmlns:p14="http://schemas.microsoft.com/office/powerpoint/2010/main" val="2088353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39762"/>
          </a:xfrm>
        </p:spPr>
        <p:txBody>
          <a:bodyPr>
            <a:normAutofit/>
          </a:bodyPr>
          <a:lstStyle>
            <a:lvl1pPr algn="l">
              <a:defRPr sz="3200"/>
            </a:lvl1pPr>
          </a:lstStyle>
          <a:p>
            <a:r>
              <a:rPr lang="en-US"/>
              <a:t>Click to edit Master title style</a:t>
            </a:r>
            <a:endParaRPr lang="en-US" dirty="0"/>
          </a:p>
        </p:txBody>
      </p:sp>
      <p:sp>
        <p:nvSpPr>
          <p:cNvPr id="4" name="Footer Placeholder 3"/>
          <p:cNvSpPr>
            <a:spLocks noGrp="1"/>
          </p:cNvSpPr>
          <p:nvPr>
            <p:ph type="ftr" sz="quarter" idx="11"/>
          </p:nvPr>
        </p:nvSpPr>
        <p:spPr>
          <a:xfrm>
            <a:off x="609600" y="6356351"/>
            <a:ext cx="10972800" cy="365125"/>
          </a:xfrm>
          <a:prstGeom prst="rect">
            <a:avLst/>
          </a:prstGeom>
        </p:spPr>
        <p:txBody>
          <a:bodyPr/>
          <a:lstStyle/>
          <a:p>
            <a:endParaRPr lang="en-US" dirty="0"/>
          </a:p>
        </p:txBody>
      </p:sp>
    </p:spTree>
    <p:extLst>
      <p:ext uri="{BB962C8B-B14F-4D97-AF65-F5344CB8AC3E}">
        <p14:creationId xmlns:p14="http://schemas.microsoft.com/office/powerpoint/2010/main" val="1685878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609600" y="6356351"/>
            <a:ext cx="10972800" cy="365125"/>
          </a:xfrm>
          <a:prstGeom prst="rect">
            <a:avLst/>
          </a:prstGeom>
        </p:spPr>
        <p:txBody>
          <a:bodyPr/>
          <a:lstStyle/>
          <a:p>
            <a:endParaRPr lang="en-US" dirty="0"/>
          </a:p>
        </p:txBody>
      </p:sp>
    </p:spTree>
    <p:extLst>
      <p:ext uri="{BB962C8B-B14F-4D97-AF65-F5344CB8AC3E}">
        <p14:creationId xmlns:p14="http://schemas.microsoft.com/office/powerpoint/2010/main" val="384323323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5635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143001"/>
            <a:ext cx="10972800" cy="4983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4147395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Lst>
  <p:txStyles>
    <p:titleStyle>
      <a:lvl1pPr algn="l" defTabSz="914400" rtl="0" eaLnBrk="1" latinLnBrk="0" hangingPunct="1">
        <a:spcBef>
          <a:spcPct val="0"/>
        </a:spcBef>
        <a:buNone/>
        <a:defRPr sz="32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formaestudio.com/rijndaelinspector/archivos/Rijndael_Animation_v4_eng.sw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keccak.noekeon.org/" TargetMode="External"/><Relationship Id="rId7" Type="http://schemas.openxmlformats.org/officeDocument/2006/relationships/hyperlink" Target="http://www.skein-hash.info/"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www3.ntu.edu.sg/home/wuhj/research/jh/" TargetMode="External"/><Relationship Id="rId5" Type="http://schemas.openxmlformats.org/officeDocument/2006/relationships/hyperlink" Target="http://www.groestl.info/" TargetMode="External"/><Relationship Id="rId4" Type="http://schemas.openxmlformats.org/officeDocument/2006/relationships/hyperlink" Target="http://www.131002.net/blak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1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1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wmf"/></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dmarcian.com/domain-checker/"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b="1"/>
              <a:t>Cryptography</a:t>
            </a:r>
            <a:endParaRPr lang="en-US" b="1" dirty="0"/>
          </a:p>
        </p:txBody>
      </p:sp>
      <p:sp>
        <p:nvSpPr>
          <p:cNvPr id="4" name="Title 3"/>
          <p:cNvSpPr>
            <a:spLocks noGrp="1"/>
          </p:cNvSpPr>
          <p:nvPr>
            <p:ph type="ctrTitle"/>
          </p:nvPr>
        </p:nvSpPr>
        <p:spPr/>
        <p:txBody>
          <a:bodyPr/>
          <a:lstStyle/>
          <a:p>
            <a:endParaRPr lang="en-US"/>
          </a:p>
        </p:txBody>
      </p:sp>
    </p:spTree>
    <p:extLst>
      <p:ext uri="{BB962C8B-B14F-4D97-AF65-F5344CB8AC3E}">
        <p14:creationId xmlns:p14="http://schemas.microsoft.com/office/powerpoint/2010/main" val="1793285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Cryptographic Types</a:t>
            </a:r>
          </a:p>
        </p:txBody>
      </p:sp>
      <p:sp>
        <p:nvSpPr>
          <p:cNvPr id="3" name="Content Placeholder 2"/>
          <p:cNvSpPr>
            <a:spLocks noGrp="1"/>
          </p:cNvSpPr>
          <p:nvPr>
            <p:ph idx="1"/>
          </p:nvPr>
        </p:nvSpPr>
        <p:spPr/>
        <p:txBody>
          <a:bodyPr>
            <a:normAutofit lnSpcReduction="10000"/>
          </a:bodyPr>
          <a:lstStyle/>
          <a:p>
            <a:r>
              <a:rPr lang="en-US" dirty="0"/>
              <a:t>Symmetric</a:t>
            </a:r>
          </a:p>
          <a:p>
            <a:pPr lvl="1"/>
            <a:r>
              <a:rPr lang="en-US" dirty="0"/>
              <a:t>Typically transposition and/or substitution</a:t>
            </a:r>
          </a:p>
          <a:p>
            <a:pPr lvl="1"/>
            <a:r>
              <a:rPr lang="en-US" dirty="0"/>
              <a:t>C = encrypt (M, k) and M = decrypt( C, k )</a:t>
            </a:r>
          </a:p>
          <a:p>
            <a:r>
              <a:rPr lang="en-US" dirty="0"/>
              <a:t>Asymmetric</a:t>
            </a:r>
          </a:p>
          <a:p>
            <a:pPr lvl="1"/>
            <a:r>
              <a:rPr lang="en-US" dirty="0"/>
              <a:t>Discrete mathematics or formulas</a:t>
            </a:r>
          </a:p>
          <a:p>
            <a:pPr lvl="1"/>
            <a:r>
              <a:rPr lang="en-US" dirty="0"/>
              <a:t>C = encrypt (M, k1) and M = decrypt( C, k2)</a:t>
            </a:r>
          </a:p>
          <a:p>
            <a:r>
              <a:rPr lang="en-US" dirty="0"/>
              <a:t>Secure Hash</a:t>
            </a:r>
          </a:p>
          <a:p>
            <a:pPr lvl="1"/>
            <a:r>
              <a:rPr lang="en-US" dirty="0"/>
              <a:t>One way functions</a:t>
            </a:r>
          </a:p>
          <a:p>
            <a:pPr lvl="1"/>
            <a:r>
              <a:rPr lang="en-US" dirty="0"/>
              <a:t>C = hash (M)  there is no M = unhash(C)</a:t>
            </a:r>
          </a:p>
        </p:txBody>
      </p:sp>
    </p:spTree>
    <p:extLst>
      <p:ext uri="{BB962C8B-B14F-4D97-AF65-F5344CB8AC3E}">
        <p14:creationId xmlns:p14="http://schemas.microsoft.com/office/powerpoint/2010/main" val="3868971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Symmetric Algorithms</a:t>
            </a:r>
          </a:p>
        </p:txBody>
      </p:sp>
      <p:sp>
        <p:nvSpPr>
          <p:cNvPr id="3" name="Content Placeholder 2"/>
          <p:cNvSpPr>
            <a:spLocks noGrp="1"/>
          </p:cNvSpPr>
          <p:nvPr>
            <p:ph idx="1"/>
          </p:nvPr>
        </p:nvSpPr>
        <p:spPr/>
        <p:txBody>
          <a:bodyPr>
            <a:normAutofit fontScale="92500" lnSpcReduction="10000"/>
          </a:bodyPr>
          <a:lstStyle/>
          <a:p>
            <a:r>
              <a:rPr lang="en-US" dirty="0"/>
              <a:t>Substitution</a:t>
            </a:r>
          </a:p>
          <a:p>
            <a:pPr lvl="1"/>
            <a:r>
              <a:rPr lang="en-US" dirty="0"/>
              <a:t>Typically an “S-BOX” message bytes used as index to table of new value</a:t>
            </a:r>
          </a:p>
          <a:p>
            <a:pPr lvl="1"/>
            <a:r>
              <a:rPr lang="en-US" dirty="0"/>
              <a:t>New values in given order</a:t>
            </a:r>
          </a:p>
          <a:p>
            <a:r>
              <a:rPr lang="en-US" dirty="0"/>
              <a:t>Transposition</a:t>
            </a:r>
          </a:p>
          <a:p>
            <a:pPr lvl="1"/>
            <a:r>
              <a:rPr lang="en-US" dirty="0"/>
              <a:t>Rotations and shifts of bytes</a:t>
            </a:r>
          </a:p>
          <a:p>
            <a:pPr lvl="1"/>
            <a:r>
              <a:rPr lang="en-US" dirty="0"/>
              <a:t>New order with given values</a:t>
            </a:r>
          </a:p>
          <a:p>
            <a:r>
              <a:rPr lang="en-US" dirty="0"/>
              <a:t>Diffusion operations</a:t>
            </a:r>
          </a:p>
          <a:p>
            <a:pPr lvl="1"/>
            <a:r>
              <a:rPr lang="en-US" dirty="0"/>
              <a:t>Vector multiplication, XOR</a:t>
            </a:r>
          </a:p>
          <a:p>
            <a:r>
              <a:rPr lang="en-US" dirty="0"/>
              <a:t>AES Animation</a:t>
            </a:r>
          </a:p>
          <a:p>
            <a:pPr lvl="1"/>
            <a:r>
              <a:rPr lang="en-US" sz="1500" dirty="0">
                <a:hlinkClick r:id="rId3"/>
              </a:rPr>
              <a:t>http://www.formaestudio.com/rijndaelinspector/archivos/Rijndael_Animation_v4_eng.swf</a:t>
            </a:r>
            <a:r>
              <a:rPr lang="en-US" sz="1500" dirty="0"/>
              <a:t> </a:t>
            </a:r>
          </a:p>
        </p:txBody>
      </p:sp>
    </p:spTree>
    <p:extLst>
      <p:ext uri="{BB962C8B-B14F-4D97-AF65-F5344CB8AC3E}">
        <p14:creationId xmlns:p14="http://schemas.microsoft.com/office/powerpoint/2010/main" val="884891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6706574" y="1524000"/>
            <a:ext cx="3200400" cy="5029200"/>
          </a:xfrm>
          <a:prstGeom prst="rect">
            <a:avLst/>
          </a:prstGeom>
          <a:pattFill prst="pct20">
            <a:fgClr>
              <a:schemeClr val="bg1">
                <a:lumMod val="85000"/>
              </a:schemeClr>
            </a:fgClr>
            <a:bgClr>
              <a:schemeClr val="bg1"/>
            </a:bgClr>
          </a:pattFill>
          <a:ln w="127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Bob</a:t>
            </a:r>
          </a:p>
        </p:txBody>
      </p:sp>
      <p:sp>
        <p:nvSpPr>
          <p:cNvPr id="15" name="Rectangle 14"/>
          <p:cNvSpPr/>
          <p:nvPr/>
        </p:nvSpPr>
        <p:spPr>
          <a:xfrm>
            <a:off x="2362200" y="1524000"/>
            <a:ext cx="3200400" cy="5029200"/>
          </a:xfrm>
          <a:prstGeom prst="rect">
            <a:avLst/>
          </a:prstGeom>
          <a:pattFill prst="pct20">
            <a:fgClr>
              <a:schemeClr val="bg1">
                <a:lumMod val="85000"/>
              </a:schemeClr>
            </a:fgClr>
            <a:bgClr>
              <a:schemeClr val="bg1"/>
            </a:bgClr>
          </a:pattFill>
          <a:ln w="127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Alice</a:t>
            </a:r>
          </a:p>
        </p:txBody>
      </p:sp>
      <p:sp>
        <p:nvSpPr>
          <p:cNvPr id="2" name="Title 1"/>
          <p:cNvSpPr>
            <a:spLocks noGrp="1"/>
          </p:cNvSpPr>
          <p:nvPr>
            <p:ph type="title"/>
          </p:nvPr>
        </p:nvSpPr>
        <p:spPr/>
        <p:txBody>
          <a:bodyPr>
            <a:normAutofit/>
          </a:bodyPr>
          <a:lstStyle/>
          <a:p>
            <a:r>
              <a:rPr lang="en-US" dirty="0"/>
              <a:t>Symmetric Encryption</a:t>
            </a:r>
          </a:p>
        </p:txBody>
      </p:sp>
      <p:sp>
        <p:nvSpPr>
          <p:cNvPr id="3" name="Rectangle 2"/>
          <p:cNvSpPr/>
          <p:nvPr/>
        </p:nvSpPr>
        <p:spPr>
          <a:xfrm rot="16200000">
            <a:off x="2324100" y="2362200"/>
            <a:ext cx="1524000" cy="381000"/>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Message</a:t>
            </a:r>
          </a:p>
        </p:txBody>
      </p:sp>
      <p:sp>
        <p:nvSpPr>
          <p:cNvPr id="4" name="Rectangle 3"/>
          <p:cNvSpPr/>
          <p:nvPr/>
        </p:nvSpPr>
        <p:spPr>
          <a:xfrm rot="16200000">
            <a:off x="5372100" y="2362200"/>
            <a:ext cx="1524000" cy="381000"/>
          </a:xfrm>
          <a:prstGeom prst="rect">
            <a:avLst/>
          </a:prstGeom>
          <a:pattFill prst="pct90">
            <a:fgClr>
              <a:srgbClr val="FF0000"/>
            </a:fgClr>
            <a:bgClr>
              <a:schemeClr val="bg1"/>
            </a:bgClr>
          </a:patt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Cipher text</a:t>
            </a:r>
          </a:p>
        </p:txBody>
      </p:sp>
      <p:sp>
        <p:nvSpPr>
          <p:cNvPr id="5" name="Rectangle 4"/>
          <p:cNvSpPr/>
          <p:nvPr/>
        </p:nvSpPr>
        <p:spPr>
          <a:xfrm rot="16200000">
            <a:off x="8420100" y="2362200"/>
            <a:ext cx="1524000" cy="381000"/>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Message</a:t>
            </a:r>
          </a:p>
        </p:txBody>
      </p:sp>
      <p:sp>
        <p:nvSpPr>
          <p:cNvPr id="7" name="Oval 6"/>
          <p:cNvSpPr/>
          <p:nvPr/>
        </p:nvSpPr>
        <p:spPr>
          <a:xfrm>
            <a:off x="4343400" y="2362199"/>
            <a:ext cx="381000" cy="381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E</a:t>
            </a:r>
          </a:p>
        </p:txBody>
      </p:sp>
      <p:sp>
        <p:nvSpPr>
          <p:cNvPr id="17" name="TextBox 16"/>
          <p:cNvSpPr txBox="1"/>
          <p:nvPr/>
        </p:nvSpPr>
        <p:spPr>
          <a:xfrm>
            <a:off x="4370824" y="3314700"/>
            <a:ext cx="325730" cy="400110"/>
          </a:xfrm>
          <a:prstGeom prst="rect">
            <a:avLst/>
          </a:prstGeom>
          <a:noFill/>
        </p:spPr>
        <p:txBody>
          <a:bodyPr wrap="none" rtlCol="0">
            <a:spAutoFit/>
          </a:bodyPr>
          <a:lstStyle/>
          <a:p>
            <a:r>
              <a:rPr lang="en-US" sz="2000" b="1" dirty="0">
                <a:solidFill>
                  <a:schemeClr val="tx2">
                    <a:lumMod val="60000"/>
                    <a:lumOff val="40000"/>
                  </a:schemeClr>
                </a:solidFill>
              </a:rPr>
              <a:t>K</a:t>
            </a:r>
          </a:p>
        </p:txBody>
      </p:sp>
      <p:sp>
        <p:nvSpPr>
          <p:cNvPr id="18" name="Oval 17"/>
          <p:cNvSpPr/>
          <p:nvPr/>
        </p:nvSpPr>
        <p:spPr>
          <a:xfrm>
            <a:off x="7672751" y="2362199"/>
            <a:ext cx="381000" cy="381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a:t>
            </a:r>
          </a:p>
        </p:txBody>
      </p:sp>
      <p:cxnSp>
        <p:nvCxnSpPr>
          <p:cNvPr id="20" name="Straight Arrow Connector 19"/>
          <p:cNvCxnSpPr>
            <a:stCxn id="3" idx="2"/>
            <a:endCxn id="7" idx="2"/>
          </p:cNvCxnSpPr>
          <p:nvPr/>
        </p:nvCxnSpPr>
        <p:spPr>
          <a:xfrm flipV="1">
            <a:off x="3276600" y="2552700"/>
            <a:ext cx="1066800" cy="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7" idx="0"/>
            <a:endCxn id="7" idx="4"/>
          </p:cNvCxnSpPr>
          <p:nvPr/>
        </p:nvCxnSpPr>
        <p:spPr>
          <a:xfrm flipV="1">
            <a:off x="4533690" y="2743200"/>
            <a:ext cx="211" cy="57150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6"/>
            <a:endCxn id="4" idx="0"/>
          </p:cNvCxnSpPr>
          <p:nvPr/>
        </p:nvCxnSpPr>
        <p:spPr>
          <a:xfrm>
            <a:off x="4724400" y="2552700"/>
            <a:ext cx="1219200" cy="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4" idx="2"/>
            <a:endCxn id="18" idx="2"/>
          </p:cNvCxnSpPr>
          <p:nvPr/>
        </p:nvCxnSpPr>
        <p:spPr>
          <a:xfrm flipV="1">
            <a:off x="6324601" y="2552700"/>
            <a:ext cx="1348151" cy="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8" idx="6"/>
            <a:endCxn id="5" idx="0"/>
          </p:cNvCxnSpPr>
          <p:nvPr/>
        </p:nvCxnSpPr>
        <p:spPr>
          <a:xfrm>
            <a:off x="8053752" y="2552700"/>
            <a:ext cx="937849" cy="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7696200" y="3314701"/>
            <a:ext cx="325730" cy="400110"/>
          </a:xfrm>
          <a:prstGeom prst="rect">
            <a:avLst/>
          </a:prstGeom>
          <a:noFill/>
        </p:spPr>
        <p:txBody>
          <a:bodyPr wrap="none" rtlCol="0">
            <a:spAutoFit/>
          </a:bodyPr>
          <a:lstStyle/>
          <a:p>
            <a:r>
              <a:rPr lang="en-US" sz="2000" b="1" dirty="0">
                <a:solidFill>
                  <a:schemeClr val="tx2">
                    <a:lumMod val="60000"/>
                    <a:lumOff val="40000"/>
                  </a:schemeClr>
                </a:solidFill>
              </a:rPr>
              <a:t>K</a:t>
            </a:r>
          </a:p>
        </p:txBody>
      </p:sp>
      <p:cxnSp>
        <p:nvCxnSpPr>
          <p:cNvPr id="36" name="Straight Arrow Connector 35"/>
          <p:cNvCxnSpPr>
            <a:stCxn id="35" idx="0"/>
          </p:cNvCxnSpPr>
          <p:nvPr/>
        </p:nvCxnSpPr>
        <p:spPr>
          <a:xfrm flipV="1">
            <a:off x="7859066" y="2743201"/>
            <a:ext cx="211" cy="57150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2505848" y="5410201"/>
            <a:ext cx="2940357" cy="646331"/>
          </a:xfrm>
          <a:prstGeom prst="rect">
            <a:avLst/>
          </a:prstGeom>
          <a:noFill/>
        </p:spPr>
        <p:txBody>
          <a:bodyPr wrap="none" rtlCol="0">
            <a:spAutoFit/>
          </a:bodyPr>
          <a:lstStyle/>
          <a:p>
            <a:r>
              <a:rPr lang="en-US" sz="1400" dirty="0"/>
              <a:t>Alice shares a key </a:t>
            </a:r>
            <a:r>
              <a:rPr lang="en-US" b="1" dirty="0">
                <a:solidFill>
                  <a:schemeClr val="tx2">
                    <a:lumMod val="60000"/>
                    <a:lumOff val="40000"/>
                  </a:schemeClr>
                </a:solidFill>
              </a:rPr>
              <a:t>K</a:t>
            </a:r>
            <a:r>
              <a:rPr lang="en-US" sz="1400" dirty="0"/>
              <a:t> with Bob.</a:t>
            </a:r>
          </a:p>
          <a:p>
            <a:r>
              <a:rPr lang="en-US" b="1" dirty="0">
                <a:solidFill>
                  <a:schemeClr val="tx2">
                    <a:lumMod val="60000"/>
                    <a:lumOff val="40000"/>
                  </a:schemeClr>
                </a:solidFill>
              </a:rPr>
              <a:t>K</a:t>
            </a:r>
            <a:r>
              <a:rPr lang="en-US" sz="1400" dirty="0"/>
              <a:t> is used to both encrypt and decrypt</a:t>
            </a:r>
          </a:p>
        </p:txBody>
      </p:sp>
    </p:spTree>
    <p:extLst>
      <p:ext uri="{BB962C8B-B14F-4D97-AF65-F5344CB8AC3E}">
        <p14:creationId xmlns:p14="http://schemas.microsoft.com/office/powerpoint/2010/main" val="3660493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Symmetric Encryption</a:t>
            </a:r>
          </a:p>
        </p:txBody>
      </p:sp>
      <p:sp>
        <p:nvSpPr>
          <p:cNvPr id="3" name="TextBox 2"/>
          <p:cNvSpPr txBox="1"/>
          <p:nvPr/>
        </p:nvSpPr>
        <p:spPr>
          <a:xfrm>
            <a:off x="2398513" y="3648294"/>
            <a:ext cx="7394973" cy="646331"/>
          </a:xfrm>
          <a:prstGeom prst="rect">
            <a:avLst/>
          </a:prstGeom>
          <a:noFill/>
        </p:spPr>
        <p:txBody>
          <a:bodyPr wrap="none" rtlCol="0">
            <a:spAutoFit/>
          </a:bodyPr>
          <a:lstStyle/>
          <a:p>
            <a:r>
              <a:rPr lang="en-US" sz="3600" dirty="0">
                <a:latin typeface="Courier New" panose="02070309020205020404" pitchFamily="49" charset="0"/>
                <a:cs typeface="Courier New" panose="02070309020205020404" pitchFamily="49" charset="0"/>
              </a:rPr>
              <a:t>ABCDEFGHIJKLMNOPQRSTUVWXYZ</a:t>
            </a:r>
          </a:p>
        </p:txBody>
      </p:sp>
      <p:sp>
        <p:nvSpPr>
          <p:cNvPr id="4" name="TextBox 3"/>
          <p:cNvSpPr txBox="1"/>
          <p:nvPr/>
        </p:nvSpPr>
        <p:spPr>
          <a:xfrm>
            <a:off x="4894388" y="2209801"/>
            <a:ext cx="2403222" cy="646331"/>
          </a:xfrm>
          <a:prstGeom prst="rect">
            <a:avLst/>
          </a:prstGeom>
          <a:noFill/>
        </p:spPr>
        <p:txBody>
          <a:bodyPr wrap="none" rtlCol="0">
            <a:spAutoFit/>
          </a:bodyPr>
          <a:lstStyle/>
          <a:p>
            <a:r>
              <a:rPr lang="en-US" sz="3600" dirty="0">
                <a:latin typeface="Courier New" panose="02070309020205020404" pitchFamily="49" charset="0"/>
                <a:cs typeface="Courier New" panose="02070309020205020404" pitchFamily="49" charset="0"/>
              </a:rPr>
              <a:t>ZLOGFDWV</a:t>
            </a:r>
          </a:p>
        </p:txBody>
      </p:sp>
      <p:sp>
        <p:nvSpPr>
          <p:cNvPr id="5" name="Arc 4"/>
          <p:cNvSpPr/>
          <p:nvPr/>
        </p:nvSpPr>
        <p:spPr>
          <a:xfrm rot="8171437">
            <a:off x="8658044" y="3376619"/>
            <a:ext cx="838200" cy="914400"/>
          </a:xfrm>
          <a:prstGeom prst="arc">
            <a:avLst/>
          </a:prstGeom>
          <a:ln w="1587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Arc 5"/>
          <p:cNvSpPr/>
          <p:nvPr/>
        </p:nvSpPr>
        <p:spPr>
          <a:xfrm rot="8171437">
            <a:off x="4848044" y="3376619"/>
            <a:ext cx="838200" cy="914400"/>
          </a:xfrm>
          <a:prstGeom prst="arc">
            <a:avLst/>
          </a:prstGeom>
          <a:ln w="1587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Arc 6"/>
          <p:cNvSpPr/>
          <p:nvPr/>
        </p:nvSpPr>
        <p:spPr>
          <a:xfrm rot="8171437">
            <a:off x="5676898" y="3376619"/>
            <a:ext cx="838200" cy="914400"/>
          </a:xfrm>
          <a:prstGeom prst="arc">
            <a:avLst/>
          </a:prstGeom>
          <a:ln w="1587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Arc 7"/>
          <p:cNvSpPr/>
          <p:nvPr/>
        </p:nvSpPr>
        <p:spPr>
          <a:xfrm rot="8171437">
            <a:off x="3470418" y="3376619"/>
            <a:ext cx="838200" cy="914400"/>
          </a:xfrm>
          <a:prstGeom prst="arc">
            <a:avLst/>
          </a:prstGeom>
          <a:ln w="1587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Arc 8"/>
          <p:cNvSpPr/>
          <p:nvPr/>
        </p:nvSpPr>
        <p:spPr>
          <a:xfrm rot="8171437">
            <a:off x="3223562" y="3376619"/>
            <a:ext cx="838200" cy="914400"/>
          </a:xfrm>
          <a:prstGeom prst="arc">
            <a:avLst/>
          </a:prstGeom>
          <a:ln w="1587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Arc 9"/>
          <p:cNvSpPr/>
          <p:nvPr/>
        </p:nvSpPr>
        <p:spPr>
          <a:xfrm rot="8171437">
            <a:off x="7829189" y="3376619"/>
            <a:ext cx="838200" cy="914400"/>
          </a:xfrm>
          <a:prstGeom prst="arc">
            <a:avLst/>
          </a:prstGeom>
          <a:ln w="1587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Arc 10"/>
          <p:cNvSpPr/>
          <p:nvPr/>
        </p:nvSpPr>
        <p:spPr>
          <a:xfrm rot="8171437">
            <a:off x="7582332" y="3376619"/>
            <a:ext cx="838200" cy="914400"/>
          </a:xfrm>
          <a:prstGeom prst="arc">
            <a:avLst/>
          </a:prstGeom>
          <a:ln w="1587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Arc 11"/>
          <p:cNvSpPr/>
          <p:nvPr/>
        </p:nvSpPr>
        <p:spPr>
          <a:xfrm rot="8171437">
            <a:off x="2534444" y="3376619"/>
            <a:ext cx="838200" cy="914400"/>
          </a:xfrm>
          <a:prstGeom prst="arc">
            <a:avLst/>
          </a:prstGeom>
          <a:ln w="15875">
            <a:solidFill>
              <a:srgbClr val="FF0000"/>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4894388" y="5029201"/>
            <a:ext cx="2403222" cy="646331"/>
          </a:xfrm>
          <a:prstGeom prst="rect">
            <a:avLst/>
          </a:prstGeom>
          <a:noFill/>
        </p:spPr>
        <p:txBody>
          <a:bodyPr wrap="none" rtlCol="0">
            <a:spAutoFit/>
          </a:bodyPr>
          <a:lstStyle/>
          <a:p>
            <a:r>
              <a:rPr lang="en-US" sz="3600" dirty="0">
                <a:latin typeface="Courier New" panose="02070309020205020404" pitchFamily="49" charset="0"/>
                <a:cs typeface="Courier New" panose="02070309020205020404" pitchFamily="49" charset="0"/>
              </a:rPr>
              <a:t>WILDCATS</a:t>
            </a:r>
          </a:p>
        </p:txBody>
      </p:sp>
    </p:spTree>
    <p:extLst>
      <p:ext uri="{BB962C8B-B14F-4D97-AF65-F5344CB8AC3E}">
        <p14:creationId xmlns:p14="http://schemas.microsoft.com/office/powerpoint/2010/main" val="3158600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1000"/>
                                  </p:stCondLst>
                                  <p:childTnLst>
                                    <p:set>
                                      <p:cBhvr>
                                        <p:cTn id="13" dur="1" fill="hold">
                                          <p:stCondLst>
                                            <p:cond delay="0"/>
                                          </p:stCondLst>
                                        </p:cTn>
                                        <p:tgtEl>
                                          <p:spTgt spid="6"/>
                                        </p:tgtEl>
                                        <p:attrNameLst>
                                          <p:attrName>style.visibility</p:attrName>
                                        </p:attrNameLst>
                                      </p:cBhvr>
                                      <p:to>
                                        <p:strVal val="visible"/>
                                      </p:to>
                                    </p:set>
                                  </p:childTnLst>
                                </p:cTn>
                              </p:par>
                            </p:childTnLst>
                          </p:cTn>
                        </p:par>
                        <p:par>
                          <p:cTn id="14" fill="hold">
                            <p:stCondLst>
                              <p:cond delay="1000"/>
                            </p:stCondLst>
                            <p:childTnLst>
                              <p:par>
                                <p:cTn id="15" presetID="1" presetClass="entr" presetSubtype="0" fill="hold" grpId="0" nodeType="afterEffect">
                                  <p:stCondLst>
                                    <p:cond delay="1000"/>
                                  </p:stCondLst>
                                  <p:childTnLst>
                                    <p:set>
                                      <p:cBhvr>
                                        <p:cTn id="16" dur="1" fill="hold">
                                          <p:stCondLst>
                                            <p:cond delay="0"/>
                                          </p:stCondLst>
                                        </p:cTn>
                                        <p:tgtEl>
                                          <p:spTgt spid="7"/>
                                        </p:tgtEl>
                                        <p:attrNameLst>
                                          <p:attrName>style.visibility</p:attrName>
                                        </p:attrNameLst>
                                      </p:cBhvr>
                                      <p:to>
                                        <p:strVal val="visible"/>
                                      </p:to>
                                    </p:set>
                                  </p:childTnLst>
                                </p:cTn>
                              </p:par>
                            </p:childTnLst>
                          </p:cTn>
                        </p:par>
                        <p:par>
                          <p:cTn id="17" fill="hold">
                            <p:stCondLst>
                              <p:cond delay="2000"/>
                            </p:stCondLst>
                            <p:childTnLst>
                              <p:par>
                                <p:cTn id="18" presetID="1" presetClass="entr" presetSubtype="0" fill="hold" grpId="0" nodeType="afterEffect">
                                  <p:stCondLst>
                                    <p:cond delay="1000"/>
                                  </p:stCondLst>
                                  <p:childTnLst>
                                    <p:set>
                                      <p:cBhvr>
                                        <p:cTn id="19" dur="1" fill="hold">
                                          <p:stCondLst>
                                            <p:cond delay="0"/>
                                          </p:stCondLst>
                                        </p:cTn>
                                        <p:tgtEl>
                                          <p:spTgt spid="8"/>
                                        </p:tgtEl>
                                        <p:attrNameLst>
                                          <p:attrName>style.visibility</p:attrName>
                                        </p:attrNameLst>
                                      </p:cBhvr>
                                      <p:to>
                                        <p:strVal val="visible"/>
                                      </p:to>
                                    </p:set>
                                  </p:childTnLst>
                                </p:cTn>
                              </p:par>
                            </p:childTnLst>
                          </p:cTn>
                        </p:par>
                        <p:par>
                          <p:cTn id="20" fill="hold">
                            <p:stCondLst>
                              <p:cond delay="3000"/>
                            </p:stCondLst>
                            <p:childTnLst>
                              <p:par>
                                <p:cTn id="21" presetID="1" presetClass="entr" presetSubtype="0" fill="hold" grpId="0" nodeType="afterEffect">
                                  <p:stCondLst>
                                    <p:cond delay="1000"/>
                                  </p:stCondLst>
                                  <p:childTnLst>
                                    <p:set>
                                      <p:cBhvr>
                                        <p:cTn id="22" dur="1" fill="hold">
                                          <p:stCondLst>
                                            <p:cond delay="0"/>
                                          </p:stCondLst>
                                        </p:cTn>
                                        <p:tgtEl>
                                          <p:spTgt spid="9"/>
                                        </p:tgtEl>
                                        <p:attrNameLst>
                                          <p:attrName>style.visibility</p:attrName>
                                        </p:attrNameLst>
                                      </p:cBhvr>
                                      <p:to>
                                        <p:strVal val="visible"/>
                                      </p:to>
                                    </p:set>
                                  </p:childTnLst>
                                </p:cTn>
                              </p:par>
                            </p:childTnLst>
                          </p:cTn>
                        </p:par>
                        <p:par>
                          <p:cTn id="23" fill="hold">
                            <p:stCondLst>
                              <p:cond delay="4000"/>
                            </p:stCondLst>
                            <p:childTnLst>
                              <p:par>
                                <p:cTn id="24" presetID="1" presetClass="entr" presetSubtype="0" fill="hold" grpId="0" nodeType="afterEffect">
                                  <p:stCondLst>
                                    <p:cond delay="1000"/>
                                  </p:stCondLst>
                                  <p:childTnLst>
                                    <p:set>
                                      <p:cBhvr>
                                        <p:cTn id="25" dur="1" fill="hold">
                                          <p:stCondLst>
                                            <p:cond delay="0"/>
                                          </p:stCondLst>
                                        </p:cTn>
                                        <p:tgtEl>
                                          <p:spTgt spid="12"/>
                                        </p:tgtEl>
                                        <p:attrNameLst>
                                          <p:attrName>style.visibility</p:attrName>
                                        </p:attrNameLst>
                                      </p:cBhvr>
                                      <p:to>
                                        <p:strVal val="visible"/>
                                      </p:to>
                                    </p:set>
                                  </p:childTnLst>
                                </p:cTn>
                              </p:par>
                            </p:childTnLst>
                          </p:cTn>
                        </p:par>
                        <p:par>
                          <p:cTn id="26" fill="hold">
                            <p:stCondLst>
                              <p:cond delay="5000"/>
                            </p:stCondLst>
                            <p:childTnLst>
                              <p:par>
                                <p:cTn id="27" presetID="1" presetClass="entr" presetSubtype="0" fill="hold" grpId="0" nodeType="afterEffect">
                                  <p:stCondLst>
                                    <p:cond delay="1000"/>
                                  </p:stCondLst>
                                  <p:childTnLst>
                                    <p:set>
                                      <p:cBhvr>
                                        <p:cTn id="28" dur="1" fill="hold">
                                          <p:stCondLst>
                                            <p:cond delay="0"/>
                                          </p:stCondLst>
                                        </p:cTn>
                                        <p:tgtEl>
                                          <p:spTgt spid="10"/>
                                        </p:tgtEl>
                                        <p:attrNameLst>
                                          <p:attrName>style.visibility</p:attrName>
                                        </p:attrNameLst>
                                      </p:cBhvr>
                                      <p:to>
                                        <p:strVal val="visible"/>
                                      </p:to>
                                    </p:set>
                                  </p:childTnLst>
                                </p:cTn>
                              </p:par>
                            </p:childTnLst>
                          </p:cTn>
                        </p:par>
                        <p:par>
                          <p:cTn id="29" fill="hold">
                            <p:stCondLst>
                              <p:cond delay="6000"/>
                            </p:stCondLst>
                            <p:childTnLst>
                              <p:par>
                                <p:cTn id="30" presetID="1" presetClass="entr" presetSubtype="0" fill="hold" grpId="0" nodeType="afterEffect">
                                  <p:stCondLst>
                                    <p:cond delay="1000"/>
                                  </p:stCondLst>
                                  <p:childTnLst>
                                    <p:set>
                                      <p:cBhvr>
                                        <p:cTn id="31" dur="1" fill="hold">
                                          <p:stCondLst>
                                            <p:cond delay="0"/>
                                          </p:stCondLst>
                                        </p:cTn>
                                        <p:tgtEl>
                                          <p:spTgt spid="1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6" grpId="0" animBg="1"/>
      <p:bldP spid="7" grpId="0" animBg="1"/>
      <p:bldP spid="8" grpId="0" animBg="1"/>
      <p:bldP spid="9" grpId="0" animBg="1"/>
      <p:bldP spid="10" grpId="0" animBg="1"/>
      <p:bldP spid="11" grpId="0" animBg="1"/>
      <p:bldP spid="12" grpId="0" animBg="1"/>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3601" y="344500"/>
            <a:ext cx="8077199" cy="6054759"/>
          </a:xfrm>
          <a:prstGeom prst="rect">
            <a:avLst/>
          </a:prstGeom>
        </p:spPr>
      </p:pic>
    </p:spTree>
    <p:extLst>
      <p:ext uri="{BB962C8B-B14F-4D97-AF65-F5344CB8AC3E}">
        <p14:creationId xmlns:p14="http://schemas.microsoft.com/office/powerpoint/2010/main" val="251787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Asymmetric Algorithms</a:t>
            </a:r>
          </a:p>
        </p:txBody>
      </p:sp>
      <p:sp>
        <p:nvSpPr>
          <p:cNvPr id="3" name="Content Placeholder 2"/>
          <p:cNvSpPr>
            <a:spLocks noGrp="1"/>
          </p:cNvSpPr>
          <p:nvPr>
            <p:ph idx="1"/>
          </p:nvPr>
        </p:nvSpPr>
        <p:spPr/>
        <p:txBody>
          <a:bodyPr vert="horz" lIns="91440" tIns="45720" rIns="91440" bIns="45720" rtlCol="0" anchor="t">
            <a:normAutofit/>
          </a:bodyPr>
          <a:lstStyle/>
          <a:p>
            <a:r>
              <a:rPr lang="en-US" dirty="0"/>
              <a:t>Based on the presumed hardness of a mathematical problem, for example:</a:t>
            </a:r>
          </a:p>
          <a:p>
            <a:pPr lvl="1"/>
            <a:r>
              <a:rPr lang="en-US" dirty="0"/>
              <a:t>Factoring the product of two large primes (RSA)</a:t>
            </a:r>
          </a:p>
          <a:p>
            <a:pPr lvl="1"/>
            <a:r>
              <a:rPr lang="en-US" dirty="0"/>
              <a:t>Computing discrete logarithms (ECC)</a:t>
            </a:r>
          </a:p>
          <a:p>
            <a:r>
              <a:rPr lang="en-US" dirty="0"/>
              <a:t>Keys are generated together (paired)</a:t>
            </a:r>
          </a:p>
          <a:p>
            <a:pPr lvl="1"/>
            <a:r>
              <a:rPr lang="en-US" dirty="0"/>
              <a:t>One key is kept secret (Private key)</a:t>
            </a:r>
          </a:p>
          <a:p>
            <a:pPr lvl="1"/>
            <a:r>
              <a:rPr lang="en-US" dirty="0"/>
              <a:t>One key is “given” to everyone (Public Key)</a:t>
            </a:r>
          </a:p>
          <a:p>
            <a:r>
              <a:rPr lang="en-US" dirty="0"/>
              <a:t>Certificates associate a specific user with a specific public key.</a:t>
            </a:r>
          </a:p>
        </p:txBody>
      </p:sp>
    </p:spTree>
    <p:extLst>
      <p:ext uri="{BB962C8B-B14F-4D97-AF65-F5344CB8AC3E}">
        <p14:creationId xmlns:p14="http://schemas.microsoft.com/office/powerpoint/2010/main" val="1684632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6706574" y="1524000"/>
            <a:ext cx="3200400" cy="5029200"/>
          </a:xfrm>
          <a:prstGeom prst="rect">
            <a:avLst/>
          </a:prstGeom>
          <a:pattFill prst="pct20">
            <a:fgClr>
              <a:schemeClr val="bg1">
                <a:lumMod val="85000"/>
              </a:schemeClr>
            </a:fgClr>
            <a:bgClr>
              <a:schemeClr val="bg1"/>
            </a:bgClr>
          </a:pattFill>
          <a:ln w="127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Bob</a:t>
            </a:r>
          </a:p>
        </p:txBody>
      </p:sp>
      <p:sp>
        <p:nvSpPr>
          <p:cNvPr id="15" name="Rectangle 14"/>
          <p:cNvSpPr/>
          <p:nvPr/>
        </p:nvSpPr>
        <p:spPr>
          <a:xfrm>
            <a:off x="2362200" y="1524000"/>
            <a:ext cx="3200400" cy="5029200"/>
          </a:xfrm>
          <a:prstGeom prst="rect">
            <a:avLst/>
          </a:prstGeom>
          <a:pattFill prst="pct20">
            <a:fgClr>
              <a:schemeClr val="bg1">
                <a:lumMod val="85000"/>
              </a:schemeClr>
            </a:fgClr>
            <a:bgClr>
              <a:schemeClr val="bg1"/>
            </a:bgClr>
          </a:pattFill>
          <a:ln w="127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Alice</a:t>
            </a:r>
          </a:p>
        </p:txBody>
      </p:sp>
      <p:sp>
        <p:nvSpPr>
          <p:cNvPr id="2" name="Title 1"/>
          <p:cNvSpPr>
            <a:spLocks noGrp="1"/>
          </p:cNvSpPr>
          <p:nvPr>
            <p:ph type="title"/>
          </p:nvPr>
        </p:nvSpPr>
        <p:spPr/>
        <p:txBody>
          <a:bodyPr>
            <a:normAutofit/>
          </a:bodyPr>
          <a:lstStyle/>
          <a:p>
            <a:r>
              <a:rPr lang="en-US" dirty="0"/>
              <a:t>Asymmetric Encryption</a:t>
            </a:r>
          </a:p>
        </p:txBody>
      </p:sp>
      <p:sp>
        <p:nvSpPr>
          <p:cNvPr id="3" name="Rectangle 2"/>
          <p:cNvSpPr/>
          <p:nvPr/>
        </p:nvSpPr>
        <p:spPr>
          <a:xfrm rot="16200000">
            <a:off x="2324100" y="2362200"/>
            <a:ext cx="1524000" cy="381000"/>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Message</a:t>
            </a:r>
          </a:p>
        </p:txBody>
      </p:sp>
      <p:sp>
        <p:nvSpPr>
          <p:cNvPr id="4" name="Rectangle 3"/>
          <p:cNvSpPr/>
          <p:nvPr/>
        </p:nvSpPr>
        <p:spPr>
          <a:xfrm rot="16200000">
            <a:off x="5372100" y="2362200"/>
            <a:ext cx="1524000" cy="381000"/>
          </a:xfrm>
          <a:prstGeom prst="rect">
            <a:avLst/>
          </a:prstGeom>
          <a:pattFill prst="pct90">
            <a:fgClr>
              <a:srgbClr val="FF0000"/>
            </a:fgClr>
            <a:bgClr>
              <a:schemeClr val="bg1"/>
            </a:bgClr>
          </a:patt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Cipher text</a:t>
            </a:r>
          </a:p>
        </p:txBody>
      </p:sp>
      <p:sp>
        <p:nvSpPr>
          <p:cNvPr id="5" name="Rectangle 4"/>
          <p:cNvSpPr/>
          <p:nvPr/>
        </p:nvSpPr>
        <p:spPr>
          <a:xfrm rot="16200000">
            <a:off x="8420100" y="2362200"/>
            <a:ext cx="1524000" cy="381000"/>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Message</a:t>
            </a:r>
          </a:p>
        </p:txBody>
      </p:sp>
      <p:sp>
        <p:nvSpPr>
          <p:cNvPr id="7" name="Oval 6"/>
          <p:cNvSpPr/>
          <p:nvPr/>
        </p:nvSpPr>
        <p:spPr>
          <a:xfrm>
            <a:off x="4343400" y="2362199"/>
            <a:ext cx="381000" cy="381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E</a:t>
            </a:r>
          </a:p>
        </p:txBody>
      </p:sp>
      <p:sp>
        <p:nvSpPr>
          <p:cNvPr id="17" name="TextBox 16"/>
          <p:cNvSpPr txBox="1"/>
          <p:nvPr/>
        </p:nvSpPr>
        <p:spPr>
          <a:xfrm>
            <a:off x="4022382" y="3287651"/>
            <a:ext cx="1023037" cy="400110"/>
          </a:xfrm>
          <a:prstGeom prst="rect">
            <a:avLst/>
          </a:prstGeom>
          <a:noFill/>
        </p:spPr>
        <p:txBody>
          <a:bodyPr wrap="none" rtlCol="0">
            <a:spAutoFit/>
          </a:bodyPr>
          <a:lstStyle/>
          <a:p>
            <a:r>
              <a:rPr lang="en-US" sz="2000" b="1" dirty="0" err="1">
                <a:solidFill>
                  <a:srgbClr val="00B050"/>
                </a:solidFill>
              </a:rPr>
              <a:t>Bob</a:t>
            </a:r>
            <a:r>
              <a:rPr lang="en-US" sz="2000" baseline="-25000" dirty="0" err="1">
                <a:solidFill>
                  <a:srgbClr val="00B050"/>
                </a:solidFill>
              </a:rPr>
              <a:t>public</a:t>
            </a:r>
            <a:endParaRPr lang="en-US" sz="2000" baseline="-25000" dirty="0">
              <a:solidFill>
                <a:srgbClr val="00B050"/>
              </a:solidFill>
            </a:endParaRPr>
          </a:p>
        </p:txBody>
      </p:sp>
      <p:sp>
        <p:nvSpPr>
          <p:cNvPr id="18" name="Oval 17"/>
          <p:cNvSpPr/>
          <p:nvPr/>
        </p:nvSpPr>
        <p:spPr>
          <a:xfrm>
            <a:off x="7672751" y="2362199"/>
            <a:ext cx="381000" cy="381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a:t>
            </a:r>
          </a:p>
        </p:txBody>
      </p:sp>
      <p:cxnSp>
        <p:nvCxnSpPr>
          <p:cNvPr id="20" name="Straight Arrow Connector 19"/>
          <p:cNvCxnSpPr>
            <a:stCxn id="3" idx="2"/>
            <a:endCxn id="7" idx="2"/>
          </p:cNvCxnSpPr>
          <p:nvPr/>
        </p:nvCxnSpPr>
        <p:spPr>
          <a:xfrm flipV="1">
            <a:off x="3276600" y="2552700"/>
            <a:ext cx="1066800" cy="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7" idx="0"/>
            <a:endCxn id="7" idx="4"/>
          </p:cNvCxnSpPr>
          <p:nvPr/>
        </p:nvCxnSpPr>
        <p:spPr>
          <a:xfrm flipV="1">
            <a:off x="4533900" y="2743199"/>
            <a:ext cx="0" cy="54445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6"/>
            <a:endCxn id="4" idx="0"/>
          </p:cNvCxnSpPr>
          <p:nvPr/>
        </p:nvCxnSpPr>
        <p:spPr>
          <a:xfrm>
            <a:off x="4724400" y="2552700"/>
            <a:ext cx="1219200" cy="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4" idx="2"/>
            <a:endCxn id="18" idx="2"/>
          </p:cNvCxnSpPr>
          <p:nvPr/>
        </p:nvCxnSpPr>
        <p:spPr>
          <a:xfrm flipV="1">
            <a:off x="6324601" y="2552700"/>
            <a:ext cx="1348151" cy="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8" idx="6"/>
            <a:endCxn id="5" idx="0"/>
          </p:cNvCxnSpPr>
          <p:nvPr/>
        </p:nvCxnSpPr>
        <p:spPr>
          <a:xfrm>
            <a:off x="8053752" y="2552700"/>
            <a:ext cx="937849" cy="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7319449" y="3314699"/>
            <a:ext cx="1087605" cy="400110"/>
          </a:xfrm>
          <a:prstGeom prst="rect">
            <a:avLst/>
          </a:prstGeom>
          <a:noFill/>
        </p:spPr>
        <p:txBody>
          <a:bodyPr wrap="none" rtlCol="0">
            <a:spAutoFit/>
          </a:bodyPr>
          <a:lstStyle/>
          <a:p>
            <a:r>
              <a:rPr lang="en-US" sz="2000" b="1" dirty="0" err="1">
                <a:solidFill>
                  <a:srgbClr val="FF0000"/>
                </a:solidFill>
              </a:rPr>
              <a:t>Bob</a:t>
            </a:r>
            <a:r>
              <a:rPr lang="en-US" sz="2000" baseline="-25000" dirty="0" err="1">
                <a:solidFill>
                  <a:srgbClr val="FF0000"/>
                </a:solidFill>
              </a:rPr>
              <a:t>private</a:t>
            </a:r>
            <a:endParaRPr lang="en-US" sz="2000" baseline="-25000" dirty="0">
              <a:solidFill>
                <a:srgbClr val="FF0000"/>
              </a:solidFill>
            </a:endParaRPr>
          </a:p>
        </p:txBody>
      </p:sp>
      <p:cxnSp>
        <p:nvCxnSpPr>
          <p:cNvPr id="36" name="Straight Arrow Connector 35"/>
          <p:cNvCxnSpPr>
            <a:stCxn id="35" idx="0"/>
            <a:endCxn id="18" idx="4"/>
          </p:cNvCxnSpPr>
          <p:nvPr/>
        </p:nvCxnSpPr>
        <p:spPr>
          <a:xfrm flipV="1">
            <a:off x="7863251" y="2743199"/>
            <a:ext cx="0" cy="5715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2505848" y="5410200"/>
            <a:ext cx="2862387" cy="738664"/>
          </a:xfrm>
          <a:prstGeom prst="rect">
            <a:avLst/>
          </a:prstGeom>
          <a:noFill/>
        </p:spPr>
        <p:txBody>
          <a:bodyPr wrap="none" rtlCol="0">
            <a:spAutoFit/>
          </a:bodyPr>
          <a:lstStyle/>
          <a:p>
            <a:r>
              <a:rPr lang="en-US" sz="1400" dirty="0"/>
              <a:t>Alice encrypts with Bob’s public key.</a:t>
            </a:r>
          </a:p>
          <a:p>
            <a:r>
              <a:rPr lang="en-US" sz="1400" dirty="0"/>
              <a:t>Bob uses his private key to decrypt.</a:t>
            </a:r>
          </a:p>
          <a:p>
            <a:r>
              <a:rPr lang="en-US" sz="1400" dirty="0"/>
              <a:t>The keys are mathematically related.</a:t>
            </a:r>
          </a:p>
        </p:txBody>
      </p:sp>
    </p:spTree>
    <p:extLst>
      <p:ext uri="{BB962C8B-B14F-4D97-AF65-F5344CB8AC3E}">
        <p14:creationId xmlns:p14="http://schemas.microsoft.com/office/powerpoint/2010/main" val="3524085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6706574" y="1524000"/>
            <a:ext cx="3200400" cy="5029200"/>
          </a:xfrm>
          <a:prstGeom prst="rect">
            <a:avLst/>
          </a:prstGeom>
          <a:pattFill prst="pct20">
            <a:fgClr>
              <a:schemeClr val="bg1">
                <a:lumMod val="85000"/>
              </a:schemeClr>
            </a:fgClr>
            <a:bgClr>
              <a:schemeClr val="bg1"/>
            </a:bgClr>
          </a:pattFill>
          <a:ln w="127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Bob</a:t>
            </a:r>
          </a:p>
        </p:txBody>
      </p:sp>
      <p:sp>
        <p:nvSpPr>
          <p:cNvPr id="15" name="Rectangle 14"/>
          <p:cNvSpPr/>
          <p:nvPr/>
        </p:nvSpPr>
        <p:spPr>
          <a:xfrm>
            <a:off x="2362200" y="1524000"/>
            <a:ext cx="3200400" cy="5029200"/>
          </a:xfrm>
          <a:prstGeom prst="rect">
            <a:avLst/>
          </a:prstGeom>
          <a:pattFill prst="pct20">
            <a:fgClr>
              <a:schemeClr val="bg1">
                <a:lumMod val="85000"/>
              </a:schemeClr>
            </a:fgClr>
            <a:bgClr>
              <a:schemeClr val="bg1"/>
            </a:bgClr>
          </a:pattFill>
          <a:ln w="127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Alice</a:t>
            </a:r>
          </a:p>
        </p:txBody>
      </p:sp>
      <p:sp>
        <p:nvSpPr>
          <p:cNvPr id="2" name="Title 1"/>
          <p:cNvSpPr>
            <a:spLocks noGrp="1"/>
          </p:cNvSpPr>
          <p:nvPr>
            <p:ph type="title"/>
          </p:nvPr>
        </p:nvSpPr>
        <p:spPr/>
        <p:txBody>
          <a:bodyPr>
            <a:normAutofit/>
          </a:bodyPr>
          <a:lstStyle/>
          <a:p>
            <a:r>
              <a:rPr lang="en-US" dirty="0"/>
              <a:t>Digital Signatures</a:t>
            </a:r>
          </a:p>
        </p:txBody>
      </p:sp>
      <p:sp>
        <p:nvSpPr>
          <p:cNvPr id="3" name="Rectangle 2"/>
          <p:cNvSpPr/>
          <p:nvPr/>
        </p:nvSpPr>
        <p:spPr>
          <a:xfrm rot="16200000">
            <a:off x="2324100" y="2362200"/>
            <a:ext cx="1524000" cy="381000"/>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Message</a:t>
            </a:r>
          </a:p>
        </p:txBody>
      </p:sp>
      <p:sp>
        <p:nvSpPr>
          <p:cNvPr id="4" name="Rectangle 3"/>
          <p:cNvSpPr/>
          <p:nvPr/>
        </p:nvSpPr>
        <p:spPr>
          <a:xfrm rot="16200000">
            <a:off x="5372100" y="2362200"/>
            <a:ext cx="1524000" cy="381000"/>
          </a:xfrm>
          <a:prstGeom prst="rect">
            <a:avLst/>
          </a:prstGeom>
          <a:pattFill prst="pct90">
            <a:fgClr>
              <a:srgbClr val="00B050"/>
            </a:fgClr>
            <a:bgClr>
              <a:schemeClr val="bg1"/>
            </a:bgClr>
          </a:patt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Cipher text</a:t>
            </a:r>
          </a:p>
        </p:txBody>
      </p:sp>
      <p:sp>
        <p:nvSpPr>
          <p:cNvPr id="5" name="Rectangle 4"/>
          <p:cNvSpPr/>
          <p:nvPr/>
        </p:nvSpPr>
        <p:spPr>
          <a:xfrm rot="16200000">
            <a:off x="8420100" y="2362200"/>
            <a:ext cx="1524000" cy="381000"/>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Message</a:t>
            </a:r>
          </a:p>
        </p:txBody>
      </p:sp>
      <p:sp>
        <p:nvSpPr>
          <p:cNvPr id="7" name="Oval 6"/>
          <p:cNvSpPr/>
          <p:nvPr/>
        </p:nvSpPr>
        <p:spPr>
          <a:xfrm>
            <a:off x="4343400" y="2362199"/>
            <a:ext cx="381000" cy="381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E</a:t>
            </a:r>
          </a:p>
        </p:txBody>
      </p:sp>
      <p:sp>
        <p:nvSpPr>
          <p:cNvPr id="17" name="TextBox 16"/>
          <p:cNvSpPr txBox="1"/>
          <p:nvPr/>
        </p:nvSpPr>
        <p:spPr>
          <a:xfrm>
            <a:off x="3942762" y="3287651"/>
            <a:ext cx="1185389" cy="400110"/>
          </a:xfrm>
          <a:prstGeom prst="rect">
            <a:avLst/>
          </a:prstGeom>
          <a:noFill/>
        </p:spPr>
        <p:txBody>
          <a:bodyPr wrap="none" rtlCol="0">
            <a:spAutoFit/>
          </a:bodyPr>
          <a:lstStyle/>
          <a:p>
            <a:r>
              <a:rPr lang="en-US" sz="2000" b="1" dirty="0" err="1">
                <a:solidFill>
                  <a:srgbClr val="FF0000"/>
                </a:solidFill>
              </a:rPr>
              <a:t>Alice</a:t>
            </a:r>
            <a:r>
              <a:rPr lang="en-US" sz="2000" baseline="-25000" dirty="0" err="1">
                <a:solidFill>
                  <a:srgbClr val="FF0000"/>
                </a:solidFill>
              </a:rPr>
              <a:t>private</a:t>
            </a:r>
            <a:endParaRPr lang="en-US" sz="2000" baseline="-25000" dirty="0">
              <a:solidFill>
                <a:srgbClr val="FF0000"/>
              </a:solidFill>
            </a:endParaRPr>
          </a:p>
        </p:txBody>
      </p:sp>
      <p:sp>
        <p:nvSpPr>
          <p:cNvPr id="18" name="Oval 17"/>
          <p:cNvSpPr/>
          <p:nvPr/>
        </p:nvSpPr>
        <p:spPr>
          <a:xfrm>
            <a:off x="7672751" y="2362199"/>
            <a:ext cx="381000" cy="381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a:t>
            </a:r>
          </a:p>
        </p:txBody>
      </p:sp>
      <p:cxnSp>
        <p:nvCxnSpPr>
          <p:cNvPr id="20" name="Straight Arrow Connector 19"/>
          <p:cNvCxnSpPr>
            <a:stCxn id="3" idx="2"/>
            <a:endCxn id="7" idx="2"/>
          </p:cNvCxnSpPr>
          <p:nvPr/>
        </p:nvCxnSpPr>
        <p:spPr>
          <a:xfrm flipV="1">
            <a:off x="3276600" y="2552700"/>
            <a:ext cx="1066800" cy="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7" idx="0"/>
            <a:endCxn id="7" idx="4"/>
          </p:cNvCxnSpPr>
          <p:nvPr/>
        </p:nvCxnSpPr>
        <p:spPr>
          <a:xfrm flipH="1" flipV="1">
            <a:off x="4533900" y="2743199"/>
            <a:ext cx="1556" cy="544452"/>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6"/>
            <a:endCxn id="4" idx="0"/>
          </p:cNvCxnSpPr>
          <p:nvPr/>
        </p:nvCxnSpPr>
        <p:spPr>
          <a:xfrm>
            <a:off x="4724400" y="2552700"/>
            <a:ext cx="1219200" cy="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4" idx="2"/>
            <a:endCxn id="18" idx="2"/>
          </p:cNvCxnSpPr>
          <p:nvPr/>
        </p:nvCxnSpPr>
        <p:spPr>
          <a:xfrm flipV="1">
            <a:off x="6324601" y="2552700"/>
            <a:ext cx="1348151" cy="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8" idx="6"/>
            <a:endCxn id="5" idx="0"/>
          </p:cNvCxnSpPr>
          <p:nvPr/>
        </p:nvCxnSpPr>
        <p:spPr>
          <a:xfrm>
            <a:off x="8053752" y="2552700"/>
            <a:ext cx="937849" cy="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7304198" y="3314699"/>
            <a:ext cx="1120820" cy="400110"/>
          </a:xfrm>
          <a:prstGeom prst="rect">
            <a:avLst/>
          </a:prstGeom>
          <a:noFill/>
        </p:spPr>
        <p:txBody>
          <a:bodyPr wrap="none" rtlCol="0">
            <a:spAutoFit/>
          </a:bodyPr>
          <a:lstStyle/>
          <a:p>
            <a:r>
              <a:rPr lang="en-US" sz="2000" b="1" dirty="0" err="1">
                <a:solidFill>
                  <a:srgbClr val="00B050"/>
                </a:solidFill>
              </a:rPr>
              <a:t>Alice</a:t>
            </a:r>
            <a:r>
              <a:rPr lang="en-US" sz="2000" baseline="-25000" dirty="0" err="1">
                <a:solidFill>
                  <a:srgbClr val="00B050"/>
                </a:solidFill>
              </a:rPr>
              <a:t>public</a:t>
            </a:r>
            <a:endParaRPr lang="en-US" sz="2000" baseline="-25000" dirty="0">
              <a:solidFill>
                <a:srgbClr val="00B050"/>
              </a:solidFill>
            </a:endParaRPr>
          </a:p>
        </p:txBody>
      </p:sp>
      <p:cxnSp>
        <p:nvCxnSpPr>
          <p:cNvPr id="36" name="Straight Arrow Connector 35"/>
          <p:cNvCxnSpPr>
            <a:stCxn id="35" idx="0"/>
            <a:endCxn id="18" idx="4"/>
          </p:cNvCxnSpPr>
          <p:nvPr/>
        </p:nvCxnSpPr>
        <p:spPr>
          <a:xfrm flipH="1" flipV="1">
            <a:off x="7863252" y="2743199"/>
            <a:ext cx="1357" cy="57150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2505847" y="5410200"/>
            <a:ext cx="2941574" cy="738664"/>
          </a:xfrm>
          <a:prstGeom prst="rect">
            <a:avLst/>
          </a:prstGeom>
          <a:noFill/>
        </p:spPr>
        <p:txBody>
          <a:bodyPr wrap="none" rtlCol="0">
            <a:spAutoFit/>
          </a:bodyPr>
          <a:lstStyle/>
          <a:p>
            <a:r>
              <a:rPr lang="en-US" sz="1400" dirty="0"/>
              <a:t>Alice encrypts with her private key.</a:t>
            </a:r>
          </a:p>
          <a:p>
            <a:r>
              <a:rPr lang="en-US" sz="1400" dirty="0"/>
              <a:t>Bob uses Alice’s public key to decrypt.</a:t>
            </a:r>
          </a:p>
          <a:p>
            <a:r>
              <a:rPr lang="en-US" sz="1400" dirty="0"/>
              <a:t>The keys are mathematically related.</a:t>
            </a:r>
          </a:p>
        </p:txBody>
      </p:sp>
    </p:spTree>
    <p:extLst>
      <p:ext uri="{BB962C8B-B14F-4D97-AF65-F5344CB8AC3E}">
        <p14:creationId xmlns:p14="http://schemas.microsoft.com/office/powerpoint/2010/main" val="1805289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RSA</a:t>
            </a:r>
          </a:p>
        </p:txBody>
      </p:sp>
      <p:sp>
        <p:nvSpPr>
          <p:cNvPr id="4" name="Content Placeholder 3"/>
          <p:cNvSpPr>
            <a:spLocks noGrp="1"/>
          </p:cNvSpPr>
          <p:nvPr>
            <p:ph idx="1"/>
          </p:nvPr>
        </p:nvSpPr>
        <p:spPr>
          <a:xfrm>
            <a:off x="1981200" y="1295400"/>
            <a:ext cx="8229600" cy="5334000"/>
          </a:xfrm>
        </p:spPr>
        <p:txBody>
          <a:bodyPr>
            <a:normAutofit fontScale="70000" lnSpcReduction="20000"/>
          </a:bodyPr>
          <a:lstStyle/>
          <a:p>
            <a:r>
              <a:rPr lang="en-US" dirty="0"/>
              <a:t>Key Generation Algorithm</a:t>
            </a:r>
          </a:p>
          <a:p>
            <a:pPr lvl="1"/>
            <a:r>
              <a:rPr lang="en-US" dirty="0"/>
              <a:t>Generate two large random primes, </a:t>
            </a:r>
            <a:r>
              <a:rPr lang="en-US" i="1" dirty="0"/>
              <a:t>p</a:t>
            </a:r>
            <a:r>
              <a:rPr lang="en-US" dirty="0"/>
              <a:t> and </a:t>
            </a:r>
            <a:r>
              <a:rPr lang="en-US" i="1" dirty="0"/>
              <a:t>q</a:t>
            </a:r>
            <a:r>
              <a:rPr lang="en-US" dirty="0"/>
              <a:t>, of approximately equal size such that their product n = pq is of the required bit length, e.g. 1024 bits. </a:t>
            </a:r>
          </a:p>
          <a:p>
            <a:pPr lvl="1"/>
            <a:r>
              <a:rPr lang="en-US" dirty="0"/>
              <a:t>Compute  (φ) phi = (p-1)(q-1).</a:t>
            </a:r>
          </a:p>
          <a:p>
            <a:pPr lvl="1"/>
            <a:r>
              <a:rPr lang="en-US" dirty="0"/>
              <a:t>Choose an integer </a:t>
            </a:r>
            <a:r>
              <a:rPr lang="en-US" i="1" dirty="0"/>
              <a:t>e</a:t>
            </a:r>
            <a:r>
              <a:rPr lang="en-US" dirty="0"/>
              <a:t>, 1 &lt; e &lt; phi, such that gcd(e, phi) = 1</a:t>
            </a:r>
          </a:p>
          <a:p>
            <a:pPr lvl="1"/>
            <a:r>
              <a:rPr lang="en-US" dirty="0"/>
              <a:t>Compute the secret exponent </a:t>
            </a:r>
            <a:r>
              <a:rPr lang="en-US" i="1" dirty="0"/>
              <a:t>d</a:t>
            </a:r>
            <a:r>
              <a:rPr lang="en-US" dirty="0"/>
              <a:t>, 1 &lt; d &lt; phi, such that ed ≡ 1 (mod phi)</a:t>
            </a:r>
          </a:p>
          <a:p>
            <a:r>
              <a:rPr lang="en-US" dirty="0"/>
              <a:t>The convention is the public key is (n, e)  and the private key is (n, d) because “e” is normally assigned rather computed.</a:t>
            </a:r>
          </a:p>
          <a:p>
            <a:r>
              <a:rPr lang="en-US" dirty="0"/>
              <a:t>Keep all the values d, p, q and phi secret (discard).</a:t>
            </a:r>
          </a:p>
          <a:p>
            <a:r>
              <a:rPr lang="en-US" dirty="0"/>
              <a:t>n is known as the </a:t>
            </a:r>
            <a:r>
              <a:rPr lang="en-US" i="1" dirty="0"/>
              <a:t>modulus </a:t>
            </a:r>
            <a:r>
              <a:rPr lang="en-US" dirty="0"/>
              <a:t>it determines the number of bits (size).</a:t>
            </a:r>
          </a:p>
          <a:p>
            <a:r>
              <a:rPr lang="en-US" dirty="0"/>
              <a:t>e is known as the </a:t>
            </a:r>
            <a:r>
              <a:rPr lang="en-US" i="1" dirty="0"/>
              <a:t>public exponent</a:t>
            </a:r>
            <a:r>
              <a:rPr lang="en-US" dirty="0"/>
              <a:t> or </a:t>
            </a:r>
            <a:r>
              <a:rPr lang="en-US" i="1" dirty="0"/>
              <a:t>encryption exponent</a:t>
            </a:r>
            <a:r>
              <a:rPr lang="en-US" dirty="0"/>
              <a:t> or just the </a:t>
            </a:r>
            <a:r>
              <a:rPr lang="en-US" i="1" dirty="0"/>
              <a:t>exponent</a:t>
            </a:r>
            <a:r>
              <a:rPr lang="en-US" dirty="0"/>
              <a:t>. </a:t>
            </a:r>
            <a:r>
              <a:rPr lang="en-US" i="1" dirty="0"/>
              <a:t>(Convention: e=65537 or 2^16 + 1)</a:t>
            </a:r>
          </a:p>
          <a:p>
            <a:r>
              <a:rPr lang="en-US" dirty="0"/>
              <a:t>d is known as the </a:t>
            </a:r>
            <a:r>
              <a:rPr lang="en-US" i="1" dirty="0"/>
              <a:t>secret exponent</a:t>
            </a:r>
            <a:r>
              <a:rPr lang="en-US" dirty="0"/>
              <a:t> or </a:t>
            </a:r>
            <a:r>
              <a:rPr lang="en-US" i="1" dirty="0"/>
              <a:t>decryption exponent</a:t>
            </a:r>
            <a:r>
              <a:rPr lang="en-US" dirty="0"/>
              <a:t>.</a:t>
            </a:r>
          </a:p>
          <a:p>
            <a:pPr marL="0" indent="0">
              <a:buNone/>
            </a:pPr>
            <a:endParaRPr lang="en-US" dirty="0"/>
          </a:p>
          <a:p>
            <a:r>
              <a:rPr lang="en-US" b="1" dirty="0"/>
              <a:t>Encrypt, c = m</a:t>
            </a:r>
            <a:r>
              <a:rPr lang="en-US" b="1" baseline="30000" dirty="0"/>
              <a:t>e</a:t>
            </a:r>
            <a:r>
              <a:rPr lang="en-US" b="1" dirty="0"/>
              <a:t> mod n</a:t>
            </a:r>
          </a:p>
          <a:p>
            <a:r>
              <a:rPr lang="en-US" b="1" dirty="0"/>
              <a:t>Decrypt, m = c</a:t>
            </a:r>
            <a:r>
              <a:rPr lang="en-US" b="1" baseline="30000" dirty="0"/>
              <a:t>d</a:t>
            </a:r>
            <a:r>
              <a:rPr lang="en-US" b="1" dirty="0"/>
              <a:t> mod n</a:t>
            </a:r>
          </a:p>
        </p:txBody>
      </p:sp>
    </p:spTree>
    <p:extLst>
      <p:ext uri="{BB962C8B-B14F-4D97-AF65-F5344CB8AC3E}">
        <p14:creationId xmlns:p14="http://schemas.microsoft.com/office/powerpoint/2010/main" val="1138355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Crack a simple RSA private key</a:t>
            </a:r>
          </a:p>
        </p:txBody>
      </p:sp>
      <p:sp>
        <p:nvSpPr>
          <p:cNvPr id="3" name="Content Placeholder 2"/>
          <p:cNvSpPr>
            <a:spLocks noGrp="1"/>
          </p:cNvSpPr>
          <p:nvPr>
            <p:ph idx="1"/>
          </p:nvPr>
        </p:nvSpPr>
        <p:spPr/>
        <p:txBody>
          <a:bodyPr>
            <a:normAutofit/>
          </a:bodyPr>
          <a:lstStyle/>
          <a:p>
            <a:pPr marL="0" indent="0">
              <a:buNone/>
            </a:pPr>
            <a:r>
              <a:rPr lang="en-US" dirty="0"/>
              <a:t>Public key:</a:t>
            </a:r>
          </a:p>
          <a:p>
            <a:pPr marL="0" indent="0">
              <a:buNone/>
            </a:pPr>
            <a:r>
              <a:rPr lang="en-US" dirty="0"/>
              <a:t>	N =33 (computed) E =3 (assigned)</a:t>
            </a:r>
          </a:p>
          <a:p>
            <a:pPr marL="0" indent="0">
              <a:buNone/>
            </a:pPr>
            <a:r>
              <a:rPr lang="en-US" dirty="0"/>
              <a:t>Private key:</a:t>
            </a:r>
          </a:p>
          <a:p>
            <a:pPr marL="0" indent="0">
              <a:buNone/>
            </a:pPr>
            <a:r>
              <a:rPr lang="en-US" dirty="0"/>
              <a:t>	N =33 D =?</a:t>
            </a:r>
          </a:p>
          <a:p>
            <a:pPr marL="0" indent="0">
              <a:buNone/>
            </a:pPr>
            <a:r>
              <a:rPr lang="en-US" dirty="0"/>
              <a:t>Such that</a:t>
            </a:r>
          </a:p>
          <a:p>
            <a:pPr marL="0" indent="0">
              <a:buNone/>
            </a:pPr>
            <a:r>
              <a:rPr lang="en-US" dirty="0"/>
              <a:t>	X = Y</a:t>
            </a:r>
            <a:r>
              <a:rPr lang="en-US" baseline="30000" dirty="0"/>
              <a:t>D</a:t>
            </a:r>
            <a:r>
              <a:rPr lang="en-US" dirty="0"/>
              <a:t> mod 33 </a:t>
            </a:r>
          </a:p>
          <a:p>
            <a:pPr marL="0" indent="0">
              <a:buNone/>
            </a:pPr>
            <a:r>
              <a:rPr lang="en-US" dirty="0"/>
              <a:t>	Y = X</a:t>
            </a:r>
            <a:r>
              <a:rPr lang="en-US" baseline="30000" dirty="0"/>
              <a:t>3</a:t>
            </a:r>
            <a:r>
              <a:rPr lang="en-US" dirty="0"/>
              <a:t> mod 33 </a:t>
            </a:r>
          </a:p>
        </p:txBody>
      </p:sp>
    </p:spTree>
    <p:extLst>
      <p:ext uri="{BB962C8B-B14F-4D97-AF65-F5344CB8AC3E}">
        <p14:creationId xmlns:p14="http://schemas.microsoft.com/office/powerpoint/2010/main" val="2703924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Hashing</a:t>
            </a:r>
          </a:p>
        </p:txBody>
      </p:sp>
      <p:sp>
        <p:nvSpPr>
          <p:cNvPr id="3" name="Content Placeholder 2"/>
          <p:cNvSpPr>
            <a:spLocks noGrp="1"/>
          </p:cNvSpPr>
          <p:nvPr>
            <p:ph idx="1"/>
          </p:nvPr>
        </p:nvSpPr>
        <p:spPr/>
        <p:txBody>
          <a:bodyPr>
            <a:normAutofit fontScale="92500" lnSpcReduction="20000"/>
          </a:bodyPr>
          <a:lstStyle/>
          <a:p>
            <a:r>
              <a:rPr lang="en-US" dirty="0"/>
              <a:t>C = hash( M )</a:t>
            </a:r>
          </a:p>
          <a:p>
            <a:pPr lvl="1"/>
            <a:r>
              <a:rPr lang="en-US" dirty="0"/>
              <a:t>There is no “unhash”</a:t>
            </a:r>
          </a:p>
          <a:p>
            <a:r>
              <a:rPr lang="en-US" dirty="0"/>
              <a:t>Birthday attacks – MD5 broken in Dec ’08</a:t>
            </a:r>
          </a:p>
          <a:p>
            <a:pPr lvl="1"/>
            <a:r>
              <a:rPr lang="en-US" dirty="0"/>
              <a:t>Hash algorithms are the weak link (SHA1 ~70 bits)</a:t>
            </a:r>
          </a:p>
          <a:p>
            <a:r>
              <a:rPr lang="en-US" dirty="0"/>
              <a:t>Strength need is different for signature vs. nonce </a:t>
            </a:r>
          </a:p>
          <a:p>
            <a:r>
              <a:rPr lang="en-US" dirty="0"/>
              <a:t>“SHA-3” selection</a:t>
            </a:r>
          </a:p>
          <a:p>
            <a:pPr lvl="1"/>
            <a:r>
              <a:rPr lang="en-US" sz="2600" b="1" dirty="0"/>
              <a:t>KECCAK </a:t>
            </a:r>
            <a:r>
              <a:rPr lang="en-US" sz="2600" b="1" dirty="0">
                <a:hlinkClick r:id="rId3"/>
              </a:rPr>
              <a:t>http://keccak.noekeon.org/</a:t>
            </a:r>
            <a:r>
              <a:rPr lang="en-US" sz="2600" b="1" dirty="0"/>
              <a:t> </a:t>
            </a:r>
          </a:p>
          <a:p>
            <a:pPr lvl="1"/>
            <a:r>
              <a:rPr lang="en-US" sz="2600" dirty="0"/>
              <a:t>BLAKE </a:t>
            </a:r>
            <a:r>
              <a:rPr lang="en-US" sz="2600" dirty="0">
                <a:hlinkClick r:id="rId4"/>
              </a:rPr>
              <a:t>http://www.131002.net/blake/</a:t>
            </a:r>
            <a:r>
              <a:rPr lang="en-US" sz="2600" dirty="0"/>
              <a:t>  </a:t>
            </a:r>
          </a:p>
          <a:p>
            <a:pPr lvl="1"/>
            <a:r>
              <a:rPr lang="en-US" sz="2600" dirty="0"/>
              <a:t>Grostl </a:t>
            </a:r>
            <a:r>
              <a:rPr lang="en-US" sz="2600" dirty="0">
                <a:hlinkClick r:id="rId5"/>
              </a:rPr>
              <a:t>http://www.groestl.info/</a:t>
            </a:r>
            <a:r>
              <a:rPr lang="en-US" sz="2600" dirty="0"/>
              <a:t> </a:t>
            </a:r>
          </a:p>
          <a:p>
            <a:pPr lvl="1"/>
            <a:r>
              <a:rPr lang="en-US" sz="2600" dirty="0"/>
              <a:t>JH </a:t>
            </a:r>
            <a:r>
              <a:rPr lang="en-US" sz="2600" dirty="0">
                <a:hlinkClick r:id="rId6"/>
              </a:rPr>
              <a:t>http://www3.ntu.edu.sg/home/wuhj/research/jh/</a:t>
            </a:r>
            <a:r>
              <a:rPr lang="en-US" sz="2600" dirty="0"/>
              <a:t> </a:t>
            </a:r>
          </a:p>
          <a:p>
            <a:pPr lvl="1"/>
            <a:r>
              <a:rPr lang="en-US" sz="2600" dirty="0" err="1"/>
              <a:t>Skien</a:t>
            </a:r>
            <a:r>
              <a:rPr lang="en-US" sz="2600" dirty="0"/>
              <a:t> </a:t>
            </a:r>
            <a:r>
              <a:rPr lang="en-US" sz="2600" dirty="0">
                <a:hlinkClick r:id="rId7"/>
              </a:rPr>
              <a:t>http://www.skein-hash.info/</a:t>
            </a:r>
            <a:r>
              <a:rPr lang="en-US" sz="2600" dirty="0"/>
              <a:t> </a:t>
            </a:r>
          </a:p>
        </p:txBody>
      </p:sp>
    </p:spTree>
    <p:extLst>
      <p:ext uri="{BB962C8B-B14F-4D97-AF65-F5344CB8AC3E}">
        <p14:creationId xmlns:p14="http://schemas.microsoft.com/office/powerpoint/2010/main" val="1056519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XOR</a:t>
            </a:r>
          </a:p>
        </p:txBody>
      </p:sp>
      <p:sp>
        <p:nvSpPr>
          <p:cNvPr id="3" name="Content Placeholder 2"/>
          <p:cNvSpPr>
            <a:spLocks noGrp="1"/>
          </p:cNvSpPr>
          <p:nvPr>
            <p:ph idx="1"/>
          </p:nvPr>
        </p:nvSpPr>
        <p:spPr/>
        <p:txBody>
          <a:bodyPr vert="horz" lIns="91440" tIns="45720" rIns="91440" bIns="45720" rtlCol="0" anchor="t">
            <a:normAutofit/>
          </a:bodyPr>
          <a:lstStyle/>
          <a:p>
            <a:pPr marL="0" indent="0">
              <a:buNone/>
            </a:pPr>
            <a:r>
              <a:rPr lang="en-US" dirty="0"/>
              <a:t>11 11 00 00	</a:t>
            </a:r>
            <a:r>
              <a:rPr lang="en-US" sz="1800" dirty="0"/>
              <a:t>&lt;- original text</a:t>
            </a:r>
          </a:p>
          <a:p>
            <a:pPr marL="0" indent="0">
              <a:buNone/>
            </a:pPr>
            <a:r>
              <a:rPr lang="en-US" dirty="0"/>
              <a:t>00 11 11 00 	</a:t>
            </a:r>
            <a:r>
              <a:rPr lang="en-US" sz="1800" dirty="0">
                <a:solidFill>
                  <a:prstClr val="black"/>
                </a:solidFill>
              </a:rPr>
              <a:t>&lt;- “key”</a:t>
            </a:r>
            <a:endParaRPr lang="en-US" dirty="0"/>
          </a:p>
          <a:p>
            <a:pPr marL="0" indent="0">
              <a:buNone/>
            </a:pPr>
            <a:r>
              <a:rPr lang="en-US" dirty="0"/>
              <a:t>11 00 11 00	</a:t>
            </a:r>
            <a:r>
              <a:rPr lang="en-US" sz="1800" dirty="0">
                <a:solidFill>
                  <a:prstClr val="black"/>
                </a:solidFill>
              </a:rPr>
              <a:t>&lt;- result</a:t>
            </a:r>
          </a:p>
          <a:p>
            <a:pPr marL="0" indent="0">
              <a:buNone/>
            </a:pPr>
            <a:endParaRPr lang="en-US" dirty="0"/>
          </a:p>
          <a:p>
            <a:pPr marL="0" indent="0">
              <a:buNone/>
            </a:pPr>
            <a:r>
              <a:rPr lang="en-US" dirty="0"/>
              <a:t>If the “key” is unknown you can not infer the original text from the cipher text</a:t>
            </a:r>
            <a:endParaRPr lang="en-US" dirty="0">
              <a:cs typeface="Calibri"/>
            </a:endParaRPr>
          </a:p>
        </p:txBody>
      </p:sp>
    </p:spTree>
    <p:extLst>
      <p:ext uri="{BB962C8B-B14F-4D97-AF65-F5344CB8AC3E}">
        <p14:creationId xmlns:p14="http://schemas.microsoft.com/office/powerpoint/2010/main" val="60911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6706574" y="1524000"/>
            <a:ext cx="3200400" cy="5029200"/>
          </a:xfrm>
          <a:prstGeom prst="rect">
            <a:avLst/>
          </a:prstGeom>
          <a:pattFill prst="pct20">
            <a:fgClr>
              <a:schemeClr val="bg1">
                <a:lumMod val="85000"/>
              </a:schemeClr>
            </a:fgClr>
            <a:bgClr>
              <a:schemeClr val="bg1"/>
            </a:bgClr>
          </a:pattFill>
          <a:ln w="127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Bob</a:t>
            </a:r>
          </a:p>
        </p:txBody>
      </p:sp>
      <p:sp>
        <p:nvSpPr>
          <p:cNvPr id="15" name="Rectangle 14"/>
          <p:cNvSpPr/>
          <p:nvPr/>
        </p:nvSpPr>
        <p:spPr>
          <a:xfrm>
            <a:off x="2362200" y="1524000"/>
            <a:ext cx="3200400" cy="5029200"/>
          </a:xfrm>
          <a:prstGeom prst="rect">
            <a:avLst/>
          </a:prstGeom>
          <a:pattFill prst="pct20">
            <a:fgClr>
              <a:schemeClr val="bg1">
                <a:lumMod val="85000"/>
              </a:schemeClr>
            </a:fgClr>
            <a:bgClr>
              <a:schemeClr val="bg1"/>
            </a:bgClr>
          </a:pattFill>
          <a:ln w="127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Alice</a:t>
            </a:r>
          </a:p>
        </p:txBody>
      </p:sp>
      <p:sp>
        <p:nvSpPr>
          <p:cNvPr id="2" name="Title 1"/>
          <p:cNvSpPr>
            <a:spLocks noGrp="1"/>
          </p:cNvSpPr>
          <p:nvPr>
            <p:ph type="title"/>
          </p:nvPr>
        </p:nvSpPr>
        <p:spPr/>
        <p:txBody>
          <a:bodyPr>
            <a:normAutofit fontScale="90000"/>
          </a:bodyPr>
          <a:lstStyle/>
          <a:p>
            <a:r>
              <a:rPr lang="en-US" dirty="0"/>
              <a:t>Message Authentication</a:t>
            </a:r>
            <a:br>
              <a:rPr lang="en-US" dirty="0"/>
            </a:br>
            <a:r>
              <a:rPr lang="en-US" sz="3100" dirty="0"/>
              <a:t>Conventional Encryption</a:t>
            </a:r>
            <a:endParaRPr lang="en-US" dirty="0"/>
          </a:p>
        </p:txBody>
      </p:sp>
      <p:sp>
        <p:nvSpPr>
          <p:cNvPr id="3" name="Rectangle 2"/>
          <p:cNvSpPr/>
          <p:nvPr/>
        </p:nvSpPr>
        <p:spPr>
          <a:xfrm rot="16200000">
            <a:off x="2324100" y="2362200"/>
            <a:ext cx="1524000" cy="381000"/>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Message</a:t>
            </a:r>
          </a:p>
        </p:txBody>
      </p:sp>
      <p:sp>
        <p:nvSpPr>
          <p:cNvPr id="4" name="Rectangle 3"/>
          <p:cNvSpPr/>
          <p:nvPr/>
        </p:nvSpPr>
        <p:spPr>
          <a:xfrm rot="16200000">
            <a:off x="5334000" y="2362200"/>
            <a:ext cx="1524000" cy="381000"/>
          </a:xfrm>
          <a:prstGeom prst="rect">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Message</a:t>
            </a:r>
          </a:p>
        </p:txBody>
      </p:sp>
      <p:sp>
        <p:nvSpPr>
          <p:cNvPr id="6" name="Flowchart: Manual Operation 5"/>
          <p:cNvSpPr/>
          <p:nvPr/>
        </p:nvSpPr>
        <p:spPr>
          <a:xfrm>
            <a:off x="2781300" y="3945903"/>
            <a:ext cx="609600" cy="304800"/>
          </a:xfrm>
          <a:prstGeom prst="flowChartManualOperation">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a:t>
            </a:r>
          </a:p>
        </p:txBody>
      </p:sp>
      <p:sp>
        <p:nvSpPr>
          <p:cNvPr id="7" name="Oval 6"/>
          <p:cNvSpPr/>
          <p:nvPr/>
        </p:nvSpPr>
        <p:spPr>
          <a:xfrm>
            <a:off x="7430474" y="3276600"/>
            <a:ext cx="381000" cy="381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a:t>
            </a:r>
          </a:p>
        </p:txBody>
      </p:sp>
      <p:sp>
        <p:nvSpPr>
          <p:cNvPr id="8" name="Rectangle 7"/>
          <p:cNvSpPr/>
          <p:nvPr/>
        </p:nvSpPr>
        <p:spPr>
          <a:xfrm>
            <a:off x="2892553" y="4729506"/>
            <a:ext cx="384048" cy="304800"/>
          </a:xfrm>
          <a:prstGeom prst="rect">
            <a:avLst/>
          </a:prstGeom>
          <a:pattFill prst="openDmnd">
            <a:fgClr>
              <a:schemeClr val="tx1"/>
            </a:fgClr>
            <a:bgClr>
              <a:schemeClr val="bg1"/>
            </a:bgClr>
          </a:patt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872871" y="4729506"/>
            <a:ext cx="384048" cy="304800"/>
          </a:xfrm>
          <a:prstGeom prst="rect">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905500" y="3314700"/>
            <a:ext cx="384048" cy="304800"/>
          </a:xfrm>
          <a:prstGeom prst="rect">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9067800" y="2400299"/>
            <a:ext cx="384048" cy="304800"/>
          </a:xfrm>
          <a:prstGeom prst="rect">
            <a:avLst/>
          </a:prstGeom>
          <a:pattFill prst="openDmnd">
            <a:fgClr>
              <a:schemeClr val="tx1"/>
            </a:fgClr>
            <a:bgClr>
              <a:schemeClr val="bg1"/>
            </a:bgClr>
          </a:patt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9067800" y="3316618"/>
            <a:ext cx="384048" cy="304800"/>
          </a:xfrm>
          <a:prstGeom prst="rect">
            <a:avLst/>
          </a:prstGeom>
          <a:pattFill prst="openDmnd">
            <a:fgClr>
              <a:schemeClr val="tx1"/>
            </a:fgClr>
            <a:bgClr>
              <a:schemeClr val="bg1"/>
            </a:bgClr>
          </a:patt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Manual Operation 13"/>
          <p:cNvSpPr/>
          <p:nvPr/>
        </p:nvSpPr>
        <p:spPr>
          <a:xfrm rot="16200000">
            <a:off x="7278074" y="2400300"/>
            <a:ext cx="609600" cy="304800"/>
          </a:xfrm>
          <a:prstGeom prst="flowChartManualOperation">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b="1" dirty="0">
                <a:solidFill>
                  <a:schemeClr val="tx1"/>
                </a:solidFill>
              </a:rPr>
              <a:t>H</a:t>
            </a:r>
          </a:p>
        </p:txBody>
      </p:sp>
      <p:sp>
        <p:nvSpPr>
          <p:cNvPr id="17" name="Oval 16"/>
          <p:cNvSpPr/>
          <p:nvPr/>
        </p:nvSpPr>
        <p:spPr>
          <a:xfrm>
            <a:off x="3884236" y="4696119"/>
            <a:ext cx="381000" cy="3810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E</a:t>
            </a:r>
          </a:p>
        </p:txBody>
      </p:sp>
      <p:sp>
        <p:nvSpPr>
          <p:cNvPr id="18" name="TextBox 17"/>
          <p:cNvSpPr txBox="1"/>
          <p:nvPr/>
        </p:nvSpPr>
        <p:spPr>
          <a:xfrm>
            <a:off x="3911871" y="3745848"/>
            <a:ext cx="325730" cy="400110"/>
          </a:xfrm>
          <a:prstGeom prst="rect">
            <a:avLst/>
          </a:prstGeom>
          <a:noFill/>
        </p:spPr>
        <p:txBody>
          <a:bodyPr wrap="none" rtlCol="0">
            <a:spAutoFit/>
          </a:bodyPr>
          <a:lstStyle/>
          <a:p>
            <a:r>
              <a:rPr lang="en-US" sz="2000" b="1" dirty="0">
                <a:solidFill>
                  <a:schemeClr val="tx2">
                    <a:lumMod val="60000"/>
                    <a:lumOff val="40000"/>
                  </a:schemeClr>
                </a:solidFill>
              </a:rPr>
              <a:t>K</a:t>
            </a:r>
          </a:p>
        </p:txBody>
      </p:sp>
      <p:cxnSp>
        <p:nvCxnSpPr>
          <p:cNvPr id="19" name="Straight Arrow Connector 18"/>
          <p:cNvCxnSpPr>
            <a:stCxn id="18" idx="2"/>
            <a:endCxn id="17" idx="0"/>
          </p:cNvCxnSpPr>
          <p:nvPr/>
        </p:nvCxnSpPr>
        <p:spPr>
          <a:xfrm>
            <a:off x="4074736" y="4145959"/>
            <a:ext cx="0" cy="55016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3" idx="2"/>
            <a:endCxn id="4" idx="0"/>
          </p:cNvCxnSpPr>
          <p:nvPr/>
        </p:nvCxnSpPr>
        <p:spPr>
          <a:xfrm>
            <a:off x="3276600" y="2552700"/>
            <a:ext cx="2628900"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7" idx="6"/>
            <a:endCxn id="9" idx="1"/>
          </p:cNvCxnSpPr>
          <p:nvPr/>
        </p:nvCxnSpPr>
        <p:spPr>
          <a:xfrm flipV="1">
            <a:off x="4265237" y="4881907"/>
            <a:ext cx="607635" cy="471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8" idx="3"/>
            <a:endCxn id="17" idx="2"/>
          </p:cNvCxnSpPr>
          <p:nvPr/>
        </p:nvCxnSpPr>
        <p:spPr>
          <a:xfrm>
            <a:off x="3276602" y="4881907"/>
            <a:ext cx="607635" cy="471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6" idx="2"/>
            <a:endCxn id="8" idx="0"/>
          </p:cNvCxnSpPr>
          <p:nvPr/>
        </p:nvCxnSpPr>
        <p:spPr>
          <a:xfrm flipH="1">
            <a:off x="3084578" y="4250704"/>
            <a:ext cx="1523" cy="47880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3" idx="1"/>
            <a:endCxn id="6" idx="0"/>
          </p:cNvCxnSpPr>
          <p:nvPr/>
        </p:nvCxnSpPr>
        <p:spPr>
          <a:xfrm>
            <a:off x="3086100" y="3314701"/>
            <a:ext cx="0" cy="631203"/>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9" idx="0"/>
          </p:cNvCxnSpPr>
          <p:nvPr/>
        </p:nvCxnSpPr>
        <p:spPr>
          <a:xfrm flipV="1">
            <a:off x="5064895" y="3467100"/>
            <a:ext cx="9932" cy="1262406"/>
          </a:xfrm>
          <a:prstGeom prst="straightConnector1">
            <a:avLst/>
          </a:prstGeom>
          <a:ln w="254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endCxn id="11" idx="1"/>
          </p:cNvCxnSpPr>
          <p:nvPr/>
        </p:nvCxnSpPr>
        <p:spPr>
          <a:xfrm>
            <a:off x="5063372" y="3467100"/>
            <a:ext cx="842129"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1" idx="3"/>
            <a:endCxn id="7" idx="2"/>
          </p:cNvCxnSpPr>
          <p:nvPr/>
        </p:nvCxnSpPr>
        <p:spPr>
          <a:xfrm>
            <a:off x="6289548" y="3467100"/>
            <a:ext cx="1140926"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4" idx="2"/>
            <a:endCxn id="12" idx="1"/>
          </p:cNvCxnSpPr>
          <p:nvPr/>
        </p:nvCxnSpPr>
        <p:spPr>
          <a:xfrm flipV="1">
            <a:off x="7735274" y="2552700"/>
            <a:ext cx="1332526" cy="1"/>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4" idx="2"/>
            <a:endCxn id="14" idx="0"/>
          </p:cNvCxnSpPr>
          <p:nvPr/>
        </p:nvCxnSpPr>
        <p:spPr>
          <a:xfrm>
            <a:off x="6286500" y="2552700"/>
            <a:ext cx="1143974"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7477609" y="4324290"/>
            <a:ext cx="325730" cy="400110"/>
          </a:xfrm>
          <a:prstGeom prst="rect">
            <a:avLst/>
          </a:prstGeom>
          <a:noFill/>
        </p:spPr>
        <p:txBody>
          <a:bodyPr wrap="none" rtlCol="0">
            <a:spAutoFit/>
          </a:bodyPr>
          <a:lstStyle/>
          <a:p>
            <a:r>
              <a:rPr lang="en-US" sz="2000" b="1" dirty="0">
                <a:solidFill>
                  <a:schemeClr val="tx2">
                    <a:lumMod val="60000"/>
                    <a:lumOff val="40000"/>
                  </a:schemeClr>
                </a:solidFill>
              </a:rPr>
              <a:t>K</a:t>
            </a:r>
          </a:p>
        </p:txBody>
      </p:sp>
      <p:cxnSp>
        <p:nvCxnSpPr>
          <p:cNvPr id="60" name="Straight Arrow Connector 59"/>
          <p:cNvCxnSpPr>
            <a:stCxn id="59" idx="0"/>
            <a:endCxn id="7" idx="4"/>
          </p:cNvCxnSpPr>
          <p:nvPr/>
        </p:nvCxnSpPr>
        <p:spPr>
          <a:xfrm flipH="1" flipV="1">
            <a:off x="7620974" y="3657600"/>
            <a:ext cx="19500" cy="66669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stCxn id="7" idx="6"/>
            <a:endCxn id="13" idx="1"/>
          </p:cNvCxnSpPr>
          <p:nvPr/>
        </p:nvCxnSpPr>
        <p:spPr>
          <a:xfrm>
            <a:off x="7811474" y="3467100"/>
            <a:ext cx="1256326" cy="1918"/>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13" idx="0"/>
            <a:endCxn id="12" idx="2"/>
          </p:cNvCxnSpPr>
          <p:nvPr/>
        </p:nvCxnSpPr>
        <p:spPr>
          <a:xfrm flipV="1">
            <a:off x="9259824" y="2705100"/>
            <a:ext cx="0" cy="611519"/>
          </a:xfrm>
          <a:prstGeom prst="straightConnector1">
            <a:avLst/>
          </a:prstGeom>
          <a:ln w="25400">
            <a:solidFill>
              <a:schemeClr val="tx1"/>
            </a:solidFill>
            <a:prstDash val="sysDot"/>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8410682" y="2854522"/>
            <a:ext cx="849143" cy="307777"/>
          </a:xfrm>
          <a:prstGeom prst="rect">
            <a:avLst/>
          </a:prstGeom>
          <a:noFill/>
        </p:spPr>
        <p:txBody>
          <a:bodyPr wrap="none" rtlCol="0">
            <a:spAutoFit/>
          </a:bodyPr>
          <a:lstStyle/>
          <a:p>
            <a:r>
              <a:rPr lang="en-US" sz="1400" dirty="0"/>
              <a:t>Compare</a:t>
            </a:r>
            <a:endParaRPr lang="en-US" sz="1200" dirty="0"/>
          </a:p>
        </p:txBody>
      </p:sp>
    </p:spTree>
    <p:extLst>
      <p:ext uri="{BB962C8B-B14F-4D97-AF65-F5344CB8AC3E}">
        <p14:creationId xmlns:p14="http://schemas.microsoft.com/office/powerpoint/2010/main" val="20380216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a:noAutofit/>
          </a:bodyPr>
          <a:lstStyle/>
          <a:p>
            <a:r>
              <a:rPr lang="en-US" dirty="0"/>
              <a:t>Message Protection: Alice Sends...</a:t>
            </a:r>
          </a:p>
        </p:txBody>
      </p:sp>
      <p:sp>
        <p:nvSpPr>
          <p:cNvPr id="2" name="Content Placeholder 1">
            <a:extLst>
              <a:ext uri="{FF2B5EF4-FFF2-40B4-BE49-F238E27FC236}">
                <a16:creationId xmlns:a16="http://schemas.microsoft.com/office/drawing/2014/main" id="{85A0358B-976D-4526-8DFC-9B450C009890}"/>
              </a:ext>
            </a:extLst>
          </p:cNvPr>
          <p:cNvSpPr>
            <a:spLocks noGrp="1"/>
          </p:cNvSpPr>
          <p:nvPr>
            <p:ph idx="1"/>
          </p:nvPr>
        </p:nvSpPr>
        <p:spPr/>
        <p:txBody>
          <a:bodyPr/>
          <a:lstStyle/>
          <a:p>
            <a:endParaRPr lang="en-US"/>
          </a:p>
        </p:txBody>
      </p:sp>
      <p:sp>
        <p:nvSpPr>
          <p:cNvPr id="169988" name="Line 4"/>
          <p:cNvSpPr>
            <a:spLocks noChangeShapeType="1"/>
          </p:cNvSpPr>
          <p:nvPr/>
        </p:nvSpPr>
        <p:spPr bwMode="auto">
          <a:xfrm>
            <a:off x="9185275" y="2725738"/>
            <a:ext cx="0" cy="2900362"/>
          </a:xfrm>
          <a:prstGeom prst="line">
            <a:avLst/>
          </a:prstGeom>
          <a:noFill/>
          <a:ln w="12699">
            <a:solidFill>
              <a:srgbClr val="FFFFFF"/>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69989" name="Arc 5"/>
          <p:cNvSpPr>
            <a:spLocks/>
          </p:cNvSpPr>
          <p:nvPr/>
        </p:nvSpPr>
        <p:spPr bwMode="auto">
          <a:xfrm>
            <a:off x="6918326" y="1495426"/>
            <a:ext cx="2206625" cy="379413"/>
          </a:xfrm>
          <a:custGeom>
            <a:avLst/>
            <a:gdLst>
              <a:gd name="G0" fmla="+- 16 0 0"/>
              <a:gd name="G1" fmla="+- 21600 0 0"/>
              <a:gd name="G2" fmla="+- 21600 0 0"/>
              <a:gd name="T0" fmla="*/ 0 w 21601"/>
              <a:gd name="T1" fmla="*/ 0 h 21600"/>
              <a:gd name="T2" fmla="*/ 21601 w 21601"/>
              <a:gd name="T3" fmla="*/ 20787 h 21600"/>
              <a:gd name="T4" fmla="*/ 16 w 21601"/>
              <a:gd name="T5" fmla="*/ 21600 h 21600"/>
            </a:gdLst>
            <a:ahLst/>
            <a:cxnLst>
              <a:cxn ang="0">
                <a:pos x="T0" y="T1"/>
              </a:cxn>
              <a:cxn ang="0">
                <a:pos x="T2" y="T3"/>
              </a:cxn>
              <a:cxn ang="0">
                <a:pos x="T4" y="T5"/>
              </a:cxn>
            </a:cxnLst>
            <a:rect l="0" t="0" r="r" b="b"/>
            <a:pathLst>
              <a:path w="21601" h="21600" fill="none" extrusionOk="0">
                <a:moveTo>
                  <a:pt x="0" y="0"/>
                </a:moveTo>
                <a:cubicBezTo>
                  <a:pt x="5" y="0"/>
                  <a:pt x="10" y="-1"/>
                  <a:pt x="16" y="0"/>
                </a:cubicBezTo>
                <a:cubicBezTo>
                  <a:pt x="11629" y="0"/>
                  <a:pt x="21163" y="9182"/>
                  <a:pt x="21600" y="20787"/>
                </a:cubicBezTo>
              </a:path>
              <a:path w="21601" h="21600" stroke="0" extrusionOk="0">
                <a:moveTo>
                  <a:pt x="0" y="0"/>
                </a:moveTo>
                <a:cubicBezTo>
                  <a:pt x="5" y="0"/>
                  <a:pt x="10" y="-1"/>
                  <a:pt x="16" y="0"/>
                </a:cubicBezTo>
                <a:cubicBezTo>
                  <a:pt x="11629" y="0"/>
                  <a:pt x="21163" y="9182"/>
                  <a:pt x="21600" y="20787"/>
                </a:cubicBezTo>
                <a:lnTo>
                  <a:pt x="16" y="21600"/>
                </a:lnTo>
                <a:close/>
              </a:path>
            </a:pathLst>
          </a:custGeom>
          <a:noFill/>
          <a:ln w="50799" cap="rnd">
            <a:solidFill>
              <a:srgbClr val="FFFFFF"/>
            </a:solidFill>
            <a:prstDash val="sysDot"/>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69992" name="Line 8"/>
          <p:cNvSpPr>
            <a:spLocks noChangeShapeType="1"/>
          </p:cNvSpPr>
          <p:nvPr/>
        </p:nvSpPr>
        <p:spPr bwMode="auto">
          <a:xfrm>
            <a:off x="1835150" y="4737099"/>
            <a:ext cx="1582738" cy="0"/>
          </a:xfrm>
          <a:prstGeom prst="line">
            <a:avLst/>
          </a:prstGeom>
          <a:noFill/>
          <a:ln w="50799">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69994" name="Line 10"/>
          <p:cNvSpPr>
            <a:spLocks noChangeShapeType="1"/>
          </p:cNvSpPr>
          <p:nvPr/>
        </p:nvSpPr>
        <p:spPr bwMode="auto">
          <a:xfrm>
            <a:off x="3122613" y="1895476"/>
            <a:ext cx="1042988" cy="2503487"/>
          </a:xfrm>
          <a:prstGeom prst="line">
            <a:avLst/>
          </a:prstGeom>
          <a:noFill/>
          <a:ln w="50799">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69995" name="Rectangle 11"/>
          <p:cNvSpPr>
            <a:spLocks noChangeArrowheads="1"/>
          </p:cNvSpPr>
          <p:nvPr/>
        </p:nvSpPr>
        <p:spPr bwMode="auto">
          <a:xfrm>
            <a:off x="2266951" y="1187451"/>
            <a:ext cx="1711325"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000" b="1" dirty="0">
                <a:solidFill>
                  <a:srgbClr val="FF0000"/>
                </a:solidFill>
                <a:latin typeface="Arial" pitchFamily="34" charset="0"/>
              </a:rPr>
              <a:t>Session Key</a:t>
            </a:r>
            <a:br>
              <a:rPr lang="en-US" sz="2000" b="1" dirty="0">
                <a:solidFill>
                  <a:srgbClr val="FF0000"/>
                </a:solidFill>
                <a:latin typeface="Arial" pitchFamily="34" charset="0"/>
              </a:rPr>
            </a:br>
            <a:r>
              <a:rPr lang="en-US" sz="2000" b="1" dirty="0">
                <a:solidFill>
                  <a:srgbClr val="FF0000"/>
                </a:solidFill>
                <a:latin typeface="Arial" pitchFamily="34" charset="0"/>
              </a:rPr>
              <a:t>(symmetric)</a:t>
            </a:r>
          </a:p>
        </p:txBody>
      </p:sp>
      <p:sp>
        <p:nvSpPr>
          <p:cNvPr id="169996" name="Rectangle 12"/>
          <p:cNvSpPr>
            <a:spLocks noChangeArrowheads="1"/>
          </p:cNvSpPr>
          <p:nvPr/>
        </p:nvSpPr>
        <p:spPr bwMode="auto">
          <a:xfrm>
            <a:off x="1628776" y="4279899"/>
            <a:ext cx="16351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000" b="1" dirty="0">
                <a:solidFill>
                  <a:schemeClr val="tx2">
                    <a:lumMod val="60000"/>
                    <a:lumOff val="40000"/>
                  </a:schemeClr>
                </a:solidFill>
                <a:latin typeface="Arial" pitchFamily="34" charset="0"/>
              </a:rPr>
              <a:t>     Cleartext</a:t>
            </a:r>
          </a:p>
        </p:txBody>
      </p:sp>
      <p:pic>
        <p:nvPicPr>
          <p:cNvPr id="169997" name="Picture 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95714" y="5151437"/>
            <a:ext cx="887413" cy="868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9998" name="Rectangle 14"/>
          <p:cNvSpPr>
            <a:spLocks noChangeArrowheads="1"/>
          </p:cNvSpPr>
          <p:nvPr/>
        </p:nvSpPr>
        <p:spPr bwMode="auto">
          <a:xfrm>
            <a:off x="1924050" y="4921250"/>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0005" name="Rectangle 21"/>
          <p:cNvSpPr>
            <a:spLocks noChangeArrowheads="1"/>
          </p:cNvSpPr>
          <p:nvPr/>
        </p:nvSpPr>
        <p:spPr bwMode="auto">
          <a:xfrm>
            <a:off x="5434014" y="1154114"/>
            <a:ext cx="1497013"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000" b="1" dirty="0">
                <a:solidFill>
                  <a:srgbClr val="00B050"/>
                </a:solidFill>
                <a:latin typeface="Arial" pitchFamily="34" charset="0"/>
              </a:rPr>
              <a:t>Bob’s</a:t>
            </a:r>
          </a:p>
          <a:p>
            <a:r>
              <a:rPr lang="en-US" sz="2000" b="1" dirty="0">
                <a:solidFill>
                  <a:srgbClr val="00B050"/>
                </a:solidFill>
                <a:latin typeface="Arial" pitchFamily="34" charset="0"/>
              </a:rPr>
              <a:t>Public Key</a:t>
            </a:r>
          </a:p>
        </p:txBody>
      </p:sp>
      <p:sp>
        <p:nvSpPr>
          <p:cNvPr id="170006" name="Line 22"/>
          <p:cNvSpPr>
            <a:spLocks noChangeShapeType="1"/>
          </p:cNvSpPr>
          <p:nvPr/>
        </p:nvSpPr>
        <p:spPr bwMode="auto">
          <a:xfrm>
            <a:off x="6172201" y="1855788"/>
            <a:ext cx="0" cy="393700"/>
          </a:xfrm>
          <a:prstGeom prst="line">
            <a:avLst/>
          </a:prstGeom>
          <a:noFill/>
          <a:ln w="50799">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pic>
        <p:nvPicPr>
          <p:cNvPr id="170007" name="Picture 2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68977" y="2998788"/>
            <a:ext cx="885825" cy="868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0008" name="Line 24"/>
          <p:cNvSpPr>
            <a:spLocks noChangeShapeType="1"/>
          </p:cNvSpPr>
          <p:nvPr/>
        </p:nvSpPr>
        <p:spPr bwMode="auto">
          <a:xfrm>
            <a:off x="3122614" y="1855789"/>
            <a:ext cx="2297113" cy="746125"/>
          </a:xfrm>
          <a:prstGeom prst="line">
            <a:avLst/>
          </a:prstGeom>
          <a:noFill/>
          <a:ln w="50799">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0012" name="Rectangle 28"/>
          <p:cNvSpPr>
            <a:spLocks noChangeArrowheads="1"/>
          </p:cNvSpPr>
          <p:nvPr/>
        </p:nvSpPr>
        <p:spPr bwMode="auto">
          <a:xfrm>
            <a:off x="7280276" y="2339976"/>
            <a:ext cx="1711325"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000" b="1" dirty="0">
                <a:solidFill>
                  <a:schemeClr val="tx2">
                    <a:lumMod val="60000"/>
                    <a:lumOff val="40000"/>
                  </a:schemeClr>
                </a:solidFill>
                <a:latin typeface="Arial" pitchFamily="34" charset="0"/>
              </a:rPr>
              <a:t>Encrypted</a:t>
            </a:r>
          </a:p>
          <a:p>
            <a:r>
              <a:rPr lang="en-US" sz="2000" b="1" dirty="0">
                <a:solidFill>
                  <a:schemeClr val="tx2">
                    <a:lumMod val="60000"/>
                    <a:lumOff val="40000"/>
                  </a:schemeClr>
                </a:solidFill>
                <a:latin typeface="Arial" pitchFamily="34" charset="0"/>
              </a:rPr>
              <a:t>Session Key</a:t>
            </a:r>
          </a:p>
        </p:txBody>
      </p:sp>
      <p:grpSp>
        <p:nvGrpSpPr>
          <p:cNvPr id="170013" name="Group 29"/>
          <p:cNvGrpSpPr>
            <a:grpSpLocks/>
          </p:cNvGrpSpPr>
          <p:nvPr/>
        </p:nvGrpSpPr>
        <p:grpSpPr bwMode="auto">
          <a:xfrm>
            <a:off x="4941888" y="2573339"/>
            <a:ext cx="3903662" cy="2740025"/>
            <a:chOff x="2153" y="1621"/>
            <a:chExt cx="2459" cy="1726"/>
          </a:xfrm>
        </p:grpSpPr>
        <p:sp>
          <p:nvSpPr>
            <p:cNvPr id="170014" name="Line 30"/>
            <p:cNvSpPr>
              <a:spLocks noChangeShapeType="1"/>
            </p:cNvSpPr>
            <p:nvPr/>
          </p:nvSpPr>
          <p:spPr bwMode="auto">
            <a:xfrm>
              <a:off x="2153" y="2984"/>
              <a:ext cx="1534" cy="0"/>
            </a:xfrm>
            <a:prstGeom prst="line">
              <a:avLst/>
            </a:prstGeom>
            <a:noFill/>
            <a:ln w="50799">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0015" name="Rectangle 31"/>
            <p:cNvSpPr>
              <a:spLocks noChangeArrowheads="1"/>
            </p:cNvSpPr>
            <p:nvPr/>
          </p:nvSpPr>
          <p:spPr bwMode="auto">
            <a:xfrm>
              <a:off x="2380" y="2697"/>
              <a:ext cx="104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sz="2000" b="1" dirty="0">
                  <a:solidFill>
                    <a:schemeClr val="tx2">
                      <a:lumMod val="60000"/>
                      <a:lumOff val="40000"/>
                    </a:schemeClr>
                  </a:solidFill>
                  <a:latin typeface="Arial" pitchFamily="34" charset="0"/>
                </a:rPr>
                <a:t>Ciphertext</a:t>
              </a:r>
            </a:p>
          </p:txBody>
        </p:sp>
        <p:sp>
          <p:nvSpPr>
            <p:cNvPr id="170016" name="Line 32"/>
            <p:cNvSpPr>
              <a:spLocks noChangeShapeType="1"/>
            </p:cNvSpPr>
            <p:nvPr/>
          </p:nvSpPr>
          <p:spPr bwMode="auto">
            <a:xfrm>
              <a:off x="3415" y="1621"/>
              <a:ext cx="745" cy="609"/>
            </a:xfrm>
            <a:prstGeom prst="line">
              <a:avLst/>
            </a:prstGeom>
            <a:noFill/>
            <a:ln w="50799">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nvGrpSpPr>
            <p:cNvPr id="170017" name="Group 33"/>
            <p:cNvGrpSpPr>
              <a:grpSpLocks/>
            </p:cNvGrpSpPr>
            <p:nvPr/>
          </p:nvGrpSpPr>
          <p:grpSpPr bwMode="auto">
            <a:xfrm>
              <a:off x="3694" y="2228"/>
              <a:ext cx="918" cy="1119"/>
              <a:chOff x="3694" y="2228"/>
              <a:chExt cx="918" cy="1119"/>
            </a:xfrm>
          </p:grpSpPr>
          <p:sp>
            <p:nvSpPr>
              <p:cNvPr id="170018" name="Rectangle 34"/>
              <p:cNvSpPr>
                <a:spLocks noChangeArrowheads="1"/>
              </p:cNvSpPr>
              <p:nvPr/>
            </p:nvSpPr>
            <p:spPr bwMode="auto">
              <a:xfrm>
                <a:off x="3694" y="2625"/>
                <a:ext cx="917" cy="722"/>
              </a:xfrm>
              <a:prstGeom prst="rect">
                <a:avLst/>
              </a:prstGeom>
              <a:solidFill>
                <a:srgbClr val="FFFFFF"/>
              </a:solidFill>
              <a:ln w="253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0019" name="Rectangle 35"/>
              <p:cNvSpPr>
                <a:spLocks noChangeArrowheads="1"/>
              </p:cNvSpPr>
              <p:nvPr/>
            </p:nvSpPr>
            <p:spPr bwMode="auto">
              <a:xfrm>
                <a:off x="3710" y="2648"/>
                <a:ext cx="886" cy="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r>
                  <a:rPr lang="en-US" sz="1600" dirty="0">
                    <a:latin typeface="Arial" pitchFamily="34" charset="0"/>
                  </a:rPr>
                  <a:t>H4*m£h0D(h$hjoNm3_hf9)H’Jley6LLv+gf^~`9Cl3d</a:t>
                </a:r>
              </a:p>
            </p:txBody>
          </p:sp>
          <p:sp>
            <p:nvSpPr>
              <p:cNvPr id="170020" name="Rectangle 36"/>
              <p:cNvSpPr>
                <a:spLocks noChangeArrowheads="1"/>
              </p:cNvSpPr>
              <p:nvPr/>
            </p:nvSpPr>
            <p:spPr bwMode="auto">
              <a:xfrm>
                <a:off x="3694" y="2228"/>
                <a:ext cx="918" cy="398"/>
              </a:xfrm>
              <a:prstGeom prst="rect">
                <a:avLst/>
              </a:prstGeom>
              <a:solidFill>
                <a:srgbClr val="C0C0C0"/>
              </a:solidFill>
              <a:ln w="253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0021" name="Rectangle 37"/>
              <p:cNvSpPr>
                <a:spLocks noChangeArrowheads="1"/>
              </p:cNvSpPr>
              <p:nvPr/>
            </p:nvSpPr>
            <p:spPr bwMode="auto">
              <a:xfrm>
                <a:off x="3702" y="2251"/>
                <a:ext cx="885"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r>
                  <a:rPr lang="en-US" sz="1600" dirty="0">
                    <a:latin typeface="Arial" pitchFamily="34" charset="0"/>
                  </a:rPr>
                  <a:t>J(fS_=2j!jsd@nm%Deh</a:t>
                </a:r>
              </a:p>
            </p:txBody>
          </p:sp>
        </p:grpSp>
      </p:grpSp>
      <p:grpSp>
        <p:nvGrpSpPr>
          <p:cNvPr id="170022" name="Group 38"/>
          <p:cNvGrpSpPr>
            <a:grpSpLocks/>
          </p:cNvGrpSpPr>
          <p:nvPr/>
        </p:nvGrpSpPr>
        <p:grpSpPr bwMode="auto">
          <a:xfrm>
            <a:off x="8859841" y="4735520"/>
            <a:ext cx="1820863" cy="465138"/>
            <a:chOff x="4621" y="2983"/>
            <a:chExt cx="1147" cy="293"/>
          </a:xfrm>
        </p:grpSpPr>
        <p:sp>
          <p:nvSpPr>
            <p:cNvPr id="170023" name="Line 39"/>
            <p:cNvSpPr>
              <a:spLocks noChangeShapeType="1"/>
            </p:cNvSpPr>
            <p:nvPr/>
          </p:nvSpPr>
          <p:spPr bwMode="auto">
            <a:xfrm>
              <a:off x="4621" y="2983"/>
              <a:ext cx="734" cy="0"/>
            </a:xfrm>
            <a:prstGeom prst="line">
              <a:avLst/>
            </a:prstGeom>
            <a:noFill/>
            <a:ln w="50799">
              <a:solidFill>
                <a:schemeClr val="tx2"/>
              </a:solidFill>
              <a:prstDash val="sysDash"/>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0024" name="Rectangle 40"/>
            <p:cNvSpPr>
              <a:spLocks noChangeArrowheads="1"/>
            </p:cNvSpPr>
            <p:nvPr/>
          </p:nvSpPr>
          <p:spPr bwMode="auto">
            <a:xfrm>
              <a:off x="4896" y="3024"/>
              <a:ext cx="872" cy="2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algn="l"/>
              <a:r>
                <a:rPr lang="en-US" sz="2000" b="1" dirty="0">
                  <a:solidFill>
                    <a:schemeClr val="tx2"/>
                  </a:solidFill>
                  <a:latin typeface="Arial" pitchFamily="34" charset="0"/>
                </a:rPr>
                <a:t>To Bob</a:t>
              </a:r>
            </a:p>
          </p:txBody>
        </p:sp>
      </p:grpSp>
      <p:sp>
        <p:nvSpPr>
          <p:cNvPr id="56" name="Rectangle 40"/>
          <p:cNvSpPr>
            <a:spLocks noChangeArrowheads="1"/>
          </p:cNvSpPr>
          <p:nvPr/>
        </p:nvSpPr>
        <p:spPr bwMode="auto">
          <a:xfrm>
            <a:off x="8229600" y="1351848"/>
            <a:ext cx="2869406"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algn="l"/>
            <a:r>
              <a:rPr lang="en-US" sz="2000" b="1" dirty="0">
                <a:solidFill>
                  <a:schemeClr val="tx2"/>
                </a:solidFill>
                <a:latin typeface="Arial" pitchFamily="34" charset="0"/>
              </a:rPr>
              <a:t>From Somewhere</a:t>
            </a:r>
          </a:p>
        </p:txBody>
      </p:sp>
      <p:sp>
        <p:nvSpPr>
          <p:cNvPr id="57" name="Line 30"/>
          <p:cNvSpPr>
            <a:spLocks noChangeShapeType="1"/>
          </p:cNvSpPr>
          <p:nvPr/>
        </p:nvSpPr>
        <p:spPr bwMode="auto">
          <a:xfrm flipH="1" flipV="1">
            <a:off x="6918324" y="1685131"/>
            <a:ext cx="3106740" cy="0"/>
          </a:xfrm>
          <a:prstGeom prst="line">
            <a:avLst/>
          </a:prstGeom>
          <a:noFill/>
          <a:ln w="50799">
            <a:solidFill>
              <a:schemeClr val="tx2"/>
            </a:solidFill>
            <a:prstDash val="sysDash"/>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58" name="Rectangle 31"/>
          <p:cNvSpPr>
            <a:spLocks noChangeArrowheads="1"/>
          </p:cNvSpPr>
          <p:nvPr/>
        </p:nvSpPr>
        <p:spPr bwMode="auto">
          <a:xfrm>
            <a:off x="3592514" y="2876550"/>
            <a:ext cx="166528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sz="2000" b="1" dirty="0">
                <a:solidFill>
                  <a:schemeClr val="tx2">
                    <a:lumMod val="60000"/>
                    <a:lumOff val="40000"/>
                  </a:schemeClr>
                </a:solidFill>
                <a:latin typeface="Arial" pitchFamily="34" charset="0"/>
              </a:rPr>
              <a:t>Key</a:t>
            </a:r>
          </a:p>
        </p:txBody>
      </p:sp>
      <p:sp>
        <p:nvSpPr>
          <p:cNvPr id="59" name="Rectangle 31"/>
          <p:cNvSpPr>
            <a:spLocks noChangeArrowheads="1"/>
          </p:cNvSpPr>
          <p:nvPr/>
        </p:nvSpPr>
        <p:spPr bwMode="auto">
          <a:xfrm>
            <a:off x="3821114" y="2190750"/>
            <a:ext cx="166528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sz="2000" b="1" dirty="0">
                <a:solidFill>
                  <a:schemeClr val="tx2">
                    <a:lumMod val="60000"/>
                    <a:lumOff val="40000"/>
                  </a:schemeClr>
                </a:solidFill>
                <a:latin typeface="Arial" pitchFamily="34" charset="0"/>
              </a:rPr>
              <a:t>Data</a:t>
            </a:r>
          </a:p>
        </p:txBody>
      </p:sp>
      <p:sp>
        <p:nvSpPr>
          <p:cNvPr id="61" name="TextBox 60"/>
          <p:cNvSpPr txBox="1"/>
          <p:nvPr/>
        </p:nvSpPr>
        <p:spPr>
          <a:xfrm>
            <a:off x="3417889" y="4398962"/>
            <a:ext cx="1523999" cy="632622"/>
          </a:xfrm>
          <a:prstGeom prst="rect">
            <a:avLst/>
          </a:prstGeom>
          <a:solidFill>
            <a:schemeClr val="bg2"/>
          </a:solidFill>
          <a:ln w="25400">
            <a:solidFill>
              <a:schemeClr val="tx1"/>
            </a:solidFill>
          </a:ln>
        </p:spPr>
        <p:txBody>
          <a:bodyPr wrap="square" rtlCol="0" anchor="ctr">
            <a:noAutofit/>
          </a:bodyPr>
          <a:lstStyle/>
          <a:p>
            <a:pPr algn="ctr"/>
            <a:r>
              <a:rPr lang="en-US" sz="2400" dirty="0"/>
              <a:t>Encryption</a:t>
            </a:r>
          </a:p>
        </p:txBody>
      </p:sp>
      <p:sp>
        <p:nvSpPr>
          <p:cNvPr id="62" name="TextBox 61"/>
          <p:cNvSpPr txBox="1"/>
          <p:nvPr/>
        </p:nvSpPr>
        <p:spPr>
          <a:xfrm>
            <a:off x="5410201" y="2286000"/>
            <a:ext cx="1523999" cy="632622"/>
          </a:xfrm>
          <a:prstGeom prst="rect">
            <a:avLst/>
          </a:prstGeom>
          <a:solidFill>
            <a:schemeClr val="bg2"/>
          </a:solidFill>
          <a:ln w="25400">
            <a:solidFill>
              <a:schemeClr val="tx1"/>
            </a:solidFill>
          </a:ln>
        </p:spPr>
        <p:txBody>
          <a:bodyPr wrap="square" rtlCol="0" anchor="ctr">
            <a:noAutofit/>
          </a:bodyPr>
          <a:lstStyle/>
          <a:p>
            <a:pPr algn="ctr"/>
            <a:r>
              <a:rPr lang="en-US" sz="2400" dirty="0"/>
              <a:t>Encryption</a:t>
            </a:r>
          </a:p>
        </p:txBody>
      </p:sp>
    </p:spTree>
    <p:extLst>
      <p:ext uri="{BB962C8B-B14F-4D97-AF65-F5344CB8AC3E}">
        <p14:creationId xmlns:p14="http://schemas.microsoft.com/office/powerpoint/2010/main" val="17097910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70013"/>
                                        </p:tgtEl>
                                        <p:attrNameLst>
                                          <p:attrName>style.visibility</p:attrName>
                                        </p:attrNameLst>
                                      </p:cBhvr>
                                      <p:to>
                                        <p:strVal val="visible"/>
                                      </p:to>
                                    </p:set>
                                    <p:animEffect transition="in" filter="wipe(up)">
                                      <p:cBhvr>
                                        <p:cTn id="7" dur="500"/>
                                        <p:tgtEl>
                                          <p:spTgt spid="1700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70022"/>
                                        </p:tgtEl>
                                        <p:attrNameLst>
                                          <p:attrName>style.visibility</p:attrName>
                                        </p:attrNameLst>
                                      </p:cBhvr>
                                      <p:to>
                                        <p:strVal val="visible"/>
                                      </p:to>
                                    </p:set>
                                    <p:animEffect transition="in" filter="wipe(left)">
                                      <p:cBhvr>
                                        <p:cTn id="12" dur="500"/>
                                        <p:tgtEl>
                                          <p:spTgt spid="170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noAutofit/>
          </a:bodyPr>
          <a:lstStyle/>
          <a:p>
            <a:r>
              <a:rPr lang="en-US" sz="3600" dirty="0"/>
              <a:t>Message Protection: Bob Receives</a:t>
            </a:r>
          </a:p>
        </p:txBody>
      </p:sp>
      <p:sp>
        <p:nvSpPr>
          <p:cNvPr id="2" name="Content Placeholder 1">
            <a:extLst>
              <a:ext uri="{FF2B5EF4-FFF2-40B4-BE49-F238E27FC236}">
                <a16:creationId xmlns:a16="http://schemas.microsoft.com/office/drawing/2014/main" id="{5D43B960-D094-4B23-9C9B-A12D13508D4D}"/>
              </a:ext>
            </a:extLst>
          </p:cNvPr>
          <p:cNvSpPr>
            <a:spLocks noGrp="1"/>
          </p:cNvSpPr>
          <p:nvPr>
            <p:ph idx="1"/>
          </p:nvPr>
        </p:nvSpPr>
        <p:spPr/>
        <p:txBody>
          <a:bodyPr/>
          <a:lstStyle/>
          <a:p>
            <a:endParaRPr lang="en-US"/>
          </a:p>
        </p:txBody>
      </p:sp>
      <p:sp>
        <p:nvSpPr>
          <p:cNvPr id="171012" name="Line 4"/>
          <p:cNvSpPr>
            <a:spLocks noChangeShapeType="1"/>
          </p:cNvSpPr>
          <p:nvPr/>
        </p:nvSpPr>
        <p:spPr bwMode="auto">
          <a:xfrm>
            <a:off x="3038475" y="2786064"/>
            <a:ext cx="0" cy="2992437"/>
          </a:xfrm>
          <a:prstGeom prst="line">
            <a:avLst/>
          </a:prstGeom>
          <a:noFill/>
          <a:ln w="12699">
            <a:solidFill>
              <a:srgbClr val="FFFFFF"/>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1013" name="Arc 5"/>
          <p:cNvSpPr>
            <a:spLocks/>
          </p:cNvSpPr>
          <p:nvPr/>
        </p:nvSpPr>
        <p:spPr bwMode="auto">
          <a:xfrm>
            <a:off x="6875464" y="1506539"/>
            <a:ext cx="2185987" cy="390525"/>
          </a:xfrm>
          <a:custGeom>
            <a:avLst/>
            <a:gdLst>
              <a:gd name="G0" fmla="+- 16 0 0"/>
              <a:gd name="G1" fmla="+- 21600 0 0"/>
              <a:gd name="G2" fmla="+- 21600 0 0"/>
              <a:gd name="T0" fmla="*/ 0 w 21602"/>
              <a:gd name="T1" fmla="*/ 0 h 21600"/>
              <a:gd name="T2" fmla="*/ 21602 w 21602"/>
              <a:gd name="T3" fmla="*/ 20809 h 21600"/>
              <a:gd name="T4" fmla="*/ 16 w 21602"/>
              <a:gd name="T5" fmla="*/ 21600 h 21600"/>
            </a:gdLst>
            <a:ahLst/>
            <a:cxnLst>
              <a:cxn ang="0">
                <a:pos x="T0" y="T1"/>
              </a:cxn>
              <a:cxn ang="0">
                <a:pos x="T2" y="T3"/>
              </a:cxn>
              <a:cxn ang="0">
                <a:pos x="T4" y="T5"/>
              </a:cxn>
            </a:cxnLst>
            <a:rect l="0" t="0" r="r" b="b"/>
            <a:pathLst>
              <a:path w="21602" h="21600" fill="none" extrusionOk="0">
                <a:moveTo>
                  <a:pt x="0" y="0"/>
                </a:moveTo>
                <a:cubicBezTo>
                  <a:pt x="5" y="0"/>
                  <a:pt x="10" y="-1"/>
                  <a:pt x="16" y="0"/>
                </a:cubicBezTo>
                <a:cubicBezTo>
                  <a:pt x="11637" y="0"/>
                  <a:pt x="21175" y="9195"/>
                  <a:pt x="21601" y="20809"/>
                </a:cubicBezTo>
              </a:path>
              <a:path w="21602" h="21600" stroke="0" extrusionOk="0">
                <a:moveTo>
                  <a:pt x="0" y="0"/>
                </a:moveTo>
                <a:cubicBezTo>
                  <a:pt x="5" y="0"/>
                  <a:pt x="10" y="-1"/>
                  <a:pt x="16" y="0"/>
                </a:cubicBezTo>
                <a:cubicBezTo>
                  <a:pt x="11637" y="0"/>
                  <a:pt x="21175" y="9195"/>
                  <a:pt x="21601" y="20809"/>
                </a:cubicBezTo>
                <a:lnTo>
                  <a:pt x="16" y="21600"/>
                </a:lnTo>
                <a:close/>
              </a:path>
            </a:pathLst>
          </a:custGeom>
          <a:noFill/>
          <a:ln w="50799" cap="rnd">
            <a:solidFill>
              <a:srgbClr val="FFFFFF"/>
            </a:solidFill>
            <a:prstDash val="sysDot"/>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nvGrpSpPr>
          <p:cNvPr id="171014" name="Group 6"/>
          <p:cNvGrpSpPr>
            <a:grpSpLocks/>
          </p:cNvGrpSpPr>
          <p:nvPr/>
        </p:nvGrpSpPr>
        <p:grpSpPr bwMode="auto">
          <a:xfrm>
            <a:off x="1644651" y="3611565"/>
            <a:ext cx="3232149" cy="2011363"/>
            <a:chOff x="76" y="2275"/>
            <a:chExt cx="2036" cy="1267"/>
          </a:xfrm>
        </p:grpSpPr>
        <p:sp>
          <p:nvSpPr>
            <p:cNvPr id="171015" name="Line 7"/>
            <p:cNvSpPr>
              <a:spLocks noChangeShapeType="1"/>
            </p:cNvSpPr>
            <p:nvPr/>
          </p:nvSpPr>
          <p:spPr bwMode="auto">
            <a:xfrm>
              <a:off x="199" y="3054"/>
              <a:ext cx="987" cy="0"/>
            </a:xfrm>
            <a:prstGeom prst="line">
              <a:avLst/>
            </a:prstGeom>
            <a:noFill/>
            <a:ln w="50799">
              <a:solidFill>
                <a:schemeClr val="tx2"/>
              </a:solidFill>
              <a:prstDash val="sysDash"/>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1016" name="Rectangle 8"/>
            <p:cNvSpPr>
              <a:spLocks noChangeArrowheads="1"/>
            </p:cNvSpPr>
            <p:nvPr/>
          </p:nvSpPr>
          <p:spPr bwMode="auto">
            <a:xfrm>
              <a:off x="76" y="3024"/>
              <a:ext cx="596"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oAutofit/>
            </a:bodyPr>
            <a:lstStyle/>
            <a:p>
              <a:pPr algn="l"/>
              <a:r>
                <a:rPr lang="en-US" sz="2400" b="1" dirty="0">
                  <a:solidFill>
                    <a:schemeClr val="tx2"/>
                  </a:solidFill>
                  <a:latin typeface="Arial" pitchFamily="34" charset="0"/>
                </a:rPr>
                <a:t>From Alice</a:t>
              </a:r>
            </a:p>
          </p:txBody>
        </p:sp>
        <p:grpSp>
          <p:nvGrpSpPr>
            <p:cNvPr id="171017" name="Group 9"/>
            <p:cNvGrpSpPr>
              <a:grpSpLocks/>
            </p:cNvGrpSpPr>
            <p:nvPr/>
          </p:nvGrpSpPr>
          <p:grpSpPr bwMode="auto">
            <a:xfrm>
              <a:off x="1202" y="2275"/>
              <a:ext cx="910" cy="1154"/>
              <a:chOff x="1202" y="2275"/>
              <a:chExt cx="910" cy="1154"/>
            </a:xfrm>
          </p:grpSpPr>
          <p:sp>
            <p:nvSpPr>
              <p:cNvPr id="171018" name="Rectangle 10"/>
              <p:cNvSpPr>
                <a:spLocks noChangeArrowheads="1"/>
              </p:cNvSpPr>
              <p:nvPr/>
            </p:nvSpPr>
            <p:spPr bwMode="auto">
              <a:xfrm>
                <a:off x="1202" y="2684"/>
                <a:ext cx="909" cy="745"/>
              </a:xfrm>
              <a:prstGeom prst="rect">
                <a:avLst/>
              </a:prstGeom>
              <a:solidFill>
                <a:srgbClr val="FFFFFF"/>
              </a:solidFill>
              <a:ln w="253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1019" name="Rectangle 11"/>
              <p:cNvSpPr>
                <a:spLocks noChangeArrowheads="1"/>
              </p:cNvSpPr>
              <p:nvPr/>
            </p:nvSpPr>
            <p:spPr bwMode="auto">
              <a:xfrm>
                <a:off x="1220" y="2708"/>
                <a:ext cx="876" cy="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r>
                  <a:rPr lang="en-US" sz="1600" dirty="0">
                    <a:latin typeface="Arial" pitchFamily="34" charset="0"/>
                  </a:rPr>
                  <a:t>H4*m£h0D(h$hjoNm3_hf9)H’Jley6LLv+gf^~`9Cl3d</a:t>
                </a:r>
              </a:p>
            </p:txBody>
          </p:sp>
          <p:sp>
            <p:nvSpPr>
              <p:cNvPr id="171020" name="Rectangle 12"/>
              <p:cNvSpPr>
                <a:spLocks noChangeArrowheads="1"/>
              </p:cNvSpPr>
              <p:nvPr/>
            </p:nvSpPr>
            <p:spPr bwMode="auto">
              <a:xfrm>
                <a:off x="1202" y="2275"/>
                <a:ext cx="910" cy="410"/>
              </a:xfrm>
              <a:prstGeom prst="rect">
                <a:avLst/>
              </a:prstGeom>
              <a:solidFill>
                <a:srgbClr val="C0C0C0"/>
              </a:solidFill>
              <a:ln w="253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1021" name="Rectangle 13"/>
              <p:cNvSpPr>
                <a:spLocks noChangeArrowheads="1"/>
              </p:cNvSpPr>
              <p:nvPr/>
            </p:nvSpPr>
            <p:spPr bwMode="auto">
              <a:xfrm>
                <a:off x="1211" y="2298"/>
                <a:ext cx="877"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r>
                  <a:rPr lang="en-US" sz="1600" dirty="0">
                    <a:latin typeface="Arial" pitchFamily="34" charset="0"/>
                  </a:rPr>
                  <a:t>J(fS_=2j!jsd@nm%Deh</a:t>
                </a:r>
              </a:p>
            </p:txBody>
          </p:sp>
        </p:grpSp>
      </p:grpSp>
      <p:grpSp>
        <p:nvGrpSpPr>
          <p:cNvPr id="171022" name="Group 14"/>
          <p:cNvGrpSpPr>
            <a:grpSpLocks/>
          </p:cNvGrpSpPr>
          <p:nvPr/>
        </p:nvGrpSpPr>
        <p:grpSpPr bwMode="auto">
          <a:xfrm>
            <a:off x="3311526" y="1154113"/>
            <a:ext cx="3629025" cy="2798762"/>
            <a:chOff x="1126" y="727"/>
            <a:chExt cx="2286" cy="1763"/>
          </a:xfrm>
        </p:grpSpPr>
        <p:sp>
          <p:nvSpPr>
            <p:cNvPr id="171027" name="Line 19"/>
            <p:cNvSpPr>
              <a:spLocks noChangeShapeType="1"/>
            </p:cNvSpPr>
            <p:nvPr/>
          </p:nvSpPr>
          <p:spPr bwMode="auto">
            <a:xfrm flipH="1">
              <a:off x="1653" y="1660"/>
              <a:ext cx="762" cy="563"/>
            </a:xfrm>
            <a:prstGeom prst="line">
              <a:avLst/>
            </a:prstGeom>
            <a:noFill/>
            <a:ln w="50799">
              <a:solidFill>
                <a:schemeClr val="tx2"/>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1029" name="Rectangle 21"/>
            <p:cNvSpPr>
              <a:spLocks noChangeArrowheads="1"/>
            </p:cNvSpPr>
            <p:nvPr/>
          </p:nvSpPr>
          <p:spPr bwMode="auto">
            <a:xfrm>
              <a:off x="2415" y="727"/>
              <a:ext cx="997"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000" b="1" dirty="0">
                  <a:solidFill>
                    <a:srgbClr val="FF0000"/>
                  </a:solidFill>
                  <a:latin typeface="Arial" pitchFamily="34" charset="0"/>
                </a:rPr>
                <a:t>Bob’s</a:t>
              </a:r>
            </a:p>
            <a:p>
              <a:r>
                <a:rPr lang="en-US" sz="2000" b="1" dirty="0">
                  <a:solidFill>
                    <a:srgbClr val="FF0000"/>
                  </a:solidFill>
                  <a:latin typeface="Arial" pitchFamily="34" charset="0"/>
                </a:rPr>
                <a:t>Private Key</a:t>
              </a:r>
            </a:p>
          </p:txBody>
        </p:sp>
        <p:sp>
          <p:nvSpPr>
            <p:cNvPr id="171030" name="Line 22"/>
            <p:cNvSpPr>
              <a:spLocks noChangeShapeType="1"/>
            </p:cNvSpPr>
            <p:nvPr/>
          </p:nvSpPr>
          <p:spPr bwMode="auto">
            <a:xfrm>
              <a:off x="2905" y="1183"/>
              <a:ext cx="0" cy="256"/>
            </a:xfrm>
            <a:prstGeom prst="line">
              <a:avLst/>
            </a:prstGeom>
            <a:noFill/>
            <a:ln w="50799">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pic>
          <p:nvPicPr>
            <p:cNvPr id="171031" name="Picture 2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53" y="1925"/>
              <a:ext cx="553" cy="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1032" name="Rectangle 24"/>
            <p:cNvSpPr>
              <a:spLocks noChangeArrowheads="1"/>
            </p:cNvSpPr>
            <p:nvPr/>
          </p:nvSpPr>
          <p:spPr bwMode="auto">
            <a:xfrm>
              <a:off x="1126" y="1419"/>
              <a:ext cx="1078"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000" b="1" dirty="0">
                  <a:solidFill>
                    <a:schemeClr val="tx2">
                      <a:lumMod val="60000"/>
                      <a:lumOff val="40000"/>
                    </a:schemeClr>
                  </a:solidFill>
                  <a:latin typeface="Arial" pitchFamily="34" charset="0"/>
                </a:rPr>
                <a:t>Encrypted</a:t>
              </a:r>
            </a:p>
            <a:p>
              <a:r>
                <a:rPr lang="en-US" sz="2000" b="1" dirty="0">
                  <a:solidFill>
                    <a:schemeClr val="tx2">
                      <a:lumMod val="60000"/>
                      <a:lumOff val="40000"/>
                    </a:schemeClr>
                  </a:solidFill>
                  <a:latin typeface="Arial" pitchFamily="34" charset="0"/>
                </a:rPr>
                <a:t>Session Key</a:t>
              </a:r>
            </a:p>
          </p:txBody>
        </p:sp>
      </p:grpSp>
      <p:sp>
        <p:nvSpPr>
          <p:cNvPr id="171036" name="Rectangle 28"/>
          <p:cNvSpPr>
            <a:spLocks noChangeArrowheads="1"/>
          </p:cNvSpPr>
          <p:nvPr/>
        </p:nvSpPr>
        <p:spPr bwMode="auto">
          <a:xfrm>
            <a:off x="7326683" y="3180648"/>
            <a:ext cx="1712007"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000" b="1" dirty="0">
                <a:solidFill>
                  <a:srgbClr val="FF0000"/>
                </a:solidFill>
                <a:latin typeface="Arial" pitchFamily="34" charset="0"/>
              </a:rPr>
              <a:t>Session Key</a:t>
            </a:r>
          </a:p>
        </p:txBody>
      </p:sp>
      <p:grpSp>
        <p:nvGrpSpPr>
          <p:cNvPr id="171038" name="Group 30"/>
          <p:cNvGrpSpPr>
            <a:grpSpLocks/>
          </p:cNvGrpSpPr>
          <p:nvPr/>
        </p:nvGrpSpPr>
        <p:grpSpPr bwMode="auto">
          <a:xfrm>
            <a:off x="4953000" y="2635250"/>
            <a:ext cx="3551238" cy="3536950"/>
            <a:chOff x="2160" y="1660"/>
            <a:chExt cx="2237" cy="2228"/>
          </a:xfrm>
        </p:grpSpPr>
        <p:sp>
          <p:nvSpPr>
            <p:cNvPr id="171039" name="Line 31"/>
            <p:cNvSpPr>
              <a:spLocks noChangeShapeType="1"/>
            </p:cNvSpPr>
            <p:nvPr/>
          </p:nvSpPr>
          <p:spPr bwMode="auto">
            <a:xfrm>
              <a:off x="3387" y="1660"/>
              <a:ext cx="672" cy="1205"/>
            </a:xfrm>
            <a:prstGeom prst="line">
              <a:avLst/>
            </a:prstGeom>
            <a:noFill/>
            <a:ln w="50799">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1040" name="Line 32"/>
            <p:cNvSpPr>
              <a:spLocks noChangeShapeType="1"/>
            </p:cNvSpPr>
            <p:nvPr/>
          </p:nvSpPr>
          <p:spPr bwMode="auto">
            <a:xfrm>
              <a:off x="2160" y="3072"/>
              <a:ext cx="1488" cy="0"/>
            </a:xfrm>
            <a:prstGeom prst="line">
              <a:avLst/>
            </a:prstGeom>
            <a:noFill/>
            <a:ln w="50799">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1043" name="Rectangle 35"/>
            <p:cNvSpPr>
              <a:spLocks noChangeArrowheads="1"/>
            </p:cNvSpPr>
            <p:nvPr/>
          </p:nvSpPr>
          <p:spPr bwMode="auto">
            <a:xfrm>
              <a:off x="2448" y="2832"/>
              <a:ext cx="93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sz="2000" b="1" dirty="0">
                  <a:solidFill>
                    <a:schemeClr val="tx2">
                      <a:lumMod val="60000"/>
                      <a:lumOff val="40000"/>
                    </a:schemeClr>
                  </a:solidFill>
                  <a:latin typeface="Arial" pitchFamily="34" charset="0"/>
                </a:rPr>
                <a:t>Ciphertext</a:t>
              </a:r>
            </a:p>
          </p:txBody>
        </p:sp>
        <p:pic>
          <p:nvPicPr>
            <p:cNvPr id="171044" name="Picture 3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45" y="3324"/>
              <a:ext cx="552" cy="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71045" name="Group 37"/>
          <p:cNvGrpSpPr>
            <a:grpSpLocks/>
          </p:cNvGrpSpPr>
          <p:nvPr/>
        </p:nvGrpSpPr>
        <p:grpSpPr bwMode="auto">
          <a:xfrm>
            <a:off x="8797926" y="4495800"/>
            <a:ext cx="1412875" cy="400050"/>
            <a:chOff x="4582" y="2832"/>
            <a:chExt cx="890" cy="252"/>
          </a:xfrm>
        </p:grpSpPr>
        <p:sp>
          <p:nvSpPr>
            <p:cNvPr id="171046" name="Rectangle 38"/>
            <p:cNvSpPr>
              <a:spLocks noChangeArrowheads="1"/>
            </p:cNvSpPr>
            <p:nvPr/>
          </p:nvSpPr>
          <p:spPr bwMode="auto">
            <a:xfrm>
              <a:off x="4610" y="2832"/>
              <a:ext cx="80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000" b="1" dirty="0">
                  <a:solidFill>
                    <a:schemeClr val="tx2">
                      <a:lumMod val="60000"/>
                      <a:lumOff val="40000"/>
                    </a:schemeClr>
                  </a:solidFill>
                  <a:latin typeface="Arial" pitchFamily="34" charset="0"/>
                </a:rPr>
                <a:t>Cleartext</a:t>
              </a:r>
            </a:p>
          </p:txBody>
        </p:sp>
        <p:sp>
          <p:nvSpPr>
            <p:cNvPr id="171047" name="Line 39"/>
            <p:cNvSpPr>
              <a:spLocks noChangeShapeType="1"/>
            </p:cNvSpPr>
            <p:nvPr/>
          </p:nvSpPr>
          <p:spPr bwMode="auto">
            <a:xfrm>
              <a:off x="4582" y="3053"/>
              <a:ext cx="890" cy="4"/>
            </a:xfrm>
            <a:prstGeom prst="line">
              <a:avLst/>
            </a:prstGeom>
            <a:noFill/>
            <a:ln w="50799">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sp>
        <p:nvSpPr>
          <p:cNvPr id="61" name="TextBox 60"/>
          <p:cNvSpPr txBox="1"/>
          <p:nvPr/>
        </p:nvSpPr>
        <p:spPr>
          <a:xfrm>
            <a:off x="5378301" y="2286000"/>
            <a:ext cx="1562250" cy="632622"/>
          </a:xfrm>
          <a:prstGeom prst="rect">
            <a:avLst/>
          </a:prstGeom>
          <a:solidFill>
            <a:schemeClr val="bg2"/>
          </a:solidFill>
          <a:ln w="25400">
            <a:solidFill>
              <a:schemeClr val="tx1"/>
            </a:solidFill>
          </a:ln>
        </p:spPr>
        <p:txBody>
          <a:bodyPr wrap="square" rtlCol="0" anchor="ctr">
            <a:noAutofit/>
          </a:bodyPr>
          <a:lstStyle/>
          <a:p>
            <a:pPr algn="ctr"/>
            <a:r>
              <a:rPr lang="en-US" sz="2400" dirty="0"/>
              <a:t>Decryption</a:t>
            </a:r>
          </a:p>
        </p:txBody>
      </p:sp>
      <p:sp>
        <p:nvSpPr>
          <p:cNvPr id="62" name="TextBox 61"/>
          <p:cNvSpPr txBox="1"/>
          <p:nvPr/>
        </p:nvSpPr>
        <p:spPr>
          <a:xfrm>
            <a:off x="7276950" y="4548978"/>
            <a:ext cx="1562250" cy="632622"/>
          </a:xfrm>
          <a:prstGeom prst="rect">
            <a:avLst/>
          </a:prstGeom>
          <a:solidFill>
            <a:schemeClr val="bg2"/>
          </a:solidFill>
          <a:ln w="25400">
            <a:solidFill>
              <a:schemeClr val="tx1"/>
            </a:solidFill>
          </a:ln>
        </p:spPr>
        <p:txBody>
          <a:bodyPr wrap="square" rtlCol="0" anchor="ctr">
            <a:noAutofit/>
          </a:bodyPr>
          <a:lstStyle/>
          <a:p>
            <a:pPr algn="ctr"/>
            <a:r>
              <a:rPr lang="en-US" sz="2400" dirty="0"/>
              <a:t>Decryption</a:t>
            </a:r>
          </a:p>
        </p:txBody>
      </p:sp>
    </p:spTree>
    <p:extLst>
      <p:ext uri="{BB962C8B-B14F-4D97-AF65-F5344CB8AC3E}">
        <p14:creationId xmlns:p14="http://schemas.microsoft.com/office/powerpoint/2010/main" val="19151019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1014"/>
                                        </p:tgtEl>
                                        <p:attrNameLst>
                                          <p:attrName>style.visibility</p:attrName>
                                        </p:attrNameLst>
                                      </p:cBhvr>
                                      <p:to>
                                        <p:strVal val="visible"/>
                                      </p:to>
                                    </p:set>
                                    <p:animEffect transition="in" filter="wipe(left)">
                                      <p:cBhvr>
                                        <p:cTn id="7" dur="500"/>
                                        <p:tgtEl>
                                          <p:spTgt spid="1710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71022"/>
                                        </p:tgtEl>
                                        <p:attrNameLst>
                                          <p:attrName>style.visibility</p:attrName>
                                        </p:attrNameLst>
                                      </p:cBhvr>
                                      <p:to>
                                        <p:strVal val="visible"/>
                                      </p:to>
                                    </p:set>
                                    <p:animEffect transition="in" filter="box(in)">
                                      <p:cBhvr>
                                        <p:cTn id="12" dur="500"/>
                                        <p:tgtEl>
                                          <p:spTgt spid="171022"/>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171038"/>
                                        </p:tgtEl>
                                        <p:attrNameLst>
                                          <p:attrName>style.visibility</p:attrName>
                                        </p:attrNameLst>
                                      </p:cBhvr>
                                      <p:to>
                                        <p:strVal val="visible"/>
                                      </p:to>
                                    </p:set>
                                    <p:animEffect transition="in" filter="box(in)">
                                      <p:cBhvr>
                                        <p:cTn id="19" dur="500"/>
                                        <p:tgtEl>
                                          <p:spTgt spid="171038"/>
                                        </p:tgtEl>
                                      </p:cBhvr>
                                    </p:animEffect>
                                  </p:childTnLst>
                                </p:cTn>
                              </p:par>
                              <p:par>
                                <p:cTn id="20" presetID="1" presetClass="entr" presetSubtype="0" fill="hold" grpId="0" nodeType="withEffect">
                                  <p:stCondLst>
                                    <p:cond delay="0"/>
                                  </p:stCondLst>
                                  <p:childTnLst>
                                    <p:set>
                                      <p:cBhvr>
                                        <p:cTn id="21" dur="1" fill="hold">
                                          <p:stCondLst>
                                            <p:cond delay="0"/>
                                          </p:stCondLst>
                                        </p:cTn>
                                        <p:tgtEl>
                                          <p:spTgt spid="171036"/>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6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71045"/>
                                        </p:tgtEl>
                                        <p:attrNameLst>
                                          <p:attrName>style.visibility</p:attrName>
                                        </p:attrNameLst>
                                      </p:cBhvr>
                                      <p:to>
                                        <p:strVal val="visible"/>
                                      </p:to>
                                    </p:set>
                                    <p:animEffect transition="in" filter="wipe(left)">
                                      <p:cBhvr>
                                        <p:cTn id="28" dur="500"/>
                                        <p:tgtEl>
                                          <p:spTgt spid="171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36" grpId="0"/>
      <p:bldP spid="61" grpId="0" animBg="1"/>
      <p:bldP spid="6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p:txBody>
          <a:bodyPr>
            <a:normAutofit fontScale="90000"/>
          </a:bodyPr>
          <a:lstStyle/>
          <a:p>
            <a:r>
              <a:rPr lang="en-US" sz="3600" dirty="0"/>
              <a:t>Digital Signatures: Alice Signs</a:t>
            </a:r>
          </a:p>
        </p:txBody>
      </p:sp>
      <p:sp>
        <p:nvSpPr>
          <p:cNvPr id="2" name="Content Placeholder 1">
            <a:extLst>
              <a:ext uri="{FF2B5EF4-FFF2-40B4-BE49-F238E27FC236}">
                <a16:creationId xmlns:a16="http://schemas.microsoft.com/office/drawing/2014/main" id="{D0E5B802-F0BD-425D-A6EC-94D3E5A8E0FA}"/>
              </a:ext>
            </a:extLst>
          </p:cNvPr>
          <p:cNvSpPr>
            <a:spLocks noGrp="1"/>
          </p:cNvSpPr>
          <p:nvPr>
            <p:ph idx="1"/>
          </p:nvPr>
        </p:nvSpPr>
        <p:spPr/>
        <p:txBody>
          <a:bodyPr/>
          <a:lstStyle/>
          <a:p>
            <a:endParaRPr lang="en-US"/>
          </a:p>
        </p:txBody>
      </p:sp>
      <p:sp>
        <p:nvSpPr>
          <p:cNvPr id="172036" name="Line 4"/>
          <p:cNvSpPr>
            <a:spLocks noChangeShapeType="1"/>
          </p:cNvSpPr>
          <p:nvPr/>
        </p:nvSpPr>
        <p:spPr bwMode="auto">
          <a:xfrm>
            <a:off x="8953500" y="4302125"/>
            <a:ext cx="0" cy="1955800"/>
          </a:xfrm>
          <a:prstGeom prst="line">
            <a:avLst/>
          </a:prstGeom>
          <a:noFill/>
          <a:ln w="12699">
            <a:solidFill>
              <a:srgbClr val="FFFFFF"/>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nvGrpSpPr>
          <p:cNvPr id="172037" name="Group 5"/>
          <p:cNvGrpSpPr>
            <a:grpSpLocks/>
          </p:cNvGrpSpPr>
          <p:nvPr/>
        </p:nvGrpSpPr>
        <p:grpSpPr bwMode="auto">
          <a:xfrm>
            <a:off x="1524001" y="4781553"/>
            <a:ext cx="6362699" cy="712788"/>
            <a:chOff x="0" y="3012"/>
            <a:chExt cx="4008" cy="449"/>
          </a:xfrm>
        </p:grpSpPr>
        <p:sp>
          <p:nvSpPr>
            <p:cNvPr id="172038" name="Line 6"/>
            <p:cNvSpPr>
              <a:spLocks noChangeShapeType="1"/>
            </p:cNvSpPr>
            <p:nvPr/>
          </p:nvSpPr>
          <p:spPr bwMode="auto">
            <a:xfrm>
              <a:off x="199" y="3234"/>
              <a:ext cx="1038" cy="0"/>
            </a:xfrm>
            <a:prstGeom prst="line">
              <a:avLst/>
            </a:prstGeom>
            <a:noFill/>
            <a:ln w="50799">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2039" name="Rectangle 7"/>
            <p:cNvSpPr>
              <a:spLocks noChangeArrowheads="1"/>
            </p:cNvSpPr>
            <p:nvPr/>
          </p:nvSpPr>
          <p:spPr bwMode="auto">
            <a:xfrm>
              <a:off x="0" y="3012"/>
              <a:ext cx="107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000" b="1" dirty="0">
                  <a:solidFill>
                    <a:schemeClr val="tx2">
                      <a:lumMod val="60000"/>
                      <a:lumOff val="40000"/>
                    </a:schemeClr>
                  </a:solidFill>
                  <a:latin typeface="Arial" pitchFamily="34" charset="0"/>
                </a:rPr>
                <a:t>      Cleartext</a:t>
              </a:r>
            </a:p>
          </p:txBody>
        </p:sp>
        <p:sp>
          <p:nvSpPr>
            <p:cNvPr id="172040" name="Rectangle 8"/>
            <p:cNvSpPr>
              <a:spLocks noChangeArrowheads="1"/>
            </p:cNvSpPr>
            <p:nvPr/>
          </p:nvSpPr>
          <p:spPr bwMode="auto">
            <a:xfrm>
              <a:off x="1248" y="3016"/>
              <a:ext cx="2388" cy="445"/>
            </a:xfrm>
            <a:prstGeom prst="rect">
              <a:avLst/>
            </a:prstGeom>
            <a:solidFill>
              <a:srgbClr val="FFFFFF"/>
            </a:solidFill>
            <a:ln w="253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2041" name="Rectangle 9"/>
            <p:cNvSpPr>
              <a:spLocks noChangeArrowheads="1"/>
            </p:cNvSpPr>
            <p:nvPr/>
          </p:nvSpPr>
          <p:spPr bwMode="auto">
            <a:xfrm>
              <a:off x="1251" y="3123"/>
              <a:ext cx="275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r>
                <a:rPr lang="en-US" sz="1600" dirty="0">
                  <a:latin typeface="Arial" pitchFamily="34" charset="0"/>
                </a:rPr>
                <a:t>The quick brown fox jumped over the...</a:t>
              </a:r>
            </a:p>
          </p:txBody>
        </p:sp>
      </p:grpSp>
      <p:sp>
        <p:nvSpPr>
          <p:cNvPr id="172042" name="Line 10"/>
          <p:cNvSpPr>
            <a:spLocks noChangeShapeType="1"/>
          </p:cNvSpPr>
          <p:nvPr/>
        </p:nvSpPr>
        <p:spPr bwMode="auto">
          <a:xfrm>
            <a:off x="3090864" y="1865313"/>
            <a:ext cx="4117975" cy="0"/>
          </a:xfrm>
          <a:prstGeom prst="line">
            <a:avLst/>
          </a:prstGeom>
          <a:noFill/>
          <a:ln w="50799">
            <a:solidFill>
              <a:srgbClr val="FFFFFF"/>
            </a:solidFill>
            <a:prstDash val="sysDot"/>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nvGrpSpPr>
          <p:cNvPr id="172043" name="Group 11"/>
          <p:cNvGrpSpPr>
            <a:grpSpLocks/>
          </p:cNvGrpSpPr>
          <p:nvPr/>
        </p:nvGrpSpPr>
        <p:grpSpPr bwMode="auto">
          <a:xfrm>
            <a:off x="3881438" y="2273301"/>
            <a:ext cx="2987675" cy="2500313"/>
            <a:chOff x="1485" y="1432"/>
            <a:chExt cx="1882" cy="1575"/>
          </a:xfrm>
        </p:grpSpPr>
        <p:sp>
          <p:nvSpPr>
            <p:cNvPr id="172046" name="Line 14"/>
            <p:cNvSpPr>
              <a:spLocks noChangeShapeType="1"/>
            </p:cNvSpPr>
            <p:nvPr/>
          </p:nvSpPr>
          <p:spPr bwMode="auto">
            <a:xfrm>
              <a:off x="1728" y="2549"/>
              <a:ext cx="0" cy="458"/>
            </a:xfrm>
            <a:prstGeom prst="line">
              <a:avLst/>
            </a:prstGeom>
            <a:noFill/>
            <a:ln w="50799">
              <a:solidFill>
                <a:schemeClr val="tx2"/>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pic>
          <p:nvPicPr>
            <p:cNvPr id="172047" name="Picture 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85" y="1432"/>
              <a:ext cx="583" cy="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2048" name="Rectangle 16"/>
            <p:cNvSpPr>
              <a:spLocks noChangeArrowheads="1"/>
            </p:cNvSpPr>
            <p:nvPr/>
          </p:nvSpPr>
          <p:spPr bwMode="auto">
            <a:xfrm>
              <a:off x="2508" y="1524"/>
              <a:ext cx="800"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000" b="1" dirty="0">
                  <a:solidFill>
                    <a:schemeClr val="tx2">
                      <a:lumMod val="60000"/>
                      <a:lumOff val="40000"/>
                    </a:schemeClr>
                  </a:solidFill>
                  <a:latin typeface="Arial" pitchFamily="34" charset="0"/>
                </a:rPr>
                <a:t>Message</a:t>
              </a:r>
              <a:br>
                <a:rPr lang="en-US" sz="2000" b="1" dirty="0">
                  <a:solidFill>
                    <a:schemeClr val="tx2">
                      <a:lumMod val="60000"/>
                      <a:lumOff val="40000"/>
                    </a:schemeClr>
                  </a:solidFill>
                  <a:latin typeface="Arial" pitchFamily="34" charset="0"/>
                </a:rPr>
              </a:br>
              <a:r>
                <a:rPr lang="en-US" sz="2000" b="1" dirty="0">
                  <a:solidFill>
                    <a:schemeClr val="tx2">
                      <a:lumMod val="60000"/>
                      <a:lumOff val="40000"/>
                    </a:schemeClr>
                  </a:solidFill>
                  <a:latin typeface="Arial" pitchFamily="34" charset="0"/>
                </a:rPr>
                <a:t>Digest</a:t>
              </a:r>
            </a:p>
          </p:txBody>
        </p:sp>
        <p:sp>
          <p:nvSpPr>
            <p:cNvPr id="172049" name="Line 17"/>
            <p:cNvSpPr>
              <a:spLocks noChangeShapeType="1"/>
            </p:cNvSpPr>
            <p:nvPr/>
          </p:nvSpPr>
          <p:spPr bwMode="auto">
            <a:xfrm>
              <a:off x="2187" y="2312"/>
              <a:ext cx="265" cy="0"/>
            </a:xfrm>
            <a:prstGeom prst="line">
              <a:avLst/>
            </a:prstGeom>
            <a:noFill/>
            <a:ln w="50799">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2050" name="Rectangle 18"/>
            <p:cNvSpPr>
              <a:spLocks noChangeArrowheads="1"/>
            </p:cNvSpPr>
            <p:nvPr/>
          </p:nvSpPr>
          <p:spPr bwMode="auto">
            <a:xfrm>
              <a:off x="2459" y="2064"/>
              <a:ext cx="889" cy="445"/>
            </a:xfrm>
            <a:prstGeom prst="rect">
              <a:avLst/>
            </a:prstGeom>
            <a:solidFill>
              <a:srgbClr val="C0C0C0"/>
            </a:solidFill>
            <a:ln w="253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2051" name="Rectangle 19"/>
            <p:cNvSpPr>
              <a:spLocks noChangeArrowheads="1"/>
            </p:cNvSpPr>
            <p:nvPr/>
          </p:nvSpPr>
          <p:spPr bwMode="auto">
            <a:xfrm>
              <a:off x="2452" y="2163"/>
              <a:ext cx="91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r>
                <a:rPr lang="en-US" sz="1600" dirty="0">
                  <a:latin typeface="Arial" pitchFamily="34" charset="0"/>
                </a:rPr>
                <a:t>M(&amp;g$Xs?7</a:t>
              </a:r>
            </a:p>
          </p:txBody>
        </p:sp>
      </p:grpSp>
      <p:grpSp>
        <p:nvGrpSpPr>
          <p:cNvPr id="172053" name="Group 21"/>
          <p:cNvGrpSpPr>
            <a:grpSpLocks/>
          </p:cNvGrpSpPr>
          <p:nvPr/>
        </p:nvGrpSpPr>
        <p:grpSpPr bwMode="auto">
          <a:xfrm>
            <a:off x="6942140" y="1447800"/>
            <a:ext cx="2944813" cy="2686050"/>
            <a:chOff x="3365" y="917"/>
            <a:chExt cx="1855" cy="1692"/>
          </a:xfrm>
        </p:grpSpPr>
        <p:sp>
          <p:nvSpPr>
            <p:cNvPr id="172059" name="Rectangle 27"/>
            <p:cNvSpPr>
              <a:spLocks noChangeArrowheads="1"/>
            </p:cNvSpPr>
            <p:nvPr/>
          </p:nvSpPr>
          <p:spPr bwMode="auto">
            <a:xfrm>
              <a:off x="3606" y="917"/>
              <a:ext cx="997"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000" b="1" dirty="0">
                  <a:solidFill>
                    <a:srgbClr val="FF0000"/>
                  </a:solidFill>
                  <a:latin typeface="Arial" pitchFamily="34" charset="0"/>
                </a:rPr>
                <a:t>Alice’s</a:t>
              </a:r>
              <a:br>
                <a:rPr lang="en-US" sz="2000" b="1" dirty="0">
                  <a:solidFill>
                    <a:srgbClr val="FF0000"/>
                  </a:solidFill>
                  <a:latin typeface="Arial" pitchFamily="34" charset="0"/>
                </a:rPr>
              </a:br>
              <a:r>
                <a:rPr lang="en-US" sz="2000" b="1" dirty="0">
                  <a:solidFill>
                    <a:srgbClr val="FF0000"/>
                  </a:solidFill>
                  <a:latin typeface="Arial" pitchFamily="34" charset="0"/>
                </a:rPr>
                <a:t>Private Key</a:t>
              </a:r>
            </a:p>
          </p:txBody>
        </p:sp>
        <p:sp>
          <p:nvSpPr>
            <p:cNvPr id="172060" name="Line 28"/>
            <p:cNvSpPr>
              <a:spLocks noChangeShapeType="1"/>
            </p:cNvSpPr>
            <p:nvPr/>
          </p:nvSpPr>
          <p:spPr bwMode="auto">
            <a:xfrm>
              <a:off x="4093" y="1410"/>
              <a:ext cx="0" cy="621"/>
            </a:xfrm>
            <a:prstGeom prst="line">
              <a:avLst/>
            </a:prstGeom>
            <a:noFill/>
            <a:ln w="50799">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pic>
          <p:nvPicPr>
            <p:cNvPr id="172061" name="Picture 2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38" y="1999"/>
              <a:ext cx="582" cy="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2062" name="Line 30"/>
            <p:cNvSpPr>
              <a:spLocks noChangeShapeType="1"/>
            </p:cNvSpPr>
            <p:nvPr/>
          </p:nvSpPr>
          <p:spPr bwMode="auto">
            <a:xfrm>
              <a:off x="3365" y="2292"/>
              <a:ext cx="278" cy="0"/>
            </a:xfrm>
            <a:prstGeom prst="line">
              <a:avLst/>
            </a:prstGeom>
            <a:noFill/>
            <a:ln w="50799">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grpSp>
        <p:nvGrpSpPr>
          <p:cNvPr id="172064" name="Group 32"/>
          <p:cNvGrpSpPr>
            <a:grpSpLocks/>
          </p:cNvGrpSpPr>
          <p:nvPr/>
        </p:nvGrpSpPr>
        <p:grpSpPr bwMode="auto">
          <a:xfrm>
            <a:off x="7299326" y="4027489"/>
            <a:ext cx="2225675" cy="1468438"/>
            <a:chOff x="3638" y="2537"/>
            <a:chExt cx="1402" cy="925"/>
          </a:xfrm>
        </p:grpSpPr>
        <p:sp>
          <p:nvSpPr>
            <p:cNvPr id="172065" name="Line 33"/>
            <p:cNvSpPr>
              <a:spLocks noChangeShapeType="1"/>
            </p:cNvSpPr>
            <p:nvPr/>
          </p:nvSpPr>
          <p:spPr bwMode="auto">
            <a:xfrm>
              <a:off x="4094" y="2537"/>
              <a:ext cx="0" cy="467"/>
            </a:xfrm>
            <a:prstGeom prst="line">
              <a:avLst/>
            </a:prstGeom>
            <a:noFill/>
            <a:ln w="50799">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nvGrpSpPr>
            <p:cNvPr id="172066" name="Group 34"/>
            <p:cNvGrpSpPr>
              <a:grpSpLocks/>
            </p:cNvGrpSpPr>
            <p:nvPr/>
          </p:nvGrpSpPr>
          <p:grpSpPr bwMode="auto">
            <a:xfrm>
              <a:off x="3638" y="2819"/>
              <a:ext cx="1402" cy="643"/>
              <a:chOff x="3638" y="2819"/>
              <a:chExt cx="1402" cy="643"/>
            </a:xfrm>
          </p:grpSpPr>
          <p:sp>
            <p:nvSpPr>
              <p:cNvPr id="172067" name="Rectangle 35"/>
              <p:cNvSpPr>
                <a:spLocks noChangeArrowheads="1"/>
              </p:cNvSpPr>
              <p:nvPr/>
            </p:nvSpPr>
            <p:spPr bwMode="auto">
              <a:xfrm>
                <a:off x="3638" y="3016"/>
                <a:ext cx="956" cy="446"/>
              </a:xfrm>
              <a:prstGeom prst="rect">
                <a:avLst/>
              </a:prstGeom>
              <a:solidFill>
                <a:srgbClr val="C0C0C0"/>
              </a:solidFill>
              <a:ln w="253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2068" name="Rectangle 36"/>
              <p:cNvSpPr>
                <a:spLocks noChangeArrowheads="1"/>
              </p:cNvSpPr>
              <p:nvPr/>
            </p:nvSpPr>
            <p:spPr bwMode="auto">
              <a:xfrm>
                <a:off x="3646" y="3118"/>
                <a:ext cx="92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r>
                  <a:rPr lang="en-US" sz="1600" dirty="0">
                    <a:latin typeface="Arial" pitchFamily="34" charset="0"/>
                  </a:rPr>
                  <a:t>&amp;G0:8j4C+p</a:t>
                </a:r>
              </a:p>
            </p:txBody>
          </p:sp>
          <p:sp>
            <p:nvSpPr>
              <p:cNvPr id="172069" name="Rectangle 37"/>
              <p:cNvSpPr>
                <a:spLocks noChangeArrowheads="1"/>
              </p:cNvSpPr>
              <p:nvPr/>
            </p:nvSpPr>
            <p:spPr bwMode="auto">
              <a:xfrm>
                <a:off x="4252" y="2819"/>
                <a:ext cx="78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dirty="0">
                    <a:solidFill>
                      <a:schemeClr val="tx2">
                        <a:lumMod val="60000"/>
                        <a:lumOff val="40000"/>
                      </a:schemeClr>
                    </a:solidFill>
                    <a:latin typeface="Arial" pitchFamily="34" charset="0"/>
                  </a:rPr>
                  <a:t>Signature</a:t>
                </a:r>
                <a:endParaRPr lang="en-US" sz="2000" b="1" dirty="0">
                  <a:solidFill>
                    <a:schemeClr val="tx2">
                      <a:lumMod val="60000"/>
                      <a:lumOff val="40000"/>
                    </a:schemeClr>
                  </a:solidFill>
                  <a:latin typeface="Arial" pitchFamily="34" charset="0"/>
                </a:endParaRPr>
              </a:p>
            </p:txBody>
          </p:sp>
        </p:grpSp>
      </p:grpSp>
      <p:grpSp>
        <p:nvGrpSpPr>
          <p:cNvPr id="172070" name="Group 38"/>
          <p:cNvGrpSpPr>
            <a:grpSpLocks/>
          </p:cNvGrpSpPr>
          <p:nvPr/>
        </p:nvGrpSpPr>
        <p:grpSpPr bwMode="auto">
          <a:xfrm>
            <a:off x="8001000" y="5495926"/>
            <a:ext cx="2667000" cy="1209675"/>
            <a:chOff x="4080" y="3462"/>
            <a:chExt cx="1680" cy="762"/>
          </a:xfrm>
        </p:grpSpPr>
        <p:sp>
          <p:nvSpPr>
            <p:cNvPr id="172071" name="Rectangle 39"/>
            <p:cNvSpPr>
              <a:spLocks noChangeArrowheads="1"/>
            </p:cNvSpPr>
            <p:nvPr/>
          </p:nvSpPr>
          <p:spPr bwMode="auto">
            <a:xfrm>
              <a:off x="4128" y="3696"/>
              <a:ext cx="1632"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r>
                <a:rPr lang="en-US" sz="2000" b="1" dirty="0">
                  <a:solidFill>
                    <a:schemeClr val="tx2">
                      <a:lumMod val="60000"/>
                      <a:lumOff val="40000"/>
                    </a:schemeClr>
                  </a:solidFill>
                  <a:latin typeface="Arial" pitchFamily="34" charset="0"/>
                </a:rPr>
                <a:t>To Bob</a:t>
              </a:r>
            </a:p>
            <a:p>
              <a:r>
                <a:rPr lang="en-US" sz="2000" b="1" dirty="0">
                  <a:solidFill>
                    <a:schemeClr val="tx2">
                      <a:lumMod val="60000"/>
                      <a:lumOff val="40000"/>
                    </a:schemeClr>
                  </a:solidFill>
                  <a:latin typeface="Arial" pitchFamily="34" charset="0"/>
                </a:rPr>
                <a:t>Encrypt if required</a:t>
              </a:r>
            </a:p>
          </p:txBody>
        </p:sp>
        <p:sp>
          <p:nvSpPr>
            <p:cNvPr id="172073" name="Line 41"/>
            <p:cNvSpPr>
              <a:spLocks noChangeShapeType="1"/>
            </p:cNvSpPr>
            <p:nvPr/>
          </p:nvSpPr>
          <p:spPr bwMode="auto">
            <a:xfrm flipH="1">
              <a:off x="4080" y="3462"/>
              <a:ext cx="0" cy="762"/>
            </a:xfrm>
            <a:prstGeom prst="line">
              <a:avLst/>
            </a:prstGeom>
            <a:noFill/>
            <a:ln w="50799">
              <a:solidFill>
                <a:schemeClr val="tx2"/>
              </a:solidFill>
              <a:prstDash val="sysDash"/>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sp>
        <p:nvSpPr>
          <p:cNvPr id="56" name="TextBox 55"/>
          <p:cNvSpPr txBox="1"/>
          <p:nvPr/>
        </p:nvSpPr>
        <p:spPr>
          <a:xfrm>
            <a:off x="3505202" y="3329778"/>
            <a:ext cx="1523999" cy="632622"/>
          </a:xfrm>
          <a:prstGeom prst="rect">
            <a:avLst/>
          </a:prstGeom>
          <a:solidFill>
            <a:schemeClr val="bg2"/>
          </a:solidFill>
          <a:ln w="25400">
            <a:solidFill>
              <a:schemeClr val="tx1"/>
            </a:solidFill>
          </a:ln>
        </p:spPr>
        <p:txBody>
          <a:bodyPr wrap="square" rtlCol="0" anchor="ctr">
            <a:noAutofit/>
          </a:bodyPr>
          <a:lstStyle/>
          <a:p>
            <a:pPr algn="ctr"/>
            <a:r>
              <a:rPr lang="en-US" sz="2400" dirty="0"/>
              <a:t>Hash</a:t>
            </a:r>
          </a:p>
        </p:txBody>
      </p:sp>
      <p:sp>
        <p:nvSpPr>
          <p:cNvPr id="57" name="TextBox 56"/>
          <p:cNvSpPr txBox="1"/>
          <p:nvPr/>
        </p:nvSpPr>
        <p:spPr>
          <a:xfrm>
            <a:off x="7315202" y="3329778"/>
            <a:ext cx="1523999" cy="632622"/>
          </a:xfrm>
          <a:prstGeom prst="rect">
            <a:avLst/>
          </a:prstGeom>
          <a:solidFill>
            <a:schemeClr val="bg2"/>
          </a:solidFill>
          <a:ln w="25400">
            <a:solidFill>
              <a:schemeClr val="tx1"/>
            </a:solidFill>
          </a:ln>
        </p:spPr>
        <p:txBody>
          <a:bodyPr wrap="square" rtlCol="0" anchor="ctr">
            <a:noAutofit/>
          </a:bodyPr>
          <a:lstStyle/>
          <a:p>
            <a:pPr algn="ctr"/>
            <a:r>
              <a:rPr lang="en-US" sz="2400" dirty="0"/>
              <a:t>Sign</a:t>
            </a:r>
          </a:p>
        </p:txBody>
      </p:sp>
    </p:spTree>
    <p:extLst>
      <p:ext uri="{BB962C8B-B14F-4D97-AF65-F5344CB8AC3E}">
        <p14:creationId xmlns:p14="http://schemas.microsoft.com/office/powerpoint/2010/main" val="31664045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2037"/>
                                        </p:tgtEl>
                                        <p:attrNameLst>
                                          <p:attrName>style.visibility</p:attrName>
                                        </p:attrNameLst>
                                      </p:cBhvr>
                                      <p:to>
                                        <p:strVal val="visible"/>
                                      </p:to>
                                    </p:set>
                                    <p:animEffect transition="in" filter="wipe(left)">
                                      <p:cBhvr>
                                        <p:cTn id="7" dur="500"/>
                                        <p:tgtEl>
                                          <p:spTgt spid="1720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wipe(down)">
                                      <p:cBhvr>
                                        <p:cTn id="12" dur="500"/>
                                        <p:tgtEl>
                                          <p:spTgt spid="56"/>
                                        </p:tgtEl>
                                      </p:cBhvr>
                                    </p:animEffect>
                                  </p:childTnLst>
                                </p:cTn>
                              </p:par>
                              <p:par>
                                <p:cTn id="13" presetID="22" presetClass="entr" presetSubtype="8" fill="hold" nodeType="withEffect">
                                  <p:stCondLst>
                                    <p:cond delay="0"/>
                                  </p:stCondLst>
                                  <p:childTnLst>
                                    <p:set>
                                      <p:cBhvr>
                                        <p:cTn id="14" dur="1" fill="hold">
                                          <p:stCondLst>
                                            <p:cond delay="0"/>
                                          </p:stCondLst>
                                        </p:cTn>
                                        <p:tgtEl>
                                          <p:spTgt spid="172043"/>
                                        </p:tgtEl>
                                        <p:attrNameLst>
                                          <p:attrName>style.visibility</p:attrName>
                                        </p:attrNameLst>
                                      </p:cBhvr>
                                      <p:to>
                                        <p:strVal val="visible"/>
                                      </p:to>
                                    </p:set>
                                    <p:animEffect transition="in" filter="wipe(left)">
                                      <p:cBhvr>
                                        <p:cTn id="15" dur="500"/>
                                        <p:tgtEl>
                                          <p:spTgt spid="17204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57"/>
                                        </p:tgtEl>
                                        <p:attrNameLst>
                                          <p:attrName>style.visibility</p:attrName>
                                        </p:attrNameLst>
                                      </p:cBhvr>
                                      <p:to>
                                        <p:strVal val="visible"/>
                                      </p:to>
                                    </p:set>
                                    <p:animEffect transition="in" filter="wipe(down)">
                                      <p:cBhvr>
                                        <p:cTn id="20" dur="500"/>
                                        <p:tgtEl>
                                          <p:spTgt spid="57"/>
                                        </p:tgtEl>
                                      </p:cBhvr>
                                    </p:animEffect>
                                  </p:childTnLst>
                                </p:cTn>
                              </p:par>
                              <p:par>
                                <p:cTn id="21" presetID="22" presetClass="entr" presetSubtype="8" fill="hold" nodeType="withEffect">
                                  <p:stCondLst>
                                    <p:cond delay="0"/>
                                  </p:stCondLst>
                                  <p:childTnLst>
                                    <p:set>
                                      <p:cBhvr>
                                        <p:cTn id="22" dur="1" fill="hold">
                                          <p:stCondLst>
                                            <p:cond delay="0"/>
                                          </p:stCondLst>
                                        </p:cTn>
                                        <p:tgtEl>
                                          <p:spTgt spid="172053"/>
                                        </p:tgtEl>
                                        <p:attrNameLst>
                                          <p:attrName>style.visibility</p:attrName>
                                        </p:attrNameLst>
                                      </p:cBhvr>
                                      <p:to>
                                        <p:strVal val="visible"/>
                                      </p:to>
                                    </p:set>
                                    <p:animEffect transition="in" filter="wipe(left)">
                                      <p:cBhvr>
                                        <p:cTn id="23" dur="500"/>
                                        <p:tgtEl>
                                          <p:spTgt spid="17205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172064"/>
                                        </p:tgtEl>
                                        <p:attrNameLst>
                                          <p:attrName>style.visibility</p:attrName>
                                        </p:attrNameLst>
                                      </p:cBhvr>
                                      <p:to>
                                        <p:strVal val="visible"/>
                                      </p:to>
                                    </p:set>
                                    <p:animEffect transition="in" filter="wipe(up)">
                                      <p:cBhvr>
                                        <p:cTn id="28" dur="500"/>
                                        <p:tgtEl>
                                          <p:spTgt spid="17206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172070"/>
                                        </p:tgtEl>
                                        <p:attrNameLst>
                                          <p:attrName>style.visibility</p:attrName>
                                        </p:attrNameLst>
                                      </p:cBhvr>
                                      <p:to>
                                        <p:strVal val="visible"/>
                                      </p:to>
                                    </p:set>
                                    <p:animEffect transition="in" filter="wipe(up)">
                                      <p:cBhvr>
                                        <p:cTn id="33" dur="500"/>
                                        <p:tgtEl>
                                          <p:spTgt spid="1720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normAutofit fontScale="90000"/>
          </a:bodyPr>
          <a:lstStyle/>
          <a:p>
            <a:r>
              <a:rPr lang="en-US" sz="3600" dirty="0"/>
              <a:t>Digital Signatures: Bob Verifies</a:t>
            </a:r>
          </a:p>
        </p:txBody>
      </p:sp>
      <p:sp>
        <p:nvSpPr>
          <p:cNvPr id="2" name="Content Placeholder 1">
            <a:extLst>
              <a:ext uri="{FF2B5EF4-FFF2-40B4-BE49-F238E27FC236}">
                <a16:creationId xmlns:a16="http://schemas.microsoft.com/office/drawing/2014/main" id="{5FE79BD7-D60F-482F-AA59-07D5C9539EF0}"/>
              </a:ext>
            </a:extLst>
          </p:cNvPr>
          <p:cNvSpPr>
            <a:spLocks noGrp="1"/>
          </p:cNvSpPr>
          <p:nvPr>
            <p:ph idx="1"/>
          </p:nvPr>
        </p:nvSpPr>
        <p:spPr/>
        <p:txBody>
          <a:bodyPr/>
          <a:lstStyle/>
          <a:p>
            <a:endParaRPr lang="en-US"/>
          </a:p>
        </p:txBody>
      </p:sp>
      <p:sp>
        <p:nvSpPr>
          <p:cNvPr id="173060" name="Line 4"/>
          <p:cNvSpPr>
            <a:spLocks noChangeShapeType="1"/>
          </p:cNvSpPr>
          <p:nvPr/>
        </p:nvSpPr>
        <p:spPr bwMode="auto">
          <a:xfrm>
            <a:off x="3225800" y="3119438"/>
            <a:ext cx="0" cy="1630362"/>
          </a:xfrm>
          <a:prstGeom prst="line">
            <a:avLst/>
          </a:prstGeom>
          <a:noFill/>
          <a:ln w="12699">
            <a:solidFill>
              <a:srgbClr val="FFFFFF"/>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3061" name="Oval 5"/>
          <p:cNvSpPr>
            <a:spLocks noChangeArrowheads="1"/>
          </p:cNvSpPr>
          <p:nvPr/>
        </p:nvSpPr>
        <p:spPr bwMode="auto">
          <a:xfrm>
            <a:off x="3786189" y="4745038"/>
            <a:ext cx="687387" cy="690562"/>
          </a:xfrm>
          <a:prstGeom prst="ellipse">
            <a:avLst/>
          </a:prstGeom>
          <a:noFill/>
          <a:ln w="38099" cmpd="dbl">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3062" name="Line 6"/>
          <p:cNvSpPr>
            <a:spLocks noChangeShapeType="1"/>
          </p:cNvSpPr>
          <p:nvPr/>
        </p:nvSpPr>
        <p:spPr bwMode="auto">
          <a:xfrm>
            <a:off x="3163889" y="2330450"/>
            <a:ext cx="1843087" cy="0"/>
          </a:xfrm>
          <a:prstGeom prst="line">
            <a:avLst/>
          </a:prstGeom>
          <a:noFill/>
          <a:ln w="50799">
            <a:solidFill>
              <a:srgbClr val="FFFFFF"/>
            </a:solidFill>
            <a:prstDash val="sysDot"/>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nvGrpSpPr>
          <p:cNvPr id="173063" name="Group 7"/>
          <p:cNvGrpSpPr>
            <a:grpSpLocks/>
          </p:cNvGrpSpPr>
          <p:nvPr/>
        </p:nvGrpSpPr>
        <p:grpSpPr bwMode="auto">
          <a:xfrm>
            <a:off x="2038351" y="3540130"/>
            <a:ext cx="6299200" cy="909639"/>
            <a:chOff x="324" y="2230"/>
            <a:chExt cx="3968" cy="573"/>
          </a:xfrm>
        </p:grpSpPr>
        <p:sp>
          <p:nvSpPr>
            <p:cNvPr id="173064" name="Line 8"/>
            <p:cNvSpPr>
              <a:spLocks noChangeShapeType="1"/>
            </p:cNvSpPr>
            <p:nvPr/>
          </p:nvSpPr>
          <p:spPr bwMode="auto">
            <a:xfrm>
              <a:off x="324" y="2411"/>
              <a:ext cx="934" cy="0"/>
            </a:xfrm>
            <a:prstGeom prst="line">
              <a:avLst/>
            </a:prstGeom>
            <a:noFill/>
            <a:ln w="50799">
              <a:solidFill>
                <a:schemeClr val="tx2"/>
              </a:solidFill>
              <a:prstDash val="sysDash"/>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3066" name="Rectangle 10"/>
            <p:cNvSpPr>
              <a:spLocks noChangeArrowheads="1"/>
            </p:cNvSpPr>
            <p:nvPr/>
          </p:nvSpPr>
          <p:spPr bwMode="auto">
            <a:xfrm>
              <a:off x="1269" y="2230"/>
              <a:ext cx="2151" cy="368"/>
            </a:xfrm>
            <a:prstGeom prst="rect">
              <a:avLst/>
            </a:prstGeom>
            <a:solidFill>
              <a:srgbClr val="FFFFFF"/>
            </a:solidFill>
            <a:ln w="253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3067" name="Rectangle 11"/>
            <p:cNvSpPr>
              <a:spLocks noChangeArrowheads="1"/>
            </p:cNvSpPr>
            <p:nvPr/>
          </p:nvSpPr>
          <p:spPr bwMode="auto">
            <a:xfrm>
              <a:off x="1271" y="2317"/>
              <a:ext cx="248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r>
                <a:rPr lang="en-US" sz="1600" dirty="0">
                  <a:solidFill>
                    <a:schemeClr val="tx2">
                      <a:lumMod val="60000"/>
                      <a:lumOff val="40000"/>
                    </a:schemeClr>
                  </a:solidFill>
                  <a:latin typeface="Arial" pitchFamily="34" charset="0"/>
                </a:rPr>
                <a:t>The quick brown fox jumped over the</a:t>
              </a:r>
            </a:p>
          </p:txBody>
        </p:sp>
        <p:sp>
          <p:nvSpPr>
            <p:cNvPr id="173068" name="Rectangle 12"/>
            <p:cNvSpPr>
              <a:spLocks noChangeArrowheads="1"/>
            </p:cNvSpPr>
            <p:nvPr/>
          </p:nvSpPr>
          <p:spPr bwMode="auto">
            <a:xfrm>
              <a:off x="3421" y="2230"/>
              <a:ext cx="861" cy="369"/>
            </a:xfrm>
            <a:prstGeom prst="rect">
              <a:avLst/>
            </a:prstGeom>
            <a:solidFill>
              <a:srgbClr val="C0C0C0"/>
            </a:solidFill>
            <a:ln w="253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3069" name="Rectangle 13"/>
            <p:cNvSpPr>
              <a:spLocks noChangeArrowheads="1"/>
            </p:cNvSpPr>
            <p:nvPr/>
          </p:nvSpPr>
          <p:spPr bwMode="auto">
            <a:xfrm>
              <a:off x="3428" y="2313"/>
              <a:ext cx="83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r>
                <a:rPr lang="en-US" sz="1600" dirty="0">
                  <a:latin typeface="Arial" pitchFamily="34" charset="0"/>
                </a:rPr>
                <a:t>&amp;G0:8j4C+p</a:t>
              </a:r>
            </a:p>
          </p:txBody>
        </p:sp>
        <p:sp>
          <p:nvSpPr>
            <p:cNvPr id="173070" name="Rectangle 14"/>
            <p:cNvSpPr>
              <a:spLocks noChangeArrowheads="1"/>
            </p:cNvSpPr>
            <p:nvPr/>
          </p:nvSpPr>
          <p:spPr bwMode="auto">
            <a:xfrm>
              <a:off x="3504" y="2570"/>
              <a:ext cx="78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dirty="0">
                  <a:solidFill>
                    <a:schemeClr val="tx2">
                      <a:lumMod val="60000"/>
                      <a:lumOff val="40000"/>
                    </a:schemeClr>
                  </a:solidFill>
                  <a:latin typeface="Arial" pitchFamily="34" charset="0"/>
                </a:rPr>
                <a:t>Signature</a:t>
              </a:r>
              <a:endParaRPr lang="en-US" sz="1600" b="1" dirty="0">
                <a:solidFill>
                  <a:schemeClr val="tx2">
                    <a:lumMod val="60000"/>
                    <a:lumOff val="40000"/>
                  </a:schemeClr>
                </a:solidFill>
                <a:latin typeface="Arial" pitchFamily="34" charset="0"/>
              </a:endParaRPr>
            </a:p>
          </p:txBody>
        </p:sp>
      </p:grpSp>
      <p:grpSp>
        <p:nvGrpSpPr>
          <p:cNvPr id="173071" name="Group 15"/>
          <p:cNvGrpSpPr>
            <a:grpSpLocks/>
          </p:cNvGrpSpPr>
          <p:nvPr/>
        </p:nvGrpSpPr>
        <p:grpSpPr bwMode="auto">
          <a:xfrm>
            <a:off x="5570538" y="4146550"/>
            <a:ext cx="2690812" cy="2101850"/>
            <a:chOff x="2549" y="2612"/>
            <a:chExt cx="1695" cy="1324"/>
          </a:xfrm>
        </p:grpSpPr>
        <p:sp>
          <p:nvSpPr>
            <p:cNvPr id="173074" name="Line 18"/>
            <p:cNvSpPr>
              <a:spLocks noChangeShapeType="1"/>
            </p:cNvSpPr>
            <p:nvPr/>
          </p:nvSpPr>
          <p:spPr bwMode="auto">
            <a:xfrm>
              <a:off x="2754" y="2612"/>
              <a:ext cx="0" cy="382"/>
            </a:xfrm>
            <a:prstGeom prst="line">
              <a:avLst/>
            </a:prstGeom>
            <a:noFill/>
            <a:ln w="50799">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pic>
          <p:nvPicPr>
            <p:cNvPr id="173075"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9" y="3428"/>
              <a:ext cx="523" cy="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3076" name="Rectangle 20"/>
            <p:cNvSpPr>
              <a:spLocks noChangeArrowheads="1"/>
            </p:cNvSpPr>
            <p:nvPr/>
          </p:nvSpPr>
          <p:spPr bwMode="auto">
            <a:xfrm>
              <a:off x="3432" y="3381"/>
              <a:ext cx="731"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dirty="0">
                  <a:solidFill>
                    <a:schemeClr val="tx2">
                      <a:lumMod val="60000"/>
                      <a:lumOff val="40000"/>
                    </a:schemeClr>
                  </a:solidFill>
                  <a:latin typeface="Arial" pitchFamily="34" charset="0"/>
                </a:rPr>
                <a:t>Message</a:t>
              </a:r>
              <a:br>
                <a:rPr lang="en-US" b="1" dirty="0">
                  <a:solidFill>
                    <a:schemeClr val="tx2">
                      <a:lumMod val="60000"/>
                      <a:lumOff val="40000"/>
                    </a:schemeClr>
                  </a:solidFill>
                  <a:latin typeface="Arial" pitchFamily="34" charset="0"/>
                </a:rPr>
              </a:br>
              <a:r>
                <a:rPr lang="en-US" b="1" dirty="0">
                  <a:solidFill>
                    <a:schemeClr val="tx2">
                      <a:lumMod val="60000"/>
                      <a:lumOff val="40000"/>
                    </a:schemeClr>
                  </a:solidFill>
                  <a:latin typeface="Arial" pitchFamily="34" charset="0"/>
                </a:rPr>
                <a:t>Digest</a:t>
              </a:r>
            </a:p>
          </p:txBody>
        </p:sp>
        <p:sp>
          <p:nvSpPr>
            <p:cNvPr id="173077" name="Line 21"/>
            <p:cNvSpPr>
              <a:spLocks noChangeShapeType="1"/>
            </p:cNvSpPr>
            <p:nvPr/>
          </p:nvSpPr>
          <p:spPr bwMode="auto">
            <a:xfrm>
              <a:off x="3181" y="3216"/>
              <a:ext cx="237" cy="0"/>
            </a:xfrm>
            <a:prstGeom prst="line">
              <a:avLst/>
            </a:prstGeom>
            <a:noFill/>
            <a:ln w="50799">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3078" name="Rectangle 22"/>
            <p:cNvSpPr>
              <a:spLocks noChangeArrowheads="1"/>
            </p:cNvSpPr>
            <p:nvPr/>
          </p:nvSpPr>
          <p:spPr bwMode="auto">
            <a:xfrm>
              <a:off x="3425" y="3011"/>
              <a:ext cx="799" cy="367"/>
            </a:xfrm>
            <a:prstGeom prst="rect">
              <a:avLst/>
            </a:prstGeom>
            <a:solidFill>
              <a:srgbClr val="C0C0C0"/>
            </a:solidFill>
            <a:ln w="253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3079" name="Rectangle 23"/>
            <p:cNvSpPr>
              <a:spLocks noChangeArrowheads="1"/>
            </p:cNvSpPr>
            <p:nvPr/>
          </p:nvSpPr>
          <p:spPr bwMode="auto">
            <a:xfrm>
              <a:off x="3419" y="3092"/>
              <a:ext cx="82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r>
                <a:rPr lang="en-US" sz="1600" dirty="0">
                  <a:latin typeface="Arial" pitchFamily="34" charset="0"/>
                </a:rPr>
                <a:t>M(&amp;g$Xs?7</a:t>
              </a:r>
            </a:p>
          </p:txBody>
        </p:sp>
      </p:grpSp>
      <p:grpSp>
        <p:nvGrpSpPr>
          <p:cNvPr id="173080" name="Group 24"/>
          <p:cNvGrpSpPr>
            <a:grpSpLocks/>
          </p:cNvGrpSpPr>
          <p:nvPr/>
        </p:nvGrpSpPr>
        <p:grpSpPr bwMode="auto">
          <a:xfrm>
            <a:off x="2038351" y="1222375"/>
            <a:ext cx="8096250" cy="2292350"/>
            <a:chOff x="324" y="770"/>
            <a:chExt cx="5100" cy="1444"/>
          </a:xfrm>
        </p:grpSpPr>
        <p:sp>
          <p:nvSpPr>
            <p:cNvPr id="173086" name="Line 30"/>
            <p:cNvSpPr>
              <a:spLocks noChangeShapeType="1"/>
            </p:cNvSpPr>
            <p:nvPr/>
          </p:nvSpPr>
          <p:spPr bwMode="auto">
            <a:xfrm>
              <a:off x="3831" y="1676"/>
              <a:ext cx="0" cy="538"/>
            </a:xfrm>
            <a:prstGeom prst="line">
              <a:avLst/>
            </a:prstGeom>
            <a:noFill/>
            <a:ln w="50799">
              <a:solidFill>
                <a:schemeClr val="tx2"/>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pic>
          <p:nvPicPr>
            <p:cNvPr id="173087" name="Picture 3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70" y="770"/>
              <a:ext cx="525" cy="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3088" name="Line 32"/>
            <p:cNvSpPr>
              <a:spLocks noChangeShapeType="1"/>
            </p:cNvSpPr>
            <p:nvPr/>
          </p:nvSpPr>
          <p:spPr bwMode="auto">
            <a:xfrm flipV="1">
              <a:off x="324" y="1481"/>
              <a:ext cx="2964" cy="14"/>
            </a:xfrm>
            <a:prstGeom prst="line">
              <a:avLst/>
            </a:prstGeom>
            <a:noFill/>
            <a:ln w="50799">
              <a:solidFill>
                <a:schemeClr val="tx2"/>
              </a:solidFill>
              <a:prstDash val="sysDash"/>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3089" name="Rectangle 33"/>
            <p:cNvSpPr>
              <a:spLocks noChangeArrowheads="1"/>
            </p:cNvSpPr>
            <p:nvPr/>
          </p:nvSpPr>
          <p:spPr bwMode="auto">
            <a:xfrm>
              <a:off x="4468" y="838"/>
              <a:ext cx="800"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000" b="1" dirty="0">
                  <a:solidFill>
                    <a:schemeClr val="tx2">
                      <a:lumMod val="60000"/>
                      <a:lumOff val="40000"/>
                    </a:schemeClr>
                  </a:solidFill>
                  <a:latin typeface="Arial" pitchFamily="34" charset="0"/>
                </a:rPr>
                <a:t>Message</a:t>
              </a:r>
              <a:br>
                <a:rPr lang="en-US" sz="2000" b="1" dirty="0">
                  <a:solidFill>
                    <a:schemeClr val="tx2">
                      <a:lumMod val="60000"/>
                      <a:lumOff val="40000"/>
                    </a:schemeClr>
                  </a:solidFill>
                  <a:latin typeface="Arial" pitchFamily="34" charset="0"/>
                </a:rPr>
              </a:br>
              <a:r>
                <a:rPr lang="en-US" sz="2000" b="1" dirty="0">
                  <a:solidFill>
                    <a:schemeClr val="tx2">
                      <a:lumMod val="60000"/>
                      <a:lumOff val="40000"/>
                    </a:schemeClr>
                  </a:solidFill>
                  <a:latin typeface="Arial" pitchFamily="34" charset="0"/>
                </a:rPr>
                <a:t>Digest</a:t>
              </a:r>
            </a:p>
          </p:txBody>
        </p:sp>
        <p:sp>
          <p:nvSpPr>
            <p:cNvPr id="173090" name="Rectangle 34"/>
            <p:cNvSpPr>
              <a:spLocks noChangeArrowheads="1"/>
            </p:cNvSpPr>
            <p:nvPr/>
          </p:nvSpPr>
          <p:spPr bwMode="auto">
            <a:xfrm>
              <a:off x="4462" y="1290"/>
              <a:ext cx="798" cy="368"/>
            </a:xfrm>
            <a:prstGeom prst="rect">
              <a:avLst/>
            </a:prstGeom>
            <a:solidFill>
              <a:srgbClr val="C0C0C0"/>
            </a:solidFill>
            <a:ln w="253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3091" name="Rectangle 35"/>
            <p:cNvSpPr>
              <a:spLocks noChangeArrowheads="1"/>
            </p:cNvSpPr>
            <p:nvPr/>
          </p:nvSpPr>
          <p:spPr bwMode="auto">
            <a:xfrm>
              <a:off x="4456" y="1371"/>
              <a:ext cx="96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r>
                <a:rPr lang="en-US" sz="1600" dirty="0">
                  <a:latin typeface="Arial" pitchFamily="34" charset="0"/>
                </a:rPr>
                <a:t>M(&amp;g#$Xs?7</a:t>
              </a:r>
            </a:p>
          </p:txBody>
        </p:sp>
        <p:sp>
          <p:nvSpPr>
            <p:cNvPr id="173092" name="Line 36"/>
            <p:cNvSpPr>
              <a:spLocks noChangeShapeType="1"/>
            </p:cNvSpPr>
            <p:nvPr/>
          </p:nvSpPr>
          <p:spPr bwMode="auto">
            <a:xfrm>
              <a:off x="4272" y="1481"/>
              <a:ext cx="184" cy="0"/>
            </a:xfrm>
            <a:prstGeom prst="line">
              <a:avLst/>
            </a:prstGeom>
            <a:noFill/>
            <a:ln w="50799">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grpSp>
        <p:nvGrpSpPr>
          <p:cNvPr id="173094" name="Group 38"/>
          <p:cNvGrpSpPr>
            <a:grpSpLocks/>
          </p:cNvGrpSpPr>
          <p:nvPr/>
        </p:nvGrpSpPr>
        <p:grpSpPr bwMode="auto">
          <a:xfrm>
            <a:off x="8218488" y="2659063"/>
            <a:ext cx="1036637" cy="2405062"/>
            <a:chOff x="4217" y="1675"/>
            <a:chExt cx="653" cy="1515"/>
          </a:xfrm>
        </p:grpSpPr>
        <p:sp>
          <p:nvSpPr>
            <p:cNvPr id="173095" name="Line 39"/>
            <p:cNvSpPr>
              <a:spLocks noChangeShapeType="1"/>
            </p:cNvSpPr>
            <p:nvPr/>
          </p:nvSpPr>
          <p:spPr bwMode="auto">
            <a:xfrm>
              <a:off x="4217" y="3183"/>
              <a:ext cx="653" cy="0"/>
            </a:xfrm>
            <a:prstGeom prst="line">
              <a:avLst/>
            </a:prstGeom>
            <a:noFill/>
            <a:ln w="50799">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3096" name="Line 40"/>
            <p:cNvSpPr>
              <a:spLocks noChangeShapeType="1"/>
            </p:cNvSpPr>
            <p:nvPr/>
          </p:nvSpPr>
          <p:spPr bwMode="auto">
            <a:xfrm>
              <a:off x="4869" y="2624"/>
              <a:ext cx="0" cy="566"/>
            </a:xfrm>
            <a:prstGeom prst="line">
              <a:avLst/>
            </a:prstGeom>
            <a:noFill/>
            <a:ln w="50799">
              <a:solidFill>
                <a:schemeClr val="tx2"/>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3099" name="Line 43"/>
            <p:cNvSpPr>
              <a:spLocks noChangeShapeType="1"/>
            </p:cNvSpPr>
            <p:nvPr/>
          </p:nvSpPr>
          <p:spPr bwMode="auto">
            <a:xfrm>
              <a:off x="4867" y="1675"/>
              <a:ext cx="0" cy="518"/>
            </a:xfrm>
            <a:prstGeom prst="line">
              <a:avLst/>
            </a:prstGeom>
            <a:noFill/>
            <a:ln w="50799">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sp>
        <p:nvSpPr>
          <p:cNvPr id="64" name="TextBox 63"/>
          <p:cNvSpPr txBox="1"/>
          <p:nvPr/>
        </p:nvSpPr>
        <p:spPr>
          <a:xfrm>
            <a:off x="5067150" y="4777578"/>
            <a:ext cx="1562250" cy="632622"/>
          </a:xfrm>
          <a:prstGeom prst="rect">
            <a:avLst/>
          </a:prstGeom>
          <a:solidFill>
            <a:schemeClr val="bg2"/>
          </a:solidFill>
          <a:ln w="25400">
            <a:solidFill>
              <a:schemeClr val="tx1"/>
            </a:solidFill>
          </a:ln>
        </p:spPr>
        <p:txBody>
          <a:bodyPr wrap="square" rtlCol="0" anchor="ctr">
            <a:noAutofit/>
          </a:bodyPr>
          <a:lstStyle/>
          <a:p>
            <a:pPr algn="ctr"/>
            <a:r>
              <a:rPr lang="en-US" sz="2400" dirty="0"/>
              <a:t>Hash</a:t>
            </a:r>
          </a:p>
        </p:txBody>
      </p:sp>
      <p:sp>
        <p:nvSpPr>
          <p:cNvPr id="65" name="TextBox 64"/>
          <p:cNvSpPr txBox="1"/>
          <p:nvPr/>
        </p:nvSpPr>
        <p:spPr>
          <a:xfrm>
            <a:off x="8572350" y="3505200"/>
            <a:ext cx="1562250" cy="632622"/>
          </a:xfrm>
          <a:prstGeom prst="rect">
            <a:avLst/>
          </a:prstGeom>
          <a:solidFill>
            <a:schemeClr val="bg2"/>
          </a:solidFill>
          <a:ln w="25400">
            <a:solidFill>
              <a:schemeClr val="tx1"/>
            </a:solidFill>
          </a:ln>
        </p:spPr>
        <p:txBody>
          <a:bodyPr wrap="square" rtlCol="0" anchor="ctr">
            <a:noAutofit/>
          </a:bodyPr>
          <a:lstStyle/>
          <a:p>
            <a:pPr algn="ctr"/>
            <a:r>
              <a:rPr lang="en-US" sz="2400" dirty="0"/>
              <a:t>Compare</a:t>
            </a:r>
          </a:p>
        </p:txBody>
      </p:sp>
      <p:sp>
        <p:nvSpPr>
          <p:cNvPr id="66" name="TextBox 65"/>
          <p:cNvSpPr txBox="1"/>
          <p:nvPr/>
        </p:nvSpPr>
        <p:spPr>
          <a:xfrm>
            <a:off x="6743550" y="2057400"/>
            <a:ext cx="1562250" cy="632622"/>
          </a:xfrm>
          <a:prstGeom prst="rect">
            <a:avLst/>
          </a:prstGeom>
          <a:solidFill>
            <a:schemeClr val="bg2"/>
          </a:solidFill>
          <a:ln w="25400">
            <a:solidFill>
              <a:schemeClr val="tx1"/>
            </a:solidFill>
          </a:ln>
        </p:spPr>
        <p:txBody>
          <a:bodyPr wrap="square" rtlCol="0" anchor="ctr">
            <a:noAutofit/>
          </a:bodyPr>
          <a:lstStyle/>
          <a:p>
            <a:pPr algn="ctr"/>
            <a:r>
              <a:rPr lang="en-US" sz="2400" dirty="0"/>
              <a:t>Decrypt</a:t>
            </a:r>
          </a:p>
        </p:txBody>
      </p:sp>
      <p:sp>
        <p:nvSpPr>
          <p:cNvPr id="68" name="Rectangle 40"/>
          <p:cNvSpPr>
            <a:spLocks noChangeArrowheads="1"/>
          </p:cNvSpPr>
          <p:nvPr/>
        </p:nvSpPr>
        <p:spPr bwMode="auto">
          <a:xfrm>
            <a:off x="1676400" y="3423893"/>
            <a:ext cx="1828800"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algn="l"/>
            <a:r>
              <a:rPr lang="en-US" sz="2000" b="1" dirty="0">
                <a:solidFill>
                  <a:schemeClr val="tx2"/>
                </a:solidFill>
                <a:latin typeface="Arial" pitchFamily="34" charset="0"/>
              </a:rPr>
              <a:t>From Alice</a:t>
            </a:r>
          </a:p>
        </p:txBody>
      </p:sp>
      <p:sp>
        <p:nvSpPr>
          <p:cNvPr id="69" name="Rectangle 21"/>
          <p:cNvSpPr>
            <a:spLocks noChangeArrowheads="1"/>
          </p:cNvSpPr>
          <p:nvPr/>
        </p:nvSpPr>
        <p:spPr bwMode="auto">
          <a:xfrm>
            <a:off x="4343401" y="1654176"/>
            <a:ext cx="1497013"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2000" b="1" dirty="0">
                <a:solidFill>
                  <a:srgbClr val="00B050"/>
                </a:solidFill>
                <a:latin typeface="Arial" pitchFamily="34" charset="0"/>
              </a:rPr>
              <a:t>Alice’s</a:t>
            </a:r>
          </a:p>
          <a:p>
            <a:r>
              <a:rPr lang="en-US" sz="2000" b="1" dirty="0">
                <a:solidFill>
                  <a:srgbClr val="00B050"/>
                </a:solidFill>
                <a:latin typeface="Arial" pitchFamily="34" charset="0"/>
              </a:rPr>
              <a:t>Public Key</a:t>
            </a:r>
          </a:p>
        </p:txBody>
      </p:sp>
    </p:spTree>
    <p:extLst>
      <p:ext uri="{BB962C8B-B14F-4D97-AF65-F5344CB8AC3E}">
        <p14:creationId xmlns:p14="http://schemas.microsoft.com/office/powerpoint/2010/main" val="29914766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3063"/>
                                        </p:tgtEl>
                                        <p:attrNameLst>
                                          <p:attrName>style.visibility</p:attrName>
                                        </p:attrNameLst>
                                      </p:cBhvr>
                                      <p:to>
                                        <p:strVal val="visible"/>
                                      </p:to>
                                    </p:set>
                                    <p:animEffect transition="in" filter="wipe(left)">
                                      <p:cBhvr>
                                        <p:cTn id="7" dur="500"/>
                                        <p:tgtEl>
                                          <p:spTgt spid="1730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73071"/>
                                        </p:tgtEl>
                                        <p:attrNameLst>
                                          <p:attrName>style.visibility</p:attrName>
                                        </p:attrNameLst>
                                      </p:cBhvr>
                                      <p:to>
                                        <p:strVal val="visible"/>
                                      </p:to>
                                    </p:set>
                                    <p:animEffect transition="in" filter="wipe(up)">
                                      <p:cBhvr>
                                        <p:cTn id="12" dur="500"/>
                                        <p:tgtEl>
                                          <p:spTgt spid="173071"/>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64"/>
                                        </p:tgtEl>
                                        <p:attrNameLst>
                                          <p:attrName>style.visibility</p:attrName>
                                        </p:attrNameLst>
                                      </p:cBhvr>
                                      <p:to>
                                        <p:strVal val="visible"/>
                                      </p:to>
                                    </p:set>
                                    <p:animEffect transition="in" filter="wipe(down)">
                                      <p:cBhvr>
                                        <p:cTn id="15" dur="500"/>
                                        <p:tgtEl>
                                          <p:spTgt spid="6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73080"/>
                                        </p:tgtEl>
                                        <p:attrNameLst>
                                          <p:attrName>style.visibility</p:attrName>
                                        </p:attrNameLst>
                                      </p:cBhvr>
                                      <p:to>
                                        <p:strVal val="visible"/>
                                      </p:to>
                                    </p:set>
                                    <p:animEffect transition="in" filter="wipe(left)">
                                      <p:cBhvr>
                                        <p:cTn id="20" dur="500"/>
                                        <p:tgtEl>
                                          <p:spTgt spid="173080"/>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69"/>
                                        </p:tgtEl>
                                        <p:attrNameLst>
                                          <p:attrName>style.visibility</p:attrName>
                                        </p:attrNameLst>
                                      </p:cBhvr>
                                      <p:to>
                                        <p:strVal val="visible"/>
                                      </p:to>
                                    </p:set>
                                    <p:animEffect transition="in" filter="wipe(down)">
                                      <p:cBhvr>
                                        <p:cTn id="23" dur="500"/>
                                        <p:tgtEl>
                                          <p:spTgt spid="69"/>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66"/>
                                        </p:tgtEl>
                                        <p:attrNameLst>
                                          <p:attrName>style.visibility</p:attrName>
                                        </p:attrNameLst>
                                      </p:cBhvr>
                                      <p:to>
                                        <p:strVal val="visible"/>
                                      </p:to>
                                    </p:set>
                                    <p:animEffect transition="in" filter="wipe(down)">
                                      <p:cBhvr>
                                        <p:cTn id="26" dur="500"/>
                                        <p:tgtEl>
                                          <p:spTgt spid="66"/>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nodeType="clickEffect">
                                  <p:stCondLst>
                                    <p:cond delay="0"/>
                                  </p:stCondLst>
                                  <p:childTnLst>
                                    <p:set>
                                      <p:cBhvr>
                                        <p:cTn id="30" dur="1" fill="hold">
                                          <p:stCondLst>
                                            <p:cond delay="0"/>
                                          </p:stCondLst>
                                        </p:cTn>
                                        <p:tgtEl>
                                          <p:spTgt spid="173094"/>
                                        </p:tgtEl>
                                        <p:attrNameLst>
                                          <p:attrName>style.visibility</p:attrName>
                                        </p:attrNameLst>
                                      </p:cBhvr>
                                      <p:to>
                                        <p:strVal val="visible"/>
                                      </p:to>
                                    </p:set>
                                    <p:animEffect transition="in" filter="box(in)">
                                      <p:cBhvr>
                                        <p:cTn id="31" dur="500"/>
                                        <p:tgtEl>
                                          <p:spTgt spid="173094"/>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65"/>
                                        </p:tgtEl>
                                        <p:attrNameLst>
                                          <p:attrName>style.visibility</p:attrName>
                                        </p:attrNameLst>
                                      </p:cBhvr>
                                      <p:to>
                                        <p:strVal val="visible"/>
                                      </p:to>
                                    </p:set>
                                    <p:animEffect transition="in" filter="wipe(down)">
                                      <p:cBhvr>
                                        <p:cTn id="34"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animBg="1"/>
      <p:bldP spid="66" grpId="0" animBg="1"/>
      <p:bldP spid="6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601B6-0B11-4148-ADCE-95B9DA5B7869}"/>
              </a:ext>
            </a:extLst>
          </p:cNvPr>
          <p:cNvSpPr>
            <a:spLocks noGrp="1"/>
          </p:cNvSpPr>
          <p:nvPr>
            <p:ph type="title"/>
          </p:nvPr>
        </p:nvSpPr>
        <p:spPr/>
        <p:txBody>
          <a:bodyPr/>
          <a:lstStyle/>
          <a:p>
            <a:r>
              <a:rPr lang="en-US" dirty="0"/>
              <a:t>Email – DKIM</a:t>
            </a:r>
          </a:p>
        </p:txBody>
      </p:sp>
      <p:pic>
        <p:nvPicPr>
          <p:cNvPr id="4" name="Content Placeholder 3">
            <a:extLst>
              <a:ext uri="{FF2B5EF4-FFF2-40B4-BE49-F238E27FC236}">
                <a16:creationId xmlns:a16="http://schemas.microsoft.com/office/drawing/2014/main" id="{9165B41D-A516-49F1-A197-785F797813A1}"/>
              </a:ext>
            </a:extLst>
          </p:cNvPr>
          <p:cNvPicPr>
            <a:picLocks noGrp="1" noChangeAspect="1"/>
          </p:cNvPicPr>
          <p:nvPr>
            <p:ph idx="1"/>
          </p:nvPr>
        </p:nvPicPr>
        <p:blipFill>
          <a:blip r:embed="rId3"/>
          <a:stretch>
            <a:fillRect/>
          </a:stretch>
        </p:blipFill>
        <p:spPr>
          <a:xfrm>
            <a:off x="1377750" y="1371600"/>
            <a:ext cx="9436500" cy="4754563"/>
          </a:xfrm>
          <a:prstGeom prst="rect">
            <a:avLst/>
          </a:prstGeom>
        </p:spPr>
      </p:pic>
      <p:sp>
        <p:nvSpPr>
          <p:cNvPr id="5" name="TextBox 4">
            <a:extLst>
              <a:ext uri="{FF2B5EF4-FFF2-40B4-BE49-F238E27FC236}">
                <a16:creationId xmlns:a16="http://schemas.microsoft.com/office/drawing/2014/main" id="{235ED330-5543-4C2E-A500-86C1CE6A7D5E}"/>
              </a:ext>
            </a:extLst>
          </p:cNvPr>
          <p:cNvSpPr txBox="1"/>
          <p:nvPr/>
        </p:nvSpPr>
        <p:spPr>
          <a:xfrm>
            <a:off x="990600" y="6400800"/>
            <a:ext cx="914400" cy="914400"/>
          </a:xfrm>
          <a:prstGeom prst="rect">
            <a:avLst/>
          </a:prstGeom>
        </p:spPr>
        <p:txBody>
          <a:bodyPr vert="horz" wrap="none" lIns="91440" tIns="45720" rIns="91440" bIns="45720" rtlCol="0">
            <a:normAutofit/>
          </a:bodyPr>
          <a:lstStyle/>
          <a:p>
            <a:r>
              <a:rPr lang="en-US" sz="2400" dirty="0"/>
              <a:t>DMARC domain checker: </a:t>
            </a:r>
            <a:r>
              <a:rPr lang="en-US" sz="2400" dirty="0">
                <a:hlinkClick r:id="rId4"/>
              </a:rPr>
              <a:t>https://dmarcian.com/domain-checker/</a:t>
            </a:r>
            <a:endParaRPr lang="en-US" sz="2400" dirty="0"/>
          </a:p>
        </p:txBody>
      </p:sp>
    </p:spTree>
    <p:extLst>
      <p:ext uri="{BB962C8B-B14F-4D97-AF65-F5344CB8AC3E}">
        <p14:creationId xmlns:p14="http://schemas.microsoft.com/office/powerpoint/2010/main" val="419863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 Comparison</a:t>
            </a:r>
          </a:p>
        </p:txBody>
      </p:sp>
      <p:graphicFrame>
        <p:nvGraphicFramePr>
          <p:cNvPr id="4" name="Content Placeholder 3"/>
          <p:cNvGraphicFramePr>
            <a:graphicFrameLocks noGrp="1"/>
          </p:cNvGraphicFramePr>
          <p:nvPr>
            <p:ph idx="1"/>
          </p:nvPr>
        </p:nvGraphicFramePr>
        <p:xfrm>
          <a:off x="1752600" y="1387991"/>
          <a:ext cx="8686800" cy="4200201"/>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2362200">
                  <a:extLst>
                    <a:ext uri="{9D8B030D-6E8A-4147-A177-3AD203B41FA5}">
                      <a16:colId xmlns:a16="http://schemas.microsoft.com/office/drawing/2014/main" val="20005"/>
                    </a:ext>
                  </a:extLst>
                </a:gridCol>
              </a:tblGrid>
              <a:tr h="493143">
                <a:tc>
                  <a:txBody>
                    <a:bodyPr/>
                    <a:lstStyle/>
                    <a:p>
                      <a:r>
                        <a:rPr lang="en-US" sz="2000" dirty="0"/>
                        <a:t>Type</a:t>
                      </a:r>
                    </a:p>
                  </a:txBody>
                  <a:tcPr/>
                </a:tc>
                <a:tc>
                  <a:txBody>
                    <a:bodyPr/>
                    <a:lstStyle/>
                    <a:p>
                      <a:r>
                        <a:rPr lang="en-US" sz="2000" dirty="0"/>
                        <a:t>Common</a:t>
                      </a:r>
                    </a:p>
                  </a:txBody>
                  <a:tcPr/>
                </a:tc>
                <a:tc>
                  <a:txBody>
                    <a:bodyPr/>
                    <a:lstStyle/>
                    <a:p>
                      <a:r>
                        <a:rPr lang="en-US" sz="2000" dirty="0"/>
                        <a:t>Keys</a:t>
                      </a:r>
                    </a:p>
                  </a:txBody>
                  <a:tcPr/>
                </a:tc>
                <a:tc>
                  <a:txBody>
                    <a:bodyPr/>
                    <a:lstStyle/>
                    <a:p>
                      <a:r>
                        <a:rPr lang="en-US" sz="2000" dirty="0"/>
                        <a:t>Input</a:t>
                      </a:r>
                    </a:p>
                  </a:txBody>
                  <a:tcPr/>
                </a:tc>
                <a:tc>
                  <a:txBody>
                    <a:bodyPr/>
                    <a:lstStyle/>
                    <a:p>
                      <a:r>
                        <a:rPr lang="en-US" sz="2000" dirty="0"/>
                        <a:t>CPU</a:t>
                      </a:r>
                    </a:p>
                  </a:txBody>
                  <a:tcPr/>
                </a:tc>
                <a:tc>
                  <a:txBody>
                    <a:bodyPr/>
                    <a:lstStyle/>
                    <a:p>
                      <a:r>
                        <a:rPr lang="en-US" sz="2000" dirty="0"/>
                        <a:t>Output</a:t>
                      </a:r>
                    </a:p>
                  </a:txBody>
                  <a:tcPr/>
                </a:tc>
                <a:extLst>
                  <a:ext uri="{0D108BD9-81ED-4DB2-BD59-A6C34878D82A}">
                    <a16:rowId xmlns:a16="http://schemas.microsoft.com/office/drawing/2014/main" val="10000"/>
                  </a:ext>
                </a:extLst>
              </a:tr>
              <a:tr h="887658">
                <a:tc>
                  <a:txBody>
                    <a:bodyPr/>
                    <a:lstStyle/>
                    <a:p>
                      <a:r>
                        <a:rPr lang="en-US" sz="2000" b="1" dirty="0"/>
                        <a:t>Symmetric</a:t>
                      </a:r>
                    </a:p>
                  </a:txBody>
                  <a:tcPr/>
                </a:tc>
                <a:tc>
                  <a:txBody>
                    <a:bodyPr/>
                    <a:lstStyle/>
                    <a:p>
                      <a:r>
                        <a:rPr lang="en-US" sz="2000" b="1" dirty="0"/>
                        <a:t>AES</a:t>
                      </a:r>
                    </a:p>
                    <a:p>
                      <a:r>
                        <a:rPr lang="en-US" sz="2000" b="1" dirty="0"/>
                        <a:t>3DES</a:t>
                      </a:r>
                    </a:p>
                  </a:txBody>
                  <a:tcPr/>
                </a:tc>
                <a:tc>
                  <a:txBody>
                    <a:bodyPr/>
                    <a:lstStyle/>
                    <a:p>
                      <a:r>
                        <a:rPr lang="en-US" sz="2000" b="1" dirty="0"/>
                        <a:t>1 secret</a:t>
                      </a:r>
                    </a:p>
                  </a:txBody>
                  <a:tcPr/>
                </a:tc>
                <a:tc>
                  <a:txBody>
                    <a:bodyPr/>
                    <a:lstStyle/>
                    <a:p>
                      <a:r>
                        <a:rPr lang="en-US" sz="2000" b="1" dirty="0"/>
                        <a:t>Block</a:t>
                      </a:r>
                    </a:p>
                    <a:p>
                      <a:r>
                        <a:rPr lang="en-US" sz="2000" b="1" dirty="0"/>
                        <a:t>Stream</a:t>
                      </a:r>
                    </a:p>
                  </a:txBody>
                  <a:tcPr/>
                </a:tc>
                <a:tc>
                  <a:txBody>
                    <a:bodyPr/>
                    <a:lstStyle/>
                    <a:p>
                      <a:r>
                        <a:rPr lang="en-US" sz="2000" b="1" dirty="0"/>
                        <a:t>Fast</a:t>
                      </a:r>
                    </a:p>
                  </a:txBody>
                  <a:tcPr/>
                </a:tc>
                <a:tc>
                  <a:txBody>
                    <a:bodyPr/>
                    <a:lstStyle/>
                    <a:p>
                      <a:r>
                        <a:rPr lang="en-US" sz="2000" b="1" dirty="0"/>
                        <a:t>Input + padding</a:t>
                      </a:r>
                    </a:p>
                  </a:txBody>
                  <a:tcPr/>
                </a:tc>
                <a:extLst>
                  <a:ext uri="{0D108BD9-81ED-4DB2-BD59-A6C34878D82A}">
                    <a16:rowId xmlns:a16="http://schemas.microsoft.com/office/drawing/2014/main" val="10001"/>
                  </a:ext>
                </a:extLst>
              </a:tr>
              <a:tr h="887658">
                <a:tc>
                  <a:txBody>
                    <a:bodyPr/>
                    <a:lstStyle/>
                    <a:p>
                      <a:r>
                        <a:rPr lang="en-US" sz="2000" b="1" dirty="0"/>
                        <a:t>Asymmetric</a:t>
                      </a:r>
                    </a:p>
                  </a:txBody>
                  <a:tcPr/>
                </a:tc>
                <a:tc>
                  <a:txBody>
                    <a:bodyPr/>
                    <a:lstStyle/>
                    <a:p>
                      <a:r>
                        <a:rPr lang="en-US" sz="2000" b="1" dirty="0"/>
                        <a:t>RSA</a:t>
                      </a:r>
                    </a:p>
                    <a:p>
                      <a:r>
                        <a:rPr lang="en-US" sz="2000" b="1" dirty="0"/>
                        <a:t>ECC</a:t>
                      </a:r>
                    </a:p>
                  </a:txBody>
                  <a:tcPr/>
                </a:tc>
                <a:tc>
                  <a:txBody>
                    <a:bodyPr/>
                    <a:lstStyle/>
                    <a:p>
                      <a:r>
                        <a:rPr lang="en-US" sz="2000" b="1" dirty="0"/>
                        <a:t>1</a:t>
                      </a:r>
                      <a:r>
                        <a:rPr lang="en-US" sz="2000" b="1" baseline="0" dirty="0"/>
                        <a:t> pair</a:t>
                      </a:r>
                    </a:p>
                    <a:p>
                      <a:r>
                        <a:rPr lang="en-US" sz="2000" b="1" baseline="0" dirty="0"/>
                        <a:t>public &amp; private</a:t>
                      </a:r>
                      <a:endParaRPr lang="en-US" sz="2000" b="1" dirty="0"/>
                    </a:p>
                  </a:txBody>
                  <a:tcPr/>
                </a:tc>
                <a:tc>
                  <a:txBody>
                    <a:bodyPr/>
                    <a:lstStyle/>
                    <a:p>
                      <a:r>
                        <a:rPr lang="en-US" sz="2000" b="1" dirty="0"/>
                        <a:t>Small &lt;keysize</a:t>
                      </a:r>
                    </a:p>
                  </a:txBody>
                  <a:tcPr/>
                </a:tc>
                <a:tc>
                  <a:txBody>
                    <a:bodyPr/>
                    <a:lstStyle/>
                    <a:p>
                      <a:r>
                        <a:rPr lang="en-US" sz="2000" b="1" dirty="0"/>
                        <a:t>Slow</a:t>
                      </a:r>
                    </a:p>
                  </a:txBody>
                  <a:tcPr/>
                </a:tc>
                <a:tc>
                  <a:txBody>
                    <a:bodyPr/>
                    <a:lstStyle/>
                    <a:p>
                      <a:r>
                        <a:rPr lang="en-US" sz="2000" b="1" dirty="0"/>
                        <a:t>keysize</a:t>
                      </a:r>
                    </a:p>
                  </a:txBody>
                  <a:tcPr/>
                </a:tc>
                <a:extLst>
                  <a:ext uri="{0D108BD9-81ED-4DB2-BD59-A6C34878D82A}">
                    <a16:rowId xmlns:a16="http://schemas.microsoft.com/office/drawing/2014/main" val="10002"/>
                  </a:ext>
                </a:extLst>
              </a:tr>
              <a:tr h="1813560">
                <a:tc>
                  <a:txBody>
                    <a:bodyPr/>
                    <a:lstStyle/>
                    <a:p>
                      <a:r>
                        <a:rPr lang="en-US" sz="2000" b="1" dirty="0"/>
                        <a:t>Hash</a:t>
                      </a:r>
                    </a:p>
                  </a:txBody>
                  <a:tcPr/>
                </a:tc>
                <a:tc>
                  <a:txBody>
                    <a:bodyPr/>
                    <a:lstStyle/>
                    <a:p>
                      <a:r>
                        <a:rPr lang="en-US" sz="2000" b="1" dirty="0"/>
                        <a:t>SHA</a:t>
                      </a:r>
                    </a:p>
                    <a:p>
                      <a:r>
                        <a:rPr lang="en-US" sz="2000" b="1" dirty="0"/>
                        <a:t>MD5</a:t>
                      </a:r>
                    </a:p>
                  </a:txBody>
                  <a:tcPr/>
                </a:tc>
                <a:tc>
                  <a:txBody>
                    <a:bodyPr/>
                    <a:lstStyle/>
                    <a:p>
                      <a:r>
                        <a:rPr lang="en-US" sz="2000" b="1" dirty="0"/>
                        <a:t>0</a:t>
                      </a:r>
                    </a:p>
                  </a:txBody>
                  <a:tcPr/>
                </a:tc>
                <a:tc>
                  <a:txBody>
                    <a:bodyPr/>
                    <a:lstStyle/>
                    <a:p>
                      <a:r>
                        <a:rPr lang="en-US" sz="2000" b="1" dirty="0"/>
                        <a:t>Any</a:t>
                      </a:r>
                    </a:p>
                  </a:txBody>
                  <a:tcPr/>
                </a:tc>
                <a:tc>
                  <a:txBody>
                    <a:bodyPr/>
                    <a:lstStyle/>
                    <a:p>
                      <a:r>
                        <a:rPr lang="en-US" sz="2000" b="1" dirty="0"/>
                        <a:t>One</a:t>
                      </a:r>
                      <a:r>
                        <a:rPr lang="en-US" sz="2000" b="1" baseline="0" dirty="0"/>
                        <a:t> Way</a:t>
                      </a:r>
                      <a:endParaRPr lang="en-US" sz="20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baseline="0" dirty="0"/>
                        <a:t>MD5 = 128 bits</a:t>
                      </a:r>
                    </a:p>
                    <a:p>
                      <a:r>
                        <a:rPr lang="en-US" sz="2000" b="1" dirty="0"/>
                        <a:t>SHA1 =</a:t>
                      </a:r>
                      <a:r>
                        <a:rPr lang="en-US" sz="2000" b="1" baseline="0" dirty="0"/>
                        <a:t> 160</a:t>
                      </a:r>
                    </a:p>
                    <a:p>
                      <a:r>
                        <a:rPr lang="en-US" sz="2000" b="1" baseline="0" dirty="0"/>
                        <a:t>SHA2 = 256/512</a:t>
                      </a:r>
                    </a:p>
                    <a:p>
                      <a:r>
                        <a:rPr lang="en-US" sz="2000" b="1" baseline="0" dirty="0"/>
                        <a:t>SHA3 = 1600</a:t>
                      </a:r>
                    </a:p>
                  </a:txBody>
                  <a:tcPr/>
                </a:tc>
                <a:extLst>
                  <a:ext uri="{0D108BD9-81ED-4DB2-BD59-A6C34878D82A}">
                    <a16:rowId xmlns:a16="http://schemas.microsoft.com/office/drawing/2014/main" val="3501850986"/>
                  </a:ext>
                </a:extLst>
              </a:tr>
            </a:tbl>
          </a:graphicData>
        </a:graphic>
      </p:graphicFrame>
    </p:spTree>
    <p:extLst>
      <p:ext uri="{BB962C8B-B14F-4D97-AF65-F5344CB8AC3E}">
        <p14:creationId xmlns:p14="http://schemas.microsoft.com/office/powerpoint/2010/main" val="2608629566"/>
      </p:ext>
    </p:extLst>
  </p:cSld>
  <p:clrMapOvr>
    <a:masterClrMapping/>
  </p:clrMapOvr>
</p:sld>
</file>

<file path=ppt/theme/theme1.xml><?xml version="1.0" encoding="utf-8"?>
<a:theme xmlns:a="http://schemas.openxmlformats.org/drawingml/2006/main" name="IT666">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vert="horz" lIns="91440" tIns="45720" rIns="91440" bIns="45720" rtlCol="0">
        <a:normAutofit/>
      </a:bodyPr>
      <a:lstStyle>
        <a:defPPr>
          <a:defRPr sz="2400" dirty="0" smtClean="0"/>
        </a:defPPr>
      </a:lstStyle>
    </a:txDef>
  </a:objectDefaults>
  <a:extraClrSchemeLst/>
  <a:extLst>
    <a:ext uri="{05A4C25C-085E-4340-85A3-A5531E510DB2}">
      <thm15:themeFamily xmlns:thm15="http://schemas.microsoft.com/office/thememl/2012/main" name="Presentation21" id="{E6424F00-CB15-469C-8ED9-E12AE889829C}" vid="{5DE17743-287A-437B-9EC9-957D32FAF45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D48B0CB13E69F42B54D3DE424488AFE" ma:contentTypeVersion="13" ma:contentTypeDescription="Create a new document." ma:contentTypeScope="" ma:versionID="c580b450af3975084ea9d9a74b1aa1c3">
  <xsd:schema xmlns:xsd="http://www.w3.org/2001/XMLSchema" xmlns:xs="http://www.w3.org/2001/XMLSchema" xmlns:p="http://schemas.microsoft.com/office/2006/metadata/properties" xmlns:ns3="6e27e843-6876-4ec5-817f-dbc394bc1606" xmlns:ns4="1ea98ed5-bdea-415e-9a90-b2f6afa71452" targetNamespace="http://schemas.microsoft.com/office/2006/metadata/properties" ma:root="true" ma:fieldsID="ee979d553edbfea5e3efbc24595909db" ns3:_="" ns4:_="">
    <xsd:import namespace="6e27e843-6876-4ec5-817f-dbc394bc1606"/>
    <xsd:import namespace="1ea98ed5-bdea-415e-9a90-b2f6afa71452"/>
    <xsd:element name="properties">
      <xsd:complexType>
        <xsd:sequence>
          <xsd:element name="documentManagement">
            <xsd:complexType>
              <xsd:all>
                <xsd:element ref="ns3:MediaServiceMetadata" minOccurs="0"/>
                <xsd:element ref="ns3:MediaServiceFastMetadata" minOccurs="0"/>
                <xsd:element ref="ns3:MediaServiceEventHashCode" minOccurs="0"/>
                <xsd:element ref="ns3:MediaServiceGenerationTime" minOccurs="0"/>
                <xsd:element ref="ns4:SharedWithUsers" minOccurs="0"/>
                <xsd:element ref="ns4:SharedWithDetails" minOccurs="0"/>
                <xsd:element ref="ns4:SharingHintHash" minOccurs="0"/>
                <xsd:element ref="ns3:MediaServiceAutoTags" minOccurs="0"/>
                <xsd:element ref="ns3:MediaServiceDateTaken" minOccurs="0"/>
                <xsd:element ref="ns3:MediaServiceLocation" minOccurs="0"/>
                <xsd:element ref="ns3:MediaServiceOCR"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27e843-6876-4ec5-817f-dbc394bc16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ea98ed5-bdea-415e-9a90-b2f6afa714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72F2E2A-6D82-4B29-B9EA-9BB67068FB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27e843-6876-4ec5-817f-dbc394bc1606"/>
    <ds:schemaRef ds:uri="1ea98ed5-bdea-415e-9a90-b2f6afa714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E9EDA2D-2D25-4C9B-B388-2626A106A5DE}">
  <ds:schemaRefs>
    <ds:schemaRef ds:uri="http://schemas.microsoft.com/sharepoint/v3/contenttype/forms"/>
  </ds:schemaRefs>
</ds:datastoreItem>
</file>

<file path=customXml/itemProps3.xml><?xml version="1.0" encoding="utf-8"?>
<ds:datastoreItem xmlns:ds="http://schemas.openxmlformats.org/officeDocument/2006/customXml" ds:itemID="{2DB4A837-8F3B-4881-BE2E-1CD30F9388AD}">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UNH-lecture-template</Template>
  <TotalTime>284</TotalTime>
  <Words>1685</Words>
  <Application>Microsoft Office PowerPoint</Application>
  <PresentationFormat>Widescreen</PresentationFormat>
  <Paragraphs>281</Paragraphs>
  <Slides>20</Slides>
  <Notes>13</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IT666</vt:lpstr>
      <vt:lpstr>PowerPoint Presentation</vt:lpstr>
      <vt:lpstr>Cryptographic Types</vt:lpstr>
      <vt:lpstr>Symmetric Algorithms</vt:lpstr>
      <vt:lpstr>Symmetric Encryption</vt:lpstr>
      <vt:lpstr>Symmetric Encryption</vt:lpstr>
      <vt:lpstr>PowerPoint Presentation</vt:lpstr>
      <vt:lpstr>Asymmetric Algorithms</vt:lpstr>
      <vt:lpstr>Asymmetric Encryption</vt:lpstr>
      <vt:lpstr>Digital Signatures</vt:lpstr>
      <vt:lpstr>RSA</vt:lpstr>
      <vt:lpstr>Crack a simple RSA private key</vt:lpstr>
      <vt:lpstr>Hashing</vt:lpstr>
      <vt:lpstr>XOR</vt:lpstr>
      <vt:lpstr>Message Authentication Conventional Encryption</vt:lpstr>
      <vt:lpstr>Message Protection: Alice Sends...</vt:lpstr>
      <vt:lpstr>Message Protection: Bob Receives</vt:lpstr>
      <vt:lpstr>Digital Signatures: Alice Signs</vt:lpstr>
      <vt:lpstr>Digital Signatures: Bob Verifies</vt:lpstr>
      <vt:lpstr>Email – DKIM</vt:lpstr>
      <vt:lpstr>Algorithm Comparison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Ken Graf</dc:creator>
  <cp:lastModifiedBy>Ken Graf</cp:lastModifiedBy>
  <cp:revision>12</cp:revision>
  <cp:lastPrinted>2015-03-25T21:04:44Z</cp:lastPrinted>
  <dcterms:created xsi:type="dcterms:W3CDTF">2020-01-07T22:06:18Z</dcterms:created>
  <dcterms:modified xsi:type="dcterms:W3CDTF">2020-02-12T20:48:20Z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0x010100BD48B0CB13E69F42B54D3DE424488AFE</vt:lpwstr>
  </property>
</Properties>
</file>