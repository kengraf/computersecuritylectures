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9"/>
  </p:notesMasterIdLst>
  <p:sldIdLst>
    <p:sldId id="267" r:id="rId5"/>
    <p:sldId id="272" r:id="rId6"/>
    <p:sldId id="269" r:id="rId7"/>
    <p:sldId id="268" r:id="rId8"/>
    <p:sldId id="273" r:id="rId9"/>
    <p:sldId id="266" r:id="rId10"/>
    <p:sldId id="262" r:id="rId11"/>
    <p:sldId id="284" r:id="rId12"/>
    <p:sldId id="287" r:id="rId13"/>
    <p:sldId id="281" r:id="rId14"/>
    <p:sldId id="288" r:id="rId15"/>
    <p:sldId id="276" r:id="rId16"/>
    <p:sldId id="257" r:id="rId17"/>
    <p:sldId id="292" r:id="rId18"/>
    <p:sldId id="259" r:id="rId19"/>
    <p:sldId id="260" r:id="rId20"/>
    <p:sldId id="261" r:id="rId21"/>
    <p:sldId id="293" r:id="rId22"/>
    <p:sldId id="347" r:id="rId23"/>
    <p:sldId id="274" r:id="rId24"/>
    <p:sldId id="263" r:id="rId25"/>
    <p:sldId id="290" r:id="rId26"/>
    <p:sldId id="291" r:id="rId27"/>
    <p:sldId id="264" r:id="rId2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2058" autoAdjust="0"/>
  </p:normalViewPr>
  <p:slideViewPr>
    <p:cSldViewPr>
      <p:cViewPr varScale="1">
        <p:scale>
          <a:sx n="67" d="100"/>
          <a:sy n="67" d="100"/>
        </p:scale>
        <p:origin x="84" y="390"/>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14FE3152-7A66-4077-8095-832C80A6F1A3}"/>
    <pc:docChg chg="custSel addSld delSld modSld">
      <pc:chgData name="Kenneth Graf" userId="d1890dd4-deb6-4a9b-a156-5113ac77bda8" providerId="ADAL" clId="{14FE3152-7A66-4077-8095-832C80A6F1A3}" dt="2020-01-20T17:09:12.256" v="120" actId="20577"/>
      <pc:docMkLst>
        <pc:docMk/>
      </pc:docMkLst>
      <pc:sldChg chg="add del">
        <pc:chgData name="Kenneth Graf" userId="d1890dd4-deb6-4a9b-a156-5113ac77bda8" providerId="ADAL" clId="{14FE3152-7A66-4077-8095-832C80A6F1A3}" dt="2020-01-07T22:58:13.054" v="11" actId="47"/>
        <pc:sldMkLst>
          <pc:docMk/>
          <pc:sldMk cId="964719141" sldId="256"/>
        </pc:sldMkLst>
      </pc:sldChg>
      <pc:sldChg chg="modSp add">
        <pc:chgData name="Kenneth Graf" userId="d1890dd4-deb6-4a9b-a156-5113ac77bda8" providerId="ADAL" clId="{14FE3152-7A66-4077-8095-832C80A6F1A3}" dt="2020-01-07T23:03:17.292" v="89" actId="14100"/>
        <pc:sldMkLst>
          <pc:docMk/>
          <pc:sldMk cId="3067991933" sldId="257"/>
        </pc:sldMkLst>
        <pc:picChg chg="mod">
          <ac:chgData name="Kenneth Graf" userId="d1890dd4-deb6-4a9b-a156-5113ac77bda8" providerId="ADAL" clId="{14FE3152-7A66-4077-8095-832C80A6F1A3}" dt="2020-01-07T23:03:17.292" v="89" actId="14100"/>
          <ac:picMkLst>
            <pc:docMk/>
            <pc:sldMk cId="3067991933" sldId="257"/>
            <ac:picMk id="4" creationId="{00000000-0000-0000-0000-000000000000}"/>
          </ac:picMkLst>
        </pc:picChg>
      </pc:sldChg>
      <pc:sldChg chg="modSp add">
        <pc:chgData name="Kenneth Graf" userId="d1890dd4-deb6-4a9b-a156-5113ac77bda8" providerId="ADAL" clId="{14FE3152-7A66-4077-8095-832C80A6F1A3}" dt="2020-01-07T22:58:04.460" v="9" actId="27636"/>
        <pc:sldMkLst>
          <pc:docMk/>
          <pc:sldMk cId="2230098982" sldId="259"/>
        </pc:sldMkLst>
        <pc:spChg chg="mod">
          <ac:chgData name="Kenneth Graf" userId="d1890dd4-deb6-4a9b-a156-5113ac77bda8" providerId="ADAL" clId="{14FE3152-7A66-4077-8095-832C80A6F1A3}" dt="2020-01-07T22:58:04.460" v="9" actId="27636"/>
          <ac:spMkLst>
            <pc:docMk/>
            <pc:sldMk cId="2230098982" sldId="259"/>
            <ac:spMk id="3" creationId="{00000000-0000-0000-0000-000000000000}"/>
          </ac:spMkLst>
        </pc:spChg>
      </pc:sldChg>
      <pc:sldChg chg="add">
        <pc:chgData name="Kenneth Graf" userId="d1890dd4-deb6-4a9b-a156-5113ac77bda8" providerId="ADAL" clId="{14FE3152-7A66-4077-8095-832C80A6F1A3}" dt="2020-01-07T22:58:04.387" v="8"/>
        <pc:sldMkLst>
          <pc:docMk/>
          <pc:sldMk cId="1180379916" sldId="260"/>
        </pc:sldMkLst>
      </pc:sldChg>
      <pc:sldChg chg="addSp delSp modSp add">
        <pc:chgData name="Kenneth Graf" userId="d1890dd4-deb6-4a9b-a156-5113ac77bda8" providerId="ADAL" clId="{14FE3152-7A66-4077-8095-832C80A6F1A3}" dt="2020-01-07T23:03:46.350" v="92" actId="14100"/>
        <pc:sldMkLst>
          <pc:docMk/>
          <pc:sldMk cId="3788739756" sldId="261"/>
        </pc:sldMkLst>
        <pc:spChg chg="add del mod">
          <ac:chgData name="Kenneth Graf" userId="d1890dd4-deb6-4a9b-a156-5113ac77bda8" providerId="ADAL" clId="{14FE3152-7A66-4077-8095-832C80A6F1A3}" dt="2020-01-07T23:03:40.503" v="91" actId="478"/>
          <ac:spMkLst>
            <pc:docMk/>
            <pc:sldMk cId="3788739756" sldId="261"/>
            <ac:spMk id="8" creationId="{5EE0B5E4-2DE0-47D7-96B7-B3BBF9F16029}"/>
          </ac:spMkLst>
        </pc:spChg>
        <pc:grpChg chg="mod">
          <ac:chgData name="Kenneth Graf" userId="d1890dd4-deb6-4a9b-a156-5113ac77bda8" providerId="ADAL" clId="{14FE3152-7A66-4077-8095-832C80A6F1A3}" dt="2020-01-07T23:03:46.350" v="92" actId="14100"/>
          <ac:grpSpMkLst>
            <pc:docMk/>
            <pc:sldMk cId="3788739756" sldId="261"/>
            <ac:grpSpMk id="4" creationId="{00000000-0000-0000-0000-000000000000}"/>
          </ac:grpSpMkLst>
        </pc:grpChg>
      </pc:sldChg>
      <pc:sldChg chg="add">
        <pc:chgData name="Kenneth Graf" userId="d1890dd4-deb6-4a9b-a156-5113ac77bda8" providerId="ADAL" clId="{14FE3152-7A66-4077-8095-832C80A6F1A3}" dt="2020-01-07T22:58:04.387" v="8"/>
        <pc:sldMkLst>
          <pc:docMk/>
          <pc:sldMk cId="193091359" sldId="262"/>
        </pc:sldMkLst>
      </pc:sldChg>
      <pc:sldChg chg="add">
        <pc:chgData name="Kenneth Graf" userId="d1890dd4-deb6-4a9b-a156-5113ac77bda8" providerId="ADAL" clId="{14FE3152-7A66-4077-8095-832C80A6F1A3}" dt="2020-01-07T22:58:04.387" v="8"/>
        <pc:sldMkLst>
          <pc:docMk/>
          <pc:sldMk cId="1302845231" sldId="263"/>
        </pc:sldMkLst>
      </pc:sldChg>
      <pc:sldChg chg="add">
        <pc:chgData name="Kenneth Graf" userId="d1890dd4-deb6-4a9b-a156-5113ac77bda8" providerId="ADAL" clId="{14FE3152-7A66-4077-8095-832C80A6F1A3}" dt="2020-01-07T22:58:04.387" v="8"/>
        <pc:sldMkLst>
          <pc:docMk/>
          <pc:sldMk cId="2127482490" sldId="264"/>
        </pc:sldMkLst>
      </pc:sldChg>
      <pc:sldChg chg="modSp add">
        <pc:chgData name="Kenneth Graf" userId="d1890dd4-deb6-4a9b-a156-5113ac77bda8" providerId="ADAL" clId="{14FE3152-7A66-4077-8095-832C80A6F1A3}" dt="2020-01-07T22:59:40.423" v="24" actId="14100"/>
        <pc:sldMkLst>
          <pc:docMk/>
          <pc:sldMk cId="1199474381" sldId="266"/>
        </pc:sldMkLst>
        <pc:spChg chg="mod">
          <ac:chgData name="Kenneth Graf" userId="d1890dd4-deb6-4a9b-a156-5113ac77bda8" providerId="ADAL" clId="{14FE3152-7A66-4077-8095-832C80A6F1A3}" dt="2020-01-07T22:59:35.980" v="23" actId="27636"/>
          <ac:spMkLst>
            <pc:docMk/>
            <pc:sldMk cId="1199474381" sldId="266"/>
            <ac:spMk id="2" creationId="{00000000-0000-0000-0000-000000000000}"/>
          </ac:spMkLst>
        </pc:spChg>
        <pc:picChg chg="mod">
          <ac:chgData name="Kenneth Graf" userId="d1890dd4-deb6-4a9b-a156-5113ac77bda8" providerId="ADAL" clId="{14FE3152-7A66-4077-8095-832C80A6F1A3}" dt="2020-01-07T22:59:40.423" v="24" actId="14100"/>
          <ac:picMkLst>
            <pc:docMk/>
            <pc:sldMk cId="1199474381" sldId="266"/>
            <ac:picMk id="4" creationId="{00000000-0000-0000-0000-000000000000}"/>
          </ac:picMkLst>
        </pc:picChg>
      </pc:sldChg>
      <pc:sldChg chg="modSp">
        <pc:chgData name="Kenneth Graf" userId="d1890dd4-deb6-4a9b-a156-5113ac77bda8" providerId="ADAL" clId="{14FE3152-7A66-4077-8095-832C80A6F1A3}" dt="2020-01-07T22:31:05.233" v="7" actId="20577"/>
        <pc:sldMkLst>
          <pc:docMk/>
          <pc:sldMk cId="1793285008" sldId="267"/>
        </pc:sldMkLst>
        <pc:spChg chg="mod">
          <ac:chgData name="Kenneth Graf" userId="d1890dd4-deb6-4a9b-a156-5113ac77bda8" providerId="ADAL" clId="{14FE3152-7A66-4077-8095-832C80A6F1A3}" dt="2020-01-07T22:31:05.233" v="7" actId="20577"/>
          <ac:spMkLst>
            <pc:docMk/>
            <pc:sldMk cId="1793285008" sldId="267"/>
            <ac:spMk id="5" creationId="{00000000-0000-0000-0000-000000000000}"/>
          </ac:spMkLst>
        </pc:spChg>
      </pc:sldChg>
      <pc:sldChg chg="modSp add">
        <pc:chgData name="Kenneth Graf" userId="d1890dd4-deb6-4a9b-a156-5113ac77bda8" providerId="ADAL" clId="{14FE3152-7A66-4077-8095-832C80A6F1A3}" dt="2020-01-07T22:58:49.459" v="17" actId="14100"/>
        <pc:sldMkLst>
          <pc:docMk/>
          <pc:sldMk cId="1470663917" sldId="268"/>
        </pc:sldMkLst>
        <pc:picChg chg="mod">
          <ac:chgData name="Kenneth Graf" userId="d1890dd4-deb6-4a9b-a156-5113ac77bda8" providerId="ADAL" clId="{14FE3152-7A66-4077-8095-832C80A6F1A3}" dt="2020-01-07T22:58:49.459" v="17" actId="14100"/>
          <ac:picMkLst>
            <pc:docMk/>
            <pc:sldMk cId="1470663917" sldId="268"/>
            <ac:picMk id="6" creationId="{00000000-0000-0000-0000-000000000000}"/>
          </ac:picMkLst>
        </pc:picChg>
      </pc:sldChg>
      <pc:sldChg chg="modSp add">
        <pc:chgData name="Kenneth Graf" userId="d1890dd4-deb6-4a9b-a156-5113ac77bda8" providerId="ADAL" clId="{14FE3152-7A66-4077-8095-832C80A6F1A3}" dt="2020-01-07T22:58:35" v="15" actId="1076"/>
        <pc:sldMkLst>
          <pc:docMk/>
          <pc:sldMk cId="618015708" sldId="269"/>
        </pc:sldMkLst>
        <pc:picChg chg="mod">
          <ac:chgData name="Kenneth Graf" userId="d1890dd4-deb6-4a9b-a156-5113ac77bda8" providerId="ADAL" clId="{14FE3152-7A66-4077-8095-832C80A6F1A3}" dt="2020-01-07T22:58:35" v="15" actId="1076"/>
          <ac:picMkLst>
            <pc:docMk/>
            <pc:sldMk cId="618015708" sldId="269"/>
            <ac:picMk id="4" creationId="{00000000-0000-0000-0000-000000000000}"/>
          </ac:picMkLst>
        </pc:picChg>
      </pc:sldChg>
      <pc:sldChg chg="modSp add">
        <pc:chgData name="Kenneth Graf" userId="d1890dd4-deb6-4a9b-a156-5113ac77bda8" providerId="ADAL" clId="{14FE3152-7A66-4077-8095-832C80A6F1A3}" dt="2020-01-20T17:09:12.256" v="120" actId="20577"/>
        <pc:sldMkLst>
          <pc:docMk/>
          <pc:sldMk cId="2533441181" sldId="272"/>
        </pc:sldMkLst>
        <pc:spChg chg="mod">
          <ac:chgData name="Kenneth Graf" userId="d1890dd4-deb6-4a9b-a156-5113ac77bda8" providerId="ADAL" clId="{14FE3152-7A66-4077-8095-832C80A6F1A3}" dt="2020-01-20T17:09:12.256" v="120" actId="20577"/>
          <ac:spMkLst>
            <pc:docMk/>
            <pc:sldMk cId="2533441181" sldId="272"/>
            <ac:spMk id="3" creationId="{00000000-0000-0000-0000-000000000000}"/>
          </ac:spMkLst>
        </pc:spChg>
      </pc:sldChg>
      <pc:sldChg chg="modSp add">
        <pc:chgData name="Kenneth Graf" userId="d1890dd4-deb6-4a9b-a156-5113ac77bda8" providerId="ADAL" clId="{14FE3152-7A66-4077-8095-832C80A6F1A3}" dt="2020-01-07T22:59:17.785" v="21" actId="1076"/>
        <pc:sldMkLst>
          <pc:docMk/>
          <pc:sldMk cId="3598406704" sldId="273"/>
        </pc:sldMkLst>
        <pc:spChg chg="mod">
          <ac:chgData name="Kenneth Graf" userId="d1890dd4-deb6-4a9b-a156-5113ac77bda8" providerId="ADAL" clId="{14FE3152-7A66-4077-8095-832C80A6F1A3}" dt="2020-01-07T22:59:11.202" v="19" actId="1076"/>
          <ac:spMkLst>
            <pc:docMk/>
            <pc:sldMk cId="3598406704" sldId="273"/>
            <ac:spMk id="5" creationId="{00000000-0000-0000-0000-000000000000}"/>
          </ac:spMkLst>
        </pc:spChg>
        <pc:picChg chg="mod">
          <ac:chgData name="Kenneth Graf" userId="d1890dd4-deb6-4a9b-a156-5113ac77bda8" providerId="ADAL" clId="{14FE3152-7A66-4077-8095-832C80A6F1A3}" dt="2020-01-07T22:59:17.785" v="21" actId="1076"/>
          <ac:picMkLst>
            <pc:docMk/>
            <pc:sldMk cId="3598406704" sldId="273"/>
            <ac:picMk id="4" creationId="{00000000-0000-0000-0000-000000000000}"/>
          </ac:picMkLst>
        </pc:picChg>
      </pc:sldChg>
      <pc:sldChg chg="modSp add modNotesTx">
        <pc:chgData name="Kenneth Graf" userId="d1890dd4-deb6-4a9b-a156-5113ac77bda8" providerId="ADAL" clId="{14FE3152-7A66-4077-8095-832C80A6F1A3}" dt="2020-01-19T15:26:53.107" v="119" actId="20577"/>
        <pc:sldMkLst>
          <pc:docMk/>
          <pc:sldMk cId="576131550" sldId="274"/>
        </pc:sldMkLst>
        <pc:picChg chg="mod">
          <ac:chgData name="Kenneth Graf" userId="d1890dd4-deb6-4a9b-a156-5113ac77bda8" providerId="ADAL" clId="{14FE3152-7A66-4077-8095-832C80A6F1A3}" dt="2020-01-07T23:03:58.785" v="94" actId="14100"/>
          <ac:picMkLst>
            <pc:docMk/>
            <pc:sldMk cId="576131550" sldId="274"/>
            <ac:picMk id="4" creationId="{00000000-0000-0000-0000-000000000000}"/>
          </ac:picMkLst>
        </pc:picChg>
      </pc:sldChg>
      <pc:sldChg chg="add">
        <pc:chgData name="Kenneth Graf" userId="d1890dd4-deb6-4a9b-a156-5113ac77bda8" providerId="ADAL" clId="{14FE3152-7A66-4077-8095-832C80A6F1A3}" dt="2020-01-07T22:58:04.387" v="8"/>
        <pc:sldMkLst>
          <pc:docMk/>
          <pc:sldMk cId="2926471494" sldId="276"/>
        </pc:sldMkLst>
      </pc:sldChg>
      <pc:sldChg chg="add">
        <pc:chgData name="Kenneth Graf" userId="d1890dd4-deb6-4a9b-a156-5113ac77bda8" providerId="ADAL" clId="{14FE3152-7A66-4077-8095-832C80A6F1A3}" dt="2020-01-07T22:58:04.387" v="8"/>
        <pc:sldMkLst>
          <pc:docMk/>
          <pc:sldMk cId="3192940302" sldId="281"/>
        </pc:sldMkLst>
      </pc:sldChg>
      <pc:sldChg chg="addSp delSp modSp add">
        <pc:chgData name="Kenneth Graf" userId="d1890dd4-deb6-4a9b-a156-5113ac77bda8" providerId="ADAL" clId="{14FE3152-7A66-4077-8095-832C80A6F1A3}" dt="2020-01-07T23:02:11.975" v="80" actId="313"/>
        <pc:sldMkLst>
          <pc:docMk/>
          <pc:sldMk cId="1221122941" sldId="284"/>
        </pc:sldMkLst>
        <pc:spChg chg="mod">
          <ac:chgData name="Kenneth Graf" userId="d1890dd4-deb6-4a9b-a156-5113ac77bda8" providerId="ADAL" clId="{14FE3152-7A66-4077-8095-832C80A6F1A3}" dt="2020-01-07T23:02:11.975" v="80" actId="313"/>
          <ac:spMkLst>
            <pc:docMk/>
            <pc:sldMk cId="1221122941" sldId="284"/>
            <ac:spMk id="2" creationId="{00000000-0000-0000-0000-000000000000}"/>
          </ac:spMkLst>
        </pc:spChg>
        <pc:spChg chg="add del mod">
          <ac:chgData name="Kenneth Graf" userId="d1890dd4-deb6-4a9b-a156-5113ac77bda8" providerId="ADAL" clId="{14FE3152-7A66-4077-8095-832C80A6F1A3}" dt="2020-01-07T23:01:35.045" v="28" actId="478"/>
          <ac:spMkLst>
            <pc:docMk/>
            <pc:sldMk cId="1221122941" sldId="284"/>
            <ac:spMk id="6" creationId="{D7E9127E-24F2-48C0-8759-2C4B00FE8186}"/>
          </ac:spMkLst>
        </pc:spChg>
        <pc:graphicFrameChg chg="del">
          <ac:chgData name="Kenneth Graf" userId="d1890dd4-deb6-4a9b-a156-5113ac77bda8" providerId="ADAL" clId="{14FE3152-7A66-4077-8095-832C80A6F1A3}" dt="2020-01-07T23:01:31.081" v="27" actId="478"/>
          <ac:graphicFrameMkLst>
            <pc:docMk/>
            <pc:sldMk cId="1221122941" sldId="284"/>
            <ac:graphicFrameMk id="4" creationId="{00000000-0000-0000-0000-000000000000}"/>
          </ac:graphicFrameMkLst>
        </pc:graphicFrameChg>
        <pc:picChg chg="add mod">
          <ac:chgData name="Kenneth Graf" userId="d1890dd4-deb6-4a9b-a156-5113ac77bda8" providerId="ADAL" clId="{14FE3152-7A66-4077-8095-832C80A6F1A3}" dt="2020-01-07T23:01:50.447" v="32" actId="1076"/>
          <ac:picMkLst>
            <pc:docMk/>
            <pc:sldMk cId="1221122941" sldId="284"/>
            <ac:picMk id="5" creationId="{9755787F-12F6-4E33-B243-079F4ED7C260}"/>
          </ac:picMkLst>
        </pc:picChg>
      </pc:sldChg>
      <pc:sldChg chg="addSp delSp modSp add">
        <pc:chgData name="Kenneth Graf" userId="d1890dd4-deb6-4a9b-a156-5113ac77bda8" providerId="ADAL" clId="{14FE3152-7A66-4077-8095-832C80A6F1A3}" dt="2020-01-07T23:02:38.935" v="83" actId="1076"/>
        <pc:sldMkLst>
          <pc:docMk/>
          <pc:sldMk cId="2781233546" sldId="287"/>
        </pc:sldMkLst>
        <pc:spChg chg="del">
          <ac:chgData name="Kenneth Graf" userId="d1890dd4-deb6-4a9b-a156-5113ac77bda8" providerId="ADAL" clId="{14FE3152-7A66-4077-8095-832C80A6F1A3}" dt="2020-01-07T22:59:57.706" v="25"/>
          <ac:spMkLst>
            <pc:docMk/>
            <pc:sldMk cId="2781233546" sldId="287"/>
            <ac:spMk id="2" creationId="{00000000-0000-0000-0000-000000000000}"/>
          </ac:spMkLst>
        </pc:spChg>
        <pc:spChg chg="add mod">
          <ac:chgData name="Kenneth Graf" userId="d1890dd4-deb6-4a9b-a156-5113ac77bda8" providerId="ADAL" clId="{14FE3152-7A66-4077-8095-832C80A6F1A3}" dt="2020-01-07T22:59:57.706" v="25"/>
          <ac:spMkLst>
            <pc:docMk/>
            <pc:sldMk cId="2781233546" sldId="287"/>
            <ac:spMk id="3" creationId="{CC2883B7-3F5D-4749-804F-E5D98EDCC832}"/>
          </ac:spMkLst>
        </pc:spChg>
        <pc:spChg chg="add mod">
          <ac:chgData name="Kenneth Graf" userId="d1890dd4-deb6-4a9b-a156-5113ac77bda8" providerId="ADAL" clId="{14FE3152-7A66-4077-8095-832C80A6F1A3}" dt="2020-01-07T22:59:57.706" v="25"/>
          <ac:spMkLst>
            <pc:docMk/>
            <pc:sldMk cId="2781233546" sldId="287"/>
            <ac:spMk id="5" creationId="{BDDF8DCD-E129-4BEE-ACC8-8C291A31571B}"/>
          </ac:spMkLst>
        </pc:spChg>
        <pc:picChg chg="mod">
          <ac:chgData name="Kenneth Graf" userId="d1890dd4-deb6-4a9b-a156-5113ac77bda8" providerId="ADAL" clId="{14FE3152-7A66-4077-8095-832C80A6F1A3}" dt="2020-01-07T23:02:38.935" v="83" actId="1076"/>
          <ac:picMkLst>
            <pc:docMk/>
            <pc:sldMk cId="2781233546" sldId="287"/>
            <ac:picMk id="4" creationId="{00000000-0000-0000-0000-000000000000}"/>
          </ac:picMkLst>
        </pc:picChg>
      </pc:sldChg>
      <pc:sldChg chg="addSp delSp modSp add">
        <pc:chgData name="Kenneth Graf" userId="d1890dd4-deb6-4a9b-a156-5113ac77bda8" providerId="ADAL" clId="{14FE3152-7A66-4077-8095-832C80A6F1A3}" dt="2020-01-07T23:03:02.813" v="87" actId="20577"/>
        <pc:sldMkLst>
          <pc:docMk/>
          <pc:sldMk cId="2784243164" sldId="288"/>
        </pc:sldMkLst>
        <pc:spChg chg="add mod">
          <ac:chgData name="Kenneth Graf" userId="d1890dd4-deb6-4a9b-a156-5113ac77bda8" providerId="ADAL" clId="{14FE3152-7A66-4077-8095-832C80A6F1A3}" dt="2020-01-07T23:03:02.813" v="87" actId="20577"/>
          <ac:spMkLst>
            <pc:docMk/>
            <pc:sldMk cId="2784243164" sldId="288"/>
            <ac:spMk id="3" creationId="{C96E44DF-24C1-4924-B7F6-A866A2A687F3}"/>
          </ac:spMkLst>
        </pc:spChg>
        <pc:spChg chg="del">
          <ac:chgData name="Kenneth Graf" userId="d1890dd4-deb6-4a9b-a156-5113ac77bda8" providerId="ADAL" clId="{14FE3152-7A66-4077-8095-832C80A6F1A3}" dt="2020-01-07T23:02:57.950" v="84" actId="478"/>
          <ac:spMkLst>
            <pc:docMk/>
            <pc:sldMk cId="2784243164" sldId="288"/>
            <ac:spMk id="5" creationId="{00000000-0000-0000-0000-000000000000}"/>
          </ac:spMkLst>
        </pc:spChg>
      </pc:sldChg>
      <pc:sldChg chg="modSp add">
        <pc:chgData name="Kenneth Graf" userId="d1890dd4-deb6-4a9b-a156-5113ac77bda8" providerId="ADAL" clId="{14FE3152-7A66-4077-8095-832C80A6F1A3}" dt="2020-01-07T22:58:04.478" v="10" actId="27636"/>
        <pc:sldMkLst>
          <pc:docMk/>
          <pc:sldMk cId="2914993693" sldId="290"/>
        </pc:sldMkLst>
        <pc:spChg chg="mod">
          <ac:chgData name="Kenneth Graf" userId="d1890dd4-deb6-4a9b-a156-5113ac77bda8" providerId="ADAL" clId="{14FE3152-7A66-4077-8095-832C80A6F1A3}" dt="2020-01-07T22:58:04.478" v="10" actId="27636"/>
          <ac:spMkLst>
            <pc:docMk/>
            <pc:sldMk cId="2914993693" sldId="290"/>
            <ac:spMk id="6" creationId="{8CA91565-26BA-41F4-B8E3-2E19BE0A405A}"/>
          </ac:spMkLst>
        </pc:spChg>
      </pc:sldChg>
      <pc:sldChg chg="add">
        <pc:chgData name="Kenneth Graf" userId="d1890dd4-deb6-4a9b-a156-5113ac77bda8" providerId="ADAL" clId="{14FE3152-7A66-4077-8095-832C80A6F1A3}" dt="2020-01-07T22:58:04.387" v="8"/>
        <pc:sldMkLst>
          <pc:docMk/>
          <pc:sldMk cId="1108616072" sldId="291"/>
        </pc:sldMkLst>
      </pc:sldChg>
      <pc:sldChg chg="modSp add">
        <pc:chgData name="Kenneth Graf" userId="d1890dd4-deb6-4a9b-a156-5113ac77bda8" providerId="ADAL" clId="{14FE3152-7A66-4077-8095-832C80A6F1A3}" dt="2020-01-07T23:03:26.472" v="90" actId="1076"/>
        <pc:sldMkLst>
          <pc:docMk/>
          <pc:sldMk cId="1976428519" sldId="292"/>
        </pc:sldMkLst>
        <pc:graphicFrameChg chg="mod">
          <ac:chgData name="Kenneth Graf" userId="d1890dd4-deb6-4a9b-a156-5113ac77bda8" providerId="ADAL" clId="{14FE3152-7A66-4077-8095-832C80A6F1A3}" dt="2020-01-07T23:03:26.472" v="90" actId="1076"/>
          <ac:graphicFrameMkLst>
            <pc:docMk/>
            <pc:sldMk cId="1976428519" sldId="292"/>
            <ac:graphicFrameMk id="4" creationId="{82FB119D-9F9F-4E8F-9618-EC8279A2B2D1}"/>
          </ac:graphicFrameMkLst>
        </pc:graphicFrameChg>
      </pc:sldChg>
      <pc:sldChg chg="add">
        <pc:chgData name="Kenneth Graf" userId="d1890dd4-deb6-4a9b-a156-5113ac77bda8" providerId="ADAL" clId="{14FE3152-7A66-4077-8095-832C80A6F1A3}" dt="2020-01-07T22:58:04.387" v="8"/>
        <pc:sldMkLst>
          <pc:docMk/>
          <pc:sldMk cId="1360292422" sldId="293"/>
        </pc:sldMkLst>
      </pc:sldChg>
      <pc:sldChg chg="add">
        <pc:chgData name="Kenneth Graf" userId="d1890dd4-deb6-4a9b-a156-5113ac77bda8" providerId="ADAL" clId="{14FE3152-7A66-4077-8095-832C80A6F1A3}" dt="2020-01-19T15:26:36.350" v="95"/>
        <pc:sldMkLst>
          <pc:docMk/>
          <pc:sldMk cId="2254934488"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1/20/2020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a:t>
            </a:fld>
            <a:endParaRPr lang="en-US" dirty="0"/>
          </a:p>
        </p:txBody>
      </p:sp>
    </p:spTree>
    <p:extLst>
      <p:ext uri="{BB962C8B-B14F-4D97-AF65-F5344CB8AC3E}">
        <p14:creationId xmlns:p14="http://schemas.microsoft.com/office/powerpoint/2010/main" val="274852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7</a:t>
            </a:fld>
            <a:endParaRPr lang="en-US" dirty="0"/>
          </a:p>
        </p:txBody>
      </p:sp>
    </p:spTree>
    <p:extLst>
      <p:ext uri="{BB962C8B-B14F-4D97-AF65-F5344CB8AC3E}">
        <p14:creationId xmlns:p14="http://schemas.microsoft.com/office/powerpoint/2010/main" val="801933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8</a:t>
            </a:fld>
            <a:endParaRPr lang="en-US" dirty="0"/>
          </a:p>
        </p:txBody>
      </p:sp>
    </p:spTree>
    <p:extLst>
      <p:ext uri="{BB962C8B-B14F-4D97-AF65-F5344CB8AC3E}">
        <p14:creationId xmlns:p14="http://schemas.microsoft.com/office/powerpoint/2010/main" val="3743554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10</a:t>
            </a:fld>
            <a:endParaRPr lang="en-US" dirty="0"/>
          </a:p>
        </p:txBody>
      </p:sp>
    </p:spTree>
    <p:extLst>
      <p:ext uri="{BB962C8B-B14F-4D97-AF65-F5344CB8AC3E}">
        <p14:creationId xmlns:p14="http://schemas.microsoft.com/office/powerpoint/2010/main" val="553283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https://www.computer.org/csdl/mags/cd/2016/02/mcd2016020020.html</a:t>
            </a:r>
          </a:p>
          <a:p>
            <a:endParaRPr lang="en-US" dirty="0"/>
          </a:p>
        </p:txBody>
      </p:sp>
      <p:sp>
        <p:nvSpPr>
          <p:cNvPr id="4" name="Slide Number Placeholder 3"/>
          <p:cNvSpPr>
            <a:spLocks noGrp="1"/>
          </p:cNvSpPr>
          <p:nvPr>
            <p:ph type="sldNum" sz="quarter" idx="10"/>
          </p:nvPr>
        </p:nvSpPr>
        <p:spPr/>
        <p:txBody>
          <a:bodyPr/>
          <a:lstStyle/>
          <a:p>
            <a:fld id="{70349287-1A5C-48F4-B837-CBF6EC8795C7}" type="slidenum">
              <a:rPr lang="en-US" smtClean="0"/>
              <a:t>13</a:t>
            </a:fld>
            <a:endParaRPr lang="en-US"/>
          </a:p>
        </p:txBody>
      </p:sp>
    </p:spTree>
    <p:extLst>
      <p:ext uri="{BB962C8B-B14F-4D97-AF65-F5344CB8AC3E}">
        <p14:creationId xmlns:p14="http://schemas.microsoft.com/office/powerpoint/2010/main" val="1101812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out a cloud datacenter scenario</a:t>
            </a:r>
          </a:p>
        </p:txBody>
      </p:sp>
      <p:sp>
        <p:nvSpPr>
          <p:cNvPr id="4" name="Slide Number Placeholder 3"/>
          <p:cNvSpPr>
            <a:spLocks noGrp="1"/>
          </p:cNvSpPr>
          <p:nvPr>
            <p:ph type="sldNum" sz="quarter" idx="5"/>
          </p:nvPr>
        </p:nvSpPr>
        <p:spPr/>
        <p:txBody>
          <a:bodyPr/>
          <a:lstStyle/>
          <a:p>
            <a:fld id="{EBE13BA3-2BF5-478F-8F09-F40177E242D0}" type="slidenum">
              <a:rPr lang="en-US" smtClean="0"/>
              <a:t>19</a:t>
            </a:fld>
            <a:endParaRPr lang="en-US" dirty="0"/>
          </a:p>
        </p:txBody>
      </p:sp>
    </p:spTree>
    <p:extLst>
      <p:ext uri="{BB962C8B-B14F-4D97-AF65-F5344CB8AC3E}">
        <p14:creationId xmlns:p14="http://schemas.microsoft.com/office/powerpoint/2010/main" val="3571082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datacenter scenario</a:t>
            </a:r>
          </a:p>
        </p:txBody>
      </p:sp>
      <p:sp>
        <p:nvSpPr>
          <p:cNvPr id="4" name="Slide Number Placeholder 3"/>
          <p:cNvSpPr>
            <a:spLocks noGrp="1"/>
          </p:cNvSpPr>
          <p:nvPr>
            <p:ph type="sldNum" sz="quarter" idx="5"/>
          </p:nvPr>
        </p:nvSpPr>
        <p:spPr/>
        <p:txBody>
          <a:bodyPr/>
          <a:lstStyle/>
          <a:p>
            <a:fld id="{EBE13BA3-2BF5-478F-8F09-F40177E242D0}" type="slidenum">
              <a:rPr lang="en-US" smtClean="0"/>
              <a:t>20</a:t>
            </a:fld>
            <a:endParaRPr lang="en-US" dirty="0"/>
          </a:p>
        </p:txBody>
      </p:sp>
    </p:spTree>
    <p:extLst>
      <p:ext uri="{BB962C8B-B14F-4D97-AF65-F5344CB8AC3E}">
        <p14:creationId xmlns:p14="http://schemas.microsoft.com/office/powerpoint/2010/main" val="11121998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a:t>Cloud &amp; Virtualization</a:t>
            </a:r>
            <a:endParaRPr lang="en-US" b="1" dirty="0"/>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a:t>
            </a:r>
          </a:p>
        </p:txBody>
      </p:sp>
      <p:sp>
        <p:nvSpPr>
          <p:cNvPr id="3" name="Content Placeholder 2"/>
          <p:cNvSpPr>
            <a:spLocks noGrp="1"/>
          </p:cNvSpPr>
          <p:nvPr>
            <p:ph idx="1"/>
          </p:nvPr>
        </p:nvSpPr>
        <p:spPr/>
        <p:txBody>
          <a:bodyPr/>
          <a:lstStyle/>
          <a:p>
            <a:r>
              <a:rPr lang="en-US" dirty="0"/>
              <a:t>Started as an automated testing tool</a:t>
            </a:r>
          </a:p>
          <a:p>
            <a:pPr lvl="1"/>
            <a:r>
              <a:rPr lang="en-US" dirty="0"/>
              <a:t>Many versions of windows and Unix</a:t>
            </a:r>
          </a:p>
          <a:p>
            <a:pPr lvl="1"/>
            <a:r>
              <a:rPr lang="en-US" dirty="0"/>
              <a:t>The time to reinstall and test was very expensive</a:t>
            </a:r>
          </a:p>
          <a:p>
            <a:r>
              <a:rPr lang="en-US" dirty="0"/>
              <a:t>Very slow</a:t>
            </a:r>
          </a:p>
          <a:p>
            <a:pPr lvl="1"/>
            <a:r>
              <a:rPr lang="en-US" dirty="0"/>
              <a:t>A set of software emulating hardware behavior</a:t>
            </a:r>
          </a:p>
          <a:p>
            <a:pPr lvl="1"/>
            <a:r>
              <a:rPr lang="en-US" dirty="0"/>
              <a:t>Usually a single instance at any one time</a:t>
            </a:r>
          </a:p>
        </p:txBody>
      </p:sp>
    </p:spTree>
    <p:extLst>
      <p:ext uri="{BB962C8B-B14F-4D97-AF65-F5344CB8AC3E}">
        <p14:creationId xmlns:p14="http://schemas.microsoft.com/office/powerpoint/2010/main" val="2533441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74105" y="0"/>
            <a:ext cx="11243790" cy="6344458"/>
          </a:xfrm>
          <a:prstGeom prst="rect">
            <a:avLst/>
          </a:prstGeom>
        </p:spPr>
      </p:pic>
    </p:spTree>
    <p:extLst>
      <p:ext uri="{BB962C8B-B14F-4D97-AF65-F5344CB8AC3E}">
        <p14:creationId xmlns:p14="http://schemas.microsoft.com/office/powerpoint/2010/main" val="61801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Xen</a:t>
            </a:r>
            <a:r>
              <a:rPr lang="en-US"/>
              <a:t>: A variant </a:t>
            </a:r>
            <a:r>
              <a:rPr lang="en-US" dirty="0"/>
              <a:t>is used by Amazon’s AWS</a:t>
            </a:r>
          </a:p>
        </p:txBody>
      </p:sp>
      <p:pic>
        <p:nvPicPr>
          <p:cNvPr id="6" name="Content Placeholder 5"/>
          <p:cNvPicPr>
            <a:picLocks noGrp="1" noChangeAspect="1"/>
          </p:cNvPicPr>
          <p:nvPr>
            <p:ph idx="1"/>
          </p:nvPr>
        </p:nvPicPr>
        <p:blipFill>
          <a:blip r:embed="rId2"/>
          <a:stretch>
            <a:fillRect/>
          </a:stretch>
        </p:blipFill>
        <p:spPr>
          <a:xfrm>
            <a:off x="762000" y="914400"/>
            <a:ext cx="10601316" cy="5704847"/>
          </a:xfrm>
          <a:prstGeom prst="rect">
            <a:avLst/>
          </a:prstGeom>
        </p:spPr>
      </p:pic>
    </p:spTree>
    <p:extLst>
      <p:ext uri="{BB962C8B-B14F-4D97-AF65-F5344CB8AC3E}">
        <p14:creationId xmlns:p14="http://schemas.microsoft.com/office/powerpoint/2010/main" val="147066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Microsoft’s Virtual Security Mode </a:t>
            </a:r>
          </a:p>
        </p:txBody>
      </p:sp>
      <p:pic>
        <p:nvPicPr>
          <p:cNvPr id="4" name="Content Placeholder 3"/>
          <p:cNvPicPr>
            <a:picLocks noGrp="1" noChangeAspect="1"/>
          </p:cNvPicPr>
          <p:nvPr>
            <p:ph idx="1"/>
          </p:nvPr>
        </p:nvPicPr>
        <p:blipFill>
          <a:blip r:embed="rId2"/>
          <a:stretch>
            <a:fillRect/>
          </a:stretch>
        </p:blipFill>
        <p:spPr>
          <a:xfrm>
            <a:off x="609600" y="857250"/>
            <a:ext cx="9882506" cy="5274787"/>
          </a:xfrm>
          <a:prstGeom prst="rect">
            <a:avLst/>
          </a:prstGeom>
        </p:spPr>
      </p:pic>
      <p:sp>
        <p:nvSpPr>
          <p:cNvPr id="5" name="TextBox 4"/>
          <p:cNvSpPr txBox="1"/>
          <p:nvPr/>
        </p:nvSpPr>
        <p:spPr>
          <a:xfrm>
            <a:off x="609600" y="6324600"/>
            <a:ext cx="914400" cy="914400"/>
          </a:xfrm>
          <a:prstGeom prst="rect">
            <a:avLst/>
          </a:prstGeom>
        </p:spPr>
        <p:txBody>
          <a:bodyPr vert="horz" wrap="none" lIns="91440" tIns="45720" rIns="91440" bIns="45720" rtlCol="0">
            <a:normAutofit/>
          </a:bodyPr>
          <a:lstStyle/>
          <a:p>
            <a:r>
              <a:rPr lang="en-GB" dirty="0"/>
              <a:t>Credential Guard: Storage and management of user and system credentials in the VSM</a:t>
            </a:r>
            <a:endParaRPr lang="en-US" sz="2400" dirty="0"/>
          </a:p>
        </p:txBody>
      </p:sp>
    </p:spTree>
    <p:extLst>
      <p:ext uri="{BB962C8B-B14F-4D97-AF65-F5344CB8AC3E}">
        <p14:creationId xmlns:p14="http://schemas.microsoft.com/office/powerpoint/2010/main" val="359840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Containers</a:t>
            </a:r>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0" y="1001950"/>
            <a:ext cx="6823001" cy="5124214"/>
          </a:xfrm>
        </p:spPr>
      </p:pic>
    </p:spTree>
    <p:extLst>
      <p:ext uri="{BB962C8B-B14F-4D97-AF65-F5344CB8AC3E}">
        <p14:creationId xmlns:p14="http://schemas.microsoft.com/office/powerpoint/2010/main" val="119947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Cloud Service Models</a:t>
            </a:r>
          </a:p>
        </p:txBody>
      </p:sp>
      <p:sp>
        <p:nvSpPr>
          <p:cNvPr id="3" name="Content Placeholder 2"/>
          <p:cNvSpPr>
            <a:spLocks noGrp="1"/>
          </p:cNvSpPr>
          <p:nvPr>
            <p:ph idx="1"/>
          </p:nvPr>
        </p:nvSpPr>
        <p:spPr/>
        <p:txBody>
          <a:bodyPr>
            <a:noAutofit/>
          </a:bodyPr>
          <a:lstStyle/>
          <a:p>
            <a:r>
              <a:rPr lang="en-US" sz="2400" b="1" dirty="0"/>
              <a:t>SaaS (Software as a Service)</a:t>
            </a:r>
          </a:p>
          <a:p>
            <a:pPr lvl="1"/>
            <a:r>
              <a:rPr lang="en-US" sz="1800" dirty="0"/>
              <a:t>The capability provided to the consumer is to use the provider’s applications running on a cloud infrastructure.  The consumer does not manage or control the underlying cloud infrastructure: (i.e. network, servers, operating systems, storage)</a:t>
            </a:r>
          </a:p>
          <a:p>
            <a:r>
              <a:rPr lang="en-US" sz="2400" b="1" dirty="0"/>
              <a:t>PaaS (Platform as a Service)</a:t>
            </a:r>
          </a:p>
          <a:p>
            <a:pPr lvl="1"/>
            <a:r>
              <a:rPr lang="en-US" sz="1800" dirty="0"/>
              <a:t>The capability provided to the consumer using programming languages and tools  supported by the provider. The consumer has control over the deployed applications and possibly application-hosting environment conﬁgurations.</a:t>
            </a:r>
          </a:p>
          <a:p>
            <a:r>
              <a:rPr lang="en-US" sz="2400" b="1" dirty="0"/>
              <a:t>IaaS (Infrastructure as a Service)</a:t>
            </a:r>
          </a:p>
          <a:p>
            <a:pPr lvl="1"/>
            <a:r>
              <a:rPr lang="en-US" sz="1800" dirty="0"/>
              <a:t>The capability provided to the consumer is to provision processing, storage, networks, and other fundamental computing resources where the consumer is able to deploy and run arbitrary software, which can include operating systems and applications. The consumer has control over operating systems, storage, deployed applications, and possibly limited control of select networking components (e.g., host ﬁrewalls)</a:t>
            </a:r>
          </a:p>
        </p:txBody>
      </p:sp>
    </p:spTree>
    <p:extLst>
      <p:ext uri="{BB962C8B-B14F-4D97-AF65-F5344CB8AC3E}">
        <p14:creationId xmlns:p14="http://schemas.microsoft.com/office/powerpoint/2010/main" val="19309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Responsibilities </a:t>
            </a:r>
          </a:p>
        </p:txBody>
      </p:sp>
      <p:pic>
        <p:nvPicPr>
          <p:cNvPr id="5" name="Content Placeholder 3">
            <a:extLst>
              <a:ext uri="{FF2B5EF4-FFF2-40B4-BE49-F238E27FC236}">
                <a16:creationId xmlns:a16="http://schemas.microsoft.com/office/drawing/2014/main" id="{9755787F-12F6-4E33-B243-079F4ED7C260}"/>
              </a:ext>
            </a:extLst>
          </p:cNvPr>
          <p:cNvPicPr>
            <a:picLocks noChangeAspect="1"/>
          </p:cNvPicPr>
          <p:nvPr/>
        </p:nvPicPr>
        <p:blipFill>
          <a:blip r:embed="rId3"/>
          <a:stretch>
            <a:fillRect/>
          </a:stretch>
        </p:blipFill>
        <p:spPr>
          <a:xfrm>
            <a:off x="1219200" y="1125537"/>
            <a:ext cx="9753600" cy="5486400"/>
          </a:xfrm>
          <a:prstGeom prst="rect">
            <a:avLst/>
          </a:prstGeom>
        </p:spPr>
      </p:pic>
    </p:spTree>
    <p:extLst>
      <p:ext uri="{BB962C8B-B14F-4D97-AF65-F5344CB8AC3E}">
        <p14:creationId xmlns:p14="http://schemas.microsoft.com/office/powerpoint/2010/main" val="1221122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2883B7-3F5D-4749-804F-E5D98EDCC832}"/>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DDF8DCD-E129-4BEE-ACC8-8C291A31571B}"/>
              </a:ext>
            </a:extLst>
          </p:cNvPr>
          <p:cNvSpPr>
            <a:spLocks noGrp="1"/>
          </p:cNvSpPr>
          <p:nvPr>
            <p:ph idx="1"/>
          </p:nvPr>
        </p:nvSpPr>
        <p:spPr/>
        <p:txBody>
          <a:bodyPr/>
          <a:lstStyle/>
          <a:p>
            <a:endParaRPr lang="en-US"/>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385" y="594519"/>
            <a:ext cx="11369230" cy="5638800"/>
          </a:xfrm>
          <a:prstGeom prst="rect">
            <a:avLst/>
          </a:prstGeom>
        </p:spPr>
      </p:pic>
    </p:spTree>
    <p:extLst>
      <p:ext uri="{BB962C8B-B14F-4D97-AF65-F5344CB8AC3E}">
        <p14:creationId xmlns:p14="http://schemas.microsoft.com/office/powerpoint/2010/main" val="2781233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Deployment Models</a:t>
            </a:r>
          </a:p>
        </p:txBody>
      </p:sp>
      <p:sp>
        <p:nvSpPr>
          <p:cNvPr id="3" name="Content Placeholder 2"/>
          <p:cNvSpPr>
            <a:spLocks noGrp="1"/>
          </p:cNvSpPr>
          <p:nvPr>
            <p:ph idx="1"/>
          </p:nvPr>
        </p:nvSpPr>
        <p:spPr/>
        <p:txBody>
          <a:bodyPr>
            <a:noAutofit/>
          </a:bodyPr>
          <a:lstStyle/>
          <a:p>
            <a:r>
              <a:rPr lang="en-US" sz="2400" b="1" dirty="0"/>
              <a:t>Public cloud</a:t>
            </a:r>
          </a:p>
          <a:p>
            <a:pPr lvl="1"/>
            <a:r>
              <a:rPr lang="en-US" sz="2000" dirty="0"/>
              <a:t>The cloud infrastructure is made available to the general public or a large industry group and is owned by an organization selling cloud services.</a:t>
            </a:r>
          </a:p>
          <a:p>
            <a:r>
              <a:rPr lang="en-US" sz="2400" b="1" dirty="0"/>
              <a:t>Private cloud</a:t>
            </a:r>
          </a:p>
          <a:p>
            <a:pPr lvl="1"/>
            <a:r>
              <a:rPr lang="en-US" sz="2000" dirty="0"/>
              <a:t>The cloud infrastructure is operated solely for an organization.</a:t>
            </a:r>
          </a:p>
          <a:p>
            <a:pPr lvl="1"/>
            <a:r>
              <a:rPr lang="en-US" sz="2000" dirty="0"/>
              <a:t>It may be managed  by a third party and may exist on or off premise.</a:t>
            </a:r>
          </a:p>
          <a:p>
            <a:r>
              <a:rPr lang="en-US" sz="2400" b="1" dirty="0"/>
              <a:t>Hybrid cloud</a:t>
            </a:r>
          </a:p>
          <a:p>
            <a:pPr lvl="1"/>
            <a:r>
              <a:rPr lang="en-US" sz="2000" dirty="0"/>
              <a:t>The cloud infrastructure is a composition of two or more clouds.</a:t>
            </a:r>
          </a:p>
          <a:p>
            <a:r>
              <a:rPr lang="en-US" sz="2400" b="1" dirty="0"/>
              <a:t>Community cloud</a:t>
            </a:r>
          </a:p>
          <a:p>
            <a:pPr lvl="1"/>
            <a:r>
              <a:rPr lang="en-US" sz="2000" dirty="0"/>
              <a:t>The cloud infrastructure is shared by several organizations and supports a speciﬁc community that has shared concerns (e.g., mission, security requirements, policy, and  compliance considerations).</a:t>
            </a:r>
          </a:p>
        </p:txBody>
      </p:sp>
    </p:spTree>
    <p:extLst>
      <p:ext uri="{BB962C8B-B14F-4D97-AF65-F5344CB8AC3E}">
        <p14:creationId xmlns:p14="http://schemas.microsoft.com/office/powerpoint/2010/main" val="319294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Management</a:t>
            </a:r>
          </a:p>
        </p:txBody>
      </p:sp>
      <p:sp>
        <p:nvSpPr>
          <p:cNvPr id="3" name="Content Placeholder 2">
            <a:extLst>
              <a:ext uri="{FF2B5EF4-FFF2-40B4-BE49-F238E27FC236}">
                <a16:creationId xmlns:a16="http://schemas.microsoft.com/office/drawing/2014/main" id="{C96E44DF-24C1-4924-B7F6-A866A2A687F3}"/>
              </a:ext>
            </a:extLst>
          </p:cNvPr>
          <p:cNvSpPr>
            <a:spLocks noGrp="1"/>
          </p:cNvSpPr>
          <p:nvPr>
            <p:ph idx="1"/>
          </p:nvPr>
        </p:nvSpPr>
        <p:spPr/>
        <p:txBody>
          <a:bodyPr/>
          <a:lstStyle/>
          <a:p>
            <a:r>
              <a:rPr lang="en-US" dirty="0"/>
              <a:t>Automation at Scale</a:t>
            </a:r>
          </a:p>
          <a:p>
            <a:r>
              <a:rPr lang="en-US" dirty="0"/>
              <a:t>Desired State Configuration</a:t>
            </a:r>
          </a:p>
          <a:p>
            <a:r>
              <a:rPr lang="en-US" dirty="0"/>
              <a:t>Infrastructure as Code (software defined *)</a:t>
            </a:r>
          </a:p>
          <a:p>
            <a:r>
              <a:rPr lang="en-US" dirty="0"/>
              <a:t>Efficient</a:t>
            </a:r>
          </a:p>
          <a:p>
            <a:r>
              <a:rPr lang="en-US" dirty="0"/>
              <a:t>Repeatable</a:t>
            </a:r>
          </a:p>
          <a:p>
            <a:r>
              <a:rPr lang="en-US" dirty="0"/>
              <a:t>Cattle not Pets</a:t>
            </a:r>
          </a:p>
        </p:txBody>
      </p:sp>
    </p:spTree>
    <p:extLst>
      <p:ext uri="{BB962C8B-B14F-4D97-AF65-F5344CB8AC3E}">
        <p14:creationId xmlns:p14="http://schemas.microsoft.com/office/powerpoint/2010/main" val="278424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Role of Compliance</a:t>
            </a:r>
          </a:p>
        </p:txBody>
      </p:sp>
      <p:graphicFrame>
        <p:nvGraphicFramePr>
          <p:cNvPr id="4" name="Content Placeholder 3"/>
          <p:cNvGraphicFramePr>
            <a:graphicFrameLocks noGrp="1"/>
          </p:cNvGraphicFramePr>
          <p:nvPr>
            <p:ph idx="1"/>
          </p:nvPr>
        </p:nvGraphicFramePr>
        <p:xfrm>
          <a:off x="609600" y="1371600"/>
          <a:ext cx="10972800" cy="1854200"/>
        </p:xfrm>
        <a:graphic>
          <a:graphicData uri="http://schemas.openxmlformats.org/drawingml/2006/table">
            <a:tbl>
              <a:tblPr firstRow="1" bandRow="1">
                <a:tableStyleId>{5C22544A-7EE6-4342-B048-85BDC9FD1C3A}</a:tableStyleId>
              </a:tblPr>
              <a:tblGrid>
                <a:gridCol w="2151529">
                  <a:extLst>
                    <a:ext uri="{9D8B030D-6E8A-4147-A177-3AD203B41FA5}">
                      <a16:colId xmlns:a16="http://schemas.microsoft.com/office/drawing/2014/main" val="477857996"/>
                    </a:ext>
                  </a:extLst>
                </a:gridCol>
                <a:gridCol w="4087906">
                  <a:extLst>
                    <a:ext uri="{9D8B030D-6E8A-4147-A177-3AD203B41FA5}">
                      <a16:colId xmlns:a16="http://schemas.microsoft.com/office/drawing/2014/main" val="2938518886"/>
                    </a:ext>
                  </a:extLst>
                </a:gridCol>
                <a:gridCol w="4733365">
                  <a:extLst>
                    <a:ext uri="{9D8B030D-6E8A-4147-A177-3AD203B41FA5}">
                      <a16:colId xmlns:a16="http://schemas.microsoft.com/office/drawing/2014/main" val="1648095504"/>
                    </a:ext>
                  </a:extLst>
                </a:gridCol>
              </a:tblGrid>
              <a:tr h="370840">
                <a:tc>
                  <a:txBody>
                    <a:bodyPr/>
                    <a:lstStyle/>
                    <a:p>
                      <a:endParaRPr lang="en-US" b="1" dirty="0"/>
                    </a:p>
                  </a:txBody>
                  <a:tcPr marL="129092" marR="129092"/>
                </a:tc>
                <a:tc>
                  <a:txBody>
                    <a:bodyPr/>
                    <a:lstStyle/>
                    <a:p>
                      <a:r>
                        <a:rPr lang="en-US" dirty="0"/>
                        <a:t>Manual</a:t>
                      </a:r>
                      <a:r>
                        <a:rPr lang="en-US" baseline="0" dirty="0"/>
                        <a:t> Compliance</a:t>
                      </a:r>
                      <a:endParaRPr lang="en-US" dirty="0"/>
                    </a:p>
                  </a:txBody>
                  <a:tcPr marL="129092" marR="129092"/>
                </a:tc>
                <a:tc>
                  <a:txBody>
                    <a:bodyPr/>
                    <a:lstStyle/>
                    <a:p>
                      <a:r>
                        <a:rPr lang="en-US" dirty="0"/>
                        <a:t>Compliance at Velocity</a:t>
                      </a:r>
                    </a:p>
                  </a:txBody>
                  <a:tcPr marL="129092" marR="129092"/>
                </a:tc>
                <a:extLst>
                  <a:ext uri="{0D108BD9-81ED-4DB2-BD59-A6C34878D82A}">
                    <a16:rowId xmlns:a16="http://schemas.microsoft.com/office/drawing/2014/main" val="3707295145"/>
                  </a:ext>
                </a:extLst>
              </a:tr>
              <a:tr h="370840">
                <a:tc>
                  <a:txBody>
                    <a:bodyPr/>
                    <a:lstStyle/>
                    <a:p>
                      <a:r>
                        <a:rPr lang="en-US" b="1" dirty="0"/>
                        <a:t>Engagement</a:t>
                      </a:r>
                    </a:p>
                  </a:txBody>
                  <a:tcPr marL="129092" marR="129092"/>
                </a:tc>
                <a:tc>
                  <a:txBody>
                    <a:bodyPr/>
                    <a:lstStyle/>
                    <a:p>
                      <a:r>
                        <a:rPr lang="en-US" dirty="0"/>
                        <a:t>Reactive</a:t>
                      </a:r>
                    </a:p>
                  </a:txBody>
                  <a:tcPr marL="129092" marR="129092"/>
                </a:tc>
                <a:tc>
                  <a:txBody>
                    <a:bodyPr/>
                    <a:lstStyle/>
                    <a:p>
                      <a:r>
                        <a:rPr lang="en-US" dirty="0"/>
                        <a:t>Proactive</a:t>
                      </a:r>
                    </a:p>
                  </a:txBody>
                  <a:tcPr marL="129092" marR="129092"/>
                </a:tc>
                <a:extLst>
                  <a:ext uri="{0D108BD9-81ED-4DB2-BD59-A6C34878D82A}">
                    <a16:rowId xmlns:a16="http://schemas.microsoft.com/office/drawing/2014/main" val="1813153978"/>
                  </a:ext>
                </a:extLst>
              </a:tr>
              <a:tr h="370840">
                <a:tc>
                  <a:txBody>
                    <a:bodyPr/>
                    <a:lstStyle/>
                    <a:p>
                      <a:r>
                        <a:rPr lang="en-US" b="1" dirty="0"/>
                        <a:t>Methodology</a:t>
                      </a:r>
                    </a:p>
                  </a:txBody>
                  <a:tcPr marL="129092" marR="129092"/>
                </a:tc>
                <a:tc>
                  <a:txBody>
                    <a:bodyPr/>
                    <a:lstStyle/>
                    <a:p>
                      <a:r>
                        <a:rPr lang="en-US" dirty="0"/>
                        <a:t>One off</a:t>
                      </a:r>
                      <a:r>
                        <a:rPr lang="en-US" baseline="0" dirty="0"/>
                        <a:t> c</a:t>
                      </a:r>
                      <a:r>
                        <a:rPr lang="en-US" dirty="0"/>
                        <a:t>hecks</a:t>
                      </a:r>
                    </a:p>
                  </a:txBody>
                  <a:tcPr marL="129092" marR="129092"/>
                </a:tc>
                <a:tc>
                  <a:txBody>
                    <a:bodyPr/>
                    <a:lstStyle/>
                    <a:p>
                      <a:r>
                        <a:rPr lang="en-US" dirty="0"/>
                        <a:t>Express policy as testable code</a:t>
                      </a:r>
                    </a:p>
                  </a:txBody>
                  <a:tcPr marL="129092" marR="129092"/>
                </a:tc>
                <a:extLst>
                  <a:ext uri="{0D108BD9-81ED-4DB2-BD59-A6C34878D82A}">
                    <a16:rowId xmlns:a16="http://schemas.microsoft.com/office/drawing/2014/main" val="3465088401"/>
                  </a:ext>
                </a:extLst>
              </a:tr>
              <a:tr h="370840">
                <a:tc>
                  <a:txBody>
                    <a:bodyPr/>
                    <a:lstStyle/>
                    <a:p>
                      <a:r>
                        <a:rPr lang="en-US" b="1" dirty="0"/>
                        <a:t>Focus</a:t>
                      </a:r>
                    </a:p>
                  </a:txBody>
                  <a:tcPr marL="129092" marR="129092"/>
                </a:tc>
                <a:tc>
                  <a:txBody>
                    <a:bodyPr/>
                    <a:lstStyle/>
                    <a:p>
                      <a:r>
                        <a:rPr lang="en-US" dirty="0"/>
                        <a:t>Short term compliance</a:t>
                      </a:r>
                    </a:p>
                  </a:txBody>
                  <a:tcPr marL="129092" marR="129092"/>
                </a:tc>
                <a:tc>
                  <a:txBody>
                    <a:bodyPr/>
                    <a:lstStyle/>
                    <a:p>
                      <a:r>
                        <a:rPr lang="en-US" dirty="0"/>
                        <a:t>Long-term process improvement</a:t>
                      </a:r>
                    </a:p>
                  </a:txBody>
                  <a:tcPr marL="129092" marR="129092"/>
                </a:tc>
                <a:extLst>
                  <a:ext uri="{0D108BD9-81ED-4DB2-BD59-A6C34878D82A}">
                    <a16:rowId xmlns:a16="http://schemas.microsoft.com/office/drawing/2014/main" val="412032584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a:t>Audit Period</a:t>
                      </a:r>
                      <a:endParaRPr lang="en-US" b="1" dirty="0"/>
                    </a:p>
                  </a:txBody>
                  <a:tcPr marL="129092" marR="129092"/>
                </a:tc>
                <a:tc>
                  <a:txBody>
                    <a:bodyPr/>
                    <a:lstStyle/>
                    <a:p>
                      <a:r>
                        <a:rPr lang="en-US" dirty="0"/>
                        <a:t>Point in time</a:t>
                      </a:r>
                    </a:p>
                  </a:txBody>
                  <a:tcPr marL="129092" marR="129092"/>
                </a:tc>
                <a:tc>
                  <a:txBody>
                    <a:bodyPr/>
                    <a:lstStyle/>
                    <a:p>
                      <a:r>
                        <a:rPr lang="en-US" dirty="0"/>
                        <a:t>Continuous</a:t>
                      </a:r>
                    </a:p>
                  </a:txBody>
                  <a:tcPr marL="129092" marR="129092"/>
                </a:tc>
                <a:extLst>
                  <a:ext uri="{0D108BD9-81ED-4DB2-BD59-A6C34878D82A}">
                    <a16:rowId xmlns:a16="http://schemas.microsoft.com/office/drawing/2014/main" val="489062727"/>
                  </a:ext>
                </a:extLst>
              </a:tr>
            </a:tbl>
          </a:graphicData>
        </a:graphic>
      </p:graphicFrame>
    </p:spTree>
    <p:extLst>
      <p:ext uri="{BB962C8B-B14F-4D97-AF65-F5344CB8AC3E}">
        <p14:creationId xmlns:p14="http://schemas.microsoft.com/office/powerpoint/2010/main" val="2926471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changes how software is built</a:t>
            </a:r>
          </a:p>
        </p:txBody>
      </p:sp>
      <p:pic>
        <p:nvPicPr>
          <p:cNvPr id="4" name="Content Placeholder 3"/>
          <p:cNvPicPr>
            <a:picLocks noGrp="1" noChangeAspect="1"/>
          </p:cNvPicPr>
          <p:nvPr>
            <p:ph idx="1"/>
          </p:nvPr>
        </p:nvPicPr>
        <p:blipFill>
          <a:blip r:embed="rId3"/>
          <a:stretch>
            <a:fillRect/>
          </a:stretch>
        </p:blipFill>
        <p:spPr>
          <a:xfrm>
            <a:off x="2133600" y="1066800"/>
            <a:ext cx="7966129" cy="5336476"/>
          </a:xfrm>
          <a:prstGeom prst="rect">
            <a:avLst/>
          </a:prstGeom>
        </p:spPr>
      </p:pic>
    </p:spTree>
    <p:extLst>
      <p:ext uri="{BB962C8B-B14F-4D97-AF65-F5344CB8AC3E}">
        <p14:creationId xmlns:p14="http://schemas.microsoft.com/office/powerpoint/2010/main" val="306799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34338-3E9E-4D95-9A2E-87BC50F3B981}"/>
              </a:ext>
            </a:extLst>
          </p:cNvPr>
          <p:cNvSpPr>
            <a:spLocks noGrp="1"/>
          </p:cNvSpPr>
          <p:nvPr>
            <p:ph type="title"/>
          </p:nvPr>
        </p:nvSpPr>
        <p:spPr/>
        <p:txBody>
          <a:bodyPr/>
          <a:lstStyle/>
          <a:p>
            <a:r>
              <a:rPr lang="en-US" dirty="0"/>
              <a:t>SANS Critical Controls</a:t>
            </a:r>
          </a:p>
        </p:txBody>
      </p:sp>
      <p:graphicFrame>
        <p:nvGraphicFramePr>
          <p:cNvPr id="4" name="Content Placeholder 3">
            <a:extLst>
              <a:ext uri="{FF2B5EF4-FFF2-40B4-BE49-F238E27FC236}">
                <a16:creationId xmlns:a16="http://schemas.microsoft.com/office/drawing/2014/main" id="{82FB119D-9F9F-4E8F-9618-EC8279A2B2D1}"/>
              </a:ext>
            </a:extLst>
          </p:cNvPr>
          <p:cNvGraphicFramePr>
            <a:graphicFrameLocks noGrp="1"/>
          </p:cNvGraphicFramePr>
          <p:nvPr>
            <p:ph idx="1"/>
            <p:extLst>
              <p:ext uri="{D42A27DB-BD31-4B8C-83A1-F6EECF244321}">
                <p14:modId xmlns:p14="http://schemas.microsoft.com/office/powerpoint/2010/main" val="2880844309"/>
              </p:ext>
            </p:extLst>
          </p:nvPr>
        </p:nvGraphicFramePr>
        <p:xfrm>
          <a:off x="609600" y="914400"/>
          <a:ext cx="10972800" cy="57607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356191860"/>
                    </a:ext>
                  </a:extLst>
                </a:gridCol>
                <a:gridCol w="3657600">
                  <a:extLst>
                    <a:ext uri="{9D8B030D-6E8A-4147-A177-3AD203B41FA5}">
                      <a16:colId xmlns:a16="http://schemas.microsoft.com/office/drawing/2014/main" val="3720735774"/>
                    </a:ext>
                  </a:extLst>
                </a:gridCol>
                <a:gridCol w="3657600">
                  <a:extLst>
                    <a:ext uri="{9D8B030D-6E8A-4147-A177-3AD203B41FA5}">
                      <a16:colId xmlns:a16="http://schemas.microsoft.com/office/drawing/2014/main" val="501583305"/>
                    </a:ext>
                  </a:extLst>
                </a:gridCol>
              </a:tblGrid>
              <a:tr h="274320">
                <a:tc>
                  <a:txBody>
                    <a:bodyPr/>
                    <a:lstStyle/>
                    <a:p>
                      <a:r>
                        <a:rPr lang="en-US" sz="1200"/>
                        <a:t>Critical </a:t>
                      </a:r>
                      <a:r>
                        <a:rPr lang="en-US" sz="1200" dirty="0"/>
                        <a:t>Control</a:t>
                      </a:r>
                    </a:p>
                  </a:txBody>
                  <a:tcPr marL="121920" marR="121920"/>
                </a:tc>
                <a:tc>
                  <a:txBody>
                    <a:bodyPr/>
                    <a:lstStyle/>
                    <a:p>
                      <a:r>
                        <a:rPr lang="en-US" sz="1200" dirty="0"/>
                        <a:t>Legacy (Pets)</a:t>
                      </a:r>
                    </a:p>
                  </a:txBody>
                  <a:tcPr marL="121920" marR="121920"/>
                </a:tc>
                <a:tc>
                  <a:txBody>
                    <a:bodyPr/>
                    <a:lstStyle/>
                    <a:p>
                      <a:r>
                        <a:rPr lang="en-US" sz="1200" dirty="0"/>
                        <a:t>Cloud (Cattle)</a:t>
                      </a:r>
                    </a:p>
                  </a:txBody>
                  <a:tcPr marL="121920" marR="121920"/>
                </a:tc>
                <a:extLst>
                  <a:ext uri="{0D108BD9-81ED-4DB2-BD59-A6C34878D82A}">
                    <a16:rowId xmlns:a16="http://schemas.microsoft.com/office/drawing/2014/main" val="3784044537"/>
                  </a:ext>
                </a:extLst>
              </a:tr>
              <a:tr h="274320">
                <a:tc>
                  <a:txBody>
                    <a:bodyPr/>
                    <a:lstStyle/>
                    <a:p>
                      <a:r>
                        <a:rPr lang="en-US" sz="1200" dirty="0"/>
                        <a:t>1- Device Inventory</a:t>
                      </a:r>
                    </a:p>
                  </a:txBody>
                  <a:tcPr marL="121920" marR="121920"/>
                </a:tc>
                <a:tc>
                  <a:txBody>
                    <a:bodyPr/>
                    <a:lstStyle/>
                    <a:p>
                      <a:r>
                        <a:rPr lang="en-US" sz="1200" dirty="0"/>
                        <a:t>Audit list</a:t>
                      </a:r>
                    </a:p>
                  </a:txBody>
                  <a:tcPr marL="121920" marR="121920"/>
                </a:tc>
                <a:tc>
                  <a:txBody>
                    <a:bodyPr/>
                    <a:lstStyle/>
                    <a:p>
                      <a:r>
                        <a:rPr lang="en-US" sz="1200" dirty="0"/>
                        <a:t>API query</a:t>
                      </a:r>
                    </a:p>
                  </a:txBody>
                  <a:tcPr marL="121920" marR="121920"/>
                </a:tc>
                <a:extLst>
                  <a:ext uri="{0D108BD9-81ED-4DB2-BD59-A6C34878D82A}">
                    <a16:rowId xmlns:a16="http://schemas.microsoft.com/office/drawing/2014/main" val="2655968918"/>
                  </a:ext>
                </a:extLst>
              </a:tr>
              <a:tr h="274320">
                <a:tc>
                  <a:txBody>
                    <a:bodyPr/>
                    <a:lstStyle/>
                    <a:p>
                      <a:r>
                        <a:rPr lang="en-US" sz="1200" dirty="0"/>
                        <a:t>2 – Software inventory</a:t>
                      </a:r>
                    </a:p>
                  </a:txBody>
                  <a:tcPr marL="121920" marR="121920"/>
                </a:tc>
                <a:tc>
                  <a:txBody>
                    <a:bodyPr/>
                    <a:lstStyle/>
                    <a:p>
                      <a:r>
                        <a:rPr lang="en-US" sz="1200" dirty="0"/>
                        <a:t>Audit list</a:t>
                      </a:r>
                    </a:p>
                  </a:txBody>
                  <a:tcPr marL="121920" marR="121920"/>
                </a:tc>
                <a:tc>
                  <a:txBody>
                    <a:bodyPr/>
                    <a:lstStyle/>
                    <a:p>
                      <a:r>
                        <a:rPr lang="en-US" sz="1200" dirty="0"/>
                        <a:t>Pipeline manifests</a:t>
                      </a:r>
                    </a:p>
                  </a:txBody>
                  <a:tcPr marL="121920" marR="121920"/>
                </a:tc>
                <a:extLst>
                  <a:ext uri="{0D108BD9-81ED-4DB2-BD59-A6C34878D82A}">
                    <a16:rowId xmlns:a16="http://schemas.microsoft.com/office/drawing/2014/main" val="3270104449"/>
                  </a:ext>
                </a:extLst>
              </a:tr>
              <a:tr h="274320">
                <a:tc>
                  <a:txBody>
                    <a:bodyPr/>
                    <a:lstStyle/>
                    <a:p>
                      <a:r>
                        <a:rPr lang="en-US" sz="1200" dirty="0"/>
                        <a:t>3 – Secure configurations</a:t>
                      </a:r>
                    </a:p>
                  </a:txBody>
                  <a:tcPr marL="121920" marR="121920"/>
                </a:tc>
                <a:tc>
                  <a:txBody>
                    <a:bodyPr/>
                    <a:lstStyle/>
                    <a:p>
                      <a:r>
                        <a:rPr lang="en-US" sz="1200" dirty="0"/>
                        <a:t>System hardening processes</a:t>
                      </a:r>
                    </a:p>
                  </a:txBody>
                  <a:tcPr marL="121920" marR="121920"/>
                </a:tc>
                <a:tc>
                  <a:txBody>
                    <a:bodyPr/>
                    <a:lstStyle/>
                    <a:p>
                      <a:r>
                        <a:rPr lang="en-US" sz="1200" dirty="0"/>
                        <a:t>Only latest versions used at launch</a:t>
                      </a:r>
                    </a:p>
                  </a:txBody>
                  <a:tcPr marL="121920" marR="121920"/>
                </a:tc>
                <a:extLst>
                  <a:ext uri="{0D108BD9-81ED-4DB2-BD59-A6C34878D82A}">
                    <a16:rowId xmlns:a16="http://schemas.microsoft.com/office/drawing/2014/main" val="3163825989"/>
                  </a:ext>
                </a:extLst>
              </a:tr>
              <a:tr h="274320">
                <a:tc>
                  <a:txBody>
                    <a:bodyPr/>
                    <a:lstStyle/>
                    <a:p>
                      <a:r>
                        <a:rPr lang="en-US" sz="1200" dirty="0"/>
                        <a:t>4 – Continuous Vulnerability Assessment</a:t>
                      </a:r>
                    </a:p>
                  </a:txBody>
                  <a:tcPr marL="121920" marR="121920"/>
                </a:tc>
                <a:tc>
                  <a:txBody>
                    <a:bodyPr/>
                    <a:lstStyle/>
                    <a:p>
                      <a:r>
                        <a:rPr lang="en-US" sz="1200" dirty="0"/>
                        <a:t>Scheduled pen tests.  Remediation?</a:t>
                      </a:r>
                    </a:p>
                  </a:txBody>
                  <a:tcPr marL="121920" marR="121920"/>
                </a:tc>
                <a:tc>
                  <a:txBody>
                    <a:bodyPr/>
                    <a:lstStyle/>
                    <a:p>
                      <a:r>
                        <a:rPr lang="en-US" sz="1200" dirty="0"/>
                        <a:t>Must pass to be deployed</a:t>
                      </a:r>
                    </a:p>
                  </a:txBody>
                  <a:tcPr marL="121920" marR="121920"/>
                </a:tc>
                <a:extLst>
                  <a:ext uri="{0D108BD9-81ED-4DB2-BD59-A6C34878D82A}">
                    <a16:rowId xmlns:a16="http://schemas.microsoft.com/office/drawing/2014/main" val="3588109399"/>
                  </a:ext>
                </a:extLst>
              </a:tr>
              <a:tr h="274320">
                <a:tc>
                  <a:txBody>
                    <a:bodyPr/>
                    <a:lstStyle/>
                    <a:p>
                      <a:r>
                        <a:rPr lang="en-US" sz="1200" dirty="0"/>
                        <a:t>5 – Control Administrative Privileges</a:t>
                      </a:r>
                    </a:p>
                  </a:txBody>
                  <a:tcPr marL="121920" marR="121920"/>
                </a:tc>
                <a:tc>
                  <a:txBody>
                    <a:bodyPr/>
                    <a:lstStyle/>
                    <a:p>
                      <a:r>
                        <a:rPr lang="en-US" sz="1200" dirty="0"/>
                        <a:t>Limit data center access, jump boxes</a:t>
                      </a:r>
                    </a:p>
                  </a:txBody>
                  <a:tcPr marL="121920" marR="121920"/>
                </a:tc>
                <a:tc>
                  <a:txBody>
                    <a:bodyPr/>
                    <a:lstStyle/>
                    <a:p>
                      <a:r>
                        <a:rPr lang="en-US" sz="1200" dirty="0"/>
                        <a:t>IAM</a:t>
                      </a:r>
                    </a:p>
                  </a:txBody>
                  <a:tcPr marL="121920" marR="121920"/>
                </a:tc>
                <a:extLst>
                  <a:ext uri="{0D108BD9-81ED-4DB2-BD59-A6C34878D82A}">
                    <a16:rowId xmlns:a16="http://schemas.microsoft.com/office/drawing/2014/main" val="813578208"/>
                  </a:ext>
                </a:extLst>
              </a:tr>
              <a:tr h="274320">
                <a:tc>
                  <a:txBody>
                    <a:bodyPr/>
                    <a:lstStyle/>
                    <a:p>
                      <a:r>
                        <a:rPr lang="en-US" sz="1200" dirty="0"/>
                        <a:t>6 – Audit Logs</a:t>
                      </a:r>
                    </a:p>
                  </a:txBody>
                  <a:tcPr marL="121920" marR="121920"/>
                </a:tc>
                <a:tc>
                  <a:txBody>
                    <a:bodyPr/>
                    <a:lstStyle/>
                    <a:p>
                      <a:r>
                        <a:rPr lang="en-US" sz="1200" dirty="0"/>
                        <a:t>Splunk</a:t>
                      </a:r>
                    </a:p>
                  </a:txBody>
                  <a:tcPr marL="121920" marR="121920"/>
                </a:tc>
                <a:tc>
                  <a:txBody>
                    <a:bodyPr/>
                    <a:lstStyle/>
                    <a:p>
                      <a:r>
                        <a:rPr lang="en-US" sz="1200" dirty="0"/>
                        <a:t>CloudTrail, Splunk</a:t>
                      </a:r>
                    </a:p>
                  </a:txBody>
                  <a:tcPr marL="121920" marR="121920"/>
                </a:tc>
                <a:extLst>
                  <a:ext uri="{0D108BD9-81ED-4DB2-BD59-A6C34878D82A}">
                    <a16:rowId xmlns:a16="http://schemas.microsoft.com/office/drawing/2014/main" val="2928343408"/>
                  </a:ext>
                </a:extLst>
              </a:tr>
              <a:tr h="274320">
                <a:tc>
                  <a:txBody>
                    <a:bodyPr/>
                    <a:lstStyle/>
                    <a:p>
                      <a:r>
                        <a:rPr lang="en-US" sz="1200" dirty="0"/>
                        <a:t>7 – Email &amp; Browser protections</a:t>
                      </a:r>
                    </a:p>
                  </a:txBody>
                  <a:tcPr marL="121920" marR="121920"/>
                </a:tc>
                <a:tc>
                  <a:txBody>
                    <a:bodyPr/>
                    <a:lstStyle/>
                    <a:p>
                      <a:endParaRPr lang="en-US" sz="1200" dirty="0"/>
                    </a:p>
                  </a:txBody>
                  <a:tcPr marL="121920" marR="121920"/>
                </a:tc>
                <a:tc>
                  <a:txBody>
                    <a:bodyPr/>
                    <a:lstStyle/>
                    <a:p>
                      <a:endParaRPr lang="en-US" sz="1200"/>
                    </a:p>
                  </a:txBody>
                  <a:tcPr marL="121920" marR="121920"/>
                </a:tc>
                <a:extLst>
                  <a:ext uri="{0D108BD9-81ED-4DB2-BD59-A6C34878D82A}">
                    <a16:rowId xmlns:a16="http://schemas.microsoft.com/office/drawing/2014/main" val="934358922"/>
                  </a:ext>
                </a:extLst>
              </a:tr>
              <a:tr h="274320">
                <a:tc>
                  <a:txBody>
                    <a:bodyPr/>
                    <a:lstStyle/>
                    <a:p>
                      <a:r>
                        <a:rPr lang="en-US" sz="1200" dirty="0"/>
                        <a:t>8 – Malware defense</a:t>
                      </a:r>
                    </a:p>
                  </a:txBody>
                  <a:tcPr marL="121920" marR="121920"/>
                </a:tc>
                <a:tc>
                  <a:txBody>
                    <a:bodyPr/>
                    <a:lstStyle/>
                    <a:p>
                      <a:r>
                        <a:rPr lang="en-US" sz="1200" dirty="0"/>
                        <a:t>Network &amp; Host IDS</a:t>
                      </a:r>
                    </a:p>
                  </a:txBody>
                  <a:tcPr marL="121920" marR="121920"/>
                </a:tc>
                <a:tc>
                  <a:txBody>
                    <a:bodyPr/>
                    <a:lstStyle/>
                    <a:p>
                      <a:r>
                        <a:rPr lang="en-US" sz="1200" dirty="0"/>
                        <a:t>Immutable systems</a:t>
                      </a:r>
                    </a:p>
                  </a:txBody>
                  <a:tcPr marL="121920" marR="121920"/>
                </a:tc>
                <a:extLst>
                  <a:ext uri="{0D108BD9-81ED-4DB2-BD59-A6C34878D82A}">
                    <a16:rowId xmlns:a16="http://schemas.microsoft.com/office/drawing/2014/main" val="524224822"/>
                  </a:ext>
                </a:extLst>
              </a:tr>
              <a:tr h="274320">
                <a:tc>
                  <a:txBody>
                    <a:bodyPr/>
                    <a:lstStyle/>
                    <a:p>
                      <a:r>
                        <a:rPr lang="en-US" sz="1200" dirty="0"/>
                        <a:t>9 – Firewall configuration</a:t>
                      </a:r>
                    </a:p>
                  </a:txBody>
                  <a:tcPr marL="121920" marR="121920"/>
                </a:tc>
                <a:tc>
                  <a:txBody>
                    <a:bodyPr/>
                    <a:lstStyle/>
                    <a:p>
                      <a:r>
                        <a:rPr lang="en-US" sz="1200" dirty="0"/>
                        <a:t>Crunchy outside, soft center</a:t>
                      </a:r>
                    </a:p>
                  </a:txBody>
                  <a:tcPr marL="121920" marR="121920"/>
                </a:tc>
                <a:tc>
                  <a:txBody>
                    <a:bodyPr/>
                    <a:lstStyle/>
                    <a:p>
                      <a:r>
                        <a:rPr lang="en-US" sz="1200" dirty="0"/>
                        <a:t>API protocols only</a:t>
                      </a:r>
                    </a:p>
                  </a:txBody>
                  <a:tcPr marL="121920" marR="121920"/>
                </a:tc>
                <a:extLst>
                  <a:ext uri="{0D108BD9-81ED-4DB2-BD59-A6C34878D82A}">
                    <a16:rowId xmlns:a16="http://schemas.microsoft.com/office/drawing/2014/main" val="490895213"/>
                  </a:ext>
                </a:extLst>
              </a:tr>
              <a:tr h="274320">
                <a:tc>
                  <a:txBody>
                    <a:bodyPr/>
                    <a:lstStyle/>
                    <a:p>
                      <a:r>
                        <a:rPr lang="en-US" sz="1200" dirty="0"/>
                        <a:t>10 – Data recovery</a:t>
                      </a:r>
                    </a:p>
                  </a:txBody>
                  <a:tcPr marL="121920" marR="121920"/>
                </a:tc>
                <a:tc>
                  <a:txBody>
                    <a:bodyPr/>
                    <a:lstStyle/>
                    <a:p>
                      <a:r>
                        <a:rPr lang="en-US" sz="1200" dirty="0"/>
                        <a:t>Tape</a:t>
                      </a:r>
                    </a:p>
                  </a:txBody>
                  <a:tcPr marL="121920" marR="121920"/>
                </a:tc>
                <a:tc>
                  <a:txBody>
                    <a:bodyPr/>
                    <a:lstStyle/>
                    <a:p>
                      <a:r>
                        <a:rPr lang="en-US" sz="1200" dirty="0"/>
                        <a:t>Auto replication of data</a:t>
                      </a:r>
                    </a:p>
                  </a:txBody>
                  <a:tcPr marL="121920" marR="121920"/>
                </a:tc>
                <a:extLst>
                  <a:ext uri="{0D108BD9-81ED-4DB2-BD59-A6C34878D82A}">
                    <a16:rowId xmlns:a16="http://schemas.microsoft.com/office/drawing/2014/main" val="3444813754"/>
                  </a:ext>
                </a:extLst>
              </a:tr>
              <a:tr h="274320">
                <a:tc>
                  <a:txBody>
                    <a:bodyPr/>
                    <a:lstStyle/>
                    <a:p>
                      <a:r>
                        <a:rPr lang="en-US" sz="1200" dirty="0"/>
                        <a:t>11 – Secure network devices</a:t>
                      </a:r>
                    </a:p>
                  </a:txBody>
                  <a:tcPr marL="121920" marR="121920"/>
                </a:tc>
                <a:tc>
                  <a:txBody>
                    <a:bodyPr/>
                    <a:lstStyle/>
                    <a:p>
                      <a:r>
                        <a:rPr lang="en-US" sz="1200" dirty="0"/>
                        <a:t>Hardening process</a:t>
                      </a:r>
                    </a:p>
                  </a:txBody>
                  <a:tcPr marL="121920" marR="121920"/>
                </a:tc>
                <a:tc>
                  <a:txBody>
                    <a:bodyPr/>
                    <a:lstStyle/>
                    <a:p>
                      <a:r>
                        <a:rPr lang="en-US" sz="1200" dirty="0"/>
                        <a:t>Provided by vendor</a:t>
                      </a:r>
                    </a:p>
                  </a:txBody>
                  <a:tcPr marL="121920" marR="121920"/>
                </a:tc>
                <a:extLst>
                  <a:ext uri="{0D108BD9-81ED-4DB2-BD59-A6C34878D82A}">
                    <a16:rowId xmlns:a16="http://schemas.microsoft.com/office/drawing/2014/main" val="3370371959"/>
                  </a:ext>
                </a:extLst>
              </a:tr>
              <a:tr h="274320">
                <a:tc>
                  <a:txBody>
                    <a:bodyPr/>
                    <a:lstStyle/>
                    <a:p>
                      <a:r>
                        <a:rPr lang="en-US" sz="1200" dirty="0"/>
                        <a:t>12 – Boundary defense</a:t>
                      </a:r>
                    </a:p>
                  </a:txBody>
                  <a:tcPr marL="121920" marR="121920"/>
                </a:tc>
                <a:tc>
                  <a:txBody>
                    <a:bodyPr/>
                    <a:lstStyle/>
                    <a:p>
                      <a:r>
                        <a:rPr lang="en-US" sz="1200" dirty="0"/>
                        <a:t>Firewall, WAF, Network</a:t>
                      </a:r>
                    </a:p>
                  </a:txBody>
                  <a:tcPr marL="121920" marR="121920"/>
                </a:tc>
                <a:tc>
                  <a:txBody>
                    <a:bodyPr/>
                    <a:lstStyle/>
                    <a:p>
                      <a:r>
                        <a:rPr lang="en-US" sz="1200" dirty="0"/>
                        <a:t>Security groups</a:t>
                      </a:r>
                    </a:p>
                  </a:txBody>
                  <a:tcPr marL="121920" marR="121920"/>
                </a:tc>
                <a:extLst>
                  <a:ext uri="{0D108BD9-81ED-4DB2-BD59-A6C34878D82A}">
                    <a16:rowId xmlns:a16="http://schemas.microsoft.com/office/drawing/2014/main" val="3759207349"/>
                  </a:ext>
                </a:extLst>
              </a:tr>
              <a:tr h="274320">
                <a:tc>
                  <a:txBody>
                    <a:bodyPr/>
                    <a:lstStyle/>
                    <a:p>
                      <a:r>
                        <a:rPr lang="en-US" sz="1200" dirty="0"/>
                        <a:t>13 – Data Protection</a:t>
                      </a:r>
                    </a:p>
                  </a:txBody>
                  <a:tcPr marL="121920" marR="121920"/>
                </a:tc>
                <a:tc>
                  <a:txBody>
                    <a:bodyPr/>
                    <a:lstStyle/>
                    <a:p>
                      <a:r>
                        <a:rPr lang="en-US" sz="1200" dirty="0"/>
                        <a:t>Network DLP</a:t>
                      </a:r>
                    </a:p>
                  </a:txBody>
                  <a:tcPr marL="121920" marR="121920"/>
                </a:tc>
                <a:tc>
                  <a:txBody>
                    <a:bodyPr/>
                    <a:lstStyle/>
                    <a:p>
                      <a:r>
                        <a:rPr lang="en-US" sz="1200" dirty="0"/>
                        <a:t>Storage service encryption, SSL </a:t>
                      </a:r>
                    </a:p>
                  </a:txBody>
                  <a:tcPr marL="121920" marR="121920"/>
                </a:tc>
                <a:extLst>
                  <a:ext uri="{0D108BD9-81ED-4DB2-BD59-A6C34878D82A}">
                    <a16:rowId xmlns:a16="http://schemas.microsoft.com/office/drawing/2014/main" val="2890599678"/>
                  </a:ext>
                </a:extLst>
              </a:tr>
              <a:tr h="274320">
                <a:tc>
                  <a:txBody>
                    <a:bodyPr/>
                    <a:lstStyle/>
                    <a:p>
                      <a:r>
                        <a:rPr lang="en-US" sz="1200" dirty="0"/>
                        <a:t>14 – Controlled access</a:t>
                      </a:r>
                    </a:p>
                  </a:txBody>
                  <a:tcPr marL="121920" marR="121920"/>
                </a:tc>
                <a:tc>
                  <a:txBody>
                    <a:bodyPr/>
                    <a:lstStyle/>
                    <a:p>
                      <a:r>
                        <a:rPr lang="en-US" sz="1200" dirty="0"/>
                        <a:t>Network enclaves,  Network DLP</a:t>
                      </a:r>
                    </a:p>
                  </a:txBody>
                  <a:tcPr marL="121920" marR="121920"/>
                </a:tc>
                <a:tc>
                  <a:txBody>
                    <a:bodyPr/>
                    <a:lstStyle/>
                    <a:p>
                      <a:r>
                        <a:rPr lang="en-US" sz="1200" dirty="0"/>
                        <a:t>IAM, SSL, Host DLP</a:t>
                      </a:r>
                    </a:p>
                  </a:txBody>
                  <a:tcPr marL="121920" marR="121920"/>
                </a:tc>
                <a:extLst>
                  <a:ext uri="{0D108BD9-81ED-4DB2-BD59-A6C34878D82A}">
                    <a16:rowId xmlns:a16="http://schemas.microsoft.com/office/drawing/2014/main" val="4178125453"/>
                  </a:ext>
                </a:extLst>
              </a:tr>
              <a:tr h="274320">
                <a:tc>
                  <a:txBody>
                    <a:bodyPr/>
                    <a:lstStyle/>
                    <a:p>
                      <a:r>
                        <a:rPr lang="en-US" sz="1200" dirty="0"/>
                        <a:t>15 – Wireless Access</a:t>
                      </a:r>
                    </a:p>
                  </a:txBody>
                  <a:tcPr marL="121920" marR="121920"/>
                </a:tc>
                <a:tc>
                  <a:txBody>
                    <a:bodyPr/>
                    <a:lstStyle/>
                    <a:p>
                      <a:endParaRPr lang="en-US" sz="1200"/>
                    </a:p>
                  </a:txBody>
                  <a:tcPr marL="121920" marR="121920"/>
                </a:tc>
                <a:tc>
                  <a:txBody>
                    <a:bodyPr/>
                    <a:lstStyle/>
                    <a:p>
                      <a:endParaRPr lang="en-US" sz="1200" dirty="0"/>
                    </a:p>
                  </a:txBody>
                  <a:tcPr marL="121920" marR="121920"/>
                </a:tc>
                <a:extLst>
                  <a:ext uri="{0D108BD9-81ED-4DB2-BD59-A6C34878D82A}">
                    <a16:rowId xmlns:a16="http://schemas.microsoft.com/office/drawing/2014/main" val="195769701"/>
                  </a:ext>
                </a:extLst>
              </a:tr>
              <a:tr h="274320">
                <a:tc>
                  <a:txBody>
                    <a:bodyPr/>
                    <a:lstStyle/>
                    <a:p>
                      <a:r>
                        <a:rPr lang="en-US" sz="1200" dirty="0"/>
                        <a:t>16 – Account Monitoring</a:t>
                      </a:r>
                    </a:p>
                  </a:txBody>
                  <a:tcPr marL="121920" marR="121920"/>
                </a:tc>
                <a:tc>
                  <a:txBody>
                    <a:bodyPr/>
                    <a:lstStyle/>
                    <a:p>
                      <a:r>
                        <a:rPr lang="en-US" sz="1200" dirty="0"/>
                        <a:t>Active Directory</a:t>
                      </a:r>
                    </a:p>
                  </a:txBody>
                  <a:tcPr marL="121920" marR="121920"/>
                </a:tc>
                <a:tc>
                  <a:txBody>
                    <a:bodyPr/>
                    <a:lstStyle/>
                    <a:p>
                      <a:r>
                        <a:rPr lang="en-US" sz="1200" dirty="0"/>
                        <a:t>SAML, OpenID, IAM</a:t>
                      </a:r>
                    </a:p>
                  </a:txBody>
                  <a:tcPr marL="121920" marR="121920"/>
                </a:tc>
                <a:extLst>
                  <a:ext uri="{0D108BD9-81ED-4DB2-BD59-A6C34878D82A}">
                    <a16:rowId xmlns:a16="http://schemas.microsoft.com/office/drawing/2014/main" val="3355933195"/>
                  </a:ext>
                </a:extLst>
              </a:tr>
              <a:tr h="274320">
                <a:tc>
                  <a:txBody>
                    <a:bodyPr/>
                    <a:lstStyle/>
                    <a:p>
                      <a:r>
                        <a:rPr lang="en-US" sz="1200" dirty="0"/>
                        <a:t>17 – Security Skills Assessment</a:t>
                      </a:r>
                    </a:p>
                  </a:txBody>
                  <a:tcPr marL="121920" marR="121920"/>
                </a:tc>
                <a:tc>
                  <a:txBody>
                    <a:bodyPr/>
                    <a:lstStyle/>
                    <a:p>
                      <a:endParaRPr lang="en-US" sz="1200"/>
                    </a:p>
                  </a:txBody>
                  <a:tcPr marL="121920" marR="121920"/>
                </a:tc>
                <a:tc>
                  <a:txBody>
                    <a:bodyPr/>
                    <a:lstStyle/>
                    <a:p>
                      <a:endParaRPr lang="en-US" sz="1200" dirty="0"/>
                    </a:p>
                  </a:txBody>
                  <a:tcPr marL="121920" marR="121920"/>
                </a:tc>
                <a:extLst>
                  <a:ext uri="{0D108BD9-81ED-4DB2-BD59-A6C34878D82A}">
                    <a16:rowId xmlns:a16="http://schemas.microsoft.com/office/drawing/2014/main" val="837377091"/>
                  </a:ext>
                </a:extLst>
              </a:tr>
              <a:tr h="274320">
                <a:tc>
                  <a:txBody>
                    <a:bodyPr/>
                    <a:lstStyle/>
                    <a:p>
                      <a:r>
                        <a:rPr lang="en-US" sz="1200" dirty="0"/>
                        <a:t>18 – Application Security</a:t>
                      </a:r>
                    </a:p>
                  </a:txBody>
                  <a:tcPr marL="121920" marR="121920"/>
                </a:tc>
                <a:tc>
                  <a:txBody>
                    <a:bodyPr/>
                    <a:lstStyle/>
                    <a:p>
                      <a:r>
                        <a:rPr lang="en-US" sz="1200" dirty="0"/>
                        <a:t>WAF, Penetration tests</a:t>
                      </a:r>
                    </a:p>
                  </a:txBody>
                  <a:tcPr marL="121920" marR="121920"/>
                </a:tc>
                <a:tc>
                  <a:txBody>
                    <a:bodyPr/>
                    <a:lstStyle/>
                    <a:p>
                      <a:r>
                        <a:rPr lang="en-US" sz="1200" dirty="0"/>
                        <a:t>ELB/WAF, pipeline testing</a:t>
                      </a:r>
                    </a:p>
                  </a:txBody>
                  <a:tcPr marL="121920" marR="121920"/>
                </a:tc>
                <a:extLst>
                  <a:ext uri="{0D108BD9-81ED-4DB2-BD59-A6C34878D82A}">
                    <a16:rowId xmlns:a16="http://schemas.microsoft.com/office/drawing/2014/main" val="1780758717"/>
                  </a:ext>
                </a:extLst>
              </a:tr>
              <a:tr h="274320">
                <a:tc>
                  <a:txBody>
                    <a:bodyPr/>
                    <a:lstStyle/>
                    <a:p>
                      <a:r>
                        <a:rPr lang="en-US" sz="1200" dirty="0"/>
                        <a:t>19 – Incident Response</a:t>
                      </a:r>
                    </a:p>
                  </a:txBody>
                  <a:tcPr marL="121920" marR="121920"/>
                </a:tc>
                <a:tc>
                  <a:txBody>
                    <a:bodyPr/>
                    <a:lstStyle/>
                    <a:p>
                      <a:r>
                        <a:rPr lang="en-US" sz="1200" dirty="0"/>
                        <a:t>Logs</a:t>
                      </a:r>
                    </a:p>
                  </a:txBody>
                  <a:tcPr marL="121920" marR="121920"/>
                </a:tc>
                <a:tc>
                  <a:txBody>
                    <a:bodyPr/>
                    <a:lstStyle/>
                    <a:p>
                      <a:r>
                        <a:rPr lang="en-US" sz="1200" dirty="0"/>
                        <a:t>Logs, Vendor’s internet visibility </a:t>
                      </a:r>
                    </a:p>
                  </a:txBody>
                  <a:tcPr marL="121920" marR="121920"/>
                </a:tc>
                <a:extLst>
                  <a:ext uri="{0D108BD9-81ED-4DB2-BD59-A6C34878D82A}">
                    <a16:rowId xmlns:a16="http://schemas.microsoft.com/office/drawing/2014/main" val="482547920"/>
                  </a:ext>
                </a:extLst>
              </a:tr>
              <a:tr h="274320">
                <a:tc>
                  <a:txBody>
                    <a:bodyPr/>
                    <a:lstStyle/>
                    <a:p>
                      <a:r>
                        <a:rPr lang="en-US" sz="1200" dirty="0"/>
                        <a:t>20 – Pen tests and red team</a:t>
                      </a:r>
                    </a:p>
                  </a:txBody>
                  <a:tcPr marL="121920" marR="121920"/>
                </a:tc>
                <a:tc>
                  <a:txBody>
                    <a:bodyPr/>
                    <a:lstStyle/>
                    <a:p>
                      <a:endParaRPr lang="en-US" sz="1200"/>
                    </a:p>
                  </a:txBody>
                  <a:tcPr marL="121920" marR="121920"/>
                </a:tc>
                <a:tc>
                  <a:txBody>
                    <a:bodyPr/>
                    <a:lstStyle/>
                    <a:p>
                      <a:endParaRPr lang="en-US" sz="1200" dirty="0"/>
                    </a:p>
                  </a:txBody>
                  <a:tcPr marL="121920" marR="121920"/>
                </a:tc>
                <a:extLst>
                  <a:ext uri="{0D108BD9-81ED-4DB2-BD59-A6C34878D82A}">
                    <a16:rowId xmlns:a16="http://schemas.microsoft.com/office/drawing/2014/main" val="3698396815"/>
                  </a:ext>
                </a:extLst>
              </a:tr>
            </a:tbl>
          </a:graphicData>
        </a:graphic>
      </p:graphicFrame>
    </p:spTree>
    <p:extLst>
      <p:ext uri="{BB962C8B-B14F-4D97-AF65-F5344CB8AC3E}">
        <p14:creationId xmlns:p14="http://schemas.microsoft.com/office/powerpoint/2010/main" val="197642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 Everything</a:t>
            </a:r>
          </a:p>
        </p:txBody>
      </p:sp>
      <p:sp>
        <p:nvSpPr>
          <p:cNvPr id="3" name="Content Placeholder 2"/>
          <p:cNvSpPr>
            <a:spLocks noGrp="1"/>
          </p:cNvSpPr>
          <p:nvPr>
            <p:ph idx="1"/>
          </p:nvPr>
        </p:nvSpPr>
        <p:spPr/>
        <p:txBody>
          <a:bodyPr>
            <a:normAutofit/>
          </a:bodyPr>
          <a:lstStyle/>
          <a:p>
            <a:r>
              <a:rPr lang="en-GB" dirty="0"/>
              <a:t>Monitor, identify and report security incidents and policy violations</a:t>
            </a:r>
          </a:p>
          <a:p>
            <a:r>
              <a:rPr lang="en-GB" dirty="0"/>
              <a:t>Comply with industry regulatory requirements and internal policies</a:t>
            </a:r>
          </a:p>
          <a:p>
            <a:r>
              <a:rPr lang="en-GB" dirty="0"/>
              <a:t>Maintain audit trails to support forensic investigations</a:t>
            </a:r>
          </a:p>
          <a:p>
            <a:r>
              <a:rPr lang="en-GB" dirty="0"/>
              <a:t>Monitor system and network performance</a:t>
            </a:r>
          </a:p>
          <a:p>
            <a:r>
              <a:rPr lang="en-GB" dirty="0"/>
              <a:t>Maintain records of user activity</a:t>
            </a:r>
          </a:p>
          <a:p>
            <a:r>
              <a:rPr lang="en-GB" dirty="0"/>
              <a:t>Troubleshoot problems or unusual conditions</a:t>
            </a:r>
            <a:endParaRPr lang="en-US" dirty="0"/>
          </a:p>
        </p:txBody>
      </p:sp>
    </p:spTree>
    <p:extLst>
      <p:ext uri="{BB962C8B-B14F-4D97-AF65-F5344CB8AC3E}">
        <p14:creationId xmlns:p14="http://schemas.microsoft.com/office/powerpoint/2010/main" val="2230098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NIST – Log Management</a:t>
            </a:r>
          </a:p>
        </p:txBody>
      </p:sp>
      <p:sp>
        <p:nvSpPr>
          <p:cNvPr id="3" name="Content Placeholder 2"/>
          <p:cNvSpPr>
            <a:spLocks noGrp="1"/>
          </p:cNvSpPr>
          <p:nvPr>
            <p:ph idx="1"/>
          </p:nvPr>
        </p:nvSpPr>
        <p:spPr/>
        <p:txBody>
          <a:bodyPr>
            <a:normAutofit/>
          </a:bodyPr>
          <a:lstStyle/>
          <a:p>
            <a:r>
              <a:rPr lang="en-GB" dirty="0"/>
              <a:t>Tier I: Log generation</a:t>
            </a:r>
          </a:p>
          <a:p>
            <a:pPr lvl="1"/>
            <a:r>
              <a:rPr lang="en-GB" dirty="0"/>
              <a:t>Includes the systems, networks, and applications that generate log data.</a:t>
            </a:r>
          </a:p>
          <a:p>
            <a:r>
              <a:rPr lang="en-GB" dirty="0"/>
              <a:t>Tier II: Log analysis and storage</a:t>
            </a:r>
          </a:p>
          <a:p>
            <a:pPr lvl="1"/>
            <a:r>
              <a:rPr lang="en-GB" dirty="0"/>
              <a:t>Consists of the log servers, also known as log collectors, which receive the log data from Tier I.</a:t>
            </a:r>
          </a:p>
          <a:p>
            <a:r>
              <a:rPr lang="en-GB" dirty="0"/>
              <a:t>Tier III: Log monitoring </a:t>
            </a:r>
          </a:p>
          <a:p>
            <a:pPr lvl="1"/>
            <a:r>
              <a:rPr lang="en-GB" dirty="0"/>
              <a:t>Includes administrative consoles used to monitor and review the log data.</a:t>
            </a:r>
            <a:endParaRPr lang="en-US" dirty="0"/>
          </a:p>
        </p:txBody>
      </p:sp>
    </p:spTree>
    <p:extLst>
      <p:ext uri="{BB962C8B-B14F-4D97-AF65-F5344CB8AC3E}">
        <p14:creationId xmlns:p14="http://schemas.microsoft.com/office/powerpoint/2010/main" val="1180379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Very Detailed</a:t>
            </a:r>
          </a:p>
        </p:txBody>
      </p:sp>
      <p:grpSp>
        <p:nvGrpSpPr>
          <p:cNvPr id="4" name="Group 3"/>
          <p:cNvGrpSpPr/>
          <p:nvPr/>
        </p:nvGrpSpPr>
        <p:grpSpPr>
          <a:xfrm>
            <a:off x="1066800" y="1000370"/>
            <a:ext cx="9210432" cy="5705230"/>
            <a:chOff x="2362200" y="1821544"/>
            <a:chExt cx="6053610" cy="4093211"/>
          </a:xfrm>
        </p:grpSpPr>
        <p:pic>
          <p:nvPicPr>
            <p:cNvPr id="7" name="Picture 6"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821544"/>
              <a:ext cx="6053610" cy="4093211"/>
            </a:xfrm>
            <a:prstGeom prst="rect">
              <a:avLst/>
            </a:prstGeom>
          </p:spPr>
        </p:pic>
        <p:sp>
          <p:nvSpPr>
            <p:cNvPr id="3" name="Rectangle 2"/>
            <p:cNvSpPr/>
            <p:nvPr/>
          </p:nvSpPr>
          <p:spPr bwMode="auto">
            <a:xfrm>
              <a:off x="5638800" y="3110240"/>
              <a:ext cx="1143000" cy="152400"/>
            </a:xfrm>
            <a:prstGeom prst="rect">
              <a:avLst/>
            </a:prstGeom>
            <a:noFill/>
            <a:ln w="25400" algn="ctr">
              <a:solidFill>
                <a:srgbClr val="F01914"/>
              </a:solidFill>
              <a:miter lim="800000"/>
              <a:headEnd/>
              <a:tailEnd/>
            </a:ln>
            <a:effectLst/>
          </p:spPr>
          <p:txBody>
            <a:bodyPr tIns="91440" bIns="91440" rtlCol="0" anchor="ctr"/>
            <a:lstStyle/>
            <a:p>
              <a:pPr algn="ctr">
                <a:spcBef>
                  <a:spcPct val="30000"/>
                </a:spcBef>
              </a:pPr>
              <a:endParaRPr lang="en-US" dirty="0">
                <a:solidFill>
                  <a:schemeClr val="bg1"/>
                </a:solidFill>
              </a:endParaRPr>
            </a:p>
          </p:txBody>
        </p:sp>
        <p:sp>
          <p:nvSpPr>
            <p:cNvPr id="5" name="Rectangle 4"/>
            <p:cNvSpPr/>
            <p:nvPr/>
          </p:nvSpPr>
          <p:spPr bwMode="auto">
            <a:xfrm>
              <a:off x="5694060" y="2424440"/>
              <a:ext cx="1621140" cy="152400"/>
            </a:xfrm>
            <a:prstGeom prst="rect">
              <a:avLst/>
            </a:prstGeom>
            <a:noFill/>
            <a:ln w="25400" algn="ctr">
              <a:solidFill>
                <a:srgbClr val="F01914"/>
              </a:solidFill>
              <a:miter lim="800000"/>
              <a:headEnd/>
              <a:tailEnd/>
            </a:ln>
            <a:effectLst/>
          </p:spPr>
          <p:txBody>
            <a:bodyPr tIns="91440" bIns="91440" rtlCol="0" anchor="ctr"/>
            <a:lstStyle/>
            <a:p>
              <a:pPr algn="ctr">
                <a:spcBef>
                  <a:spcPct val="30000"/>
                </a:spcBef>
              </a:pPr>
              <a:endParaRPr lang="en-US" dirty="0">
                <a:solidFill>
                  <a:schemeClr val="bg1"/>
                </a:solidFill>
              </a:endParaRPr>
            </a:p>
          </p:txBody>
        </p:sp>
        <p:sp>
          <p:nvSpPr>
            <p:cNvPr id="6" name="Rectangle 5"/>
            <p:cNvSpPr/>
            <p:nvPr/>
          </p:nvSpPr>
          <p:spPr bwMode="auto">
            <a:xfrm>
              <a:off x="2569860" y="2202820"/>
              <a:ext cx="2023590" cy="152400"/>
            </a:xfrm>
            <a:prstGeom prst="rect">
              <a:avLst/>
            </a:prstGeom>
            <a:noFill/>
            <a:ln w="25400" algn="ctr">
              <a:solidFill>
                <a:srgbClr val="F01914"/>
              </a:solidFill>
              <a:miter lim="800000"/>
              <a:headEnd/>
              <a:tailEnd/>
            </a:ln>
            <a:effectLst/>
          </p:spPr>
          <p:txBody>
            <a:bodyPr tIns="91440" bIns="91440" rtlCol="0" anchor="ctr"/>
            <a:lstStyle/>
            <a:p>
              <a:pPr algn="ctr">
                <a:spcBef>
                  <a:spcPct val="30000"/>
                </a:spcBef>
              </a:pPr>
              <a:endParaRPr lang="en-US" dirty="0">
                <a:solidFill>
                  <a:schemeClr val="bg1"/>
                </a:solidFill>
              </a:endParaRPr>
            </a:p>
          </p:txBody>
        </p:sp>
      </p:grpSp>
    </p:spTree>
    <p:extLst>
      <p:ext uri="{BB962C8B-B14F-4D97-AF65-F5344CB8AC3E}">
        <p14:creationId xmlns:p14="http://schemas.microsoft.com/office/powerpoint/2010/main" val="3788739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Defined Networking (SDN)</a:t>
            </a:r>
          </a:p>
        </p:txBody>
      </p:sp>
      <p:sp>
        <p:nvSpPr>
          <p:cNvPr id="3" name="Content Placeholder 2"/>
          <p:cNvSpPr>
            <a:spLocks noGrp="1"/>
          </p:cNvSpPr>
          <p:nvPr>
            <p:ph idx="1"/>
          </p:nvPr>
        </p:nvSpPr>
        <p:spPr/>
        <p:txBody>
          <a:bodyPr>
            <a:normAutofit fontScale="62500" lnSpcReduction="20000"/>
          </a:bodyPr>
          <a:lstStyle/>
          <a:p>
            <a:r>
              <a:rPr lang="en-US" b="1" dirty="0"/>
              <a:t>Directly programmable</a:t>
            </a:r>
            <a:r>
              <a:rPr lang="en-US" dirty="0"/>
              <a:t>: </a:t>
            </a:r>
          </a:p>
          <a:p>
            <a:pPr lvl="1"/>
            <a:r>
              <a:rPr lang="en-US" dirty="0"/>
              <a:t>Network control is directly programmable because it is decoupled from forwarding functions.</a:t>
            </a:r>
          </a:p>
          <a:p>
            <a:r>
              <a:rPr lang="en-US" b="1" dirty="0"/>
              <a:t>Agile</a:t>
            </a:r>
            <a:r>
              <a:rPr lang="en-US" dirty="0"/>
              <a:t>:</a:t>
            </a:r>
          </a:p>
          <a:p>
            <a:pPr lvl="1"/>
            <a:r>
              <a:rPr lang="en-US" dirty="0"/>
              <a:t>Abstracting control from forwarding lets administrators dynamically adjust network-wide traffic flow to meet changing needs.</a:t>
            </a:r>
          </a:p>
          <a:p>
            <a:r>
              <a:rPr lang="en-US" b="1" dirty="0"/>
              <a:t>Centrally managed</a:t>
            </a:r>
            <a:r>
              <a:rPr lang="en-US" dirty="0"/>
              <a:t>: </a:t>
            </a:r>
          </a:p>
          <a:p>
            <a:pPr lvl="1"/>
            <a:r>
              <a:rPr lang="en-US" dirty="0"/>
              <a:t>Network intelligence is (logically) centralized in software-based SDN controllers that maintain a global view of the network, which appears to applications and policy engines as a single, logical switch.</a:t>
            </a:r>
          </a:p>
          <a:p>
            <a:r>
              <a:rPr lang="en-US" b="1" dirty="0"/>
              <a:t>Programmatically configured</a:t>
            </a:r>
            <a:r>
              <a:rPr lang="en-US" dirty="0"/>
              <a:t>: </a:t>
            </a:r>
          </a:p>
          <a:p>
            <a:pPr lvl="1"/>
            <a:r>
              <a:rPr lang="en-US" dirty="0"/>
              <a:t>SDN lets network managers configure, manage, secure, and optimize network resources very quickly via dynamic, automated SDN programs, which they can write themselves because the programs do not depend on proprietary software.</a:t>
            </a:r>
          </a:p>
          <a:p>
            <a:r>
              <a:rPr lang="en-US" b="1" dirty="0"/>
              <a:t>Open standards-based and vendor-neutral</a:t>
            </a:r>
            <a:r>
              <a:rPr lang="en-US" dirty="0"/>
              <a:t>: </a:t>
            </a:r>
          </a:p>
          <a:p>
            <a:pPr lvl="1"/>
            <a:r>
              <a:rPr lang="en-US" dirty="0"/>
              <a:t>When implemented through open standards, SDN simplifies network design and operation because instructions are provided by SDN controllers instead of multiple, vendor-specific devices and protocols.</a:t>
            </a:r>
          </a:p>
        </p:txBody>
      </p:sp>
    </p:spTree>
    <p:extLst>
      <p:ext uri="{BB962C8B-B14F-4D97-AF65-F5344CB8AC3E}">
        <p14:creationId xmlns:p14="http://schemas.microsoft.com/office/powerpoint/2010/main" val="1360292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51C29-6B04-4686-AA13-19EDFBB953E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5793C81-66BC-4F3C-8E97-58C8D5250C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30238" y="274638"/>
            <a:ext cx="7931524" cy="6447480"/>
          </a:xfrm>
        </p:spPr>
      </p:pic>
    </p:spTree>
    <p:extLst>
      <p:ext uri="{BB962C8B-B14F-4D97-AF65-F5344CB8AC3E}">
        <p14:creationId xmlns:p14="http://schemas.microsoft.com/office/powerpoint/2010/main" val="2254934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Networking : SDN 1.0</a:t>
            </a:r>
          </a:p>
        </p:txBody>
      </p:sp>
      <p:pic>
        <p:nvPicPr>
          <p:cNvPr id="4"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9800" y="914400"/>
            <a:ext cx="7700117" cy="5722683"/>
          </a:xfrm>
        </p:spPr>
      </p:pic>
    </p:spTree>
    <p:extLst>
      <p:ext uri="{BB962C8B-B14F-4D97-AF65-F5344CB8AC3E}">
        <p14:creationId xmlns:p14="http://schemas.microsoft.com/office/powerpoint/2010/main" val="576131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concepts to embrace</a:t>
            </a:r>
          </a:p>
        </p:txBody>
      </p:sp>
      <p:sp>
        <p:nvSpPr>
          <p:cNvPr id="3" name="Content Placeholder 2"/>
          <p:cNvSpPr>
            <a:spLocks noGrp="1"/>
          </p:cNvSpPr>
          <p:nvPr>
            <p:ph idx="1"/>
          </p:nvPr>
        </p:nvSpPr>
        <p:spPr/>
        <p:txBody>
          <a:bodyPr/>
          <a:lstStyle/>
          <a:p>
            <a:r>
              <a:rPr lang="en-US" dirty="0"/>
              <a:t>SDN</a:t>
            </a:r>
          </a:p>
          <a:p>
            <a:pPr lvl="1"/>
            <a:r>
              <a:rPr lang="en-US" dirty="0"/>
              <a:t>VPC, SG, subnets, IGW are software constructs</a:t>
            </a:r>
          </a:p>
          <a:p>
            <a:r>
              <a:rPr lang="en-US" dirty="0"/>
              <a:t>Recyclable instances</a:t>
            </a:r>
          </a:p>
          <a:p>
            <a:pPr lvl="1"/>
            <a:r>
              <a:rPr lang="en-US" dirty="0"/>
              <a:t>AWS recommends 24 hours</a:t>
            </a:r>
          </a:p>
          <a:p>
            <a:pPr lvl="1"/>
            <a:r>
              <a:rPr lang="en-US" dirty="0"/>
              <a:t>Deployment by automation</a:t>
            </a:r>
          </a:p>
          <a:p>
            <a:r>
              <a:rPr lang="en-US" dirty="0"/>
              <a:t>Use </a:t>
            </a:r>
            <a:r>
              <a:rPr lang="en-US" i="1" dirty="0">
                <a:solidFill>
                  <a:srgbClr val="FF0000"/>
                </a:solidFill>
              </a:rPr>
              <a:t>only</a:t>
            </a:r>
            <a:r>
              <a:rPr lang="en-US" dirty="0"/>
              <a:t> known and vetted components</a:t>
            </a:r>
          </a:p>
          <a:p>
            <a:r>
              <a:rPr lang="en-US" dirty="0"/>
              <a:t>Separation of duties</a:t>
            </a:r>
          </a:p>
          <a:p>
            <a:r>
              <a:rPr lang="en-US" dirty="0"/>
              <a:t>Minimize (eliminate) need for VPN access</a:t>
            </a:r>
          </a:p>
        </p:txBody>
      </p:sp>
    </p:spTree>
    <p:extLst>
      <p:ext uri="{BB962C8B-B14F-4D97-AF65-F5344CB8AC3E}">
        <p14:creationId xmlns:p14="http://schemas.microsoft.com/office/powerpoint/2010/main" val="1302845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6D07-FA54-49B0-B258-DC0555D5CD58}"/>
              </a:ext>
            </a:extLst>
          </p:cNvPr>
          <p:cNvSpPr>
            <a:spLocks noGrp="1"/>
          </p:cNvSpPr>
          <p:nvPr>
            <p:ph type="title"/>
          </p:nvPr>
        </p:nvSpPr>
        <p:spPr/>
        <p:txBody>
          <a:bodyPr/>
          <a:lstStyle/>
          <a:p>
            <a:r>
              <a:rPr lang="en-US" dirty="0"/>
              <a:t>Cloud Security Challenges</a:t>
            </a:r>
          </a:p>
        </p:txBody>
      </p:sp>
      <p:sp>
        <p:nvSpPr>
          <p:cNvPr id="6" name="Content Placeholder 5">
            <a:extLst>
              <a:ext uri="{FF2B5EF4-FFF2-40B4-BE49-F238E27FC236}">
                <a16:creationId xmlns:a16="http://schemas.microsoft.com/office/drawing/2014/main" id="{8CA91565-26BA-41F4-B8E3-2E19BE0A405A}"/>
              </a:ext>
            </a:extLst>
          </p:cNvPr>
          <p:cNvSpPr>
            <a:spLocks noGrp="1"/>
          </p:cNvSpPr>
          <p:nvPr>
            <p:ph idx="1"/>
          </p:nvPr>
        </p:nvSpPr>
        <p:spPr/>
        <p:txBody>
          <a:bodyPr>
            <a:normAutofit fontScale="77500" lnSpcReduction="20000"/>
          </a:bodyPr>
          <a:lstStyle/>
          <a:p>
            <a:r>
              <a:rPr lang="en-US" dirty="0"/>
              <a:t>Data breaches</a:t>
            </a:r>
          </a:p>
          <a:p>
            <a:pPr lvl="1"/>
            <a:r>
              <a:rPr lang="en-US" dirty="0"/>
              <a:t>It is easy to allow public access to your private data</a:t>
            </a:r>
          </a:p>
          <a:p>
            <a:r>
              <a:rPr lang="en-US" dirty="0"/>
              <a:t>Hijacking</a:t>
            </a:r>
          </a:p>
          <a:p>
            <a:pPr lvl="1"/>
            <a:r>
              <a:rPr lang="en-US" dirty="0"/>
              <a:t>Attacker gaining access to your credentials</a:t>
            </a:r>
          </a:p>
          <a:p>
            <a:r>
              <a:rPr lang="en-US" dirty="0"/>
              <a:t>Indirect Vulnerabilities</a:t>
            </a:r>
          </a:p>
          <a:p>
            <a:pPr lvl="1"/>
            <a:r>
              <a:rPr lang="en-US" dirty="0"/>
              <a:t>Insecure interfaces and APIs used to implement a cloud computing service</a:t>
            </a:r>
          </a:p>
          <a:p>
            <a:r>
              <a:rPr lang="en-US" dirty="0"/>
              <a:t>Bad Blood</a:t>
            </a:r>
          </a:p>
          <a:p>
            <a:pPr lvl="1"/>
            <a:r>
              <a:rPr lang="en-US" dirty="0"/>
              <a:t>Admins can (if allowed) delete everything</a:t>
            </a:r>
          </a:p>
          <a:p>
            <a:r>
              <a:rPr lang="en-US" dirty="0"/>
              <a:t>Internal Deployment Expertise</a:t>
            </a:r>
          </a:p>
          <a:p>
            <a:pPr lvl="1"/>
            <a:r>
              <a:rPr lang="en-US" dirty="0"/>
              <a:t>Incomplete development efforts will allow operational and architectural issues not seen with standard development projects</a:t>
            </a:r>
          </a:p>
          <a:p>
            <a:r>
              <a:rPr lang="en-US" dirty="0"/>
              <a:t>Public Point of Entry</a:t>
            </a:r>
          </a:p>
          <a:p>
            <a:pPr lvl="1"/>
            <a:r>
              <a:rPr lang="en-US" dirty="0"/>
              <a:t>Deployment, monitoring, and use all done via APIs</a:t>
            </a:r>
          </a:p>
        </p:txBody>
      </p:sp>
    </p:spTree>
    <p:extLst>
      <p:ext uri="{BB962C8B-B14F-4D97-AF65-F5344CB8AC3E}">
        <p14:creationId xmlns:p14="http://schemas.microsoft.com/office/powerpoint/2010/main" val="2914993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6876-A54C-4890-9C1C-B4AC41523CC4}"/>
              </a:ext>
            </a:extLst>
          </p:cNvPr>
          <p:cNvSpPr>
            <a:spLocks noGrp="1"/>
          </p:cNvSpPr>
          <p:nvPr>
            <p:ph type="title"/>
          </p:nvPr>
        </p:nvSpPr>
        <p:spPr/>
        <p:txBody>
          <a:bodyPr/>
          <a:lstStyle/>
          <a:p>
            <a:r>
              <a:rPr lang="en-US" dirty="0"/>
              <a:t>Cloud Security Benefits</a:t>
            </a:r>
          </a:p>
        </p:txBody>
      </p:sp>
      <p:sp>
        <p:nvSpPr>
          <p:cNvPr id="3" name="Content Placeholder 2">
            <a:extLst>
              <a:ext uri="{FF2B5EF4-FFF2-40B4-BE49-F238E27FC236}">
                <a16:creationId xmlns:a16="http://schemas.microsoft.com/office/drawing/2014/main" id="{C5C52C85-257B-4018-8829-458EF22A9B16}"/>
              </a:ext>
            </a:extLst>
          </p:cNvPr>
          <p:cNvSpPr>
            <a:spLocks noGrp="1"/>
          </p:cNvSpPr>
          <p:nvPr>
            <p:ph idx="1"/>
          </p:nvPr>
        </p:nvSpPr>
        <p:spPr/>
        <p:txBody>
          <a:bodyPr>
            <a:normAutofit fontScale="62500" lnSpcReduction="20000"/>
          </a:bodyPr>
          <a:lstStyle/>
          <a:p>
            <a:r>
              <a:rPr lang="en-US" dirty="0"/>
              <a:t>Mandatory Security</a:t>
            </a:r>
          </a:p>
          <a:p>
            <a:pPr lvl="1"/>
            <a:r>
              <a:rPr lang="en-US" dirty="0"/>
              <a:t>Cloud providers are required to be ISO certified and adhere to regular security audits.  Full separation of duties; no one has unfettered access</a:t>
            </a:r>
          </a:p>
          <a:p>
            <a:r>
              <a:rPr lang="en-US" dirty="0"/>
              <a:t>Global Accessibility</a:t>
            </a:r>
          </a:p>
          <a:p>
            <a:pPr lvl="1"/>
            <a:r>
              <a:rPr lang="en-US" dirty="0"/>
              <a:t>Keeping all sensitive company information in the cloud allows access from any machine</a:t>
            </a:r>
          </a:p>
          <a:p>
            <a:r>
              <a:rPr lang="en-US" dirty="0"/>
              <a:t>Backup and Recovery</a:t>
            </a:r>
          </a:p>
          <a:p>
            <a:pPr lvl="1"/>
            <a:r>
              <a:rPr lang="en-US" dirty="0"/>
              <a:t>Data </a:t>
            </a:r>
            <a:r>
              <a:rPr lang="en-US" dirty="0" err="1"/>
              <a:t>sharding</a:t>
            </a:r>
            <a:r>
              <a:rPr lang="en-US" dirty="0"/>
              <a:t> and replication allow recovery from disk and data </a:t>
            </a:r>
            <a:r>
              <a:rPr lang="en-US"/>
              <a:t>center failure</a:t>
            </a:r>
            <a:endParaRPr lang="en-US" dirty="0"/>
          </a:p>
          <a:p>
            <a:r>
              <a:rPr lang="en-US" dirty="0"/>
              <a:t>Expert Support </a:t>
            </a:r>
          </a:p>
          <a:p>
            <a:pPr lvl="1"/>
            <a:r>
              <a:rPr lang="en-US" dirty="0"/>
              <a:t>A cloud service provider is likely to have superior security technology and expertise than does a company that’s just protecting its own data</a:t>
            </a:r>
          </a:p>
          <a:p>
            <a:r>
              <a:rPr lang="en-US" dirty="0"/>
              <a:t>MFA – Multifactor Authentication</a:t>
            </a:r>
          </a:p>
          <a:p>
            <a:pPr lvl="1"/>
            <a:r>
              <a:rPr lang="en-US" dirty="0"/>
              <a:t>MFA is a must-have for mitigating common cloud security challenges</a:t>
            </a:r>
          </a:p>
          <a:p>
            <a:r>
              <a:rPr lang="en-US" dirty="0"/>
              <a:t>Patching</a:t>
            </a:r>
          </a:p>
          <a:p>
            <a:pPr lvl="1"/>
            <a:r>
              <a:rPr lang="en-US" dirty="0"/>
              <a:t>Security patching is often over-looked by resource challenged companies</a:t>
            </a:r>
          </a:p>
          <a:p>
            <a:r>
              <a:rPr lang="en-US" dirty="0"/>
              <a:t>Physical Security</a:t>
            </a:r>
          </a:p>
          <a:p>
            <a:pPr lvl="1"/>
            <a:r>
              <a:rPr lang="en-US" dirty="0"/>
              <a:t>Cloud computing vendors have much stronger physical security controls with meaningful certifications that many smaller companies can’t afford</a:t>
            </a:r>
          </a:p>
        </p:txBody>
      </p:sp>
    </p:spTree>
    <p:extLst>
      <p:ext uri="{BB962C8B-B14F-4D97-AF65-F5344CB8AC3E}">
        <p14:creationId xmlns:p14="http://schemas.microsoft.com/office/powerpoint/2010/main" val="1108616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Cloud Questions to Ask?</a:t>
            </a:r>
          </a:p>
        </p:txBody>
      </p:sp>
      <p:sp>
        <p:nvSpPr>
          <p:cNvPr id="5" name="Content Placeholder 4"/>
          <p:cNvSpPr>
            <a:spLocks noGrp="1"/>
          </p:cNvSpPr>
          <p:nvPr>
            <p:ph idx="1"/>
          </p:nvPr>
        </p:nvSpPr>
        <p:spPr/>
        <p:txBody>
          <a:bodyPr/>
          <a:lstStyle/>
          <a:p>
            <a:r>
              <a:rPr lang="en-US" dirty="0"/>
              <a:t>Is it easier to make a big mistake </a:t>
            </a:r>
            <a:r>
              <a:rPr lang="en-US" dirty="0" err="1"/>
              <a:t>on-premise</a:t>
            </a:r>
            <a:r>
              <a:rPr lang="en-US" dirty="0"/>
              <a:t> or in the Cloud?</a:t>
            </a:r>
          </a:p>
          <a:p>
            <a:r>
              <a:rPr lang="en-US" dirty="0"/>
              <a:t>How many teams / people touch your on premise app?  Cloud?</a:t>
            </a:r>
          </a:p>
        </p:txBody>
      </p:sp>
    </p:spTree>
    <p:extLst>
      <p:ext uri="{BB962C8B-B14F-4D97-AF65-F5344CB8AC3E}">
        <p14:creationId xmlns:p14="http://schemas.microsoft.com/office/powerpoint/2010/main" val="212748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E9EDA2D-2D25-4C9B-B388-2626A106A5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UNH-lecture-template</Template>
  <TotalTime>107</TotalTime>
  <Words>1201</Words>
  <Application>Microsoft Office PowerPoint</Application>
  <PresentationFormat>Widescreen</PresentationFormat>
  <Paragraphs>186</Paragraphs>
  <Slides>24</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IT666</vt:lpstr>
      <vt:lpstr>PowerPoint Presentation</vt:lpstr>
      <vt:lpstr>Virtualization</vt:lpstr>
      <vt:lpstr>PowerPoint Presentation</vt:lpstr>
      <vt:lpstr>Xen: A variant is used by Amazon’s AWS</vt:lpstr>
      <vt:lpstr>Microsoft’s Virtual Security Mode </vt:lpstr>
      <vt:lpstr>Containers</vt:lpstr>
      <vt:lpstr>Cloud Service Models</vt:lpstr>
      <vt:lpstr>Management Responsibilities </vt:lpstr>
      <vt:lpstr>PowerPoint Presentation</vt:lpstr>
      <vt:lpstr>Cloud Deployment Models</vt:lpstr>
      <vt:lpstr>Configuration Management</vt:lpstr>
      <vt:lpstr>Changing Role of Compliance</vt:lpstr>
      <vt:lpstr>Cloud changes how software is built</vt:lpstr>
      <vt:lpstr>SANS Critical Controls</vt:lpstr>
      <vt:lpstr>Log Everything</vt:lpstr>
      <vt:lpstr>NIST – Log Management</vt:lpstr>
      <vt:lpstr>Very Detailed</vt:lpstr>
      <vt:lpstr>Software Defined Networking (SDN)</vt:lpstr>
      <vt:lpstr>PowerPoint Presentation</vt:lpstr>
      <vt:lpstr>Open Networking : SDN 1.0</vt:lpstr>
      <vt:lpstr>Cloud concepts to embrace</vt:lpstr>
      <vt:lpstr>Cloud Security Challenges</vt:lpstr>
      <vt:lpstr>Cloud Security Benefits</vt:lpstr>
      <vt:lpstr>Cloud Questions to 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9</cp:revision>
  <cp:lastPrinted>2015-03-25T21:04:44Z</cp:lastPrinted>
  <dcterms:created xsi:type="dcterms:W3CDTF">2020-01-07T22:06:18Z</dcterms:created>
  <dcterms:modified xsi:type="dcterms:W3CDTF">2020-01-20T17:11:30Z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