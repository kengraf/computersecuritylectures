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15"/>
  </p:notesMasterIdLst>
  <p:sldIdLst>
    <p:sldId id="279" r:id="rId5"/>
    <p:sldId id="274" r:id="rId6"/>
    <p:sldId id="273" r:id="rId7"/>
    <p:sldId id="258" r:id="rId8"/>
    <p:sldId id="277" r:id="rId9"/>
    <p:sldId id="280" r:id="rId10"/>
    <p:sldId id="276" r:id="rId11"/>
    <p:sldId id="281" r:id="rId12"/>
    <p:sldId id="282" r:id="rId13"/>
    <p:sldId id="283" r:id="rId14"/>
  </p:sldIdLst>
  <p:sldSz cx="12192000" cy="6858000"/>
  <p:notesSz cx="6858000" cy="2276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6" y="3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af, Kenneth" userId="S::kmh722@unh.edu::d1890dd4-deb6-4a9b-a156-5113ac77bda8" providerId="AD" clId="Web-{0BCCEB4F-EA01-E3D1-6020-595F3FF6E36C}"/>
    <pc:docChg chg="modSld">
      <pc:chgData name="Graf, Kenneth" userId="S::kmh722@unh.edu::d1890dd4-deb6-4a9b-a156-5113ac77bda8" providerId="AD" clId="Web-{0BCCEB4F-EA01-E3D1-6020-595F3FF6E36C}" dt="2020-01-19T22:28:31.695" v="94" actId="20577"/>
      <pc:docMkLst>
        <pc:docMk/>
      </pc:docMkLst>
      <pc:sldChg chg="modSp">
        <pc:chgData name="Graf, Kenneth" userId="S::kmh722@unh.edu::d1890dd4-deb6-4a9b-a156-5113ac77bda8" providerId="AD" clId="Web-{0BCCEB4F-EA01-E3D1-6020-595F3FF6E36C}" dt="2020-01-19T22:28:31.695" v="93" actId="20577"/>
        <pc:sldMkLst>
          <pc:docMk/>
          <pc:sldMk cId="991975671" sldId="273"/>
        </pc:sldMkLst>
        <pc:spChg chg="mod">
          <ac:chgData name="Graf, Kenneth" userId="S::kmh722@unh.edu::d1890dd4-deb6-4a9b-a156-5113ac77bda8" providerId="AD" clId="Web-{0BCCEB4F-EA01-E3D1-6020-595F3FF6E36C}" dt="2020-01-19T22:28:31.695" v="93" actId="20577"/>
          <ac:spMkLst>
            <pc:docMk/>
            <pc:sldMk cId="991975671" sldId="273"/>
            <ac:spMk id="3" creationId="{00000000-0000-0000-0000-000000000000}"/>
          </ac:spMkLst>
        </pc:spChg>
      </pc:sldChg>
    </pc:docChg>
  </pc:docChgLst>
  <pc:docChgLst>
    <pc:chgData name="Graf, Kenneth" userId="S::kmh722@unh.edu::d1890dd4-deb6-4a9b-a156-5113ac77bda8" providerId="AD" clId="Web-{02866E48-F653-B4C2-0292-0E23B5973E6B}"/>
    <pc:docChg chg="modSld">
      <pc:chgData name="Graf, Kenneth" userId="S::kmh722@unh.edu::d1890dd4-deb6-4a9b-a156-5113ac77bda8" providerId="AD" clId="Web-{02866E48-F653-B4C2-0292-0E23B5973E6B}" dt="2020-01-19T22:17:51.771" v="21" actId="20577"/>
      <pc:docMkLst>
        <pc:docMk/>
      </pc:docMkLst>
      <pc:sldChg chg="modSp">
        <pc:chgData name="Graf, Kenneth" userId="S::kmh722@unh.edu::d1890dd4-deb6-4a9b-a156-5113ac77bda8" providerId="AD" clId="Web-{02866E48-F653-B4C2-0292-0E23B5973E6B}" dt="2020-01-19T22:17:51.755" v="20" actId="20577"/>
        <pc:sldMkLst>
          <pc:docMk/>
          <pc:sldMk cId="512974727" sldId="279"/>
        </pc:sldMkLst>
        <pc:spChg chg="mod">
          <ac:chgData name="Graf, Kenneth" userId="S::kmh722@unh.edu::d1890dd4-deb6-4a9b-a156-5113ac77bda8" providerId="AD" clId="Web-{02866E48-F653-B4C2-0292-0E23B5973E6B}" dt="2020-01-19T22:17:51.755" v="20" actId="20577"/>
          <ac:spMkLst>
            <pc:docMk/>
            <pc:sldMk cId="512974727" sldId="279"/>
            <ac:spMk id="5" creationId="{00000000-0000-0000-0000-000000000000}"/>
          </ac:spMkLst>
        </pc:spChg>
      </pc:sldChg>
    </pc:docChg>
  </pc:docChgLst>
  <pc:docChgLst>
    <pc:chgData name="Kenneth Graf" userId="d1890dd4-deb6-4a9b-a156-5113ac77bda8" providerId="ADAL" clId="{A00C1232-6884-461E-8E88-41C85E1D994F}"/>
    <pc:docChg chg="custSel modSld">
      <pc:chgData name="Kenneth Graf" userId="d1890dd4-deb6-4a9b-a156-5113ac77bda8" providerId="ADAL" clId="{A00C1232-6884-461E-8E88-41C85E1D994F}" dt="2020-02-16T17:20:25.060" v="115" actId="6549"/>
      <pc:docMkLst>
        <pc:docMk/>
      </pc:docMkLst>
      <pc:sldChg chg="modSp">
        <pc:chgData name="Kenneth Graf" userId="d1890dd4-deb6-4a9b-a156-5113ac77bda8" providerId="ADAL" clId="{A00C1232-6884-461E-8E88-41C85E1D994F}" dt="2020-02-16T17:20:25.060" v="115" actId="6549"/>
        <pc:sldMkLst>
          <pc:docMk/>
          <pc:sldMk cId="3666430294" sldId="283"/>
        </pc:sldMkLst>
        <pc:spChg chg="mod">
          <ac:chgData name="Kenneth Graf" userId="d1890dd4-deb6-4a9b-a156-5113ac77bda8" providerId="ADAL" clId="{A00C1232-6884-461E-8E88-41C85E1D994F}" dt="2020-02-16T17:20:25.060" v="115" actId="6549"/>
          <ac:spMkLst>
            <pc:docMk/>
            <pc:sldMk cId="3666430294" sldId="283"/>
            <ac:spMk id="3" creationId="{BAC80B2F-B599-4B34-AA6E-2381F2A42A4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8F3AA64-1AA2-40FC-9C4D-FF0C9CC41531}" type="datetimeFigureOut">
              <a:rPr lang="en-US" smtClean="0"/>
              <a:t>2/16/2020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BE13BA3-2BF5-478F-8F09-F40177E24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0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royhunt.com/2011/06/brief-sony-password-analysis.html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13BA3-2BF5-478F-8F09-F40177E242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62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/>
              <a:t>“I think there is a world market for maybe five computers” </a:t>
            </a:r>
            <a:r>
              <a:rPr lang="en-US"/>
              <a:t>- </a:t>
            </a:r>
            <a:r>
              <a:rPr lang="en-US" sz="1100"/>
              <a:t>Thomas Watson, IBM, 1943</a:t>
            </a:r>
          </a:p>
          <a:p>
            <a:endParaRPr lang="en-US" sz="1100"/>
          </a:p>
          <a:p>
            <a:r>
              <a:rPr lang="en-US" i="1"/>
              <a:t>“There is no reason for any individual to have a computer in his home.” </a:t>
            </a:r>
            <a:r>
              <a:rPr lang="en-US"/>
              <a:t>- </a:t>
            </a:r>
            <a:r>
              <a:rPr lang="en-US" sz="1100"/>
              <a:t>Ken Olson, DEC</a:t>
            </a:r>
            <a:r>
              <a:rPr lang="en-US" sz="1100" i="1"/>
              <a:t>, 1977</a:t>
            </a:r>
          </a:p>
          <a:p>
            <a:endParaRPr lang="en-US"/>
          </a:p>
          <a:p>
            <a:r>
              <a:rPr lang="en-US" i="1"/>
              <a:t>“The Internet?  We are not interested in it”    </a:t>
            </a:r>
            <a:r>
              <a:rPr lang="en-US"/>
              <a:t>- </a:t>
            </a:r>
            <a:r>
              <a:rPr lang="en-US" sz="1100"/>
              <a:t>Bill Gates, Microsoft, 1993</a:t>
            </a:r>
            <a:endParaRPr lang="en-US"/>
          </a:p>
          <a:p>
            <a:endParaRPr lang="en-US"/>
          </a:p>
          <a:p>
            <a:r>
              <a:rPr lang="en-US"/>
              <a:t>Cloud </a:t>
            </a:r>
            <a:r>
              <a:rPr lang="en-US" baseline="0"/>
              <a:t> - </a:t>
            </a:r>
            <a:r>
              <a:rPr lang="en-US"/>
              <a:t>Larry Ellison CEO Oracle, 2008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IT666 Spring Semster 2011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FF1CF4-B1B7-45FC-A1B6-07E9ADECCD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06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/>
              <a:t>Gizmodo, gawker, kotaku, deadspin, valleywag, jezebel  all gawker run blog sites</a:t>
            </a:r>
          </a:p>
          <a:p>
            <a:endParaRPr lang="en-US" sz="1600"/>
          </a:p>
          <a:p>
            <a:r>
              <a:rPr lang="en-US" sz="1600"/>
              <a:t>Truncation to 8 chars</a:t>
            </a:r>
          </a:p>
          <a:p>
            <a:endParaRPr lang="en-US" sz="1600"/>
          </a:p>
          <a:p>
            <a:r>
              <a:rPr lang="en-US" sz="1600"/>
              <a:t>Leeted variations of password</a:t>
            </a:r>
          </a:p>
          <a:p>
            <a:endParaRPr lang="en-US" sz="1600"/>
          </a:p>
          <a:p>
            <a:r>
              <a:rPr lang="en-US" sz="1600"/>
              <a:t>Almost 500K password analyzed, 180K unique</a:t>
            </a:r>
          </a:p>
          <a:p>
            <a:endParaRPr lang="en-US" sz="1600"/>
          </a:p>
          <a:p>
            <a:r>
              <a:rPr lang="en-US" sz="1600"/>
              <a:t>SONY: </a:t>
            </a:r>
            <a:r>
              <a:rPr lang="en-US" sz="1600">
                <a:hlinkClick r:id="rId3"/>
              </a:rPr>
              <a:t>http://www.troyhunt.com/2011/06/brief-sony-password-analysis.html</a:t>
            </a:r>
            <a:endParaRPr lang="en-US" sz="160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IT666 Spring Semster 2011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FF1CF4-B1B7-45FC-A1B6-07E9ADECCD6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54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200400"/>
            <a:ext cx="8534400" cy="243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1295401"/>
            <a:ext cx="10972800" cy="1470025"/>
          </a:xfrm>
        </p:spPr>
        <p:txBody>
          <a:bodyPr/>
          <a:lstStyle>
            <a:lvl1pPr algn="ctr">
              <a:defRPr baseline="0"/>
            </a:lvl1pPr>
          </a:lstStyle>
          <a:p>
            <a:r>
              <a:rPr lang="en-US"/>
              <a:t>IT666 : Computer Security</a:t>
            </a:r>
          </a:p>
        </p:txBody>
      </p:sp>
      <p:sp>
        <p:nvSpPr>
          <p:cNvPr id="10" name="Date Placeholder 3"/>
          <p:cNvSpPr txBox="1">
            <a:spLocks/>
          </p:cNvSpPr>
          <p:nvPr/>
        </p:nvSpPr>
        <p:spPr>
          <a:xfrm>
            <a:off x="914400" y="6348476"/>
            <a:ext cx="284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/>
          </a:p>
        </p:txBody>
      </p:sp>
      <p:sp>
        <p:nvSpPr>
          <p:cNvPr id="11" name="Footer Placeholder 4"/>
          <p:cNvSpPr txBox="1">
            <a:spLocks/>
          </p:cNvSpPr>
          <p:nvPr/>
        </p:nvSpPr>
        <p:spPr>
          <a:xfrm>
            <a:off x="7112000" y="6348475"/>
            <a:ext cx="416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/>
              <a:t>Instructor : ken.graf@unh.edu</a:t>
            </a:r>
          </a:p>
        </p:txBody>
      </p:sp>
      <p:pic>
        <p:nvPicPr>
          <p:cNvPr id="12" name="Picture 2" descr="University of New Hampshire">
            <a:extLst>
              <a:ext uri="{FF2B5EF4-FFF2-40B4-BE49-F238E27FC236}">
                <a16:creationId xmlns:a16="http://schemas.microsoft.com/office/drawing/2014/main" id="{52E3954D-70A0-416F-A7AB-55B49D629F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291465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051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1"/>
            <a:ext cx="10972800" cy="4754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356351"/>
            <a:ext cx="10972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53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356351"/>
            <a:ext cx="10972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7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6356351"/>
            <a:ext cx="10972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33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43001"/>
            <a:ext cx="109728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1473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missing.csail.mit.edu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Course Overview</a:t>
            </a:r>
          </a:p>
          <a:p>
            <a:r>
              <a:rPr lang="en-US" sz="2400"/>
              <a:t>Modules</a:t>
            </a:r>
            <a:endParaRPr lang="en-US" sz="2400">
              <a:cs typeface="Calibri"/>
            </a:endParaRPr>
          </a:p>
          <a:p>
            <a:r>
              <a:rPr lang="en-US" sz="2400"/>
              <a:t>Labs</a:t>
            </a:r>
            <a:endParaRPr lang="en-US" sz="2400">
              <a:cs typeface="Calibri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74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Structure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CompTIA Security+ </a:t>
            </a:r>
          </a:p>
          <a:p>
            <a:r>
              <a:rPr lang="en-US"/>
              <a:t>12 Weekly Modules</a:t>
            </a:r>
          </a:p>
          <a:p>
            <a:pPr lvl="1"/>
            <a:r>
              <a:rPr lang="en-US"/>
              <a:t>Book provides terminology and questions</a:t>
            </a:r>
          </a:p>
          <a:p>
            <a:pPr lvl="1"/>
            <a:r>
              <a:rPr lang="en-US"/>
              <a:t>Classes and labs are practical</a:t>
            </a:r>
          </a:p>
          <a:p>
            <a:pPr lvl="2"/>
            <a:r>
              <a:rPr lang="en-US"/>
              <a:t>Mondays: How-to hands-on sessions</a:t>
            </a:r>
          </a:p>
          <a:p>
            <a:pPr lvl="2"/>
            <a:r>
              <a:rPr lang="en-US"/>
              <a:t>Wednesdays: Reading related lectures and a quiz</a:t>
            </a:r>
          </a:p>
          <a:p>
            <a:pPr lvl="2"/>
            <a:r>
              <a:rPr lang="en-US"/>
              <a:t>Labs are designed to be completed in 2-3 hours</a:t>
            </a:r>
          </a:p>
          <a:p>
            <a:r>
              <a:rPr lang="en-US"/>
              <a:t>Course announcements on </a:t>
            </a:r>
            <a:r>
              <a:rPr lang="en-US" err="1"/>
              <a:t>myCourses</a:t>
            </a:r>
            <a:endParaRPr lang="en-US"/>
          </a:p>
          <a:p>
            <a:r>
              <a:rPr lang="en-US"/>
              <a:t>Text</a:t>
            </a:r>
          </a:p>
          <a:p>
            <a:pPr marL="914400" lvl="2" indent="0">
              <a:buNone/>
            </a:pPr>
            <a:r>
              <a:rPr lang="en-US"/>
              <a:t>CompTIA Security+ All-in-One Exam Guide, Fifth Edition (Exam SY0-501)</a:t>
            </a:r>
          </a:p>
          <a:p>
            <a:pPr marL="914400" lvl="2" indent="0">
              <a:buNone/>
            </a:pPr>
            <a:r>
              <a:rPr lang="en-US"/>
              <a:t>Author: Andrew Conklin</a:t>
            </a:r>
          </a:p>
          <a:p>
            <a:pPr marL="914400" lvl="2" indent="0">
              <a:buNone/>
            </a:pPr>
            <a:r>
              <a:rPr lang="en-US"/>
              <a:t>eBook ISBN: 978-1-26-001929-2 is available on Safari</a:t>
            </a:r>
          </a:p>
          <a:p>
            <a:pPr marL="914400" lvl="2" indent="0">
              <a:buNone/>
            </a:pPr>
            <a:r>
              <a:rPr lang="en-US"/>
              <a:t>Hardcover ISBN: 978-1-26-001932-2</a:t>
            </a:r>
          </a:p>
          <a:p>
            <a:pPr marL="914400" lvl="2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599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/>
              <a:t>Modules</a:t>
            </a:r>
          </a:p>
          <a:p>
            <a:pPr lvl="1"/>
            <a:r>
              <a:rPr lang="en-US"/>
              <a:t>Weekly lab assignment : 40% of course grade</a:t>
            </a:r>
          </a:p>
          <a:p>
            <a:pPr lvl="2"/>
            <a:r>
              <a:rPr lang="en-US"/>
              <a:t>Due before class, no credit for late work</a:t>
            </a:r>
          </a:p>
          <a:p>
            <a:pPr lvl="1"/>
            <a:r>
              <a:rPr lang="en-US"/>
              <a:t>Weekly quizzes : 30% of course grade</a:t>
            </a:r>
          </a:p>
          <a:p>
            <a:pPr lvl="2"/>
            <a:r>
              <a:rPr lang="en-US">
                <a:cs typeface="Calibri"/>
              </a:rPr>
              <a:t>Will drop lowest quiz grade</a:t>
            </a:r>
          </a:p>
          <a:p>
            <a:pPr lvl="2"/>
            <a:r>
              <a:rPr lang="en-US"/>
              <a:t>In class on Wednesday, bring laptop</a:t>
            </a:r>
            <a:endParaRPr lang="en-US">
              <a:cs typeface="Calibri"/>
            </a:endParaRPr>
          </a:p>
          <a:p>
            <a:r>
              <a:rPr lang="en-US"/>
              <a:t>Security event paper &amp; class presentation</a:t>
            </a:r>
          </a:p>
          <a:p>
            <a:pPr lvl="1"/>
            <a:r>
              <a:rPr lang="en-US"/>
              <a:t>30% of course grade</a:t>
            </a:r>
          </a:p>
          <a:p>
            <a:r>
              <a:rPr lang="en-US"/>
              <a:t>Security+ practice exam</a:t>
            </a:r>
          </a:p>
          <a:p>
            <a:pPr lvl="1"/>
            <a:r>
              <a:rPr lang="en-US"/>
              <a:t>Final exam time. Pass/Fail. Raise 1 letter grade</a:t>
            </a:r>
          </a:p>
        </p:txBody>
      </p:sp>
    </p:spTree>
    <p:extLst>
      <p:ext uri="{BB962C8B-B14F-4D97-AF65-F5344CB8AC3E}">
        <p14:creationId xmlns:p14="http://schemas.microsoft.com/office/powerpoint/2010/main" val="991975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Every generation has made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i="1"/>
              <a:t>“I think there is a world market for maybe five computers”</a:t>
            </a:r>
            <a:endParaRPr lang="en-US" sz="2800"/>
          </a:p>
          <a:p>
            <a:pPr marL="0" indent="0">
              <a:buNone/>
            </a:pPr>
            <a:endParaRPr lang="en-US" sz="2800"/>
          </a:p>
          <a:p>
            <a:pPr marL="0" indent="0">
              <a:buNone/>
            </a:pPr>
            <a:r>
              <a:rPr lang="en-US" i="1"/>
              <a:t>“There is no reason for any individual to have a computer in his home.”</a:t>
            </a:r>
            <a:endParaRPr lang="en-US" sz="2800" i="1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i="1"/>
              <a:t>“The Internet?  We are not interested in it”    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/>
              <a:t>“</a:t>
            </a:r>
            <a:r>
              <a:rPr lang="en-GB" i="1"/>
              <a:t>What is it [Cloud]? It's complete gibberish. It's insane. When is this idiocy going to stop?”</a:t>
            </a: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210673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… who is right about the Internet?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/>
              <a:t>‘If you change the way you make wealth, you inevitably change the way you make war’ – Alvin Toffler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US"/>
              <a:t>‘Going to good, old-fashioned paper, in this modern age, is the best way to do it.’ – Donald Trump</a:t>
            </a:r>
            <a:endParaRPr lang="en-GB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07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514BB1-210C-43C7-B89C-A82DB314A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5559" y="0"/>
            <a:ext cx="9500882" cy="680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1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1B031-B82D-4A90-8541-A7EDD7C49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What does the UNH AUP (dis)allow you to do?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lvl="0"/>
            <a:r>
              <a:rPr lang="en-US"/>
              <a:t>Can you hack AGATE while taking this class? </a:t>
            </a:r>
          </a:p>
          <a:p>
            <a:pPr lvl="0"/>
            <a:r>
              <a:rPr lang="en-US"/>
              <a:t>How do firewalls make your computer secure? </a:t>
            </a:r>
          </a:p>
          <a:p>
            <a:pPr lvl="0"/>
            <a:r>
              <a:rPr lang="en-US"/>
              <a:t>When is jail breaking an iPhone legal? </a:t>
            </a:r>
          </a:p>
          <a:p>
            <a:pPr lvl="0"/>
            <a:r>
              <a:rPr lang="en-US"/>
              <a:t>What does CIA stand for? </a:t>
            </a:r>
          </a:p>
          <a:p>
            <a:pPr lvl="0"/>
            <a:r>
              <a:rPr lang="en-US"/>
              <a:t>What type of cipher is a Caesar cipher? </a:t>
            </a:r>
          </a:p>
          <a:p>
            <a:pPr lvl="0"/>
            <a:r>
              <a:rPr lang="en-US"/>
              <a:t>RSA uses what type of keys? </a:t>
            </a:r>
          </a:p>
          <a:p>
            <a:r>
              <a:rPr lang="en-US"/>
              <a:t>Linux file permission of 007 allows what? </a:t>
            </a:r>
            <a:endParaRPr lang="en-US">
              <a:cs typeface="Calibri"/>
            </a:endParaRPr>
          </a:p>
          <a:p>
            <a:r>
              <a:rPr lang="en-US"/>
              <a:t>How many bits makes a key uncrackable? </a:t>
            </a:r>
            <a:endParaRPr lang="en-US">
              <a:cs typeface="Calibri"/>
            </a:endParaRPr>
          </a:p>
          <a:p>
            <a:pPr lvl="0"/>
            <a:r>
              <a:rPr lang="en-US"/>
              <a:t>What is the goal of a DoS attack? </a:t>
            </a:r>
            <a:endParaRPr lang="en-US">
              <a:cs typeface="Calibri"/>
            </a:endParaRPr>
          </a:p>
          <a:p>
            <a:pPr lvl="0"/>
            <a:r>
              <a:rPr lang="en-US"/>
              <a:t>What does XSS stand for? </a:t>
            </a:r>
          </a:p>
          <a:p>
            <a:pPr lvl="0"/>
            <a:r>
              <a:rPr lang="en-US"/>
              <a:t>Does TLS use the RSA or AES cipher? </a:t>
            </a:r>
          </a:p>
        </p:txBody>
      </p:sp>
    </p:spTree>
    <p:extLst>
      <p:ext uri="{BB962C8B-B14F-4D97-AF65-F5344CB8AC3E}">
        <p14:creationId xmlns:p14="http://schemas.microsoft.com/office/powerpoint/2010/main" val="4089162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Top 100 Gawker passwords (+24K)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209800" y="1066800"/>
            <a:ext cx="10972800" cy="544036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/>
              <a:t>123456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password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12345678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qwerty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abc123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12345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monkey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111111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consumer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letmein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1234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dragon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trustno1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baseball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gizmodo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whatever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superman</a:t>
            </a:r>
          </a:p>
        </p:txBody>
      </p:sp>
      <p:sp>
        <p:nvSpPr>
          <p:cNvPr id="11" name="Content Placeholder 6"/>
          <p:cNvSpPr txBox="1">
            <a:spLocks/>
          </p:cNvSpPr>
          <p:nvPr/>
        </p:nvSpPr>
        <p:spPr>
          <a:xfrm>
            <a:off x="3505200" y="1066800"/>
            <a:ext cx="1752600" cy="563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000"/>
              <a:t>1234567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sunshine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iloveyou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fuckyou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starwars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shadow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princess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cheese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123123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computer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gawker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football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blahblah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nintendo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000000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soccer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654321</a:t>
            </a:r>
          </a:p>
        </p:txBody>
      </p:sp>
      <p:sp>
        <p:nvSpPr>
          <p:cNvPr id="16" name="Content Placeholder 6"/>
          <p:cNvSpPr txBox="1">
            <a:spLocks/>
          </p:cNvSpPr>
          <p:nvPr/>
        </p:nvSpPr>
        <p:spPr>
          <a:xfrm>
            <a:off x="4800600" y="1066800"/>
            <a:ext cx="1752600" cy="563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000"/>
              <a:t>asdfasdf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master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michael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passw0rd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hello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kotaku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pepper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jennifer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666666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welcome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buster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Password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batman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1q2w3e4r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maggie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michelle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pokemon</a:t>
            </a:r>
          </a:p>
        </p:txBody>
      </p:sp>
      <p:sp>
        <p:nvSpPr>
          <p:cNvPr id="17" name="Content Placeholder 6"/>
          <p:cNvSpPr txBox="1">
            <a:spLocks/>
          </p:cNvSpPr>
          <p:nvPr/>
        </p:nvSpPr>
        <p:spPr>
          <a:xfrm>
            <a:off x="6172200" y="1066800"/>
            <a:ext cx="1752600" cy="563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000"/>
              <a:t>killer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andrew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internet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biteme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orange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jordan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ginger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123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aaaaaa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tigger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charlie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chicken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nothing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fuckoff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deadspin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valleywa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qwerty12</a:t>
            </a:r>
          </a:p>
          <a:p>
            <a:pPr marL="0" indent="0">
              <a:spcBef>
                <a:spcPts val="0"/>
              </a:spcBef>
              <a:buNone/>
            </a:pPr>
            <a:endParaRPr lang="en-US" sz="2000"/>
          </a:p>
        </p:txBody>
      </p:sp>
      <p:sp>
        <p:nvSpPr>
          <p:cNvPr id="18" name="Content Placeholder 6"/>
          <p:cNvSpPr txBox="1">
            <a:spLocks/>
          </p:cNvSpPr>
          <p:nvPr/>
        </p:nvSpPr>
        <p:spPr>
          <a:xfrm>
            <a:off x="7391400" y="1066800"/>
            <a:ext cx="1752600" cy="563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000"/>
              <a:t>george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swordfis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summer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asdf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matthew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asdfgh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mustang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yankees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hannah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asdfghjk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1qaz2wsx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cookie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midnight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123qwe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scooter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purple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banana</a:t>
            </a:r>
          </a:p>
        </p:txBody>
      </p:sp>
      <p:sp>
        <p:nvSpPr>
          <p:cNvPr id="19" name="Content Placeholder 6"/>
          <p:cNvSpPr txBox="1">
            <a:spLocks/>
          </p:cNvSpPr>
          <p:nvPr/>
        </p:nvSpPr>
        <p:spPr>
          <a:xfrm>
            <a:off x="8686800" y="1066800"/>
            <a:ext cx="1752600" cy="563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2000"/>
              <a:t>matrix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jezebel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daniel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hunter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freedom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secret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redsox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spiderma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phoenix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joshua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jessica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asshole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asdf1234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william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qwertyui</a:t>
            </a:r>
          </a:p>
        </p:txBody>
      </p:sp>
    </p:spTree>
    <p:extLst>
      <p:ext uri="{BB962C8B-B14F-4D97-AF65-F5344CB8AC3E}">
        <p14:creationId xmlns:p14="http://schemas.microsoft.com/office/powerpoint/2010/main" val="3520620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2C25F-A9AF-4202-800A-D8FEB500F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 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25947-C742-40F4-AD87-DBF8D601F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Kali (VirtualBox)</a:t>
            </a:r>
          </a:p>
          <a:p>
            <a:pPr lvl="1"/>
            <a:r>
              <a:rPr lang="en-US"/>
              <a:t>OpenSSL</a:t>
            </a:r>
          </a:p>
          <a:p>
            <a:pPr lvl="1"/>
            <a:r>
              <a:rPr lang="en-US"/>
              <a:t>OpenVPN</a:t>
            </a:r>
          </a:p>
          <a:p>
            <a:pPr lvl="1"/>
            <a:r>
              <a:rPr lang="en-US"/>
              <a:t>Wireshark/</a:t>
            </a:r>
            <a:r>
              <a:rPr lang="en-US" err="1"/>
              <a:t>Cloudshark</a:t>
            </a:r>
            <a:endParaRPr lang="en-US"/>
          </a:p>
          <a:p>
            <a:pPr lvl="1"/>
            <a:r>
              <a:rPr lang="en-US"/>
              <a:t>OWASP ZAP</a:t>
            </a:r>
          </a:p>
          <a:p>
            <a:pPr lvl="1"/>
            <a:r>
              <a:rPr lang="en-US" err="1"/>
              <a:t>Burpsuite</a:t>
            </a:r>
            <a:endParaRPr lang="en-US"/>
          </a:p>
          <a:p>
            <a:r>
              <a:rPr lang="en-US"/>
              <a:t>AWS (AWS Educate account)</a:t>
            </a:r>
          </a:p>
          <a:p>
            <a:r>
              <a:rPr lang="en-US"/>
              <a:t>Browser</a:t>
            </a:r>
          </a:p>
        </p:txBody>
      </p:sp>
    </p:spTree>
    <p:extLst>
      <p:ext uri="{BB962C8B-B14F-4D97-AF65-F5344CB8AC3E}">
        <p14:creationId xmlns:p14="http://schemas.microsoft.com/office/powerpoint/2010/main" val="543655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5DED4-DAD8-49A7-9118-A1E6E67EB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Keys to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80B2F-B599-4B34-AA6E-2381F2A42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Do the labs on-time</a:t>
            </a:r>
          </a:p>
          <a:p>
            <a:r>
              <a:rPr lang="en-US" dirty="0"/>
              <a:t>Understand the practice questions in the book</a:t>
            </a:r>
          </a:p>
          <a:p>
            <a:r>
              <a:rPr lang="en-US" dirty="0"/>
              <a:t>If you don’t have much/any Linux knowledge: </a:t>
            </a:r>
            <a:r>
              <a:rPr lang="en-US">
                <a:hlinkClick r:id="rId2"/>
              </a:rPr>
              <a:t>./missing-semester</a:t>
            </a:r>
            <a:endParaRPr lang="en-US" dirty="0"/>
          </a:p>
          <a:p>
            <a:r>
              <a:rPr lang="en-US" dirty="0"/>
              <a:t>Get an instance of Kali running</a:t>
            </a:r>
          </a:p>
          <a:p>
            <a:pPr lvl="1"/>
            <a:r>
              <a:rPr lang="en-US" dirty="0"/>
              <a:t>Past students have preferred VirtualBox appliance</a:t>
            </a:r>
          </a:p>
          <a:p>
            <a:pPr lvl="1"/>
            <a:r>
              <a:rPr lang="en-US" dirty="0"/>
              <a:t>Dedicated, Live USB, Cloud, are options</a:t>
            </a:r>
          </a:p>
          <a:p>
            <a:r>
              <a:rPr lang="en-US" dirty="0"/>
              <a:t>Enroll in AWS Educate</a:t>
            </a:r>
          </a:p>
          <a:p>
            <a:pPr lvl="1"/>
            <a:r>
              <a:rPr lang="en-US" dirty="0"/>
              <a:t>Requires confirmation process</a:t>
            </a:r>
          </a:p>
          <a:p>
            <a:pPr lvl="1"/>
            <a:r>
              <a:rPr lang="en-US" dirty="0"/>
              <a:t>No credit card</a:t>
            </a:r>
          </a:p>
          <a:p>
            <a:pPr lvl="1"/>
            <a:r>
              <a:rPr lang="en-US" dirty="0"/>
              <a:t>Expenses capped</a:t>
            </a:r>
          </a:p>
        </p:txBody>
      </p:sp>
    </p:spTree>
    <p:extLst>
      <p:ext uri="{BB962C8B-B14F-4D97-AF65-F5344CB8AC3E}">
        <p14:creationId xmlns:p14="http://schemas.microsoft.com/office/powerpoint/2010/main" val="3666430294"/>
      </p:ext>
    </p:extLst>
  </p:cSld>
  <p:clrMapOvr>
    <a:masterClrMapping/>
  </p:clrMapOvr>
</p:sld>
</file>

<file path=ppt/theme/theme1.xml><?xml version="1.0" encoding="utf-8"?>
<a:theme xmlns:a="http://schemas.openxmlformats.org/drawingml/2006/main" name="IT666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>
        <a:normAutofit/>
      </a:bodyPr>
      <a:lstStyle>
        <a:defPPr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1" id="{E6424F00-CB15-469C-8ED9-E12AE889829C}" vid="{5DE17743-287A-437B-9EC9-957D32FAF4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48B0CB13E69F42B54D3DE424488AFE" ma:contentTypeVersion="13" ma:contentTypeDescription="Create a new document." ma:contentTypeScope="" ma:versionID="c580b450af3975084ea9d9a74b1aa1c3">
  <xsd:schema xmlns:xsd="http://www.w3.org/2001/XMLSchema" xmlns:xs="http://www.w3.org/2001/XMLSchema" xmlns:p="http://schemas.microsoft.com/office/2006/metadata/properties" xmlns:ns3="6e27e843-6876-4ec5-817f-dbc394bc1606" xmlns:ns4="1ea98ed5-bdea-415e-9a90-b2f6afa71452" targetNamespace="http://schemas.microsoft.com/office/2006/metadata/properties" ma:root="true" ma:fieldsID="ee979d553edbfea5e3efbc24595909db" ns3:_="" ns4:_="">
    <xsd:import namespace="6e27e843-6876-4ec5-817f-dbc394bc1606"/>
    <xsd:import namespace="1ea98ed5-bdea-415e-9a90-b2f6afa7145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EventHashCode" minOccurs="0"/>
                <xsd:element ref="ns3:MediaServiceGenerationTim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27e843-6876-4ec5-817f-dbc394bc16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98ed5-bdea-415e-9a90-b2f6afa714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F7334F5-F43F-4A4C-B9F0-0B4CF4CD1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27e843-6876-4ec5-817f-dbc394bc1606"/>
    <ds:schemaRef ds:uri="1ea98ed5-bdea-415e-9a90-b2f6afa714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E9EDA2D-2D25-4C9B-B388-2626A106A5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B4A837-8F3B-4881-BE2E-1CD30F9388A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UNH-lecture-template</Template>
  <TotalTime>0</TotalTime>
  <Words>680</Words>
  <Application>Microsoft Office PowerPoint</Application>
  <PresentationFormat>Widescreen</PresentationFormat>
  <Paragraphs>194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IT666</vt:lpstr>
      <vt:lpstr>PowerPoint Presentation</vt:lpstr>
      <vt:lpstr>Course Structure </vt:lpstr>
      <vt:lpstr>Grading</vt:lpstr>
      <vt:lpstr>Every generation has made mistakes</vt:lpstr>
      <vt:lpstr>… who is right about the Internet?</vt:lpstr>
      <vt:lpstr>PowerPoint Presentation</vt:lpstr>
      <vt:lpstr>What does the UNH AUP (dis)allow you to do? </vt:lpstr>
      <vt:lpstr>Top 100 Gawker passwords (+24K)</vt:lpstr>
      <vt:lpstr>Lab tools used</vt:lpstr>
      <vt:lpstr>Keys to success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Graf</dc:creator>
  <cp:lastModifiedBy>Ken Graf</cp:lastModifiedBy>
  <cp:revision>1</cp:revision>
  <cp:lastPrinted>2015-03-25T21:04:44Z</cp:lastPrinted>
  <dcterms:created xsi:type="dcterms:W3CDTF">2020-01-07T21:49:38Z</dcterms:created>
  <dcterms:modified xsi:type="dcterms:W3CDTF">2020-02-16T17:21:16Z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0x010100BD48B0CB13E69F42B54D3DE424488AFE</vt:lpwstr>
  </property>
</Properties>
</file>