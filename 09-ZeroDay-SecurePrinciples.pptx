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49"/>
  </p:notesMasterIdLst>
  <p:sldIdLst>
    <p:sldId id="267" r:id="rId5"/>
    <p:sldId id="273" r:id="rId6"/>
    <p:sldId id="275" r:id="rId7"/>
    <p:sldId id="280" r:id="rId8"/>
    <p:sldId id="281" r:id="rId9"/>
    <p:sldId id="266" r:id="rId10"/>
    <p:sldId id="277" r:id="rId11"/>
    <p:sldId id="278" r:id="rId12"/>
    <p:sldId id="283" r:id="rId13"/>
    <p:sldId id="269" r:id="rId14"/>
    <p:sldId id="316" r:id="rId15"/>
    <p:sldId id="317" r:id="rId16"/>
    <p:sldId id="285" r:id="rId17"/>
    <p:sldId id="297" r:id="rId18"/>
    <p:sldId id="295" r:id="rId19"/>
    <p:sldId id="298" r:id="rId20"/>
    <p:sldId id="300" r:id="rId21"/>
    <p:sldId id="282" r:id="rId22"/>
    <p:sldId id="301" r:id="rId23"/>
    <p:sldId id="284" r:id="rId24"/>
    <p:sldId id="302" r:id="rId25"/>
    <p:sldId id="287" r:id="rId26"/>
    <p:sldId id="292" r:id="rId27"/>
    <p:sldId id="288" r:id="rId28"/>
    <p:sldId id="289" r:id="rId29"/>
    <p:sldId id="290" r:id="rId30"/>
    <p:sldId id="291" r:id="rId31"/>
    <p:sldId id="286" r:id="rId32"/>
    <p:sldId id="293" r:id="rId33"/>
    <p:sldId id="294" r:id="rId34"/>
    <p:sldId id="276" r:id="rId35"/>
    <p:sldId id="260" r:id="rId36"/>
    <p:sldId id="262" r:id="rId37"/>
    <p:sldId id="304" r:id="rId38"/>
    <p:sldId id="265" r:id="rId39"/>
    <p:sldId id="307" r:id="rId40"/>
    <p:sldId id="308" r:id="rId41"/>
    <p:sldId id="309" r:id="rId42"/>
    <p:sldId id="310" r:id="rId43"/>
    <p:sldId id="311" r:id="rId44"/>
    <p:sldId id="314" r:id="rId45"/>
    <p:sldId id="315" r:id="rId46"/>
    <p:sldId id="312" r:id="rId47"/>
    <p:sldId id="313" r:id="rId4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73826" autoAdjust="0"/>
  </p:normalViewPr>
  <p:slideViewPr>
    <p:cSldViewPr>
      <p:cViewPr varScale="1">
        <p:scale>
          <a:sx n="65" d="100"/>
          <a:sy n="65" d="100"/>
        </p:scale>
        <p:origin x="162" y="72"/>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85" d="100"/>
          <a:sy n="85" d="100"/>
        </p:scale>
        <p:origin x="1116"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Graf" userId="d1890dd4-deb6-4a9b-a156-5113ac77bda8" providerId="ADAL" clId="{B4D75719-A564-4678-9CB9-3846FE5EB7B7}"/>
    <pc:docChg chg="undo custSel addSld delSld modSld">
      <pc:chgData name="Kenneth Graf" userId="d1890dd4-deb6-4a9b-a156-5113ac77bda8" providerId="ADAL" clId="{B4D75719-A564-4678-9CB9-3846FE5EB7B7}" dt="2020-03-01T17:12:43.109" v="1161" actId="47"/>
      <pc:docMkLst>
        <pc:docMk/>
      </pc:docMkLst>
      <pc:sldChg chg="delSp">
        <pc:chgData name="Kenneth Graf" userId="d1890dd4-deb6-4a9b-a156-5113ac77bda8" providerId="ADAL" clId="{B4D75719-A564-4678-9CB9-3846FE5EB7B7}" dt="2020-02-25T03:48:53.584" v="3" actId="478"/>
        <pc:sldMkLst>
          <pc:docMk/>
          <pc:sldMk cId="3925157754" sldId="262"/>
        </pc:sldMkLst>
        <pc:spChg chg="del">
          <ac:chgData name="Kenneth Graf" userId="d1890dd4-deb6-4a9b-a156-5113ac77bda8" providerId="ADAL" clId="{B4D75719-A564-4678-9CB9-3846FE5EB7B7}" dt="2020-02-25T03:48:53.584" v="3" actId="478"/>
          <ac:spMkLst>
            <pc:docMk/>
            <pc:sldMk cId="3925157754" sldId="262"/>
            <ac:spMk id="2" creationId="{FAE3DC27-5B64-41B0-9B7E-FF0F91B58D1A}"/>
          </ac:spMkLst>
        </pc:spChg>
      </pc:sldChg>
      <pc:sldChg chg="del">
        <pc:chgData name="Kenneth Graf" userId="d1890dd4-deb6-4a9b-a156-5113ac77bda8" providerId="ADAL" clId="{B4D75719-A564-4678-9CB9-3846FE5EB7B7}" dt="2020-02-25T03:48:26.166" v="1" actId="47"/>
        <pc:sldMkLst>
          <pc:docMk/>
          <pc:sldMk cId="856041449" sldId="263"/>
        </pc:sldMkLst>
      </pc:sldChg>
      <pc:sldChg chg="modSp">
        <pc:chgData name="Kenneth Graf" userId="d1890dd4-deb6-4a9b-a156-5113ac77bda8" providerId="ADAL" clId="{B4D75719-A564-4678-9CB9-3846FE5EB7B7}" dt="2020-03-01T16:27:49.194" v="677" actId="167"/>
        <pc:sldMkLst>
          <pc:docMk/>
          <pc:sldMk cId="99397566" sldId="266"/>
        </pc:sldMkLst>
        <pc:picChg chg="mod">
          <ac:chgData name="Kenneth Graf" userId="d1890dd4-deb6-4a9b-a156-5113ac77bda8" providerId="ADAL" clId="{B4D75719-A564-4678-9CB9-3846FE5EB7B7}" dt="2020-03-01T16:27:49.194" v="677" actId="167"/>
          <ac:picMkLst>
            <pc:docMk/>
            <pc:sldMk cId="99397566" sldId="266"/>
            <ac:picMk id="3074" creationId="{00000000-0000-0000-0000-000000000000}"/>
          </ac:picMkLst>
        </pc:picChg>
      </pc:sldChg>
      <pc:sldChg chg="del">
        <pc:chgData name="Kenneth Graf" userId="d1890dd4-deb6-4a9b-a156-5113ac77bda8" providerId="ADAL" clId="{B4D75719-A564-4678-9CB9-3846FE5EB7B7}" dt="2020-02-25T03:49:26.533" v="6" actId="47"/>
        <pc:sldMkLst>
          <pc:docMk/>
          <pc:sldMk cId="470517882" sldId="268"/>
        </pc:sldMkLst>
      </pc:sldChg>
      <pc:sldChg chg="del">
        <pc:chgData name="Kenneth Graf" userId="d1890dd4-deb6-4a9b-a156-5113ac77bda8" providerId="ADAL" clId="{B4D75719-A564-4678-9CB9-3846FE5EB7B7}" dt="2020-03-01T17:12:33.676" v="1160" actId="47"/>
        <pc:sldMkLst>
          <pc:docMk/>
          <pc:sldMk cId="2599660538" sldId="270"/>
        </pc:sldMkLst>
      </pc:sldChg>
      <pc:sldChg chg="del">
        <pc:chgData name="Kenneth Graf" userId="d1890dd4-deb6-4a9b-a156-5113ac77bda8" providerId="ADAL" clId="{B4D75719-A564-4678-9CB9-3846FE5EB7B7}" dt="2020-03-01T17:12:43.109" v="1161" actId="47"/>
        <pc:sldMkLst>
          <pc:docMk/>
          <pc:sldMk cId="720319497" sldId="271"/>
        </pc:sldMkLst>
      </pc:sldChg>
      <pc:sldChg chg="del">
        <pc:chgData name="Kenneth Graf" userId="d1890dd4-deb6-4a9b-a156-5113ac77bda8" providerId="ADAL" clId="{B4D75719-A564-4678-9CB9-3846FE5EB7B7}" dt="2020-02-25T03:49:51.657" v="7" actId="47"/>
        <pc:sldMkLst>
          <pc:docMk/>
          <pc:sldMk cId="507842421" sldId="272"/>
        </pc:sldMkLst>
      </pc:sldChg>
      <pc:sldChg chg="modSp">
        <pc:chgData name="Kenneth Graf" userId="d1890dd4-deb6-4a9b-a156-5113ac77bda8" providerId="ADAL" clId="{B4D75719-A564-4678-9CB9-3846FE5EB7B7}" dt="2020-03-01T16:28:42.022" v="691" actId="313"/>
        <pc:sldMkLst>
          <pc:docMk/>
          <pc:sldMk cId="2790820090" sldId="283"/>
        </pc:sldMkLst>
        <pc:spChg chg="mod">
          <ac:chgData name="Kenneth Graf" userId="d1890dd4-deb6-4a9b-a156-5113ac77bda8" providerId="ADAL" clId="{B4D75719-A564-4678-9CB9-3846FE5EB7B7}" dt="2020-03-01T16:28:42.022" v="691" actId="313"/>
          <ac:spMkLst>
            <pc:docMk/>
            <pc:sldMk cId="2790820090" sldId="283"/>
            <ac:spMk id="3" creationId="{00000000-0000-0000-0000-000000000000}"/>
          </ac:spMkLst>
        </pc:spChg>
      </pc:sldChg>
      <pc:sldChg chg="del">
        <pc:chgData name="Kenneth Graf" userId="d1890dd4-deb6-4a9b-a156-5113ac77bda8" providerId="ADAL" clId="{B4D75719-A564-4678-9CB9-3846FE5EB7B7}" dt="2020-02-25T03:48:06.534" v="0" actId="47"/>
        <pc:sldMkLst>
          <pc:docMk/>
          <pc:sldMk cId="2376154704" sldId="303"/>
        </pc:sldMkLst>
      </pc:sldChg>
      <pc:sldChg chg="delSp">
        <pc:chgData name="Kenneth Graf" userId="d1890dd4-deb6-4a9b-a156-5113ac77bda8" providerId="ADAL" clId="{B4D75719-A564-4678-9CB9-3846FE5EB7B7}" dt="2020-02-25T03:48:33.473" v="2" actId="478"/>
        <pc:sldMkLst>
          <pc:docMk/>
          <pc:sldMk cId="1021488331" sldId="304"/>
        </pc:sldMkLst>
        <pc:spChg chg="del">
          <ac:chgData name="Kenneth Graf" userId="d1890dd4-deb6-4a9b-a156-5113ac77bda8" providerId="ADAL" clId="{B4D75719-A564-4678-9CB9-3846FE5EB7B7}" dt="2020-02-25T03:48:33.473" v="2" actId="478"/>
          <ac:spMkLst>
            <pc:docMk/>
            <pc:sldMk cId="1021488331" sldId="304"/>
            <ac:spMk id="7" creationId="{9559EA7F-F178-49DA-93EC-87FA16E08363}"/>
          </ac:spMkLst>
        </pc:spChg>
      </pc:sldChg>
      <pc:sldChg chg="del">
        <pc:chgData name="Kenneth Graf" userId="d1890dd4-deb6-4a9b-a156-5113ac77bda8" providerId="ADAL" clId="{B4D75719-A564-4678-9CB9-3846FE5EB7B7}" dt="2020-02-25T03:49:13.948" v="4" actId="47"/>
        <pc:sldMkLst>
          <pc:docMk/>
          <pc:sldMk cId="3373490645" sldId="305"/>
        </pc:sldMkLst>
      </pc:sldChg>
      <pc:sldChg chg="del">
        <pc:chgData name="Kenneth Graf" userId="d1890dd4-deb6-4a9b-a156-5113ac77bda8" providerId="ADAL" clId="{B4D75719-A564-4678-9CB9-3846FE5EB7B7}" dt="2020-02-25T03:49:20.976" v="5" actId="47"/>
        <pc:sldMkLst>
          <pc:docMk/>
          <pc:sldMk cId="3771021419" sldId="306"/>
        </pc:sldMkLst>
      </pc:sldChg>
      <pc:sldChg chg="addSp delSp modSp add">
        <pc:chgData name="Kenneth Graf" userId="d1890dd4-deb6-4a9b-a156-5113ac77bda8" providerId="ADAL" clId="{B4D75719-A564-4678-9CB9-3846FE5EB7B7}" dt="2020-02-25T04:19:18.891" v="219" actId="113"/>
        <pc:sldMkLst>
          <pc:docMk/>
          <pc:sldMk cId="1608255975" sldId="314"/>
        </pc:sldMkLst>
        <pc:spChg chg="del">
          <ac:chgData name="Kenneth Graf" userId="d1890dd4-deb6-4a9b-a156-5113ac77bda8" providerId="ADAL" clId="{B4D75719-A564-4678-9CB9-3846FE5EB7B7}" dt="2020-02-25T03:50:42.925" v="9" actId="3680"/>
          <ac:spMkLst>
            <pc:docMk/>
            <pc:sldMk cId="1608255975" sldId="314"/>
            <ac:spMk id="3" creationId="{5D18E76F-2B46-4F3E-8616-E17BAB28BE5F}"/>
          </ac:spMkLst>
        </pc:spChg>
        <pc:spChg chg="add del mod">
          <ac:chgData name="Kenneth Graf" userId="d1890dd4-deb6-4a9b-a156-5113ac77bda8" providerId="ADAL" clId="{B4D75719-A564-4678-9CB9-3846FE5EB7B7}" dt="2020-02-25T03:54:25.825" v="56" actId="3680"/>
          <ac:spMkLst>
            <pc:docMk/>
            <pc:sldMk cId="1608255975" sldId="314"/>
            <ac:spMk id="7" creationId="{8671FEC1-609D-47E9-9D51-B38DC832C1B8}"/>
          </ac:spMkLst>
        </pc:spChg>
        <pc:graphicFrameChg chg="add del mod ord modGraphic">
          <ac:chgData name="Kenneth Graf" userId="d1890dd4-deb6-4a9b-a156-5113ac77bda8" providerId="ADAL" clId="{B4D75719-A564-4678-9CB9-3846FE5EB7B7}" dt="2020-02-25T03:53:17.322" v="55" actId="478"/>
          <ac:graphicFrameMkLst>
            <pc:docMk/>
            <pc:sldMk cId="1608255975" sldId="314"/>
            <ac:graphicFrameMk id="4" creationId="{696C5C37-0F25-4167-B169-6AD696179865}"/>
          </ac:graphicFrameMkLst>
        </pc:graphicFrameChg>
        <pc:graphicFrameChg chg="add mod ord modGraphic">
          <ac:chgData name="Kenneth Graf" userId="d1890dd4-deb6-4a9b-a156-5113ac77bda8" providerId="ADAL" clId="{B4D75719-A564-4678-9CB9-3846FE5EB7B7}" dt="2020-02-25T04:19:18.891" v="219" actId="113"/>
          <ac:graphicFrameMkLst>
            <pc:docMk/>
            <pc:sldMk cId="1608255975" sldId="314"/>
            <ac:graphicFrameMk id="8" creationId="{7D5400E6-BCF1-4E09-8660-F5E2E9D2DFC3}"/>
          </ac:graphicFrameMkLst>
        </pc:graphicFrameChg>
      </pc:sldChg>
      <pc:sldChg chg="addSp delSp modSp add del">
        <pc:chgData name="Kenneth Graf" userId="d1890dd4-deb6-4a9b-a156-5113ac77bda8" providerId="ADAL" clId="{B4D75719-A564-4678-9CB9-3846FE5EB7B7}" dt="2020-02-25T04:01:27.604" v="79" actId="47"/>
        <pc:sldMkLst>
          <pc:docMk/>
          <pc:sldMk cId="918874096" sldId="315"/>
        </pc:sldMkLst>
        <pc:spChg chg="mod">
          <ac:chgData name="Kenneth Graf" userId="d1890dd4-deb6-4a9b-a156-5113ac77bda8" providerId="ADAL" clId="{B4D75719-A564-4678-9CB9-3846FE5EB7B7}" dt="2020-02-25T03:56:44.341" v="70" actId="27636"/>
          <ac:spMkLst>
            <pc:docMk/>
            <pc:sldMk cId="918874096" sldId="315"/>
            <ac:spMk id="2" creationId="{00000000-0000-0000-0000-000000000000}"/>
          </ac:spMkLst>
        </pc:spChg>
        <pc:spChg chg="add del mod">
          <ac:chgData name="Kenneth Graf" userId="d1890dd4-deb6-4a9b-a156-5113ac77bda8" providerId="ADAL" clId="{B4D75719-A564-4678-9CB9-3846FE5EB7B7}" dt="2020-02-25T03:56:53.324" v="71"/>
          <ac:spMkLst>
            <pc:docMk/>
            <pc:sldMk cId="918874096" sldId="315"/>
            <ac:spMk id="3" creationId="{0FEF1051-1A27-43A0-8304-453EDBE73FDA}"/>
          </ac:spMkLst>
        </pc:spChg>
        <pc:spChg chg="add del mod">
          <ac:chgData name="Kenneth Graf" userId="d1890dd4-deb6-4a9b-a156-5113ac77bda8" providerId="ADAL" clId="{B4D75719-A564-4678-9CB9-3846FE5EB7B7}" dt="2020-02-25T03:56:53.324" v="71"/>
          <ac:spMkLst>
            <pc:docMk/>
            <pc:sldMk cId="918874096" sldId="315"/>
            <ac:spMk id="4" creationId="{E2D1EFA2-A3F3-43B7-9433-D2A6E0267E67}"/>
          </ac:spMkLst>
        </pc:spChg>
        <pc:graphicFrameChg chg="mod modGraphic">
          <ac:chgData name="Kenneth Graf" userId="d1890dd4-deb6-4a9b-a156-5113ac77bda8" providerId="ADAL" clId="{B4D75719-A564-4678-9CB9-3846FE5EB7B7}" dt="2020-02-25T03:57:35.973" v="78" actId="14100"/>
          <ac:graphicFrameMkLst>
            <pc:docMk/>
            <pc:sldMk cId="918874096" sldId="315"/>
            <ac:graphicFrameMk id="5" creationId="{00000000-0000-0000-0000-000000000000}"/>
          </ac:graphicFrameMkLst>
        </pc:graphicFrameChg>
      </pc:sldChg>
      <pc:sldChg chg="addSp delSp modSp add modNotesTx">
        <pc:chgData name="Kenneth Graf" userId="d1890dd4-deb6-4a9b-a156-5113ac77bda8" providerId="ADAL" clId="{B4D75719-A564-4678-9CB9-3846FE5EB7B7}" dt="2020-02-25T04:56:42.130" v="676" actId="20577"/>
        <pc:sldMkLst>
          <pc:docMk/>
          <pc:sldMk cId="2629757167" sldId="315"/>
        </pc:sldMkLst>
        <pc:spChg chg="del">
          <ac:chgData name="Kenneth Graf" userId="d1890dd4-deb6-4a9b-a156-5113ac77bda8" providerId="ADAL" clId="{B4D75719-A564-4678-9CB9-3846FE5EB7B7}" dt="2020-02-25T04:22:46.495" v="221" actId="3680"/>
          <ac:spMkLst>
            <pc:docMk/>
            <pc:sldMk cId="2629757167" sldId="315"/>
            <ac:spMk id="3" creationId="{15B3FD8D-52EC-48C6-80BD-1B57A7444E39}"/>
          </ac:spMkLst>
        </pc:spChg>
        <pc:spChg chg="add del">
          <ac:chgData name="Kenneth Graf" userId="d1890dd4-deb6-4a9b-a156-5113ac77bda8" providerId="ADAL" clId="{B4D75719-A564-4678-9CB9-3846FE5EB7B7}" dt="2020-02-25T04:22:59.698" v="223"/>
          <ac:spMkLst>
            <pc:docMk/>
            <pc:sldMk cId="2629757167" sldId="315"/>
            <ac:spMk id="6" creationId="{20596D95-A39F-4F6D-867B-DF69E4F8DDA0}"/>
          </ac:spMkLst>
        </pc:spChg>
        <pc:graphicFrameChg chg="add mod ord modGraphic">
          <ac:chgData name="Kenneth Graf" userId="d1890dd4-deb6-4a9b-a156-5113ac77bda8" providerId="ADAL" clId="{B4D75719-A564-4678-9CB9-3846FE5EB7B7}" dt="2020-02-25T04:51:45.127" v="637" actId="1076"/>
          <ac:graphicFrameMkLst>
            <pc:docMk/>
            <pc:sldMk cId="2629757167" sldId="315"/>
            <ac:graphicFrameMk id="4" creationId="{88283D9E-AEB9-4BE0-88AB-448950909646}"/>
          </ac:graphicFrameMkLst>
        </pc:graphicFrameChg>
      </pc:sldChg>
      <pc:sldChg chg="addSp delSp modSp add">
        <pc:chgData name="Kenneth Graf" userId="d1890dd4-deb6-4a9b-a156-5113ac77bda8" providerId="ADAL" clId="{B4D75719-A564-4678-9CB9-3846FE5EB7B7}" dt="2020-03-01T17:05:07.037" v="1092" actId="207"/>
        <pc:sldMkLst>
          <pc:docMk/>
          <pc:sldMk cId="841545565" sldId="316"/>
        </pc:sldMkLst>
        <pc:spChg chg="mod">
          <ac:chgData name="Kenneth Graf" userId="d1890dd4-deb6-4a9b-a156-5113ac77bda8" providerId="ADAL" clId="{B4D75719-A564-4678-9CB9-3846FE5EB7B7}" dt="2020-03-01T17:04:57.691" v="1091" actId="207"/>
          <ac:spMkLst>
            <pc:docMk/>
            <pc:sldMk cId="841545565" sldId="316"/>
            <ac:spMk id="2" creationId="{F2DB5F67-822C-4C8E-A2B9-DD302D4DC85D}"/>
          </ac:spMkLst>
        </pc:spChg>
        <pc:spChg chg="del">
          <ac:chgData name="Kenneth Graf" userId="d1890dd4-deb6-4a9b-a156-5113ac77bda8" providerId="ADAL" clId="{B4D75719-A564-4678-9CB9-3846FE5EB7B7}" dt="2020-03-01T16:32:12.710" v="693" actId="3680"/>
          <ac:spMkLst>
            <pc:docMk/>
            <pc:sldMk cId="841545565" sldId="316"/>
            <ac:spMk id="3" creationId="{DAF8C9DF-88F2-4B51-B591-6E63DCFC501F}"/>
          </ac:spMkLst>
        </pc:spChg>
        <pc:graphicFrameChg chg="add mod ord modGraphic">
          <ac:chgData name="Kenneth Graf" userId="d1890dd4-deb6-4a9b-a156-5113ac77bda8" providerId="ADAL" clId="{B4D75719-A564-4678-9CB9-3846FE5EB7B7}" dt="2020-03-01T17:05:07.037" v="1092" actId="207"/>
          <ac:graphicFrameMkLst>
            <pc:docMk/>
            <pc:sldMk cId="841545565" sldId="316"/>
            <ac:graphicFrameMk id="4" creationId="{7D261241-2B29-4D22-88F7-CCCD81BB8672}"/>
          </ac:graphicFrameMkLst>
        </pc:graphicFrameChg>
      </pc:sldChg>
      <pc:sldChg chg="modSp add">
        <pc:chgData name="Kenneth Graf" userId="d1890dd4-deb6-4a9b-a156-5113ac77bda8" providerId="ADAL" clId="{B4D75719-A564-4678-9CB9-3846FE5EB7B7}" dt="2020-03-01T17:12:02.703" v="1159" actId="20577"/>
        <pc:sldMkLst>
          <pc:docMk/>
          <pc:sldMk cId="1139833587" sldId="317"/>
        </pc:sldMkLst>
        <pc:spChg chg="mod">
          <ac:chgData name="Kenneth Graf" userId="d1890dd4-deb6-4a9b-a156-5113ac77bda8" providerId="ADAL" clId="{B4D75719-A564-4678-9CB9-3846FE5EB7B7}" dt="2020-03-01T17:05:46.953" v="1094"/>
          <ac:spMkLst>
            <pc:docMk/>
            <pc:sldMk cId="1139833587" sldId="317"/>
            <ac:spMk id="2" creationId="{F2DB5F67-822C-4C8E-A2B9-DD302D4DC85D}"/>
          </ac:spMkLst>
        </pc:spChg>
        <pc:graphicFrameChg chg="mod modGraphic">
          <ac:chgData name="Kenneth Graf" userId="d1890dd4-deb6-4a9b-a156-5113ac77bda8" providerId="ADAL" clId="{B4D75719-A564-4678-9CB9-3846FE5EB7B7}" dt="2020-03-01T17:12:02.703" v="1159" actId="20577"/>
          <ac:graphicFrameMkLst>
            <pc:docMk/>
            <pc:sldMk cId="1139833587" sldId="317"/>
            <ac:graphicFrameMk id="4" creationId="{7D261241-2B29-4D22-88F7-CCCD81BB8672}"/>
          </ac:graphicFrameMkLst>
        </pc:graphicFrameChg>
      </pc:sldChg>
    </pc:docChg>
  </pc:docChgLst>
  <pc:docChgLst>
    <pc:chgData name="Kenneth Graf" userId="d1890dd4-deb6-4a9b-a156-5113ac77bda8" providerId="ADAL" clId="{94537C84-83A7-4A76-B48A-390BC5A60717}"/>
    <pc:docChg chg="custSel addSld delSld modSld sldOrd">
      <pc:chgData name="Kenneth Graf" userId="d1890dd4-deb6-4a9b-a156-5113ac77bda8" providerId="ADAL" clId="{94537C84-83A7-4A76-B48A-390BC5A60717}" dt="2020-01-19T16:39:41.205" v="271" actId="20577"/>
      <pc:docMkLst>
        <pc:docMk/>
      </pc:docMkLst>
      <pc:sldChg chg="modSp add del">
        <pc:chgData name="Kenneth Graf" userId="d1890dd4-deb6-4a9b-a156-5113ac77bda8" providerId="ADAL" clId="{94537C84-83A7-4A76-B48A-390BC5A60717}" dt="2020-01-19T16:28:43.521" v="203" actId="47"/>
        <pc:sldMkLst>
          <pc:docMk/>
          <pc:sldMk cId="3794759631" sldId="259"/>
        </pc:sldMkLst>
        <pc:spChg chg="mod">
          <ac:chgData name="Kenneth Graf" userId="d1890dd4-deb6-4a9b-a156-5113ac77bda8" providerId="ADAL" clId="{94537C84-83A7-4A76-B48A-390BC5A60717}" dt="2020-01-07T23:15:16.989" v="3" actId="27636"/>
          <ac:spMkLst>
            <pc:docMk/>
            <pc:sldMk cId="3794759631" sldId="259"/>
            <ac:spMk id="3" creationId="{00000000-0000-0000-0000-000000000000}"/>
          </ac:spMkLst>
        </pc:spChg>
      </pc:sldChg>
      <pc:sldChg chg="add">
        <pc:chgData name="Kenneth Graf" userId="d1890dd4-deb6-4a9b-a156-5113ac77bda8" providerId="ADAL" clId="{94537C84-83A7-4A76-B48A-390BC5A60717}" dt="2020-01-09T05:32:54.702" v="118"/>
        <pc:sldMkLst>
          <pc:docMk/>
          <pc:sldMk cId="1471413558" sldId="260"/>
        </pc:sldMkLst>
      </pc:sldChg>
      <pc:sldChg chg="add del">
        <pc:chgData name="Kenneth Graf" userId="d1890dd4-deb6-4a9b-a156-5113ac77bda8" providerId="ADAL" clId="{94537C84-83A7-4A76-B48A-390BC5A60717}" dt="2020-01-19T16:29:05.555" v="204" actId="47"/>
        <pc:sldMkLst>
          <pc:docMk/>
          <pc:sldMk cId="1111888751" sldId="261"/>
        </pc:sldMkLst>
      </pc:sldChg>
      <pc:sldChg chg="addSp modSp add">
        <pc:chgData name="Kenneth Graf" userId="d1890dd4-deb6-4a9b-a156-5113ac77bda8" providerId="ADAL" clId="{94537C84-83A7-4A76-B48A-390BC5A60717}" dt="2020-01-09T05:32:58.631" v="119"/>
        <pc:sldMkLst>
          <pc:docMk/>
          <pc:sldMk cId="3925157754" sldId="262"/>
        </pc:sldMkLst>
        <pc:spChg chg="add mod">
          <ac:chgData name="Kenneth Graf" userId="d1890dd4-deb6-4a9b-a156-5113ac77bda8" providerId="ADAL" clId="{94537C84-83A7-4A76-B48A-390BC5A60717}" dt="2020-01-09T05:32:58.631" v="119"/>
          <ac:spMkLst>
            <pc:docMk/>
            <pc:sldMk cId="3925157754" sldId="262"/>
            <ac:spMk id="2" creationId="{FAE3DC27-5B64-41B0-9B7E-FF0F91B58D1A}"/>
          </ac:spMkLst>
        </pc:spChg>
      </pc:sldChg>
      <pc:sldChg chg="addSp modSp add">
        <pc:chgData name="Kenneth Graf" userId="d1890dd4-deb6-4a9b-a156-5113ac77bda8" providerId="ADAL" clId="{94537C84-83A7-4A76-B48A-390BC5A60717}" dt="2020-01-09T05:32:58.631" v="119"/>
        <pc:sldMkLst>
          <pc:docMk/>
          <pc:sldMk cId="856041449" sldId="263"/>
        </pc:sldMkLst>
        <pc:spChg chg="add mod">
          <ac:chgData name="Kenneth Graf" userId="d1890dd4-deb6-4a9b-a156-5113ac77bda8" providerId="ADAL" clId="{94537C84-83A7-4A76-B48A-390BC5A60717}" dt="2020-01-09T05:32:58.631" v="119"/>
          <ac:spMkLst>
            <pc:docMk/>
            <pc:sldMk cId="856041449" sldId="263"/>
            <ac:spMk id="4" creationId="{EAB7B29D-DE35-4714-B1CC-13D5C4E098CC}"/>
          </ac:spMkLst>
        </pc:spChg>
        <pc:spChg chg="add mod">
          <ac:chgData name="Kenneth Graf" userId="d1890dd4-deb6-4a9b-a156-5113ac77bda8" providerId="ADAL" clId="{94537C84-83A7-4A76-B48A-390BC5A60717}" dt="2020-01-09T05:32:58.631" v="119"/>
          <ac:spMkLst>
            <pc:docMk/>
            <pc:sldMk cId="856041449" sldId="263"/>
            <ac:spMk id="5" creationId="{64DC677B-E8F4-40BC-AD95-7232C9973E10}"/>
          </ac:spMkLst>
        </pc:spChg>
      </pc:sldChg>
      <pc:sldChg chg="modSp add del">
        <pc:chgData name="Kenneth Graf" userId="d1890dd4-deb6-4a9b-a156-5113ac77bda8" providerId="ADAL" clId="{94537C84-83A7-4A76-B48A-390BC5A60717}" dt="2020-01-19T16:27:42.176" v="197" actId="47"/>
        <pc:sldMkLst>
          <pc:docMk/>
          <pc:sldMk cId="3185758145" sldId="264"/>
        </pc:sldMkLst>
        <pc:picChg chg="mod">
          <ac:chgData name="Kenneth Graf" userId="d1890dd4-deb6-4a9b-a156-5113ac77bda8" providerId="ADAL" clId="{94537C84-83A7-4A76-B48A-390BC5A60717}" dt="2020-01-07T23:16:10.090" v="14" actId="1076"/>
          <ac:picMkLst>
            <pc:docMk/>
            <pc:sldMk cId="3185758145" sldId="264"/>
            <ac:picMk id="4" creationId="{00000000-0000-0000-0000-000000000000}"/>
          </ac:picMkLst>
        </pc:picChg>
      </pc:sldChg>
      <pc:sldChg chg="modSp add">
        <pc:chgData name="Kenneth Graf" userId="d1890dd4-deb6-4a9b-a156-5113ac77bda8" providerId="ADAL" clId="{94537C84-83A7-4A76-B48A-390BC5A60717}" dt="2020-01-19T16:29:31.953" v="207" actId="14100"/>
        <pc:sldMkLst>
          <pc:docMk/>
          <pc:sldMk cId="2027560473" sldId="265"/>
        </pc:sldMkLst>
        <pc:picChg chg="mod">
          <ac:chgData name="Kenneth Graf" userId="d1890dd4-deb6-4a9b-a156-5113ac77bda8" providerId="ADAL" clId="{94537C84-83A7-4A76-B48A-390BC5A60717}" dt="2020-01-19T16:29:31.953" v="207" actId="14100"/>
          <ac:picMkLst>
            <pc:docMk/>
            <pc:sldMk cId="2027560473" sldId="265"/>
            <ac:picMk id="1026" creationId="{6AE14700-9D67-4A0B-8AFF-F239FE708FA6}"/>
          </ac:picMkLst>
        </pc:picChg>
      </pc:sldChg>
      <pc:sldChg chg="addSp delSp modSp add">
        <pc:chgData name="Kenneth Graf" userId="d1890dd4-deb6-4a9b-a156-5113ac77bda8" providerId="ADAL" clId="{94537C84-83A7-4A76-B48A-390BC5A60717}" dt="2020-01-07T23:18:36.416" v="27" actId="1076"/>
        <pc:sldMkLst>
          <pc:docMk/>
          <pc:sldMk cId="99397566" sldId="266"/>
        </pc:sldMkLst>
        <pc:spChg chg="add del mod">
          <ac:chgData name="Kenneth Graf" userId="d1890dd4-deb6-4a9b-a156-5113ac77bda8" providerId="ADAL" clId="{94537C84-83A7-4A76-B48A-390BC5A60717}" dt="2020-01-07T23:18:34.162" v="26" actId="478"/>
          <ac:spMkLst>
            <pc:docMk/>
            <pc:sldMk cId="99397566" sldId="266"/>
            <ac:spMk id="3" creationId="{6F340C06-08F4-4D8E-B75B-7A47D2EEC2A9}"/>
          </ac:spMkLst>
        </pc:spChg>
        <pc:picChg chg="mod">
          <ac:chgData name="Kenneth Graf" userId="d1890dd4-deb6-4a9b-a156-5113ac77bda8" providerId="ADAL" clId="{94537C84-83A7-4A76-B48A-390BC5A60717}" dt="2020-01-07T23:18:36.416" v="27" actId="1076"/>
          <ac:picMkLst>
            <pc:docMk/>
            <pc:sldMk cId="99397566" sldId="266"/>
            <ac:picMk id="3074" creationId="{00000000-0000-0000-0000-000000000000}"/>
          </ac:picMkLst>
        </pc:picChg>
      </pc:sldChg>
      <pc:sldChg chg="modSp">
        <pc:chgData name="Kenneth Graf" userId="d1890dd4-deb6-4a9b-a156-5113ac77bda8" providerId="ADAL" clId="{94537C84-83A7-4A76-B48A-390BC5A60717}" dt="2020-01-07T23:31:37.178" v="117" actId="20577"/>
        <pc:sldMkLst>
          <pc:docMk/>
          <pc:sldMk cId="1793285008" sldId="267"/>
        </pc:sldMkLst>
        <pc:spChg chg="mod">
          <ac:chgData name="Kenneth Graf" userId="d1890dd4-deb6-4a9b-a156-5113ac77bda8" providerId="ADAL" clId="{94537C84-83A7-4A76-B48A-390BC5A60717}" dt="2020-01-07T23:31:37.178" v="117" actId="20577"/>
          <ac:spMkLst>
            <pc:docMk/>
            <pc:sldMk cId="1793285008" sldId="267"/>
            <ac:spMk id="5" creationId="{00000000-0000-0000-0000-000000000000}"/>
          </ac:spMkLst>
        </pc:spChg>
      </pc:sldChg>
      <pc:sldChg chg="add">
        <pc:chgData name="Kenneth Graf" userId="d1890dd4-deb6-4a9b-a156-5113ac77bda8" providerId="ADAL" clId="{94537C84-83A7-4A76-B48A-390BC5A60717}" dt="2020-01-09T05:32:54.702" v="118"/>
        <pc:sldMkLst>
          <pc:docMk/>
          <pc:sldMk cId="470517882" sldId="268"/>
        </pc:sldMkLst>
      </pc:sldChg>
      <pc:sldChg chg="modSp add">
        <pc:chgData name="Kenneth Graf" userId="d1890dd4-deb6-4a9b-a156-5113ac77bda8" providerId="ADAL" clId="{94537C84-83A7-4A76-B48A-390BC5A60717}" dt="2020-01-07T23:14:56.991" v="1" actId="27636"/>
        <pc:sldMkLst>
          <pc:docMk/>
          <pc:sldMk cId="3955176625" sldId="269"/>
        </pc:sldMkLst>
        <pc:spChg chg="mod">
          <ac:chgData name="Kenneth Graf" userId="d1890dd4-deb6-4a9b-a156-5113ac77bda8" providerId="ADAL" clId="{94537C84-83A7-4A76-B48A-390BC5A60717}" dt="2020-01-07T23:14:56.991" v="1" actId="27636"/>
          <ac:spMkLst>
            <pc:docMk/>
            <pc:sldMk cId="3955176625" sldId="269"/>
            <ac:spMk id="3" creationId="{00000000-0000-0000-0000-000000000000}"/>
          </ac:spMkLst>
        </pc:spChg>
      </pc:sldChg>
      <pc:sldChg chg="add">
        <pc:chgData name="Kenneth Graf" userId="d1890dd4-deb6-4a9b-a156-5113ac77bda8" providerId="ADAL" clId="{94537C84-83A7-4A76-B48A-390BC5A60717}" dt="2020-01-07T23:14:56.909" v="0"/>
        <pc:sldMkLst>
          <pc:docMk/>
          <pc:sldMk cId="2599660538" sldId="270"/>
        </pc:sldMkLst>
      </pc:sldChg>
      <pc:sldChg chg="add">
        <pc:chgData name="Kenneth Graf" userId="d1890dd4-deb6-4a9b-a156-5113ac77bda8" providerId="ADAL" clId="{94537C84-83A7-4A76-B48A-390BC5A60717}" dt="2020-01-07T23:14:56.909" v="0"/>
        <pc:sldMkLst>
          <pc:docMk/>
          <pc:sldMk cId="720319497" sldId="271"/>
        </pc:sldMkLst>
      </pc:sldChg>
      <pc:sldChg chg="add">
        <pc:chgData name="Kenneth Graf" userId="d1890dd4-deb6-4a9b-a156-5113ac77bda8" providerId="ADAL" clId="{94537C84-83A7-4A76-B48A-390BC5A60717}" dt="2020-01-09T05:32:54.702" v="118"/>
        <pc:sldMkLst>
          <pc:docMk/>
          <pc:sldMk cId="507842421" sldId="272"/>
        </pc:sldMkLst>
      </pc:sldChg>
      <pc:sldChg chg="add del">
        <pc:chgData name="Kenneth Graf" userId="d1890dd4-deb6-4a9b-a156-5113ac77bda8" providerId="ADAL" clId="{94537C84-83A7-4A76-B48A-390BC5A60717}" dt="2020-01-07T23:18:20.388" v="23" actId="47"/>
        <pc:sldMkLst>
          <pc:docMk/>
          <pc:sldMk cId="1965591892" sldId="272"/>
        </pc:sldMkLst>
      </pc:sldChg>
      <pc:sldChg chg="addSp delSp modSp add">
        <pc:chgData name="Kenneth Graf" userId="d1890dd4-deb6-4a9b-a156-5113ac77bda8" providerId="ADAL" clId="{94537C84-83A7-4A76-B48A-390BC5A60717}" dt="2020-01-19T16:23:24.538" v="196" actId="14100"/>
        <pc:sldMkLst>
          <pc:docMk/>
          <pc:sldMk cId="2142372845" sldId="273"/>
        </pc:sldMkLst>
        <pc:spChg chg="add del mod">
          <ac:chgData name="Kenneth Graf" userId="d1890dd4-deb6-4a9b-a156-5113ac77bda8" providerId="ADAL" clId="{94537C84-83A7-4A76-B48A-390BC5A60717}" dt="2020-01-19T16:23:17.441" v="194" actId="931"/>
          <ac:spMkLst>
            <pc:docMk/>
            <pc:sldMk cId="2142372845" sldId="273"/>
            <ac:spMk id="5" creationId="{9EEAC900-7FFA-414A-8407-820A9B17EF34}"/>
          </ac:spMkLst>
        </pc:spChg>
        <pc:picChg chg="del mod">
          <ac:chgData name="Kenneth Graf" userId="d1890dd4-deb6-4a9b-a156-5113ac77bda8" providerId="ADAL" clId="{94537C84-83A7-4A76-B48A-390BC5A60717}" dt="2020-01-19T16:23:03.010" v="193" actId="478"/>
          <ac:picMkLst>
            <pc:docMk/>
            <pc:sldMk cId="2142372845" sldId="273"/>
            <ac:picMk id="4" creationId="{00000000-0000-0000-0000-000000000000}"/>
          </ac:picMkLst>
        </pc:picChg>
        <pc:picChg chg="add mod">
          <ac:chgData name="Kenneth Graf" userId="d1890dd4-deb6-4a9b-a156-5113ac77bda8" providerId="ADAL" clId="{94537C84-83A7-4A76-B48A-390BC5A60717}" dt="2020-01-19T16:23:24.538" v="196" actId="14100"/>
          <ac:picMkLst>
            <pc:docMk/>
            <pc:sldMk cId="2142372845" sldId="273"/>
            <ac:picMk id="7" creationId="{B6EDE3B2-D113-49BE-8F16-13A5FD2DD7CD}"/>
          </ac:picMkLst>
        </pc:picChg>
      </pc:sldChg>
      <pc:sldChg chg="modSp add del">
        <pc:chgData name="Kenneth Graf" userId="d1890dd4-deb6-4a9b-a156-5113ac77bda8" providerId="ADAL" clId="{94537C84-83A7-4A76-B48A-390BC5A60717}" dt="2020-01-19T16:29:08.471" v="205" actId="47"/>
        <pc:sldMkLst>
          <pc:docMk/>
          <pc:sldMk cId="3767314171" sldId="274"/>
        </pc:sldMkLst>
        <pc:graphicFrameChg chg="mod modGraphic">
          <ac:chgData name="Kenneth Graf" userId="d1890dd4-deb6-4a9b-a156-5113ac77bda8" providerId="ADAL" clId="{94537C84-83A7-4A76-B48A-390BC5A60717}" dt="2020-01-07T23:17:37.586" v="19" actId="1076"/>
          <ac:graphicFrameMkLst>
            <pc:docMk/>
            <pc:sldMk cId="3767314171" sldId="274"/>
            <ac:graphicFrameMk id="4" creationId="{00000000-0000-0000-0000-000000000000}"/>
          </ac:graphicFrameMkLst>
        </pc:graphicFrameChg>
      </pc:sldChg>
      <pc:sldChg chg="delSp modSp add">
        <pc:chgData name="Kenneth Graf" userId="d1890dd4-deb6-4a9b-a156-5113ac77bda8" providerId="ADAL" clId="{94537C84-83A7-4A76-B48A-390BC5A60717}" dt="2020-01-19T16:28:21.128" v="202"/>
        <pc:sldMkLst>
          <pc:docMk/>
          <pc:sldMk cId="1887115412" sldId="275"/>
        </pc:sldMkLst>
        <pc:spChg chg="del mod">
          <ac:chgData name="Kenneth Graf" userId="d1890dd4-deb6-4a9b-a156-5113ac77bda8" providerId="ADAL" clId="{94537C84-83A7-4A76-B48A-390BC5A60717}" dt="2020-01-19T16:28:21.128" v="202"/>
          <ac:spMkLst>
            <pc:docMk/>
            <pc:sldMk cId="1887115412" sldId="275"/>
            <ac:spMk id="5" creationId="{00000000-0000-0000-0000-000000000000}"/>
          </ac:spMkLst>
        </pc:spChg>
        <pc:picChg chg="mod ord">
          <ac:chgData name="Kenneth Graf" userId="d1890dd4-deb6-4a9b-a156-5113ac77bda8" providerId="ADAL" clId="{94537C84-83A7-4A76-B48A-390BC5A60717}" dt="2020-01-19T16:28:18.839" v="200" actId="167"/>
          <ac:picMkLst>
            <pc:docMk/>
            <pc:sldMk cId="1887115412" sldId="275"/>
            <ac:picMk id="4" creationId="{00000000-0000-0000-0000-000000000000}"/>
          </ac:picMkLst>
        </pc:picChg>
      </pc:sldChg>
      <pc:sldChg chg="addSp delSp modSp add">
        <pc:chgData name="Kenneth Graf" userId="d1890dd4-deb6-4a9b-a156-5113ac77bda8" providerId="ADAL" clId="{94537C84-83A7-4A76-B48A-390BC5A60717}" dt="2020-01-09T05:33:03.637" v="121"/>
        <pc:sldMkLst>
          <pc:docMk/>
          <pc:sldMk cId="1772423719" sldId="276"/>
        </pc:sldMkLst>
        <pc:spChg chg="add del mod">
          <ac:chgData name="Kenneth Graf" userId="d1890dd4-deb6-4a9b-a156-5113ac77bda8" providerId="ADAL" clId="{94537C84-83A7-4A76-B48A-390BC5A60717}" dt="2020-01-09T05:33:03.637" v="121"/>
          <ac:spMkLst>
            <pc:docMk/>
            <pc:sldMk cId="1772423719" sldId="276"/>
            <ac:spMk id="2" creationId="{4389FC51-7EC9-49CD-9665-65629BD0C89B}"/>
          </ac:spMkLst>
        </pc:spChg>
        <pc:spChg chg="add mod">
          <ac:chgData name="Kenneth Graf" userId="d1890dd4-deb6-4a9b-a156-5113ac77bda8" providerId="ADAL" clId="{94537C84-83A7-4A76-B48A-390BC5A60717}" dt="2020-01-09T05:33:03.637" v="121"/>
          <ac:spMkLst>
            <pc:docMk/>
            <pc:sldMk cId="1772423719" sldId="276"/>
            <ac:spMk id="3" creationId="{30339020-0433-41D0-96B6-6FF579E93CD4}"/>
          </ac:spMkLst>
        </pc:spChg>
        <pc:spChg chg="del">
          <ac:chgData name="Kenneth Graf" userId="d1890dd4-deb6-4a9b-a156-5113ac77bda8" providerId="ADAL" clId="{94537C84-83A7-4A76-B48A-390BC5A60717}" dt="2020-01-09T05:32:58.631" v="119"/>
          <ac:spMkLst>
            <pc:docMk/>
            <pc:sldMk cId="1772423719" sldId="276"/>
            <ac:spMk id="4" creationId="{00000000-0000-0000-0000-000000000000}"/>
          </ac:spMkLst>
        </pc:spChg>
      </pc:sldChg>
      <pc:sldChg chg="modSp add">
        <pc:chgData name="Kenneth Graf" userId="d1890dd4-deb6-4a9b-a156-5113ac77bda8" providerId="ADAL" clId="{94537C84-83A7-4A76-B48A-390BC5A60717}" dt="2020-01-07T23:15:17" v="4" actId="27636"/>
        <pc:sldMkLst>
          <pc:docMk/>
          <pc:sldMk cId="3686155075" sldId="277"/>
        </pc:sldMkLst>
        <pc:spChg chg="mod">
          <ac:chgData name="Kenneth Graf" userId="d1890dd4-deb6-4a9b-a156-5113ac77bda8" providerId="ADAL" clId="{94537C84-83A7-4A76-B48A-390BC5A60717}" dt="2020-01-07T23:15:17" v="4" actId="27636"/>
          <ac:spMkLst>
            <pc:docMk/>
            <pc:sldMk cId="3686155075" sldId="277"/>
            <ac:spMk id="3" creationId="{00000000-0000-0000-0000-000000000000}"/>
          </ac:spMkLst>
        </pc:spChg>
      </pc:sldChg>
      <pc:sldChg chg="add">
        <pc:chgData name="Kenneth Graf" userId="d1890dd4-deb6-4a9b-a156-5113ac77bda8" providerId="ADAL" clId="{94537C84-83A7-4A76-B48A-390BC5A60717}" dt="2020-01-07T23:14:56.909" v="0"/>
        <pc:sldMkLst>
          <pc:docMk/>
          <pc:sldMk cId="152975079" sldId="278"/>
        </pc:sldMkLst>
      </pc:sldChg>
      <pc:sldChg chg="add">
        <pc:chgData name="Kenneth Graf" userId="d1890dd4-deb6-4a9b-a156-5113ac77bda8" providerId="ADAL" clId="{94537C84-83A7-4A76-B48A-390BC5A60717}" dt="2020-01-07T23:14:56.909" v="0"/>
        <pc:sldMkLst>
          <pc:docMk/>
          <pc:sldMk cId="2429492393" sldId="280"/>
        </pc:sldMkLst>
      </pc:sldChg>
      <pc:sldChg chg="add">
        <pc:chgData name="Kenneth Graf" userId="d1890dd4-deb6-4a9b-a156-5113ac77bda8" providerId="ADAL" clId="{94537C84-83A7-4A76-B48A-390BC5A60717}" dt="2020-01-07T23:14:56.909" v="0"/>
        <pc:sldMkLst>
          <pc:docMk/>
          <pc:sldMk cId="4037283744" sldId="281"/>
        </pc:sldMkLst>
      </pc:sldChg>
      <pc:sldChg chg="add">
        <pc:chgData name="Kenneth Graf" userId="d1890dd4-deb6-4a9b-a156-5113ac77bda8" providerId="ADAL" clId="{94537C84-83A7-4A76-B48A-390BC5A60717}" dt="2020-01-07T23:22:15.821" v="43"/>
        <pc:sldMkLst>
          <pc:docMk/>
          <pc:sldMk cId="70990889" sldId="282"/>
        </pc:sldMkLst>
      </pc:sldChg>
      <pc:sldChg chg="addSp delSp modSp add del">
        <pc:chgData name="Kenneth Graf" userId="d1890dd4-deb6-4a9b-a156-5113ac77bda8" providerId="ADAL" clId="{94537C84-83A7-4A76-B48A-390BC5A60717}" dt="2020-01-07T23:18:18.354" v="22" actId="47"/>
        <pc:sldMkLst>
          <pc:docMk/>
          <pc:sldMk cId="1893319252" sldId="282"/>
        </pc:sldMkLst>
        <pc:spChg chg="del">
          <ac:chgData name="Kenneth Graf" userId="d1890dd4-deb6-4a9b-a156-5113ac77bda8" providerId="ADAL" clId="{94537C84-83A7-4A76-B48A-390BC5A60717}" dt="2020-01-07T23:15:16.969" v="2"/>
          <ac:spMkLst>
            <pc:docMk/>
            <pc:sldMk cId="1893319252" sldId="282"/>
            <ac:spMk id="2" creationId="{518A92DF-53F3-4BB9-BE0D-5E81ED52A6A9}"/>
          </ac:spMkLst>
        </pc:spChg>
        <pc:spChg chg="add mod">
          <ac:chgData name="Kenneth Graf" userId="d1890dd4-deb6-4a9b-a156-5113ac77bda8" providerId="ADAL" clId="{94537C84-83A7-4A76-B48A-390BC5A60717}" dt="2020-01-07T23:15:16.969" v="2"/>
          <ac:spMkLst>
            <pc:docMk/>
            <pc:sldMk cId="1893319252" sldId="282"/>
            <ac:spMk id="3" creationId="{D4FDA1EA-8DCB-4D1E-A10D-DEC31525E6E4}"/>
          </ac:spMkLst>
        </pc:spChg>
        <pc:picChg chg="mod">
          <ac:chgData name="Kenneth Graf" userId="d1890dd4-deb6-4a9b-a156-5113ac77bda8" providerId="ADAL" clId="{94537C84-83A7-4A76-B48A-390BC5A60717}" dt="2020-01-07T23:18:03.478" v="21" actId="14100"/>
          <ac:picMkLst>
            <pc:docMk/>
            <pc:sldMk cId="1893319252" sldId="282"/>
            <ac:picMk id="5" creationId="{4396BA79-BF5E-4435-9D70-5CBD3DF3C609}"/>
          </ac:picMkLst>
        </pc:picChg>
      </pc:sldChg>
      <pc:sldChg chg="modSp add">
        <pc:chgData name="Kenneth Graf" userId="d1890dd4-deb6-4a9b-a156-5113ac77bda8" providerId="ADAL" clId="{94537C84-83A7-4A76-B48A-390BC5A60717}" dt="2020-01-07T23:15:17.009" v="5" actId="27636"/>
        <pc:sldMkLst>
          <pc:docMk/>
          <pc:sldMk cId="2790820090" sldId="283"/>
        </pc:sldMkLst>
        <pc:spChg chg="mod">
          <ac:chgData name="Kenneth Graf" userId="d1890dd4-deb6-4a9b-a156-5113ac77bda8" providerId="ADAL" clId="{94537C84-83A7-4A76-B48A-390BC5A60717}" dt="2020-01-07T23:15:17.009" v="5" actId="27636"/>
          <ac:spMkLst>
            <pc:docMk/>
            <pc:sldMk cId="2790820090" sldId="283"/>
            <ac:spMk id="3" creationId="{00000000-0000-0000-0000-000000000000}"/>
          </ac:spMkLst>
        </pc:spChg>
      </pc:sldChg>
      <pc:sldChg chg="add del">
        <pc:chgData name="Kenneth Graf" userId="d1890dd4-deb6-4a9b-a156-5113ac77bda8" providerId="ADAL" clId="{94537C84-83A7-4A76-B48A-390BC5A60717}" dt="2020-01-07T23:20:09.651" v="42" actId="47"/>
        <pc:sldMkLst>
          <pc:docMk/>
          <pc:sldMk cId="1061817548" sldId="284"/>
        </pc:sldMkLst>
      </pc:sldChg>
      <pc:sldChg chg="modSp add">
        <pc:chgData name="Kenneth Graf" userId="d1890dd4-deb6-4a9b-a156-5113ac77bda8" providerId="ADAL" clId="{94537C84-83A7-4A76-B48A-390BC5A60717}" dt="2020-01-07T23:22:15.881" v="46" actId="27636"/>
        <pc:sldMkLst>
          <pc:docMk/>
          <pc:sldMk cId="3679690412" sldId="284"/>
        </pc:sldMkLst>
        <pc:spChg chg="mod">
          <ac:chgData name="Kenneth Graf" userId="d1890dd4-deb6-4a9b-a156-5113ac77bda8" providerId="ADAL" clId="{94537C84-83A7-4A76-B48A-390BC5A60717}" dt="2020-01-07T23:22:15.881" v="46" actId="27636"/>
          <ac:spMkLst>
            <pc:docMk/>
            <pc:sldMk cId="3679690412" sldId="284"/>
            <ac:spMk id="3" creationId="{7D480ACE-FDD6-43DC-8592-2C8CF1768BA5}"/>
          </ac:spMkLst>
        </pc:spChg>
      </pc:sldChg>
      <pc:sldChg chg="delSp modSp add">
        <pc:chgData name="Kenneth Graf" userId="d1890dd4-deb6-4a9b-a156-5113ac77bda8" providerId="ADAL" clId="{94537C84-83A7-4A76-B48A-390BC5A60717}" dt="2020-01-07T23:20:03.803" v="41" actId="478"/>
        <pc:sldMkLst>
          <pc:docMk/>
          <pc:sldMk cId="3239579462" sldId="285"/>
        </pc:sldMkLst>
        <pc:spChg chg="del">
          <ac:chgData name="Kenneth Graf" userId="d1890dd4-deb6-4a9b-a156-5113ac77bda8" providerId="ADAL" clId="{94537C84-83A7-4A76-B48A-390BC5A60717}" dt="2020-01-07T23:20:03.803" v="41" actId="478"/>
          <ac:spMkLst>
            <pc:docMk/>
            <pc:sldMk cId="3239579462" sldId="285"/>
            <ac:spMk id="4" creationId="{00000000-0000-0000-0000-000000000000}"/>
          </ac:spMkLst>
        </pc:spChg>
        <pc:spChg chg="mod">
          <ac:chgData name="Kenneth Graf" userId="d1890dd4-deb6-4a9b-a156-5113ac77bda8" providerId="ADAL" clId="{94537C84-83A7-4A76-B48A-390BC5A60717}" dt="2020-01-07T23:19:57.681" v="40" actId="6549"/>
          <ac:spMkLst>
            <pc:docMk/>
            <pc:sldMk cId="3239579462" sldId="285"/>
            <ac:spMk id="5" creationId="{00000000-0000-0000-0000-000000000000}"/>
          </ac:spMkLst>
        </pc:spChg>
      </pc:sldChg>
      <pc:sldChg chg="add">
        <pc:chgData name="Kenneth Graf" userId="d1890dd4-deb6-4a9b-a156-5113ac77bda8" providerId="ADAL" clId="{94537C84-83A7-4A76-B48A-390BC5A60717}" dt="2020-01-07T23:22:15.821" v="43"/>
        <pc:sldMkLst>
          <pc:docMk/>
          <pc:sldMk cId="901478504" sldId="286"/>
        </pc:sldMkLst>
      </pc:sldChg>
      <pc:sldChg chg="add">
        <pc:chgData name="Kenneth Graf" userId="d1890dd4-deb6-4a9b-a156-5113ac77bda8" providerId="ADAL" clId="{94537C84-83A7-4A76-B48A-390BC5A60717}" dt="2020-01-07T23:22:15.821" v="43"/>
        <pc:sldMkLst>
          <pc:docMk/>
          <pc:sldMk cId="1011321030" sldId="287"/>
        </pc:sldMkLst>
      </pc:sldChg>
      <pc:sldChg chg="add">
        <pc:chgData name="Kenneth Graf" userId="d1890dd4-deb6-4a9b-a156-5113ac77bda8" providerId="ADAL" clId="{94537C84-83A7-4A76-B48A-390BC5A60717}" dt="2020-01-07T23:22:15.821" v="43"/>
        <pc:sldMkLst>
          <pc:docMk/>
          <pc:sldMk cId="826742349" sldId="288"/>
        </pc:sldMkLst>
      </pc:sldChg>
      <pc:sldChg chg="add">
        <pc:chgData name="Kenneth Graf" userId="d1890dd4-deb6-4a9b-a156-5113ac77bda8" providerId="ADAL" clId="{94537C84-83A7-4A76-B48A-390BC5A60717}" dt="2020-01-07T23:22:15.821" v="43"/>
        <pc:sldMkLst>
          <pc:docMk/>
          <pc:sldMk cId="3756683085" sldId="289"/>
        </pc:sldMkLst>
      </pc:sldChg>
      <pc:sldChg chg="modSp add">
        <pc:chgData name="Kenneth Graf" userId="d1890dd4-deb6-4a9b-a156-5113ac77bda8" providerId="ADAL" clId="{94537C84-83A7-4A76-B48A-390BC5A60717}" dt="2020-01-07T23:26:57.209" v="83" actId="14100"/>
        <pc:sldMkLst>
          <pc:docMk/>
          <pc:sldMk cId="1992686725" sldId="290"/>
        </pc:sldMkLst>
        <pc:picChg chg="mod">
          <ac:chgData name="Kenneth Graf" userId="d1890dd4-deb6-4a9b-a156-5113ac77bda8" providerId="ADAL" clId="{94537C84-83A7-4A76-B48A-390BC5A60717}" dt="2020-01-07T23:26:57.209" v="83" actId="14100"/>
          <ac:picMkLst>
            <pc:docMk/>
            <pc:sldMk cId="1992686725" sldId="290"/>
            <ac:picMk id="5" creationId="{8D2D58E1-F5F0-453E-B69E-E58B03874ABC}"/>
          </ac:picMkLst>
        </pc:picChg>
      </pc:sldChg>
      <pc:sldChg chg="add">
        <pc:chgData name="Kenneth Graf" userId="d1890dd4-deb6-4a9b-a156-5113ac77bda8" providerId="ADAL" clId="{94537C84-83A7-4A76-B48A-390BC5A60717}" dt="2020-01-07T23:22:15.821" v="43"/>
        <pc:sldMkLst>
          <pc:docMk/>
          <pc:sldMk cId="2529133388" sldId="291"/>
        </pc:sldMkLst>
      </pc:sldChg>
      <pc:sldChg chg="add">
        <pc:chgData name="Kenneth Graf" userId="d1890dd4-deb6-4a9b-a156-5113ac77bda8" providerId="ADAL" clId="{94537C84-83A7-4A76-B48A-390BC5A60717}" dt="2020-01-07T23:22:15.821" v="43"/>
        <pc:sldMkLst>
          <pc:docMk/>
          <pc:sldMk cId="1438787040" sldId="292"/>
        </pc:sldMkLst>
      </pc:sldChg>
      <pc:sldChg chg="add">
        <pc:chgData name="Kenneth Graf" userId="d1890dd4-deb6-4a9b-a156-5113ac77bda8" providerId="ADAL" clId="{94537C84-83A7-4A76-B48A-390BC5A60717}" dt="2020-01-07T23:22:15.821" v="43"/>
        <pc:sldMkLst>
          <pc:docMk/>
          <pc:sldMk cId="407492552" sldId="293"/>
        </pc:sldMkLst>
      </pc:sldChg>
      <pc:sldChg chg="add">
        <pc:chgData name="Kenneth Graf" userId="d1890dd4-deb6-4a9b-a156-5113ac77bda8" providerId="ADAL" clId="{94537C84-83A7-4A76-B48A-390BC5A60717}" dt="2020-01-07T23:22:15.821" v="43"/>
        <pc:sldMkLst>
          <pc:docMk/>
          <pc:sldMk cId="3709542824" sldId="294"/>
        </pc:sldMkLst>
      </pc:sldChg>
      <pc:sldChg chg="modSp add ord modNotesTx">
        <pc:chgData name="Kenneth Graf" userId="d1890dd4-deb6-4a9b-a156-5113ac77bda8" providerId="ADAL" clId="{94537C84-83A7-4A76-B48A-390BC5A60717}" dt="2020-01-19T15:58:57.567" v="189" actId="20577"/>
        <pc:sldMkLst>
          <pc:docMk/>
          <pc:sldMk cId="1000786239" sldId="295"/>
        </pc:sldMkLst>
        <pc:picChg chg="mod">
          <ac:chgData name="Kenneth Graf" userId="d1890dd4-deb6-4a9b-a156-5113ac77bda8" providerId="ADAL" clId="{94537C84-83A7-4A76-B48A-390BC5A60717}" dt="2020-01-19T15:57:57.194" v="132" actId="14100"/>
          <ac:picMkLst>
            <pc:docMk/>
            <pc:sldMk cId="1000786239" sldId="295"/>
            <ac:picMk id="4" creationId="{9740C3F4-23BE-4F7D-A928-11A45FAC46B6}"/>
          </ac:picMkLst>
        </pc:picChg>
      </pc:sldChg>
      <pc:sldChg chg="modSp add del ord">
        <pc:chgData name="Kenneth Graf" userId="d1890dd4-deb6-4a9b-a156-5113ac77bda8" providerId="ADAL" clId="{94537C84-83A7-4A76-B48A-390BC5A60717}" dt="2020-01-19T15:59:05.532" v="190" actId="47"/>
        <pc:sldMkLst>
          <pc:docMk/>
          <pc:sldMk cId="3179317555" sldId="296"/>
        </pc:sldMkLst>
        <pc:spChg chg="mod">
          <ac:chgData name="Kenneth Graf" userId="d1890dd4-deb6-4a9b-a156-5113ac77bda8" providerId="ADAL" clId="{94537C84-83A7-4A76-B48A-390BC5A60717}" dt="2020-01-19T15:58:23.811" v="134" actId="27636"/>
          <ac:spMkLst>
            <pc:docMk/>
            <pc:sldMk cId="3179317555" sldId="296"/>
            <ac:spMk id="3" creationId="{4EA9841D-2F4E-4B01-B0DF-0BD9E82A3C54}"/>
          </ac:spMkLst>
        </pc:spChg>
      </pc:sldChg>
      <pc:sldChg chg="addSp delSp modSp add ord">
        <pc:chgData name="Kenneth Graf" userId="d1890dd4-deb6-4a9b-a156-5113ac77bda8" providerId="ADAL" clId="{94537C84-83A7-4A76-B48A-390BC5A60717}" dt="2020-01-19T15:59:48.569" v="192"/>
        <pc:sldMkLst>
          <pc:docMk/>
          <pc:sldMk cId="500610842" sldId="297"/>
        </pc:sldMkLst>
        <pc:spChg chg="del">
          <ac:chgData name="Kenneth Graf" userId="d1890dd4-deb6-4a9b-a156-5113ac77bda8" providerId="ADAL" clId="{94537C84-83A7-4A76-B48A-390BC5A60717}" dt="2020-01-07T23:22:23.438" v="49"/>
          <ac:spMkLst>
            <pc:docMk/>
            <pc:sldMk cId="500610842" sldId="297"/>
            <ac:spMk id="2" creationId="{A164BB07-C0C9-4AB4-9B1D-3B5289FB7DE2}"/>
          </ac:spMkLst>
        </pc:spChg>
        <pc:spChg chg="add mod">
          <ac:chgData name="Kenneth Graf" userId="d1890dd4-deb6-4a9b-a156-5113ac77bda8" providerId="ADAL" clId="{94537C84-83A7-4A76-B48A-390BC5A60717}" dt="2020-01-07T23:26:11.084" v="79" actId="27636"/>
          <ac:spMkLst>
            <pc:docMk/>
            <pc:sldMk cId="500610842" sldId="297"/>
            <ac:spMk id="3" creationId="{2A8DA95A-A953-42A8-8226-B45039BF3ADC}"/>
          </ac:spMkLst>
        </pc:spChg>
        <pc:spChg chg="add del mod">
          <ac:chgData name="Kenneth Graf" userId="d1890dd4-deb6-4a9b-a156-5113ac77bda8" providerId="ADAL" clId="{94537C84-83A7-4A76-B48A-390BC5A60717}" dt="2020-01-07T23:26:02.642" v="77" actId="931"/>
          <ac:spMkLst>
            <pc:docMk/>
            <pc:sldMk cId="500610842" sldId="297"/>
            <ac:spMk id="7" creationId="{6F9268D8-61B6-44DC-BCC3-DE484C1F37A6}"/>
          </ac:spMkLst>
        </pc:spChg>
        <pc:picChg chg="del">
          <ac:chgData name="Kenneth Graf" userId="d1890dd4-deb6-4a9b-a156-5113ac77bda8" providerId="ADAL" clId="{94537C84-83A7-4A76-B48A-390BC5A60717}" dt="2020-01-07T23:25:41.797" v="76" actId="478"/>
          <ac:picMkLst>
            <pc:docMk/>
            <pc:sldMk cId="500610842" sldId="297"/>
            <ac:picMk id="5" creationId="{D724EE51-481C-4F82-AAF5-C30B869B3391}"/>
          </ac:picMkLst>
        </pc:picChg>
        <pc:picChg chg="add mod">
          <ac:chgData name="Kenneth Graf" userId="d1890dd4-deb6-4a9b-a156-5113ac77bda8" providerId="ADAL" clId="{94537C84-83A7-4A76-B48A-390BC5A60717}" dt="2020-01-07T23:26:23.074" v="81" actId="14100"/>
          <ac:picMkLst>
            <pc:docMk/>
            <pc:sldMk cId="500610842" sldId="297"/>
            <ac:picMk id="9" creationId="{1D357ABF-A4B5-4E98-9E0B-6611C62C3A5F}"/>
          </ac:picMkLst>
        </pc:picChg>
      </pc:sldChg>
      <pc:sldChg chg="modSp add">
        <pc:chgData name="Kenneth Graf" userId="d1890dd4-deb6-4a9b-a156-5113ac77bda8" providerId="ADAL" clId="{94537C84-83A7-4A76-B48A-390BC5A60717}" dt="2020-01-07T23:25:19.512" v="75" actId="27636"/>
        <pc:sldMkLst>
          <pc:docMk/>
          <pc:sldMk cId="1888286458" sldId="298"/>
        </pc:sldMkLst>
        <pc:spChg chg="mod">
          <ac:chgData name="Kenneth Graf" userId="d1890dd4-deb6-4a9b-a156-5113ac77bda8" providerId="ADAL" clId="{94537C84-83A7-4A76-B48A-390BC5A60717}" dt="2020-01-07T23:25:19.512" v="75" actId="27636"/>
          <ac:spMkLst>
            <pc:docMk/>
            <pc:sldMk cId="1888286458" sldId="298"/>
            <ac:spMk id="3" creationId="{D132E926-5FFD-4B94-969B-3E9971640B8B}"/>
          </ac:spMkLst>
        </pc:spChg>
      </pc:sldChg>
      <pc:sldChg chg="add del">
        <pc:chgData name="Kenneth Graf" userId="d1890dd4-deb6-4a9b-a156-5113ac77bda8" providerId="ADAL" clId="{94537C84-83A7-4A76-B48A-390BC5A60717}" dt="2020-01-07T23:26:30.286" v="82" actId="47"/>
        <pc:sldMkLst>
          <pc:docMk/>
          <pc:sldMk cId="3631615193" sldId="299"/>
        </pc:sldMkLst>
      </pc:sldChg>
      <pc:sldChg chg="modSp add">
        <pc:chgData name="Kenneth Graf" userId="d1890dd4-deb6-4a9b-a156-5113ac77bda8" providerId="ADAL" clId="{94537C84-83A7-4A76-B48A-390BC5A60717}" dt="2020-01-07T23:22:15.871" v="44" actId="27636"/>
        <pc:sldMkLst>
          <pc:docMk/>
          <pc:sldMk cId="3181692623" sldId="300"/>
        </pc:sldMkLst>
        <pc:spChg chg="mod">
          <ac:chgData name="Kenneth Graf" userId="d1890dd4-deb6-4a9b-a156-5113ac77bda8" providerId="ADAL" clId="{94537C84-83A7-4A76-B48A-390BC5A60717}" dt="2020-01-07T23:22:15.871" v="44" actId="27636"/>
          <ac:spMkLst>
            <pc:docMk/>
            <pc:sldMk cId="3181692623" sldId="300"/>
            <ac:spMk id="3" creationId="{E9702A09-0EC5-43CE-A707-FDC86E896474}"/>
          </ac:spMkLst>
        </pc:spChg>
      </pc:sldChg>
      <pc:sldChg chg="modSp add">
        <pc:chgData name="Kenneth Graf" userId="d1890dd4-deb6-4a9b-a156-5113ac77bda8" providerId="ADAL" clId="{94537C84-83A7-4A76-B48A-390BC5A60717}" dt="2020-01-07T23:22:15.877" v="45" actId="27636"/>
        <pc:sldMkLst>
          <pc:docMk/>
          <pc:sldMk cId="4083677365" sldId="301"/>
        </pc:sldMkLst>
        <pc:spChg chg="mod">
          <ac:chgData name="Kenneth Graf" userId="d1890dd4-deb6-4a9b-a156-5113ac77bda8" providerId="ADAL" clId="{94537C84-83A7-4A76-B48A-390BC5A60717}" dt="2020-01-07T23:22:15.877" v="45" actId="27636"/>
          <ac:spMkLst>
            <pc:docMk/>
            <pc:sldMk cId="4083677365" sldId="301"/>
            <ac:spMk id="3" creationId="{71BB75E3-12A6-47AB-A919-F4E19C037C08}"/>
          </ac:spMkLst>
        </pc:spChg>
      </pc:sldChg>
      <pc:sldChg chg="modSp add">
        <pc:chgData name="Kenneth Graf" userId="d1890dd4-deb6-4a9b-a156-5113ac77bda8" providerId="ADAL" clId="{94537C84-83A7-4A76-B48A-390BC5A60717}" dt="2020-01-07T23:22:15.887" v="47" actId="27636"/>
        <pc:sldMkLst>
          <pc:docMk/>
          <pc:sldMk cId="2016055063" sldId="302"/>
        </pc:sldMkLst>
        <pc:spChg chg="mod">
          <ac:chgData name="Kenneth Graf" userId="d1890dd4-deb6-4a9b-a156-5113ac77bda8" providerId="ADAL" clId="{94537C84-83A7-4A76-B48A-390BC5A60717}" dt="2020-01-07T23:22:15.887" v="47" actId="27636"/>
          <ac:spMkLst>
            <pc:docMk/>
            <pc:sldMk cId="2016055063" sldId="302"/>
            <ac:spMk id="3" creationId="{05BE3B7E-FFFC-4D11-82AB-90B9FC88F474}"/>
          </ac:spMkLst>
        </pc:spChg>
      </pc:sldChg>
      <pc:sldChg chg="addSp delSp modSp add">
        <pc:chgData name="Kenneth Graf" userId="d1890dd4-deb6-4a9b-a156-5113ac77bda8" providerId="ADAL" clId="{94537C84-83A7-4A76-B48A-390BC5A60717}" dt="2020-01-19T16:39:41.205" v="271" actId="20577"/>
        <pc:sldMkLst>
          <pc:docMk/>
          <pc:sldMk cId="2376154704" sldId="303"/>
        </pc:sldMkLst>
        <pc:spChg chg="mod">
          <ac:chgData name="Kenneth Graf" userId="d1890dd4-deb6-4a9b-a156-5113ac77bda8" providerId="ADAL" clId="{94537C84-83A7-4A76-B48A-390BC5A60717}" dt="2020-01-19T16:39:41.205" v="271" actId="20577"/>
          <ac:spMkLst>
            <pc:docMk/>
            <pc:sldMk cId="2376154704" sldId="303"/>
            <ac:spMk id="2" creationId="{00000000-0000-0000-0000-000000000000}"/>
          </ac:spMkLst>
        </pc:spChg>
        <pc:spChg chg="del">
          <ac:chgData name="Kenneth Graf" userId="d1890dd4-deb6-4a9b-a156-5113ac77bda8" providerId="ADAL" clId="{94537C84-83A7-4A76-B48A-390BC5A60717}" dt="2020-01-09T05:32:58.631" v="119"/>
          <ac:spMkLst>
            <pc:docMk/>
            <pc:sldMk cId="2376154704" sldId="303"/>
            <ac:spMk id="3" creationId="{00000000-0000-0000-0000-000000000000}"/>
          </ac:spMkLst>
        </pc:spChg>
        <pc:spChg chg="add mod">
          <ac:chgData name="Kenneth Graf" userId="d1890dd4-deb6-4a9b-a156-5113ac77bda8" providerId="ADAL" clId="{94537C84-83A7-4A76-B48A-390BC5A60717}" dt="2020-01-09T05:32:58.631" v="119"/>
          <ac:spMkLst>
            <pc:docMk/>
            <pc:sldMk cId="2376154704" sldId="303"/>
            <ac:spMk id="4" creationId="{E2E4D59C-B57F-44F8-8754-03FB9A82A88D}"/>
          </ac:spMkLst>
        </pc:spChg>
      </pc:sldChg>
      <pc:sldChg chg="addSp modSp add">
        <pc:chgData name="Kenneth Graf" userId="d1890dd4-deb6-4a9b-a156-5113ac77bda8" providerId="ADAL" clId="{94537C84-83A7-4A76-B48A-390BC5A60717}" dt="2020-01-09T05:32:58.631" v="119"/>
        <pc:sldMkLst>
          <pc:docMk/>
          <pc:sldMk cId="1021488331" sldId="304"/>
        </pc:sldMkLst>
        <pc:spChg chg="add mod">
          <ac:chgData name="Kenneth Graf" userId="d1890dd4-deb6-4a9b-a156-5113ac77bda8" providerId="ADAL" clId="{94537C84-83A7-4A76-B48A-390BC5A60717}" dt="2020-01-09T05:32:58.631" v="119"/>
          <ac:spMkLst>
            <pc:docMk/>
            <pc:sldMk cId="1021488331" sldId="304"/>
            <ac:spMk id="2" creationId="{34BFDDE3-C345-4EFE-A9A3-A10CC70FC606}"/>
          </ac:spMkLst>
        </pc:spChg>
        <pc:spChg chg="add mod">
          <ac:chgData name="Kenneth Graf" userId="d1890dd4-deb6-4a9b-a156-5113ac77bda8" providerId="ADAL" clId="{94537C84-83A7-4A76-B48A-390BC5A60717}" dt="2020-01-09T05:32:58.631" v="119"/>
          <ac:spMkLst>
            <pc:docMk/>
            <pc:sldMk cId="1021488331" sldId="304"/>
            <ac:spMk id="7" creationId="{9559EA7F-F178-49DA-93EC-87FA16E08363}"/>
          </ac:spMkLst>
        </pc:spChg>
      </pc:sldChg>
      <pc:sldChg chg="add">
        <pc:chgData name="Kenneth Graf" userId="d1890dd4-deb6-4a9b-a156-5113ac77bda8" providerId="ADAL" clId="{94537C84-83A7-4A76-B48A-390BC5A60717}" dt="2020-01-09T05:32:54.702" v="118"/>
        <pc:sldMkLst>
          <pc:docMk/>
          <pc:sldMk cId="3373490645" sldId="305"/>
        </pc:sldMkLst>
      </pc:sldChg>
      <pc:sldChg chg="modSp add">
        <pc:chgData name="Kenneth Graf" userId="d1890dd4-deb6-4a9b-a156-5113ac77bda8" providerId="ADAL" clId="{94537C84-83A7-4A76-B48A-390BC5A60717}" dt="2020-01-09T05:32:58.664" v="120" actId="27636"/>
        <pc:sldMkLst>
          <pc:docMk/>
          <pc:sldMk cId="3771021419" sldId="306"/>
        </pc:sldMkLst>
        <pc:spChg chg="mod">
          <ac:chgData name="Kenneth Graf" userId="d1890dd4-deb6-4a9b-a156-5113ac77bda8" providerId="ADAL" clId="{94537C84-83A7-4A76-B48A-390BC5A60717}" dt="2020-01-09T05:32:58.664" v="120" actId="27636"/>
          <ac:spMkLst>
            <pc:docMk/>
            <pc:sldMk cId="3771021419" sldId="306"/>
            <ac:spMk id="3" creationId="{00000000-0000-0000-0000-000000000000}"/>
          </ac:spMkLst>
        </pc:spChg>
      </pc:sldChg>
      <pc:sldChg chg="add">
        <pc:chgData name="Kenneth Graf" userId="d1890dd4-deb6-4a9b-a156-5113ac77bda8" providerId="ADAL" clId="{94537C84-83A7-4A76-B48A-390BC5A60717}" dt="2020-01-09T05:32:54.702" v="118"/>
        <pc:sldMkLst>
          <pc:docMk/>
          <pc:sldMk cId="656430330" sldId="307"/>
        </pc:sldMkLst>
      </pc:sldChg>
      <pc:sldChg chg="add">
        <pc:chgData name="Kenneth Graf" userId="d1890dd4-deb6-4a9b-a156-5113ac77bda8" providerId="ADAL" clId="{94537C84-83A7-4A76-B48A-390BC5A60717}" dt="2020-01-09T05:32:54.702" v="118"/>
        <pc:sldMkLst>
          <pc:docMk/>
          <pc:sldMk cId="1642271210" sldId="308"/>
        </pc:sldMkLst>
      </pc:sldChg>
      <pc:sldChg chg="addSp delSp modSp add">
        <pc:chgData name="Kenneth Graf" userId="d1890dd4-deb6-4a9b-a156-5113ac77bda8" providerId="ADAL" clId="{94537C84-83A7-4A76-B48A-390BC5A60717}" dt="2020-01-19T16:29:54.806" v="210" actId="1076"/>
        <pc:sldMkLst>
          <pc:docMk/>
          <pc:sldMk cId="676332713" sldId="309"/>
        </pc:sldMkLst>
        <pc:spChg chg="del">
          <ac:chgData name="Kenneth Graf" userId="d1890dd4-deb6-4a9b-a156-5113ac77bda8" providerId="ADAL" clId="{94537C84-83A7-4A76-B48A-390BC5A60717}" dt="2020-01-09T05:32:58.631" v="119"/>
          <ac:spMkLst>
            <pc:docMk/>
            <pc:sldMk cId="676332713" sldId="309"/>
            <ac:spMk id="2" creationId="{BFF11E39-9DCB-4C10-85BB-61B91E8BE5ED}"/>
          </ac:spMkLst>
        </pc:spChg>
        <pc:spChg chg="add mod">
          <ac:chgData name="Kenneth Graf" userId="d1890dd4-deb6-4a9b-a156-5113ac77bda8" providerId="ADAL" clId="{94537C84-83A7-4A76-B48A-390BC5A60717}" dt="2020-01-09T05:32:58.631" v="119"/>
          <ac:spMkLst>
            <pc:docMk/>
            <pc:sldMk cId="676332713" sldId="309"/>
            <ac:spMk id="3" creationId="{EE16059B-BEAE-4714-85CD-D7AE64CD6181}"/>
          </ac:spMkLst>
        </pc:spChg>
        <pc:picChg chg="mod">
          <ac:chgData name="Kenneth Graf" userId="d1890dd4-deb6-4a9b-a156-5113ac77bda8" providerId="ADAL" clId="{94537C84-83A7-4A76-B48A-390BC5A60717}" dt="2020-01-19T16:29:54.806" v="210" actId="1076"/>
          <ac:picMkLst>
            <pc:docMk/>
            <pc:sldMk cId="676332713" sldId="309"/>
            <ac:picMk id="4" creationId="{8B25FED9-2046-4658-8A25-B83759837EAE}"/>
          </ac:picMkLst>
        </pc:picChg>
      </pc:sldChg>
      <pc:sldChg chg="addSp modSp add">
        <pc:chgData name="Kenneth Graf" userId="d1890dd4-deb6-4a9b-a156-5113ac77bda8" providerId="ADAL" clId="{94537C84-83A7-4A76-B48A-390BC5A60717}" dt="2020-01-09T05:32:58.631" v="119"/>
        <pc:sldMkLst>
          <pc:docMk/>
          <pc:sldMk cId="3734502179" sldId="310"/>
        </pc:sldMkLst>
        <pc:spChg chg="add mod">
          <ac:chgData name="Kenneth Graf" userId="d1890dd4-deb6-4a9b-a156-5113ac77bda8" providerId="ADAL" clId="{94537C84-83A7-4A76-B48A-390BC5A60717}" dt="2020-01-09T05:32:58.631" v="119"/>
          <ac:spMkLst>
            <pc:docMk/>
            <pc:sldMk cId="3734502179" sldId="310"/>
            <ac:spMk id="3" creationId="{6C592EA9-750A-4802-98C9-EE62031A38AA}"/>
          </ac:spMkLst>
        </pc:spChg>
      </pc:sldChg>
      <pc:sldChg chg="add">
        <pc:chgData name="Kenneth Graf" userId="d1890dd4-deb6-4a9b-a156-5113ac77bda8" providerId="ADAL" clId="{94537C84-83A7-4A76-B48A-390BC5A60717}" dt="2020-01-09T05:32:54.702" v="118"/>
        <pc:sldMkLst>
          <pc:docMk/>
          <pc:sldMk cId="1409701641" sldId="311"/>
        </pc:sldMkLst>
      </pc:sldChg>
      <pc:sldChg chg="add">
        <pc:chgData name="Kenneth Graf" userId="d1890dd4-deb6-4a9b-a156-5113ac77bda8" providerId="ADAL" clId="{94537C84-83A7-4A76-B48A-390BC5A60717}" dt="2020-01-09T05:32:54.702" v="118"/>
        <pc:sldMkLst>
          <pc:docMk/>
          <pc:sldMk cId="1411556301" sldId="312"/>
        </pc:sldMkLst>
      </pc:sldChg>
      <pc:sldChg chg="addSp delSp modSp add">
        <pc:chgData name="Kenneth Graf" userId="d1890dd4-deb6-4a9b-a156-5113ac77bda8" providerId="ADAL" clId="{94537C84-83A7-4A76-B48A-390BC5A60717}" dt="2020-01-19T16:38:58.142" v="252" actId="20577"/>
        <pc:sldMkLst>
          <pc:docMk/>
          <pc:sldMk cId="3851482415" sldId="313"/>
        </pc:sldMkLst>
        <pc:spChg chg="del">
          <ac:chgData name="Kenneth Graf" userId="d1890dd4-deb6-4a9b-a156-5113ac77bda8" providerId="ADAL" clId="{94537C84-83A7-4A76-B48A-390BC5A60717}" dt="2020-01-09T05:32:58.631" v="119"/>
          <ac:spMkLst>
            <pc:docMk/>
            <pc:sldMk cId="3851482415" sldId="313"/>
            <ac:spMk id="2" creationId="{00000000-0000-0000-0000-000000000000}"/>
          </ac:spMkLst>
        </pc:spChg>
        <pc:spChg chg="add mod">
          <ac:chgData name="Kenneth Graf" userId="d1890dd4-deb6-4a9b-a156-5113ac77bda8" providerId="ADAL" clId="{94537C84-83A7-4A76-B48A-390BC5A60717}" dt="2020-01-19T16:38:58.142" v="252" actId="20577"/>
          <ac:spMkLst>
            <pc:docMk/>
            <pc:sldMk cId="3851482415" sldId="313"/>
            <ac:spMk id="3" creationId="{620DA6DC-AF34-4B11-A796-55AA0F85E431}"/>
          </ac:spMkLst>
        </pc:spChg>
        <pc:picChg chg="mod">
          <ac:chgData name="Kenneth Graf" userId="d1890dd4-deb6-4a9b-a156-5113ac77bda8" providerId="ADAL" clId="{94537C84-83A7-4A76-B48A-390BC5A60717}" dt="2020-01-19T16:38:30.834" v="212" actId="14100"/>
          <ac:picMkLst>
            <pc:docMk/>
            <pc:sldMk cId="3851482415" sldId="313"/>
            <ac:picMk id="4" creationId="{00000000-0000-0000-0000-000000000000}"/>
          </ac:picMkLst>
        </pc:picChg>
      </pc:sldChg>
      <pc:sldChg chg="addSp delSp modSp add del">
        <pc:chgData name="Kenneth Graf" userId="d1890dd4-deb6-4a9b-a156-5113ac77bda8" providerId="ADAL" clId="{94537C84-83A7-4A76-B48A-390BC5A60717}" dt="2020-01-19T15:48:39.042" v="130" actId="2696"/>
        <pc:sldMkLst>
          <pc:docMk/>
          <pc:sldMk cId="2118318397" sldId="314"/>
        </pc:sldMkLst>
        <pc:spChg chg="add del mod">
          <ac:chgData name="Kenneth Graf" userId="d1890dd4-deb6-4a9b-a156-5113ac77bda8" providerId="ADAL" clId="{94537C84-83A7-4A76-B48A-390BC5A60717}" dt="2020-01-09T06:10:01.316" v="128"/>
          <ac:spMkLst>
            <pc:docMk/>
            <pc:sldMk cId="2118318397" sldId="314"/>
            <ac:spMk id="2" creationId="{BC09790D-281A-44EE-B750-B67C1A4B43E5}"/>
          </ac:spMkLst>
        </pc:spChg>
        <pc:spChg chg="add mod">
          <ac:chgData name="Kenneth Graf" userId="d1890dd4-deb6-4a9b-a156-5113ac77bda8" providerId="ADAL" clId="{94537C84-83A7-4A76-B48A-390BC5A60717}" dt="2020-01-09T06:10:01.316" v="128"/>
          <ac:spMkLst>
            <pc:docMk/>
            <pc:sldMk cId="2118318397" sldId="314"/>
            <ac:spMk id="3" creationId="{55181E35-D3AF-46B1-AA1C-2A49FEDDB4FB}"/>
          </ac:spMkLst>
        </pc:spChg>
        <pc:spChg chg="del">
          <ac:chgData name="Kenneth Graf" userId="d1890dd4-deb6-4a9b-a156-5113ac77bda8" providerId="ADAL" clId="{94537C84-83A7-4A76-B48A-390BC5A60717}" dt="2020-01-09T06:09:57.205" v="125"/>
          <ac:spMkLst>
            <pc:docMk/>
            <pc:sldMk cId="2118318397" sldId="314"/>
            <ac:spMk id="4" creationId="{00000000-0000-0000-0000-000000000000}"/>
          </ac:spMkLst>
        </pc:spChg>
        <pc:spChg chg="mod">
          <ac:chgData name="Kenneth Graf" userId="d1890dd4-deb6-4a9b-a156-5113ac77bda8" providerId="ADAL" clId="{94537C84-83A7-4A76-B48A-390BC5A60717}" dt="2020-01-09T06:10:01.338" v="129" actId="27636"/>
          <ac:spMkLst>
            <pc:docMk/>
            <pc:sldMk cId="2118318397" sldId="314"/>
            <ac:spMk id="5" creationId="{00000000-0000-0000-0000-000000000000}"/>
          </ac:spMkLst>
        </pc:spChg>
      </pc:sldChg>
      <pc:sldChg chg="modSp add del">
        <pc:chgData name="Kenneth Graf" userId="d1890dd4-deb6-4a9b-a156-5113ac77bda8" providerId="ADAL" clId="{94537C84-83A7-4A76-B48A-390BC5A60717}" dt="2020-01-19T15:48:39.042" v="130" actId="2696"/>
        <pc:sldMkLst>
          <pc:docMk/>
          <pc:sldMk cId="2657872257" sldId="315"/>
        </pc:sldMkLst>
        <pc:spChg chg="mod">
          <ac:chgData name="Kenneth Graf" userId="d1890dd4-deb6-4a9b-a156-5113ac77bda8" providerId="ADAL" clId="{94537C84-83A7-4A76-B48A-390BC5A60717}" dt="2020-01-09T06:09:57.241" v="127" actId="27636"/>
          <ac:spMkLst>
            <pc:docMk/>
            <pc:sldMk cId="2657872257" sldId="315"/>
            <ac:spMk id="3" creationId="{00000000-0000-0000-0000-000000000000}"/>
          </ac:spMkLst>
        </pc:spChg>
      </pc:sldChg>
      <pc:sldChg chg="add del">
        <pc:chgData name="Kenneth Graf" userId="d1890dd4-deb6-4a9b-a156-5113ac77bda8" providerId="ADAL" clId="{94537C84-83A7-4A76-B48A-390BC5A60717}" dt="2020-01-19T15:48:39.042" v="130" actId="2696"/>
        <pc:sldMkLst>
          <pc:docMk/>
          <pc:sldMk cId="2036351833" sldId="316"/>
        </pc:sldMkLst>
      </pc:sldChg>
      <pc:sldChg chg="add del">
        <pc:chgData name="Kenneth Graf" userId="d1890dd4-deb6-4a9b-a156-5113ac77bda8" providerId="ADAL" clId="{94537C84-83A7-4A76-B48A-390BC5A60717}" dt="2020-01-19T15:48:39.042" v="130" actId="2696"/>
        <pc:sldMkLst>
          <pc:docMk/>
          <pc:sldMk cId="4090937137" sldId="317"/>
        </pc:sldMkLst>
      </pc:sldChg>
      <pc:sldChg chg="add del">
        <pc:chgData name="Kenneth Graf" userId="d1890dd4-deb6-4a9b-a156-5113ac77bda8" providerId="ADAL" clId="{94537C84-83A7-4A76-B48A-390BC5A60717}" dt="2020-01-19T15:48:39.042" v="130" actId="2696"/>
        <pc:sldMkLst>
          <pc:docMk/>
          <pc:sldMk cId="1547967960" sldId="318"/>
        </pc:sldMkLst>
      </pc:sldChg>
      <pc:sldChg chg="add del">
        <pc:chgData name="Kenneth Graf" userId="d1890dd4-deb6-4a9b-a156-5113ac77bda8" providerId="ADAL" clId="{94537C84-83A7-4A76-B48A-390BC5A60717}" dt="2020-01-19T15:48:39.042" v="130" actId="2696"/>
        <pc:sldMkLst>
          <pc:docMk/>
          <pc:sldMk cId="873997314" sldId="3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8F3AA64-1AA2-40FC-9C4D-FF0C9CC41531}" type="datetimeFigureOut">
              <a:rPr lang="en-US" smtClean="0"/>
              <a:t>3/1/2020</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BE13BA3-2BF5-478F-8F09-F40177E242D0}" type="slidenum">
              <a:rPr lang="en-US" smtClean="0"/>
              <a:t>‹#›</a:t>
            </a:fld>
            <a:endParaRPr lang="en-US" dirty="0"/>
          </a:p>
        </p:txBody>
      </p:sp>
    </p:spTree>
    <p:extLst>
      <p:ext uri="{BB962C8B-B14F-4D97-AF65-F5344CB8AC3E}">
        <p14:creationId xmlns:p14="http://schemas.microsoft.com/office/powerpoint/2010/main" val="4542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resources.infosecinstitute.com/a-world-of-vulnerabiliti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en.wikipedia.org/wiki/Page_fault" TargetMode="External"/><Relationship Id="rId3" Type="http://schemas.openxmlformats.org/officeDocument/2006/relationships/hyperlink" Target="http://en.wikipedia.org/wiki/Least_recently_used" TargetMode="External"/><Relationship Id="rId7" Type="http://schemas.openxmlformats.org/officeDocument/2006/relationships/hyperlink" Target="http://en.wikipedia.org/wiki/Cache"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en.wikipedia.org/wiki/Supervisor_mode" TargetMode="External"/><Relationship Id="rId5" Type="http://schemas.openxmlformats.org/officeDocument/2006/relationships/hyperlink" Target="http://en.wikipedia.org/wiki/User_mode" TargetMode="External"/><Relationship Id="rId4" Type="http://schemas.openxmlformats.org/officeDocument/2006/relationships/hyperlink" Target="http://en.wikipedia.org/wiki/Page_replacement_algorithm"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trustedcomputinggroup.org/"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semanticscholar.org/paper/Toward-Scalable-Trustworthy-Computing-Using-the-Hively-Sheldon/3d7933515efb2ee76008415e21452344c785e265"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http://resources.infosecinstitute.com/a-world-of-vulnerabilities/</a:t>
            </a:r>
            <a:r>
              <a:rPr lang="en-US" dirty="0"/>
              <a:t> </a:t>
            </a:r>
          </a:p>
          <a:p>
            <a:endParaRPr lang="en-US" dirty="0"/>
          </a:p>
        </p:txBody>
      </p:sp>
      <p:sp>
        <p:nvSpPr>
          <p:cNvPr id="4" name="Slide Number Placeholder 3"/>
          <p:cNvSpPr>
            <a:spLocks noGrp="1"/>
          </p:cNvSpPr>
          <p:nvPr>
            <p:ph type="sldNum" sz="quarter" idx="5"/>
          </p:nvPr>
        </p:nvSpPr>
        <p:spPr/>
        <p:txBody>
          <a:bodyPr/>
          <a:lstStyle/>
          <a:p>
            <a:fld id="{EBE13BA3-2BF5-478F-8F09-F40177E242D0}" type="slidenum">
              <a:rPr lang="en-US" smtClean="0"/>
              <a:t>3</a:t>
            </a:fld>
            <a:endParaRPr lang="en-US" dirty="0"/>
          </a:p>
        </p:txBody>
      </p:sp>
    </p:spTree>
    <p:extLst>
      <p:ext uri="{BB962C8B-B14F-4D97-AF65-F5344CB8AC3E}">
        <p14:creationId xmlns:p14="http://schemas.microsoft.com/office/powerpoint/2010/main" val="37444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6</a:t>
            </a:fld>
            <a:endParaRPr lang="en-US"/>
          </a:p>
        </p:txBody>
      </p:sp>
    </p:spTree>
    <p:extLst>
      <p:ext uri="{BB962C8B-B14F-4D97-AF65-F5344CB8AC3E}">
        <p14:creationId xmlns:p14="http://schemas.microsoft.com/office/powerpoint/2010/main" val="1538378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 20 = </a:t>
            </a:r>
            <a:r>
              <a:rPr lang="en-US" sz="1200" b="0" i="0" kern="1200">
                <a:solidFill>
                  <a:schemeClr val="tx1"/>
                </a:solidFill>
                <a:effectLst/>
                <a:latin typeface="+mn-lt"/>
                <a:ea typeface="+mn-ea"/>
                <a:cs typeface="+mn-cs"/>
              </a:rPr>
              <a:t>1048576  </a:t>
            </a:r>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7</a:t>
            </a:fld>
            <a:endParaRPr lang="en-US"/>
          </a:p>
        </p:txBody>
      </p:sp>
    </p:spTree>
    <p:extLst>
      <p:ext uri="{BB962C8B-B14F-4D97-AF65-F5344CB8AC3E}">
        <p14:creationId xmlns:p14="http://schemas.microsoft.com/office/powerpoint/2010/main" val="465904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9</a:t>
            </a:fld>
            <a:endParaRPr lang="en-US"/>
          </a:p>
        </p:txBody>
      </p:sp>
    </p:spTree>
    <p:extLst>
      <p:ext uri="{BB962C8B-B14F-4D97-AF65-F5344CB8AC3E}">
        <p14:creationId xmlns:p14="http://schemas.microsoft.com/office/powerpoint/2010/main" val="350378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10</a:t>
            </a:fld>
            <a:endParaRPr lang="en-US"/>
          </a:p>
        </p:txBody>
      </p:sp>
    </p:spTree>
    <p:extLst>
      <p:ext uri="{BB962C8B-B14F-4D97-AF65-F5344CB8AC3E}">
        <p14:creationId xmlns:p14="http://schemas.microsoft.com/office/powerpoint/2010/main" val="1050777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for our retail operation</a:t>
            </a:r>
          </a:p>
          <a:p>
            <a:endParaRPr lang="en-US" dirty="0"/>
          </a:p>
          <a:p>
            <a:pPr marL="0" indent="0">
              <a:buNone/>
              <a:tabLst>
                <a:tab pos="3200400" algn="l"/>
              </a:tabLst>
            </a:pPr>
            <a:r>
              <a:rPr lang="en-US" dirty="0">
                <a:cs typeface="Calibri"/>
              </a:rPr>
              <a:t>Least Privilege	: Who needs access to secure server?</a:t>
            </a:r>
            <a:endParaRPr lang="en-US" dirty="0"/>
          </a:p>
          <a:p>
            <a:pPr marL="0" indent="0">
              <a:buNone/>
              <a:tabLst>
                <a:tab pos="3200400" algn="l"/>
              </a:tabLst>
            </a:pPr>
            <a:r>
              <a:rPr lang="en-US" dirty="0">
                <a:cs typeface="Calibri"/>
              </a:rPr>
              <a:t>Fail Secure 	: Server failure = Failed transaction?</a:t>
            </a:r>
          </a:p>
          <a:p>
            <a:pPr marL="0" indent="0" defTabSz="2743200">
              <a:buNone/>
              <a:tabLst>
                <a:tab pos="3200400" algn="l"/>
              </a:tabLst>
            </a:pPr>
            <a:r>
              <a:rPr lang="en-US" dirty="0">
                <a:cs typeface="Calibri"/>
              </a:rPr>
              <a:t>Complete Mediation	: Refund or billing requests?</a:t>
            </a:r>
          </a:p>
          <a:p>
            <a:pPr marL="0" indent="0">
              <a:buNone/>
              <a:tabLst>
                <a:tab pos="3200400" algn="l"/>
              </a:tabLst>
            </a:pPr>
            <a:r>
              <a:rPr lang="en-US" dirty="0">
                <a:cs typeface="Calibri"/>
              </a:rPr>
              <a:t>Open Design	: Who gets to set this diagram?</a:t>
            </a:r>
          </a:p>
          <a:p>
            <a:pPr marL="0" indent="0">
              <a:buNone/>
              <a:tabLst>
                <a:tab pos="3200400" algn="l"/>
              </a:tabLst>
            </a:pPr>
            <a:r>
              <a:rPr lang="en-US" dirty="0">
                <a:cs typeface="Calibri"/>
              </a:rPr>
              <a:t>Separation of Duties	: Admins (network, system, manager)?</a:t>
            </a:r>
          </a:p>
          <a:p>
            <a:pPr marL="0" indent="0">
              <a:buNone/>
              <a:tabLst>
                <a:tab pos="3200400" algn="l"/>
              </a:tabLst>
            </a:pPr>
            <a:r>
              <a:rPr lang="en-US" dirty="0">
                <a:cs typeface="Calibri"/>
              </a:rPr>
              <a:t>Psychological Acceptability	: Virtual card numbers?</a:t>
            </a:r>
          </a:p>
          <a:p>
            <a:pPr marL="0" indent="0">
              <a:buNone/>
              <a:tabLst>
                <a:tab pos="3200400" algn="l"/>
              </a:tabLst>
            </a:pPr>
            <a:r>
              <a:rPr lang="en-US" dirty="0">
                <a:cs typeface="Calibri"/>
              </a:rPr>
              <a:t>Usability	: Why do debit cards need a pin?</a:t>
            </a:r>
          </a:p>
          <a:p>
            <a:pPr marL="0" indent="0">
              <a:buNone/>
              <a:tabLst>
                <a:tab pos="3200400" algn="l"/>
              </a:tabLst>
            </a:pPr>
            <a:r>
              <a:rPr lang="en-US" dirty="0">
                <a:cs typeface="Calibri"/>
              </a:rPr>
              <a:t>Encapsulation	: POS chip encryption</a:t>
            </a:r>
          </a:p>
          <a:p>
            <a:pPr marL="0" indent="0">
              <a:buNone/>
              <a:tabLst>
                <a:tab pos="3200400" algn="l"/>
              </a:tabLst>
            </a:pPr>
            <a:r>
              <a:rPr lang="en-US" dirty="0">
                <a:cs typeface="Calibri"/>
              </a:rPr>
              <a:t>Modularity	: Swap out the secure server?</a:t>
            </a:r>
          </a:p>
          <a:p>
            <a:pPr marL="0" indent="0">
              <a:buNone/>
              <a:tabLst>
                <a:tab pos="3200400" algn="l"/>
              </a:tabLst>
            </a:pPr>
            <a:r>
              <a:rPr lang="en-US" dirty="0">
                <a:cs typeface="Calibri"/>
              </a:rPr>
              <a:t>Defense in depth	: Multiple network services</a:t>
            </a:r>
          </a:p>
          <a:p>
            <a:pPr marL="0" indent="0">
              <a:buNone/>
              <a:tabLst>
                <a:tab pos="3200400" algn="l"/>
              </a:tabLst>
            </a:pPr>
            <a:r>
              <a:rPr lang="en-US" dirty="0">
                <a:cs typeface="Calibri"/>
              </a:rPr>
              <a:t>Process Isolation	: What happens if a router service fails?</a:t>
            </a:r>
          </a:p>
          <a:p>
            <a:pPr marL="0" indent="0">
              <a:buNone/>
              <a:tabLst>
                <a:tab pos="3200400" algn="l"/>
              </a:tabLst>
            </a:pPr>
            <a:r>
              <a:rPr lang="en-US" dirty="0">
                <a:cs typeface="Calibri"/>
              </a:rPr>
              <a:t>Least Common Mechanism	: Secure server in every store?</a:t>
            </a:r>
          </a:p>
          <a:p>
            <a:pPr marL="0" indent="0">
              <a:buNone/>
              <a:tabLst>
                <a:tab pos="3200400" algn="l"/>
              </a:tabLst>
            </a:pPr>
            <a:r>
              <a:rPr lang="en-US" dirty="0">
                <a:cs typeface="Calibri"/>
              </a:rPr>
              <a:t>Economy of Mechanism	: Same server in every store?</a:t>
            </a:r>
          </a:p>
          <a:p>
            <a:pPr marL="0" indent="0">
              <a:buNone/>
              <a:tabLst>
                <a:tab pos="3200400" algn="l"/>
              </a:tabLst>
            </a:pPr>
            <a:r>
              <a:rPr lang="en-US" dirty="0">
                <a:cs typeface="Calibri"/>
              </a:rPr>
              <a:t>Trust	: Store or Corporate managed authentication?</a:t>
            </a:r>
            <a:endParaRPr lang="en-US" dirty="0"/>
          </a:p>
        </p:txBody>
      </p:sp>
      <p:sp>
        <p:nvSpPr>
          <p:cNvPr id="4" name="Slide Number Placeholder 3"/>
          <p:cNvSpPr>
            <a:spLocks noGrp="1"/>
          </p:cNvSpPr>
          <p:nvPr>
            <p:ph type="sldNum" sz="quarter" idx="5"/>
          </p:nvPr>
        </p:nvSpPr>
        <p:spPr/>
        <p:txBody>
          <a:bodyPr/>
          <a:lstStyle/>
          <a:p>
            <a:fld id="{EBE13BA3-2BF5-478F-8F09-F40177E242D0}" type="slidenum">
              <a:rPr lang="en-US" smtClean="0"/>
              <a:t>15</a:t>
            </a:fld>
            <a:endParaRPr lang="en-US" dirty="0"/>
          </a:p>
        </p:txBody>
      </p:sp>
    </p:spTree>
    <p:extLst>
      <p:ext uri="{BB962C8B-B14F-4D97-AF65-F5344CB8AC3E}">
        <p14:creationId xmlns:p14="http://schemas.microsoft.com/office/powerpoint/2010/main" val="3428254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a:t>
            </a:r>
            <a:r>
              <a:rPr lang="en-US" baseline="0" dirty="0"/>
              <a:t> computer concepts</a:t>
            </a:r>
          </a:p>
          <a:p>
            <a:endParaRPr lang="en-US" baseline="0" dirty="0"/>
          </a:p>
          <a:p>
            <a:r>
              <a:rPr lang="en-US" baseline="0" dirty="0"/>
              <a:t>i/o, memory, </a:t>
            </a:r>
            <a:r>
              <a:rPr lang="en-US" baseline="0" dirty="0" err="1"/>
              <a:t>cpu</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32</a:t>
            </a:fld>
            <a:endParaRPr lang="en-US"/>
          </a:p>
        </p:txBody>
      </p:sp>
    </p:spTree>
    <p:extLst>
      <p:ext uri="{BB962C8B-B14F-4D97-AF65-F5344CB8AC3E}">
        <p14:creationId xmlns:p14="http://schemas.microsoft.com/office/powerpoint/2010/main" val="2435866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MMU can have security controls.</a:t>
            </a:r>
          </a:p>
          <a:p>
            <a:endParaRPr lang="en-US" dirty="0"/>
          </a:p>
          <a:p>
            <a:r>
              <a:rPr lang="en-US" dirty="0"/>
              <a:t>TLB</a:t>
            </a:r>
            <a:r>
              <a:rPr lang="en-US" baseline="0" dirty="0"/>
              <a:t> holds page table entries PTE</a:t>
            </a:r>
          </a:p>
          <a:p>
            <a:endParaRPr lang="en-US" baseline="0" dirty="0"/>
          </a:p>
          <a:p>
            <a:r>
              <a:rPr lang="en-US" dirty="0"/>
              <a:t>information about whether the page has been written to (the </a:t>
            </a:r>
            <a:r>
              <a:rPr lang="en-US" i="1" dirty="0"/>
              <a:t>dirty bit</a:t>
            </a:r>
            <a:r>
              <a:rPr lang="en-US" dirty="0"/>
              <a:t>)</a:t>
            </a:r>
          </a:p>
          <a:p>
            <a:r>
              <a:rPr lang="en-US" dirty="0"/>
              <a:t>when it was last used (the </a:t>
            </a:r>
            <a:r>
              <a:rPr lang="en-US" i="1" dirty="0"/>
              <a:t>accessed bit</a:t>
            </a:r>
            <a:r>
              <a:rPr lang="en-US" dirty="0"/>
              <a:t>, for a </a:t>
            </a:r>
            <a:r>
              <a:rPr lang="en-US" dirty="0">
                <a:hlinkClick r:id="rId3" tooltip="Least recently used"/>
              </a:rPr>
              <a:t>least recently used</a:t>
            </a:r>
            <a:r>
              <a:rPr lang="en-US" dirty="0"/>
              <a:t> </a:t>
            </a:r>
            <a:r>
              <a:rPr lang="en-US" dirty="0">
                <a:hlinkClick r:id="rId4"/>
              </a:rPr>
              <a:t>page replacement algorithm</a:t>
            </a:r>
            <a:r>
              <a:rPr lang="en-US" dirty="0"/>
              <a:t>)</a:t>
            </a:r>
          </a:p>
          <a:p>
            <a:r>
              <a:rPr lang="en-US" dirty="0"/>
              <a:t>what kind of processes (</a:t>
            </a:r>
            <a:r>
              <a:rPr lang="en-US" dirty="0">
                <a:hlinkClick r:id="rId5" tooltip="User mode"/>
              </a:rPr>
              <a:t>user mode</a:t>
            </a:r>
            <a:r>
              <a:rPr lang="en-US" dirty="0"/>
              <a:t>, </a:t>
            </a:r>
            <a:r>
              <a:rPr lang="en-US" dirty="0">
                <a:hlinkClick r:id="rId6" tooltip="Supervisor mode"/>
              </a:rPr>
              <a:t>supervisor mode</a:t>
            </a:r>
            <a:r>
              <a:rPr lang="en-US" dirty="0"/>
              <a:t>) may read and write it,</a:t>
            </a:r>
          </a:p>
          <a:p>
            <a:r>
              <a:rPr lang="en-US" dirty="0"/>
              <a:t>whether it should be </a:t>
            </a:r>
            <a:r>
              <a:rPr lang="en-US" dirty="0">
                <a:hlinkClick r:id="rId7" tooltip="Cache"/>
              </a:rPr>
              <a:t>cached</a:t>
            </a:r>
            <a:r>
              <a:rPr lang="en-US" dirty="0"/>
              <a:t>.</a:t>
            </a:r>
          </a:p>
          <a:p>
            <a:r>
              <a:rPr lang="en-US" dirty="0"/>
              <a:t>Can prohibit access to a virtual page</a:t>
            </a:r>
          </a:p>
          <a:p>
            <a:r>
              <a:rPr lang="en-US" dirty="0"/>
              <a:t>Signal a </a:t>
            </a:r>
            <a:r>
              <a:rPr lang="en-US" dirty="0">
                <a:hlinkClick r:id="rId8"/>
              </a:rPr>
              <a:t>page fault</a:t>
            </a:r>
            <a:r>
              <a:rPr lang="en-US" dirty="0"/>
              <a:t> to the CPU.</a:t>
            </a:r>
          </a:p>
          <a:p>
            <a:endParaRPr lang="en-US" dirty="0"/>
          </a:p>
          <a:p>
            <a:r>
              <a:rPr lang="en-US" dirty="0"/>
              <a:t>2^16 = 65536</a:t>
            </a:r>
          </a:p>
          <a:p>
            <a:r>
              <a:rPr lang="en-US" dirty="0"/>
              <a:t>2^32 = 4 gigabytes (10^9)</a:t>
            </a:r>
          </a:p>
          <a:p>
            <a:r>
              <a:rPr lang="en-US" dirty="0"/>
              <a:t>2^64 = 16 </a:t>
            </a:r>
            <a:r>
              <a:rPr lang="en-US" dirty="0" err="1"/>
              <a:t>exabytes</a:t>
            </a:r>
            <a:r>
              <a:rPr lang="en-US" dirty="0"/>
              <a:t> or (10^18)</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35</a:t>
            </a:fld>
            <a:endParaRPr lang="en-US"/>
          </a:p>
        </p:txBody>
      </p:sp>
    </p:spTree>
    <p:extLst>
      <p:ext uri="{BB962C8B-B14F-4D97-AF65-F5344CB8AC3E}">
        <p14:creationId xmlns:p14="http://schemas.microsoft.com/office/powerpoint/2010/main" val="621693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suggestions</a:t>
            </a:r>
          </a:p>
        </p:txBody>
      </p:sp>
      <p:sp>
        <p:nvSpPr>
          <p:cNvPr id="4" name="Slide Number Placeholder 3"/>
          <p:cNvSpPr>
            <a:spLocks noGrp="1"/>
          </p:cNvSpPr>
          <p:nvPr>
            <p:ph type="sldNum" sz="quarter" idx="10"/>
          </p:nvPr>
        </p:nvSpPr>
        <p:spPr/>
        <p:txBody>
          <a:bodyPr/>
          <a:lstStyle/>
          <a:p>
            <a:fld id="{EBE13BA3-2BF5-478F-8F09-F40177E242D0}" type="slidenum">
              <a:rPr lang="en-US" smtClean="0"/>
              <a:t>36</a:t>
            </a:fld>
            <a:endParaRPr lang="en-US"/>
          </a:p>
        </p:txBody>
      </p:sp>
    </p:spTree>
    <p:extLst>
      <p:ext uri="{BB962C8B-B14F-4D97-AF65-F5344CB8AC3E}">
        <p14:creationId xmlns:p14="http://schemas.microsoft.com/office/powerpoint/2010/main" val="2959883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TCG </a:t>
            </a:r>
            <a:r>
              <a:rPr lang="en-US" dirty="0">
                <a:hlinkClick r:id="rId3"/>
              </a:rPr>
              <a:t>http://www.trustedcomputinggroup.org/</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37</a:t>
            </a:fld>
            <a:endParaRPr lang="en-US"/>
          </a:p>
        </p:txBody>
      </p:sp>
    </p:spTree>
    <p:extLst>
      <p:ext uri="{BB962C8B-B14F-4D97-AF65-F5344CB8AC3E}">
        <p14:creationId xmlns:p14="http://schemas.microsoft.com/office/powerpoint/2010/main" val="2091653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40</a:t>
            </a:fld>
            <a:endParaRPr lang="en-US"/>
          </a:p>
        </p:txBody>
      </p:sp>
    </p:spTree>
    <p:extLst>
      <p:ext uri="{BB962C8B-B14F-4D97-AF65-F5344CB8AC3E}">
        <p14:creationId xmlns:p14="http://schemas.microsoft.com/office/powerpoint/2010/main" val="2682717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Trustworthy Computing . Computer.org</a:t>
            </a:r>
          </a:p>
          <a:p>
            <a:r>
              <a:rPr lang="en-US" dirty="0">
                <a:hlinkClick r:id="rId3"/>
              </a:rPr>
              <a:t>https://www.semanticscholar.org/paper/Toward-Scalable-Trustworthy-Computing-Using-the-Hively-Sheldon/3d7933515efb2ee76008415e21452344c785e265</a:t>
            </a:r>
            <a:endParaRPr lang="en-US" dirty="0"/>
          </a:p>
        </p:txBody>
      </p:sp>
      <p:sp>
        <p:nvSpPr>
          <p:cNvPr id="4" name="Slide Number Placeholder 3"/>
          <p:cNvSpPr>
            <a:spLocks noGrp="1"/>
          </p:cNvSpPr>
          <p:nvPr>
            <p:ph type="sldNum" sz="quarter" idx="5"/>
          </p:nvPr>
        </p:nvSpPr>
        <p:spPr/>
        <p:txBody>
          <a:bodyPr/>
          <a:lstStyle/>
          <a:p>
            <a:fld id="{EBE13BA3-2BF5-478F-8F09-F40177E242D0}" type="slidenum">
              <a:rPr lang="en-US" smtClean="0"/>
              <a:t>42</a:t>
            </a:fld>
            <a:endParaRPr lang="en-US" dirty="0"/>
          </a:p>
        </p:txBody>
      </p:sp>
    </p:spTree>
    <p:extLst>
      <p:ext uri="{BB962C8B-B14F-4D97-AF65-F5344CB8AC3E}">
        <p14:creationId xmlns:p14="http://schemas.microsoft.com/office/powerpoint/2010/main" val="1400198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a:t>
            </a:r>
          </a:p>
          <a:p>
            <a:r>
              <a:rPr lang="en-US" dirty="0"/>
              <a:t>The hardware layer consists</a:t>
            </a:r>
            <a:r>
              <a:rPr lang="en-US" baseline="0" dirty="0"/>
              <a:t> </a:t>
            </a:r>
            <a:r>
              <a:rPr lang="en-US" dirty="0"/>
              <a:t>of a microprocessor for a novel instruction set supporting object-level type safety with </a:t>
            </a:r>
            <a:r>
              <a:rPr lang="en-US" dirty="0" err="1"/>
              <a:t>unforgeable</a:t>
            </a:r>
            <a:r>
              <a:rPr lang="en-US" dirty="0"/>
              <a:t> pointers (capabilities), hardware-enforced distinctions between pointers, data, and instructions, and information flow tracking via fine-grained tagging. In our tagging scheme, every word in memory and registers includes both a data payload and a large (pointer-sized) tag which encodes information about its type, provenance, and access limitations.</a:t>
            </a:r>
          </a:p>
          <a:p>
            <a:endParaRPr lang="en-US" dirty="0"/>
          </a:p>
          <a:p>
            <a:r>
              <a:rPr lang="en-US" dirty="0" err="1"/>
              <a:t>Concreteware</a:t>
            </a:r>
            <a:r>
              <a:rPr lang="en-US" dirty="0"/>
              <a:t> is a thin layer of software that wraps the facilities of the raw hardware into a clean abstract machine.</a:t>
            </a:r>
          </a:p>
          <a:p>
            <a:endParaRPr lang="en-US" dirty="0"/>
          </a:p>
          <a:p>
            <a:r>
              <a:rPr lang="en-US" dirty="0"/>
              <a:t>Assumes: well behaved hardware, read-only and valid </a:t>
            </a:r>
            <a:r>
              <a:rPr lang="en-US" dirty="0" err="1"/>
              <a:t>concreteware</a:t>
            </a:r>
            <a:r>
              <a:rPr lang="en-US" baseline="0"/>
              <a:t> load.</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43</a:t>
            </a:fld>
            <a:endParaRPr lang="en-US" dirty="0"/>
          </a:p>
        </p:txBody>
      </p:sp>
    </p:spTree>
    <p:extLst>
      <p:ext uri="{BB962C8B-B14F-4D97-AF65-F5344CB8AC3E}">
        <p14:creationId xmlns:p14="http://schemas.microsoft.com/office/powerpoint/2010/main" val="1716697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200400"/>
            <a:ext cx="8534400" cy="2438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Title 1"/>
          <p:cNvSpPr>
            <a:spLocks noGrp="1"/>
          </p:cNvSpPr>
          <p:nvPr>
            <p:ph type="ctrTitle" hasCustomPrompt="1"/>
          </p:nvPr>
        </p:nvSpPr>
        <p:spPr>
          <a:xfrm>
            <a:off x="609600" y="1295401"/>
            <a:ext cx="10972800" cy="1470025"/>
          </a:xfrm>
        </p:spPr>
        <p:txBody>
          <a:bodyPr/>
          <a:lstStyle>
            <a:lvl1pPr algn="ctr">
              <a:defRPr baseline="0"/>
            </a:lvl1pPr>
          </a:lstStyle>
          <a:p>
            <a:r>
              <a:rPr lang="en-US" dirty="0"/>
              <a:t>IT666 : Computer Security</a:t>
            </a:r>
          </a:p>
        </p:txBody>
      </p:sp>
      <p:sp>
        <p:nvSpPr>
          <p:cNvPr id="10" name="Date Placeholder 3"/>
          <p:cNvSpPr txBox="1">
            <a:spLocks/>
          </p:cNvSpPr>
          <p:nvPr/>
        </p:nvSpPr>
        <p:spPr>
          <a:xfrm>
            <a:off x="914400" y="6348476"/>
            <a:ext cx="284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p>
        </p:txBody>
      </p:sp>
      <p:sp>
        <p:nvSpPr>
          <p:cNvPr id="11" name="Footer Placeholder 4"/>
          <p:cNvSpPr txBox="1">
            <a:spLocks/>
          </p:cNvSpPr>
          <p:nvPr/>
        </p:nvSpPr>
        <p:spPr>
          <a:xfrm>
            <a:off x="7112000" y="6348475"/>
            <a:ext cx="4165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800" dirty="0"/>
              <a:t>Instructor : ken.graf@unh.edu</a:t>
            </a:r>
          </a:p>
        </p:txBody>
      </p:sp>
      <p:pic>
        <p:nvPicPr>
          <p:cNvPr id="12" name="Picture 2" descr="University of New Hampshire">
            <a:extLst>
              <a:ext uri="{FF2B5EF4-FFF2-40B4-BE49-F238E27FC236}">
                <a16:creationId xmlns:a16="http://schemas.microsoft.com/office/drawing/2014/main" id="{52E3954D-70A0-416F-A7AB-55B49D629F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600" y="304800"/>
            <a:ext cx="291465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1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371601"/>
            <a:ext cx="109728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2088353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4"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1685878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3843233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792162"/>
          </a:xfrm>
        </p:spPr>
        <p:txBody>
          <a:bodyPr>
            <a:normAutofit/>
          </a:bodyPr>
          <a:lstStyle>
            <a:lvl1pPr algn="l">
              <a:defRPr sz="3600">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609600" y="1295400"/>
            <a:ext cx="1097280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09600" y="5486400"/>
            <a:ext cx="10972800" cy="1143000"/>
          </a:xfrm>
        </p:spPr>
        <p:txBody>
          <a:bodyPr>
            <a:normAutofit/>
          </a:bodyPr>
          <a:lstStyle>
            <a:lvl1pPr marL="0" indent="0">
              <a:buNone/>
              <a:defRPr sz="2400">
                <a:solidFill>
                  <a:schemeClr val="tx1"/>
                </a:solidFill>
              </a:defRPr>
            </a:lvl1pPr>
          </a:lstStyle>
          <a:p>
            <a:pPr lvl="0"/>
            <a:r>
              <a:rPr lang="en-US" dirty="0"/>
              <a:t>Click to edit Master text styles</a:t>
            </a:r>
          </a:p>
        </p:txBody>
      </p:sp>
    </p:spTree>
    <p:extLst>
      <p:ext uri="{BB962C8B-B14F-4D97-AF65-F5344CB8AC3E}">
        <p14:creationId xmlns:p14="http://schemas.microsoft.com/office/powerpoint/2010/main" val="40771999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143001"/>
            <a:ext cx="10972800" cy="4983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14739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Lst>
  <p:txStyles>
    <p:titleStyle>
      <a:lvl1pPr algn="l" defTabSz="9144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www.intigriti.com/public/" TargetMode="External"/><Relationship Id="rId3" Type="http://schemas.openxmlformats.org/officeDocument/2006/relationships/hyperlink" Target="https://www.hackerone.com/" TargetMode="External"/><Relationship Id="rId7" Type="http://schemas.openxmlformats.org/officeDocument/2006/relationships/hyperlink" Target="https://bountyfactory.io/en/index.html" TargetMode="External"/><Relationship Id="rId2" Type="http://schemas.openxmlformats.org/officeDocument/2006/relationships/hyperlink" Target="http://zerodayinitiative.com/" TargetMode="External"/><Relationship Id="rId1" Type="http://schemas.openxmlformats.org/officeDocument/2006/relationships/slideLayout" Target="../slideLayouts/slideLayout2.xml"/><Relationship Id="rId6" Type="http://schemas.openxmlformats.org/officeDocument/2006/relationships/hyperlink" Target="https://cobalt.io/" TargetMode="External"/><Relationship Id="rId5" Type="http://schemas.openxmlformats.org/officeDocument/2006/relationships/hyperlink" Target="https://www.synack.com/" TargetMode="External"/><Relationship Id="rId4" Type="http://schemas.openxmlformats.org/officeDocument/2006/relationships/hyperlink" Target="https://www.bugcrowd.com/" TargetMode="External"/><Relationship Id="rId9" Type="http://schemas.openxmlformats.org/officeDocument/2006/relationships/hyperlink" Target="https://www.zerocopter.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technet.microsoft.com/library/security/ms16-ju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www.cve.mitre.org/cgi-bin/cvename.cgi?name=CVE-2016-327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ncsc.gov.uk/guidance/security-design-principles-digital-services-main" TargetMode="External"/><Relationship Id="rId2" Type="http://schemas.openxmlformats.org/officeDocument/2006/relationships/hyperlink" Target="https://www.ncsc.gov.uk/collection/cyber-security-design-principles" TargetMode="External"/><Relationship Id="rId1" Type="http://schemas.openxmlformats.org/officeDocument/2006/relationships/slideLayout" Target="../slideLayouts/slideLayout2.xml"/><Relationship Id="rId4" Type="http://schemas.openxmlformats.org/officeDocument/2006/relationships/image" Target="../media/image5.tmp"/></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www.hak5.org/" TargetMode="External"/><Relationship Id="rId7" Type="http://schemas.openxmlformats.org/officeDocument/2006/relationships/image" Target="../media/image11.pn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hyperlink" Target="http://www.spyville.com/" TargetMode="External"/><Relationship Id="rId5" Type="http://schemas.openxmlformats.org/officeDocument/2006/relationships/image" Target="../media/image10.jpeg"/><Relationship Id="rId4" Type="http://schemas.openxmlformats.org/officeDocument/2006/relationships/image" Target="../media/image9.jpeg"/><Relationship Id="rId9" Type="http://schemas.openxmlformats.org/officeDocument/2006/relationships/image" Target="../media/image13.tmp"/></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www.crash-safe.org/sites/default/files/plos11-submission.pdf" TargetMode="External"/></Relationships>
</file>

<file path=ppt/slides/_rels/slide44.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dirty="0"/>
              <a:t>Zero Days</a:t>
            </a:r>
          </a:p>
          <a:p>
            <a:r>
              <a:rPr lang="en-US" b="1"/>
              <a:t>Secure </a:t>
            </a:r>
            <a:r>
              <a:rPr lang="en-US" b="1" dirty="0"/>
              <a:t>Design Principles</a:t>
            </a:r>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1793285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0-day Timeline</a:t>
            </a:r>
          </a:p>
        </p:txBody>
      </p:sp>
      <p:pic>
        <p:nvPicPr>
          <p:cNvPr id="7" name="Content Placeholder 6">
            <a:extLst>
              <a:ext uri="{FF2B5EF4-FFF2-40B4-BE49-F238E27FC236}">
                <a16:creationId xmlns:a16="http://schemas.microsoft.com/office/drawing/2014/main" id="{B6EDE3B2-D113-49BE-8F16-13A5FD2DD7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914400"/>
            <a:ext cx="11042406" cy="5792334"/>
          </a:xfrm>
        </p:spPr>
      </p:pic>
    </p:spTree>
    <p:extLst>
      <p:ext uri="{BB962C8B-B14F-4D97-AF65-F5344CB8AC3E}">
        <p14:creationId xmlns:p14="http://schemas.microsoft.com/office/powerpoint/2010/main" val="2142372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1879344" y="654105"/>
            <a:ext cx="7720904" cy="6113922"/>
          </a:xfrm>
          <a:prstGeom prst="rect">
            <a:avLst/>
          </a:prstGeom>
        </p:spPr>
      </p:pic>
      <p:sp>
        <p:nvSpPr>
          <p:cNvPr id="2" name="Title 1"/>
          <p:cNvSpPr>
            <a:spLocks noGrp="1"/>
          </p:cNvSpPr>
          <p:nvPr>
            <p:ph type="title"/>
          </p:nvPr>
        </p:nvSpPr>
        <p:spPr/>
        <p:txBody>
          <a:bodyPr/>
          <a:lstStyle/>
          <a:p>
            <a:r>
              <a:rPr lang="en-US"/>
              <a:t>Disclosure Increases Attacks</a:t>
            </a:r>
          </a:p>
        </p:txBody>
      </p:sp>
    </p:spTree>
    <p:extLst>
      <p:ext uri="{BB962C8B-B14F-4D97-AF65-F5344CB8AC3E}">
        <p14:creationId xmlns:p14="http://schemas.microsoft.com/office/powerpoint/2010/main" val="1887115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EEAFB-7887-4E6D-9215-03F50DBA93AF}"/>
              </a:ext>
            </a:extLst>
          </p:cNvPr>
          <p:cNvSpPr>
            <a:spLocks noGrp="1"/>
          </p:cNvSpPr>
          <p:nvPr>
            <p:ph type="title"/>
          </p:nvPr>
        </p:nvSpPr>
        <p:spPr/>
        <p:txBody>
          <a:bodyPr/>
          <a:lstStyle/>
          <a:p>
            <a:r>
              <a:rPr lang="en-US"/>
              <a:t>Bug Bounty Platforms</a:t>
            </a:r>
          </a:p>
        </p:txBody>
      </p:sp>
      <p:graphicFrame>
        <p:nvGraphicFramePr>
          <p:cNvPr id="4" name="Content Placeholder 3">
            <a:extLst>
              <a:ext uri="{FF2B5EF4-FFF2-40B4-BE49-F238E27FC236}">
                <a16:creationId xmlns:a16="http://schemas.microsoft.com/office/drawing/2014/main" id="{763D2A5B-EE90-4081-BC86-76D29040FE7A}"/>
              </a:ext>
            </a:extLst>
          </p:cNvPr>
          <p:cNvGraphicFramePr>
            <a:graphicFrameLocks noGrp="1"/>
          </p:cNvGraphicFramePr>
          <p:nvPr>
            <p:ph idx="1"/>
          </p:nvPr>
        </p:nvGraphicFramePr>
        <p:xfrm>
          <a:off x="609600" y="1371600"/>
          <a:ext cx="10972800" cy="493776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3493558831"/>
                    </a:ext>
                  </a:extLst>
                </a:gridCol>
                <a:gridCol w="8026400">
                  <a:extLst>
                    <a:ext uri="{9D8B030D-6E8A-4147-A177-3AD203B41FA5}">
                      <a16:colId xmlns:a16="http://schemas.microsoft.com/office/drawing/2014/main" val="3601438860"/>
                    </a:ext>
                  </a:extLst>
                </a:gridCol>
              </a:tblGrid>
              <a:tr h="370840">
                <a:tc>
                  <a:txBody>
                    <a:bodyPr/>
                    <a:lstStyle/>
                    <a:p>
                      <a:pPr algn="l"/>
                      <a:r>
                        <a:rPr lang="en-US" sz="2400">
                          <a:effectLst/>
                        </a:rPr>
                        <a:t>Platform name</a:t>
                      </a:r>
                    </a:p>
                  </a:txBody>
                  <a:tcPr marL="121920" marR="152400" marT="91440" marB="91440" anchor="ctr"/>
                </a:tc>
                <a:tc>
                  <a:txBody>
                    <a:bodyPr/>
                    <a:lstStyle/>
                    <a:p>
                      <a:pPr algn="l"/>
                      <a:r>
                        <a:rPr lang="en-US" sz="2400">
                          <a:effectLst/>
                        </a:rPr>
                        <a:t>Website</a:t>
                      </a:r>
                    </a:p>
                  </a:txBody>
                  <a:tcPr marL="152400" marR="121920" marT="91440" marB="91440" anchor="ctr"/>
                </a:tc>
                <a:extLst>
                  <a:ext uri="{0D108BD9-81ED-4DB2-BD59-A6C34878D82A}">
                    <a16:rowId xmlns:a16="http://schemas.microsoft.com/office/drawing/2014/main" val="4214065499"/>
                  </a:ext>
                </a:extLst>
              </a:tr>
              <a:tr h="370840">
                <a:tc>
                  <a:txBody>
                    <a:bodyPr/>
                    <a:lstStyle/>
                    <a:p>
                      <a:pPr algn="l"/>
                      <a:r>
                        <a:rPr lang="en-US" sz="2400">
                          <a:effectLst/>
                        </a:rPr>
                        <a:t>Tipping Point</a:t>
                      </a:r>
                    </a:p>
                  </a:txBody>
                  <a:tcPr marL="121920" marR="152400" marT="91440" marB="91440" anchor="ctr"/>
                </a:tc>
                <a:tc>
                  <a:txBody>
                    <a:bodyPr/>
                    <a:lstStyle/>
                    <a:p>
                      <a:pPr algn="l"/>
                      <a:r>
                        <a:rPr lang="en-US" sz="2400">
                          <a:effectLst/>
                          <a:hlinkClick r:id="rId2"/>
                        </a:rPr>
                        <a:t>http://zerodayinitiative.com/</a:t>
                      </a:r>
                      <a:r>
                        <a:rPr lang="en-US" sz="2400">
                          <a:effectLst/>
                        </a:rPr>
                        <a:t> </a:t>
                      </a:r>
                    </a:p>
                  </a:txBody>
                  <a:tcPr marL="152400" marR="121920" marT="91440" marB="91440" anchor="ctr"/>
                </a:tc>
                <a:extLst>
                  <a:ext uri="{0D108BD9-81ED-4DB2-BD59-A6C34878D82A}">
                    <a16:rowId xmlns:a16="http://schemas.microsoft.com/office/drawing/2014/main" val="4217359882"/>
                  </a:ext>
                </a:extLst>
              </a:tr>
              <a:tr h="370840">
                <a:tc>
                  <a:txBody>
                    <a:bodyPr/>
                    <a:lstStyle/>
                    <a:p>
                      <a:pPr algn="l"/>
                      <a:r>
                        <a:rPr lang="en-US" sz="2400" err="1">
                          <a:effectLst/>
                        </a:rPr>
                        <a:t>HackerOne</a:t>
                      </a:r>
                      <a:endParaRPr lang="en-US" sz="2400">
                        <a:effectLst/>
                      </a:endParaRPr>
                    </a:p>
                  </a:txBody>
                  <a:tcPr marL="121920" marR="152400" marT="91440" marB="91440" anchor="ctr"/>
                </a:tc>
                <a:tc>
                  <a:txBody>
                    <a:bodyPr/>
                    <a:lstStyle/>
                    <a:p>
                      <a:pPr algn="l"/>
                      <a:r>
                        <a:rPr lang="en-US" sz="2400">
                          <a:solidFill>
                            <a:srgbClr val="1EAEDB"/>
                          </a:solidFill>
                          <a:effectLst/>
                          <a:hlinkClick r:id="rId3"/>
                        </a:rPr>
                        <a:t>https://www.hackerone.com/</a:t>
                      </a:r>
                      <a:endParaRPr lang="en-US" sz="2400">
                        <a:effectLst/>
                      </a:endParaRPr>
                    </a:p>
                  </a:txBody>
                  <a:tcPr marL="152400" marR="121920" marT="91440" marB="91440" anchor="ctr"/>
                </a:tc>
                <a:extLst>
                  <a:ext uri="{0D108BD9-81ED-4DB2-BD59-A6C34878D82A}">
                    <a16:rowId xmlns:a16="http://schemas.microsoft.com/office/drawing/2014/main" val="1591815261"/>
                  </a:ext>
                </a:extLst>
              </a:tr>
              <a:tr h="370840">
                <a:tc>
                  <a:txBody>
                    <a:bodyPr/>
                    <a:lstStyle/>
                    <a:p>
                      <a:pPr algn="l"/>
                      <a:r>
                        <a:rPr lang="en-US" sz="2400">
                          <a:effectLst/>
                        </a:rPr>
                        <a:t>Bugcrowd</a:t>
                      </a:r>
                    </a:p>
                  </a:txBody>
                  <a:tcPr marL="121920" marR="152400" marT="91440" marB="91440" anchor="ctr"/>
                </a:tc>
                <a:tc>
                  <a:txBody>
                    <a:bodyPr/>
                    <a:lstStyle/>
                    <a:p>
                      <a:pPr algn="l"/>
                      <a:r>
                        <a:rPr lang="en-US" sz="2400">
                          <a:solidFill>
                            <a:srgbClr val="1EAEDB"/>
                          </a:solidFill>
                          <a:effectLst/>
                          <a:hlinkClick r:id="rId4"/>
                        </a:rPr>
                        <a:t>https://www.bugcrowd.com/</a:t>
                      </a:r>
                      <a:endParaRPr lang="en-US" sz="2400">
                        <a:effectLst/>
                      </a:endParaRPr>
                    </a:p>
                  </a:txBody>
                  <a:tcPr marL="152400" marR="121920" marT="91440" marB="91440" anchor="ctr"/>
                </a:tc>
                <a:extLst>
                  <a:ext uri="{0D108BD9-81ED-4DB2-BD59-A6C34878D82A}">
                    <a16:rowId xmlns:a16="http://schemas.microsoft.com/office/drawing/2014/main" val="1166275705"/>
                  </a:ext>
                </a:extLst>
              </a:tr>
              <a:tr h="370840">
                <a:tc>
                  <a:txBody>
                    <a:bodyPr/>
                    <a:lstStyle/>
                    <a:p>
                      <a:pPr algn="l"/>
                      <a:r>
                        <a:rPr lang="en-US" sz="2400">
                          <a:effectLst/>
                        </a:rPr>
                        <a:t>Synack</a:t>
                      </a:r>
                    </a:p>
                  </a:txBody>
                  <a:tcPr marL="121920" marR="152400" marT="91440" marB="91440" anchor="ctr"/>
                </a:tc>
                <a:tc>
                  <a:txBody>
                    <a:bodyPr/>
                    <a:lstStyle/>
                    <a:p>
                      <a:pPr algn="l"/>
                      <a:r>
                        <a:rPr lang="en-US" sz="2400">
                          <a:solidFill>
                            <a:srgbClr val="1EAEDB"/>
                          </a:solidFill>
                          <a:effectLst/>
                          <a:hlinkClick r:id="rId5"/>
                        </a:rPr>
                        <a:t>https://www.synack.com/</a:t>
                      </a:r>
                      <a:endParaRPr lang="en-US" sz="2400">
                        <a:effectLst/>
                      </a:endParaRPr>
                    </a:p>
                  </a:txBody>
                  <a:tcPr marL="152400" marR="121920" marT="91440" marB="91440" anchor="ctr"/>
                </a:tc>
                <a:extLst>
                  <a:ext uri="{0D108BD9-81ED-4DB2-BD59-A6C34878D82A}">
                    <a16:rowId xmlns:a16="http://schemas.microsoft.com/office/drawing/2014/main" val="3270276558"/>
                  </a:ext>
                </a:extLst>
              </a:tr>
              <a:tr h="370840">
                <a:tc>
                  <a:txBody>
                    <a:bodyPr/>
                    <a:lstStyle/>
                    <a:p>
                      <a:pPr algn="l"/>
                      <a:r>
                        <a:rPr lang="en-US" sz="2400">
                          <a:effectLst/>
                        </a:rPr>
                        <a:t>Cobalt.io</a:t>
                      </a:r>
                    </a:p>
                  </a:txBody>
                  <a:tcPr marL="121920" marR="152400" marT="91440" marB="91440" anchor="ctr"/>
                </a:tc>
                <a:tc>
                  <a:txBody>
                    <a:bodyPr/>
                    <a:lstStyle/>
                    <a:p>
                      <a:pPr algn="l"/>
                      <a:r>
                        <a:rPr lang="en-US" sz="2400">
                          <a:solidFill>
                            <a:srgbClr val="1EAEDB"/>
                          </a:solidFill>
                          <a:effectLst/>
                          <a:hlinkClick r:id="rId6"/>
                        </a:rPr>
                        <a:t>https://cobalt.io/</a:t>
                      </a:r>
                      <a:endParaRPr lang="en-US" sz="2400">
                        <a:effectLst/>
                      </a:endParaRPr>
                    </a:p>
                  </a:txBody>
                  <a:tcPr marL="152400" marR="121920" marT="91440" marB="91440" anchor="ctr"/>
                </a:tc>
                <a:extLst>
                  <a:ext uri="{0D108BD9-81ED-4DB2-BD59-A6C34878D82A}">
                    <a16:rowId xmlns:a16="http://schemas.microsoft.com/office/drawing/2014/main" val="958869626"/>
                  </a:ext>
                </a:extLst>
              </a:tr>
              <a:tr h="370840">
                <a:tc>
                  <a:txBody>
                    <a:bodyPr/>
                    <a:lstStyle/>
                    <a:p>
                      <a:pPr algn="l"/>
                      <a:r>
                        <a:rPr lang="en-US" sz="2400">
                          <a:effectLst/>
                        </a:rPr>
                        <a:t>Bounty Factory</a:t>
                      </a:r>
                    </a:p>
                  </a:txBody>
                  <a:tcPr marL="121920" marR="152400" marT="91440" marB="91440" anchor="ctr"/>
                </a:tc>
                <a:tc>
                  <a:txBody>
                    <a:bodyPr/>
                    <a:lstStyle/>
                    <a:p>
                      <a:pPr algn="l"/>
                      <a:r>
                        <a:rPr lang="en-US" sz="2400">
                          <a:solidFill>
                            <a:srgbClr val="1EAEDB"/>
                          </a:solidFill>
                          <a:effectLst/>
                          <a:hlinkClick r:id="rId7"/>
                        </a:rPr>
                        <a:t>https://bountyfactory.io/en/index.html</a:t>
                      </a:r>
                      <a:endParaRPr lang="en-US" sz="2400">
                        <a:effectLst/>
                      </a:endParaRPr>
                    </a:p>
                  </a:txBody>
                  <a:tcPr marL="152400" marR="121920" marT="91440" marB="91440" anchor="ctr"/>
                </a:tc>
                <a:extLst>
                  <a:ext uri="{0D108BD9-81ED-4DB2-BD59-A6C34878D82A}">
                    <a16:rowId xmlns:a16="http://schemas.microsoft.com/office/drawing/2014/main" val="2142881788"/>
                  </a:ext>
                </a:extLst>
              </a:tr>
              <a:tr h="370840">
                <a:tc>
                  <a:txBody>
                    <a:bodyPr/>
                    <a:lstStyle/>
                    <a:p>
                      <a:pPr algn="l"/>
                      <a:r>
                        <a:rPr lang="en-US" sz="2400">
                          <a:effectLst/>
                        </a:rPr>
                        <a:t>intigriti</a:t>
                      </a:r>
                    </a:p>
                  </a:txBody>
                  <a:tcPr marL="121920" marR="152400" marT="91440" marB="91440" anchor="ctr"/>
                </a:tc>
                <a:tc>
                  <a:txBody>
                    <a:bodyPr/>
                    <a:lstStyle/>
                    <a:p>
                      <a:pPr algn="l"/>
                      <a:r>
                        <a:rPr lang="en-US" sz="2400">
                          <a:solidFill>
                            <a:srgbClr val="1EAEDB"/>
                          </a:solidFill>
                          <a:effectLst/>
                          <a:hlinkClick r:id="rId8"/>
                        </a:rPr>
                        <a:t>https://www.intigriti.com/public/</a:t>
                      </a:r>
                      <a:endParaRPr lang="en-US" sz="2400">
                        <a:effectLst/>
                      </a:endParaRPr>
                    </a:p>
                  </a:txBody>
                  <a:tcPr marL="152400" marR="121920" marT="91440" marB="91440" anchor="ctr"/>
                </a:tc>
                <a:extLst>
                  <a:ext uri="{0D108BD9-81ED-4DB2-BD59-A6C34878D82A}">
                    <a16:rowId xmlns:a16="http://schemas.microsoft.com/office/drawing/2014/main" val="4038203150"/>
                  </a:ext>
                </a:extLst>
              </a:tr>
              <a:tr h="370840">
                <a:tc>
                  <a:txBody>
                    <a:bodyPr/>
                    <a:lstStyle/>
                    <a:p>
                      <a:pPr algn="l"/>
                      <a:r>
                        <a:rPr lang="en-US" sz="2400">
                          <a:effectLst/>
                        </a:rPr>
                        <a:t>Zerocopter</a:t>
                      </a:r>
                    </a:p>
                  </a:txBody>
                  <a:tcPr marL="121920" marR="152400" marT="91440" marB="91440" anchor="ctr"/>
                </a:tc>
                <a:tc>
                  <a:txBody>
                    <a:bodyPr/>
                    <a:lstStyle/>
                    <a:p>
                      <a:pPr algn="l"/>
                      <a:r>
                        <a:rPr lang="en-US" sz="2400">
                          <a:solidFill>
                            <a:srgbClr val="1EAEDB"/>
                          </a:solidFill>
                          <a:effectLst/>
                          <a:hlinkClick r:id="rId9"/>
                        </a:rPr>
                        <a:t>https://www.zerocopter.com/</a:t>
                      </a:r>
                      <a:endParaRPr lang="en-US" sz="2400">
                        <a:effectLst/>
                      </a:endParaRPr>
                    </a:p>
                  </a:txBody>
                  <a:tcPr marL="152400" marR="121920" marT="91440" marB="91440" anchor="ctr"/>
                </a:tc>
                <a:extLst>
                  <a:ext uri="{0D108BD9-81ED-4DB2-BD59-A6C34878D82A}">
                    <a16:rowId xmlns:a16="http://schemas.microsoft.com/office/drawing/2014/main" val="1498846946"/>
                  </a:ext>
                </a:extLst>
              </a:tr>
            </a:tbl>
          </a:graphicData>
        </a:graphic>
      </p:graphicFrame>
    </p:spTree>
    <p:extLst>
      <p:ext uri="{BB962C8B-B14F-4D97-AF65-F5344CB8AC3E}">
        <p14:creationId xmlns:p14="http://schemas.microsoft.com/office/powerpoint/2010/main" val="2429492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6AE5E-D182-459B-B4B0-E7E9258BCCBC}"/>
              </a:ext>
            </a:extLst>
          </p:cNvPr>
          <p:cNvSpPr>
            <a:spLocks noGrp="1"/>
          </p:cNvSpPr>
          <p:nvPr>
            <p:ph type="title"/>
          </p:nvPr>
        </p:nvSpPr>
        <p:spPr/>
        <p:txBody>
          <a:bodyPr/>
          <a:lstStyle/>
          <a:p>
            <a:r>
              <a:rPr lang="en-US"/>
              <a:t>Not Normally Accepted</a:t>
            </a:r>
          </a:p>
        </p:txBody>
      </p:sp>
      <p:graphicFrame>
        <p:nvGraphicFramePr>
          <p:cNvPr id="4" name="Content Placeholder 3">
            <a:extLst>
              <a:ext uri="{FF2B5EF4-FFF2-40B4-BE49-F238E27FC236}">
                <a16:creationId xmlns:a16="http://schemas.microsoft.com/office/drawing/2014/main" id="{E63067D9-3597-4291-B357-90F776A8CA4C}"/>
              </a:ext>
            </a:extLst>
          </p:cNvPr>
          <p:cNvGraphicFramePr>
            <a:graphicFrameLocks noGrp="1"/>
          </p:cNvGraphicFramePr>
          <p:nvPr>
            <p:ph idx="1"/>
          </p:nvPr>
        </p:nvGraphicFramePr>
        <p:xfrm>
          <a:off x="609600" y="1371600"/>
          <a:ext cx="10972800" cy="4389120"/>
        </p:xfrm>
        <a:graphic>
          <a:graphicData uri="http://schemas.openxmlformats.org/drawingml/2006/table">
            <a:tbl>
              <a:tblPr firstRow="1" bandRow="1">
                <a:tableStyleId>{5C22544A-7EE6-4342-B048-85BDC9FD1C3A}</a:tableStyleId>
              </a:tblPr>
              <a:tblGrid>
                <a:gridCol w="10972800">
                  <a:extLst>
                    <a:ext uri="{9D8B030D-6E8A-4147-A177-3AD203B41FA5}">
                      <a16:colId xmlns:a16="http://schemas.microsoft.com/office/drawing/2014/main" val="781387808"/>
                    </a:ext>
                  </a:extLst>
                </a:gridCol>
              </a:tblGrid>
              <a:tr h="370840">
                <a:tc>
                  <a:txBody>
                    <a:bodyPr/>
                    <a:lstStyle/>
                    <a:p>
                      <a:pPr algn="l"/>
                      <a:r>
                        <a:rPr lang="en-US" sz="2400">
                          <a:effectLst/>
                        </a:rPr>
                        <a:t>Issue type</a:t>
                      </a:r>
                    </a:p>
                  </a:txBody>
                  <a:tcPr marL="127838" marR="159798" marT="91440" marB="91440" anchor="ctr"/>
                </a:tc>
                <a:extLst>
                  <a:ext uri="{0D108BD9-81ED-4DB2-BD59-A6C34878D82A}">
                    <a16:rowId xmlns:a16="http://schemas.microsoft.com/office/drawing/2014/main" val="2605130368"/>
                  </a:ext>
                </a:extLst>
              </a:tr>
              <a:tr h="370840">
                <a:tc>
                  <a:txBody>
                    <a:bodyPr/>
                    <a:lstStyle/>
                    <a:p>
                      <a:pPr algn="l"/>
                      <a:r>
                        <a:rPr lang="en-US" sz="2400">
                          <a:effectLst/>
                        </a:rPr>
                        <a:t>Network-level Denial of Service</a:t>
                      </a:r>
                    </a:p>
                  </a:txBody>
                  <a:tcPr marL="127838" marR="159798" marT="91440" marB="91440" anchor="ctr"/>
                </a:tc>
                <a:extLst>
                  <a:ext uri="{0D108BD9-81ED-4DB2-BD59-A6C34878D82A}">
                    <a16:rowId xmlns:a16="http://schemas.microsoft.com/office/drawing/2014/main" val="2599997766"/>
                  </a:ext>
                </a:extLst>
              </a:tr>
              <a:tr h="370840">
                <a:tc>
                  <a:txBody>
                    <a:bodyPr/>
                    <a:lstStyle/>
                    <a:p>
                      <a:pPr algn="l"/>
                      <a:r>
                        <a:rPr lang="en-US" sz="2400">
                          <a:effectLst/>
                        </a:rPr>
                        <a:t>Missing security headers</a:t>
                      </a:r>
                    </a:p>
                  </a:txBody>
                  <a:tcPr marL="127838" marR="159798" marT="91440" marB="91440" anchor="ctr"/>
                </a:tc>
                <a:extLst>
                  <a:ext uri="{0D108BD9-81ED-4DB2-BD59-A6C34878D82A}">
                    <a16:rowId xmlns:a16="http://schemas.microsoft.com/office/drawing/2014/main" val="4170177219"/>
                  </a:ext>
                </a:extLst>
              </a:tr>
              <a:tr h="370840">
                <a:tc>
                  <a:txBody>
                    <a:bodyPr/>
                    <a:lstStyle/>
                    <a:p>
                      <a:pPr algn="l"/>
                      <a:r>
                        <a:rPr lang="en-US" sz="2400">
                          <a:effectLst/>
                        </a:rPr>
                        <a:t>Content injection</a:t>
                      </a:r>
                    </a:p>
                  </a:txBody>
                  <a:tcPr marL="127838" marR="159798" marT="91440" marB="91440" anchor="ctr"/>
                </a:tc>
                <a:extLst>
                  <a:ext uri="{0D108BD9-81ED-4DB2-BD59-A6C34878D82A}">
                    <a16:rowId xmlns:a16="http://schemas.microsoft.com/office/drawing/2014/main" val="2491751991"/>
                  </a:ext>
                </a:extLst>
              </a:tr>
              <a:tr h="370840">
                <a:tc>
                  <a:txBody>
                    <a:bodyPr/>
                    <a:lstStyle/>
                    <a:p>
                      <a:pPr algn="l"/>
                      <a:r>
                        <a:rPr lang="en-US" sz="2400">
                          <a:effectLst/>
                        </a:rPr>
                        <a:t>Logout CSRF</a:t>
                      </a:r>
                    </a:p>
                  </a:txBody>
                  <a:tcPr marL="127838" marR="159798" marT="91440" marB="91440" anchor="ctr"/>
                </a:tc>
                <a:extLst>
                  <a:ext uri="{0D108BD9-81ED-4DB2-BD59-A6C34878D82A}">
                    <a16:rowId xmlns:a16="http://schemas.microsoft.com/office/drawing/2014/main" val="1179898952"/>
                  </a:ext>
                </a:extLst>
              </a:tr>
              <a:tr h="370840">
                <a:tc>
                  <a:txBody>
                    <a:bodyPr/>
                    <a:lstStyle/>
                    <a:p>
                      <a:pPr algn="l"/>
                      <a:r>
                        <a:rPr lang="en-US" sz="2400">
                          <a:effectLst/>
                        </a:rPr>
                        <a:t>Missing cookie flags on non-security-sensitive cookies</a:t>
                      </a:r>
                    </a:p>
                  </a:txBody>
                  <a:tcPr marL="127838" marR="159798" marT="91440" marB="91440" anchor="ctr"/>
                </a:tc>
                <a:extLst>
                  <a:ext uri="{0D108BD9-81ED-4DB2-BD59-A6C34878D82A}">
                    <a16:rowId xmlns:a16="http://schemas.microsoft.com/office/drawing/2014/main" val="3576551058"/>
                  </a:ext>
                </a:extLst>
              </a:tr>
              <a:tr h="370840">
                <a:tc>
                  <a:txBody>
                    <a:bodyPr/>
                    <a:lstStyle/>
                    <a:p>
                      <a:pPr algn="l"/>
                      <a:r>
                        <a:rPr lang="en-US" sz="2400">
                          <a:effectLst/>
                        </a:rPr>
                        <a:t>401 injection</a:t>
                      </a:r>
                    </a:p>
                  </a:txBody>
                  <a:tcPr marL="127838" marR="159798" marT="91440" marB="91440" anchor="ctr"/>
                </a:tc>
                <a:extLst>
                  <a:ext uri="{0D108BD9-81ED-4DB2-BD59-A6C34878D82A}">
                    <a16:rowId xmlns:a16="http://schemas.microsoft.com/office/drawing/2014/main" val="1402991189"/>
                  </a:ext>
                </a:extLst>
              </a:tr>
              <a:tr h="370840">
                <a:tc>
                  <a:txBody>
                    <a:bodyPr/>
                    <a:lstStyle/>
                    <a:p>
                      <a:pPr algn="l"/>
                      <a:r>
                        <a:rPr lang="en-US" sz="2400">
                          <a:effectLst/>
                        </a:rPr>
                        <a:t>Banner grabbing issues</a:t>
                      </a:r>
                    </a:p>
                  </a:txBody>
                  <a:tcPr marL="127838" marR="159798" marT="91440" marB="91440" anchor="ctr"/>
                </a:tc>
                <a:extLst>
                  <a:ext uri="{0D108BD9-81ED-4DB2-BD59-A6C34878D82A}">
                    <a16:rowId xmlns:a16="http://schemas.microsoft.com/office/drawing/2014/main" val="197484854"/>
                  </a:ext>
                </a:extLst>
              </a:tr>
            </a:tbl>
          </a:graphicData>
        </a:graphic>
      </p:graphicFrame>
    </p:spTree>
    <p:extLst>
      <p:ext uri="{BB962C8B-B14F-4D97-AF65-F5344CB8AC3E}">
        <p14:creationId xmlns:p14="http://schemas.microsoft.com/office/powerpoint/2010/main" val="4037283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706288"/>
            <a:ext cx="9144000" cy="5900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a:t>Discovery to Patch Lifetime</a:t>
            </a:r>
          </a:p>
        </p:txBody>
      </p:sp>
    </p:spTree>
    <p:extLst>
      <p:ext uri="{BB962C8B-B14F-4D97-AF65-F5344CB8AC3E}">
        <p14:creationId xmlns:p14="http://schemas.microsoft.com/office/powerpoint/2010/main" val="99397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Digital Signatures</a:t>
            </a:r>
          </a:p>
        </p:txBody>
      </p:sp>
      <p:sp>
        <p:nvSpPr>
          <p:cNvPr id="3" name="Content Placeholder 2"/>
          <p:cNvSpPr>
            <a:spLocks noGrp="1"/>
          </p:cNvSpPr>
          <p:nvPr>
            <p:ph idx="1"/>
          </p:nvPr>
        </p:nvSpPr>
        <p:spPr/>
        <p:txBody>
          <a:bodyPr>
            <a:normAutofit fontScale="92500"/>
          </a:bodyPr>
          <a:lstStyle/>
          <a:p>
            <a:r>
              <a:rPr lang="en-US"/>
              <a:t>We know the result of a digital signature is an encrypted hash</a:t>
            </a:r>
          </a:p>
          <a:p>
            <a:pPr lvl="1"/>
            <a:r>
              <a:rPr lang="en-US"/>
              <a:t>The result is unlikely to be remembered </a:t>
            </a:r>
            <a:r>
              <a:rPr lang="en-US" b="1"/>
              <a:t>de0aa26b3e02ac7d5ccff900c2a0d064</a:t>
            </a:r>
          </a:p>
          <a:p>
            <a:r>
              <a:rPr lang="en-US"/>
              <a:t>The W3C standards group wanted to allow a signature representation that people could actually remember</a:t>
            </a:r>
          </a:p>
          <a:p>
            <a:r>
              <a:rPr lang="en-US"/>
              <a:t>Thus the standard </a:t>
            </a:r>
            <a:r>
              <a:rPr lang="en-US" b="1" i="1"/>
              <a:t>recommended</a:t>
            </a:r>
            <a:r>
              <a:rPr lang="en-US"/>
              <a:t> the hash be allowed to be truncated to 20 bits</a:t>
            </a:r>
          </a:p>
          <a:p>
            <a:pPr lvl="1"/>
            <a:r>
              <a:rPr lang="en-US" b="1"/>
              <a:t>de0aa</a:t>
            </a:r>
          </a:p>
          <a:p>
            <a:r>
              <a:rPr lang="en-US"/>
              <a:t>Literally 1 in a million.  Easier to remember than a real signature</a:t>
            </a:r>
          </a:p>
        </p:txBody>
      </p:sp>
    </p:spTree>
    <p:extLst>
      <p:ext uri="{BB962C8B-B14F-4D97-AF65-F5344CB8AC3E}">
        <p14:creationId xmlns:p14="http://schemas.microsoft.com/office/powerpoint/2010/main" val="3686155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Implementation</a:t>
            </a:r>
          </a:p>
        </p:txBody>
      </p:sp>
      <p:sp>
        <p:nvSpPr>
          <p:cNvPr id="3" name="Content Placeholder 2"/>
          <p:cNvSpPr>
            <a:spLocks noGrp="1"/>
          </p:cNvSpPr>
          <p:nvPr>
            <p:ph idx="1"/>
          </p:nvPr>
        </p:nvSpPr>
        <p:spPr/>
        <p:txBody>
          <a:bodyPr/>
          <a:lstStyle/>
          <a:p>
            <a:r>
              <a:rPr lang="en-US"/>
              <a:t>XML includes the full MD5 or SHA hash</a:t>
            </a:r>
          </a:p>
          <a:p>
            <a:r>
              <a:rPr lang="en-US"/>
              <a:t>XML indicates truncation length</a:t>
            </a:r>
          </a:p>
          <a:p>
            <a:pPr lvl="1"/>
            <a:r>
              <a:rPr lang="en-US"/>
              <a:t>20 “recommended”</a:t>
            </a:r>
          </a:p>
          <a:p>
            <a:r>
              <a:rPr lang="en-US"/>
              <a:t>XML libraries truncate to the number of bits the signatures specifies</a:t>
            </a:r>
          </a:p>
        </p:txBody>
      </p:sp>
      <p:sp>
        <p:nvSpPr>
          <p:cNvPr id="4" name="TextBox 3"/>
          <p:cNvSpPr txBox="1"/>
          <p:nvPr/>
        </p:nvSpPr>
        <p:spPr>
          <a:xfrm>
            <a:off x="2057400" y="5695544"/>
            <a:ext cx="6096000" cy="914400"/>
          </a:xfrm>
          <a:prstGeom prst="rect">
            <a:avLst/>
          </a:prstGeom>
        </p:spPr>
        <p:txBody>
          <a:bodyPr vert="horz" wrap="none" lIns="91440" tIns="45720" rIns="91440" bIns="45720" rtlCol="0">
            <a:normAutofit/>
          </a:bodyPr>
          <a:lstStyle/>
          <a:p>
            <a:r>
              <a:rPr lang="en-US" sz="3200">
                <a:solidFill>
                  <a:srgbClr val="FF0000"/>
                </a:solidFill>
              </a:rPr>
              <a:t>What happens if the XML document specifies 1?</a:t>
            </a:r>
          </a:p>
        </p:txBody>
      </p:sp>
    </p:spTree>
    <p:extLst>
      <p:ext uri="{BB962C8B-B14F-4D97-AF65-F5344CB8AC3E}">
        <p14:creationId xmlns:p14="http://schemas.microsoft.com/office/powerpoint/2010/main" val="15297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XML signature HMAC truncation</a:t>
            </a:r>
          </a:p>
        </p:txBody>
      </p:sp>
      <p:sp>
        <p:nvSpPr>
          <p:cNvPr id="3" name="Content Placeholder 2"/>
          <p:cNvSpPr>
            <a:spLocks noGrp="1"/>
          </p:cNvSpPr>
          <p:nvPr>
            <p:ph idx="1"/>
          </p:nvPr>
        </p:nvSpPr>
        <p:spPr/>
        <p:txBody>
          <a:bodyPr>
            <a:normAutofit fontScale="92500" lnSpcReduction="20000"/>
          </a:bodyPr>
          <a:lstStyle/>
          <a:p>
            <a:r>
              <a:rPr lang="en-US" dirty="0"/>
              <a:t>All popular XML libraries vulnerable</a:t>
            </a:r>
          </a:p>
          <a:p>
            <a:pPr lvl="1"/>
            <a:r>
              <a:rPr lang="en-US" dirty="0"/>
              <a:t>Not all admitted to flaw</a:t>
            </a:r>
          </a:p>
          <a:p>
            <a:pPr lvl="1"/>
            <a:r>
              <a:rPr lang="en-US" dirty="0"/>
              <a:t>Few libraries many vendors “customers”</a:t>
            </a:r>
          </a:p>
          <a:p>
            <a:r>
              <a:rPr lang="en-US" dirty="0"/>
              <a:t>Jan 6 – Discovery by Frederick Hirsch</a:t>
            </a:r>
          </a:p>
          <a:p>
            <a:r>
              <a:rPr lang="en-US" dirty="0"/>
              <a:t>Jan 8 – Validated 6 libraries affected including Intel’s</a:t>
            </a:r>
          </a:p>
          <a:p>
            <a:r>
              <a:rPr lang="en-US" dirty="0"/>
              <a:t>Jan 21 – W3C WG review</a:t>
            </a:r>
          </a:p>
          <a:p>
            <a:r>
              <a:rPr lang="en-US" dirty="0"/>
              <a:t>Feb 8 – W3C members notified under non-disclosure</a:t>
            </a:r>
          </a:p>
          <a:p>
            <a:r>
              <a:rPr lang="en-US" dirty="0"/>
              <a:t>Feb 18 – XML library manufactures notified</a:t>
            </a:r>
          </a:p>
          <a:p>
            <a:r>
              <a:rPr lang="en-US" dirty="0"/>
              <a:t>March 1 – Public disclosure schedule set</a:t>
            </a:r>
          </a:p>
          <a:p>
            <a:r>
              <a:rPr lang="en-US" dirty="0"/>
              <a:t>July 9 - CVE notification</a:t>
            </a:r>
          </a:p>
        </p:txBody>
      </p:sp>
    </p:spTree>
    <p:extLst>
      <p:ext uri="{BB962C8B-B14F-4D97-AF65-F5344CB8AC3E}">
        <p14:creationId xmlns:p14="http://schemas.microsoft.com/office/powerpoint/2010/main" val="279082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Microsoft Disclosures</a:t>
            </a:r>
          </a:p>
        </p:txBody>
      </p:sp>
      <p:sp>
        <p:nvSpPr>
          <p:cNvPr id="3" name="Content Placeholder 2"/>
          <p:cNvSpPr>
            <a:spLocks noGrp="1"/>
          </p:cNvSpPr>
          <p:nvPr>
            <p:ph idx="1"/>
          </p:nvPr>
        </p:nvSpPr>
        <p:spPr/>
        <p:txBody>
          <a:bodyPr>
            <a:normAutofit fontScale="92500" lnSpcReduction="10000"/>
          </a:bodyPr>
          <a:lstStyle/>
          <a:p>
            <a:r>
              <a:rPr lang="en-US" sz="3000"/>
              <a:t>Monthly Security Bulletin </a:t>
            </a:r>
            <a:r>
              <a:rPr lang="en-US" sz="3000" b="1"/>
              <a:t>Summary</a:t>
            </a:r>
          </a:p>
          <a:p>
            <a:pPr lvl="1"/>
            <a:r>
              <a:rPr lang="en-US" sz="2000">
                <a:hlinkClick r:id="rId3"/>
              </a:rPr>
              <a:t>https://technet.microsoft.com/library/security/ms16-jul</a:t>
            </a:r>
            <a:r>
              <a:rPr lang="en-US" sz="2000"/>
              <a:t> </a:t>
            </a:r>
          </a:p>
          <a:p>
            <a:r>
              <a:rPr lang="en-US" sz="3000"/>
              <a:t>Publicly recorded as a CVE</a:t>
            </a:r>
          </a:p>
          <a:p>
            <a:pPr lvl="1"/>
            <a:r>
              <a:rPr lang="en-US" sz="2000">
                <a:hlinkClick r:id="rId4"/>
              </a:rPr>
              <a:t>http://www.cve.mitre.org/cgi-bin/cvename.cgi?name=CVE-2016-3274</a:t>
            </a:r>
            <a:endParaRPr lang="en-US" sz="2000"/>
          </a:p>
          <a:p>
            <a:r>
              <a:rPr lang="en-US" sz="3000"/>
              <a:t>Never discloses the actual attack</a:t>
            </a:r>
          </a:p>
          <a:p>
            <a:pPr lvl="1"/>
            <a:r>
              <a:rPr lang="en-GB" sz="2100" b="1"/>
              <a:t>Internet Explorer Security Feature Bypass Vulnerability - CVE-2016-3245</a:t>
            </a:r>
          </a:p>
          <a:p>
            <a:pPr lvl="2"/>
            <a:r>
              <a:rPr lang="en-GB"/>
              <a:t>A restricted ports security feature bypass vulnerability exists for Internet Explorer. An attacker could take advantage of the vulnerability to trick a user into connecting to a remote system.</a:t>
            </a:r>
          </a:p>
          <a:p>
            <a:pPr lvl="2"/>
            <a:r>
              <a:rPr lang="en-GB"/>
              <a:t>To exploit the vulnerability, an attacker would have to either convince a user to visit a malicious website or inject malicious code into a compromised website. The update addresses the vulnerability by correcting how Internet Explorer validates URLs for restricted ports.</a:t>
            </a:r>
          </a:p>
          <a:p>
            <a:endParaRPr lang="en-US" sz="2000"/>
          </a:p>
        </p:txBody>
      </p:sp>
    </p:spTree>
    <p:extLst>
      <p:ext uri="{BB962C8B-B14F-4D97-AF65-F5344CB8AC3E}">
        <p14:creationId xmlns:p14="http://schemas.microsoft.com/office/powerpoint/2010/main" val="3955176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B5F67-822C-4C8E-A2B9-DD302D4DC85D}"/>
              </a:ext>
            </a:extLst>
          </p:cNvPr>
          <p:cNvSpPr>
            <a:spLocks noGrp="1"/>
          </p:cNvSpPr>
          <p:nvPr>
            <p:ph type="title"/>
          </p:nvPr>
        </p:nvSpPr>
        <p:spPr/>
        <p:txBody>
          <a:bodyPr>
            <a:normAutofit/>
          </a:bodyPr>
          <a:lstStyle/>
          <a:p>
            <a:r>
              <a:rPr lang="en-US" dirty="0"/>
              <a:t>Incident Response Plan Checklist (page 1) </a:t>
            </a:r>
            <a:r>
              <a:rPr lang="en-US" dirty="0">
                <a:solidFill>
                  <a:srgbClr val="0070C0"/>
                </a:solidFill>
              </a:rPr>
              <a:t>Before</a:t>
            </a:r>
            <a:r>
              <a:rPr lang="en-US" dirty="0"/>
              <a:t> </a:t>
            </a:r>
            <a:r>
              <a:rPr lang="en-US" dirty="0">
                <a:solidFill>
                  <a:srgbClr val="FF0000"/>
                </a:solidFill>
              </a:rPr>
              <a:t>During</a:t>
            </a:r>
            <a:r>
              <a:rPr lang="en-US" dirty="0"/>
              <a:t> </a:t>
            </a:r>
            <a:r>
              <a:rPr lang="en-US" dirty="0">
                <a:solidFill>
                  <a:srgbClr val="00B050"/>
                </a:solidFill>
              </a:rPr>
              <a:t>After</a:t>
            </a:r>
          </a:p>
        </p:txBody>
      </p:sp>
      <p:graphicFrame>
        <p:nvGraphicFramePr>
          <p:cNvPr id="4" name="Table 4">
            <a:extLst>
              <a:ext uri="{FF2B5EF4-FFF2-40B4-BE49-F238E27FC236}">
                <a16:creationId xmlns:a16="http://schemas.microsoft.com/office/drawing/2014/main" id="{7D261241-2B29-4D22-88F7-CCCD81BB8672}"/>
              </a:ext>
            </a:extLst>
          </p:cNvPr>
          <p:cNvGraphicFramePr>
            <a:graphicFrameLocks noGrp="1"/>
          </p:cNvGraphicFramePr>
          <p:nvPr>
            <p:ph idx="1"/>
            <p:extLst>
              <p:ext uri="{D42A27DB-BD31-4B8C-83A1-F6EECF244321}">
                <p14:modId xmlns:p14="http://schemas.microsoft.com/office/powerpoint/2010/main" val="973235928"/>
              </p:ext>
            </p:extLst>
          </p:nvPr>
        </p:nvGraphicFramePr>
        <p:xfrm>
          <a:off x="609600" y="914400"/>
          <a:ext cx="10972800" cy="5120640"/>
        </p:xfrm>
        <a:graphic>
          <a:graphicData uri="http://schemas.openxmlformats.org/drawingml/2006/table">
            <a:tbl>
              <a:tblPr bandRow="1">
                <a:tableStyleId>{2D5ABB26-0587-4C30-8999-92F81FD0307C}</a:tableStyleId>
              </a:tblPr>
              <a:tblGrid>
                <a:gridCol w="2286000">
                  <a:extLst>
                    <a:ext uri="{9D8B030D-6E8A-4147-A177-3AD203B41FA5}">
                      <a16:colId xmlns:a16="http://schemas.microsoft.com/office/drawing/2014/main" val="3943480241"/>
                    </a:ext>
                  </a:extLst>
                </a:gridCol>
                <a:gridCol w="8686800">
                  <a:extLst>
                    <a:ext uri="{9D8B030D-6E8A-4147-A177-3AD203B41FA5}">
                      <a16:colId xmlns:a16="http://schemas.microsoft.com/office/drawing/2014/main" val="1631487596"/>
                    </a:ext>
                  </a:extLst>
                </a:gridCol>
              </a:tblGrid>
              <a:tr h="370840">
                <a:tc>
                  <a:txBody>
                    <a:bodyPr/>
                    <a:lstStyle/>
                    <a:p>
                      <a:pPr algn="r"/>
                      <a:r>
                        <a:rPr lang="en-US" b="1" dirty="0">
                          <a:solidFill>
                            <a:srgbClr val="0070C0"/>
                          </a:solidFill>
                        </a:rPr>
                        <a:t>Asset Discovery</a:t>
                      </a:r>
                    </a:p>
                  </a:txBody>
                  <a:tcPr anchor="ctr">
                    <a:solidFill>
                      <a:schemeClr val="bg1"/>
                    </a:solidFill>
                  </a:tcPr>
                </a:tc>
                <a:tc>
                  <a:txBody>
                    <a:bodyPr/>
                    <a:lstStyle/>
                    <a:p>
                      <a:r>
                        <a:rPr lang="en-US" b="0" dirty="0"/>
                        <a:t>Know what assets we must protect.</a:t>
                      </a:r>
                    </a:p>
                    <a:p>
                      <a:r>
                        <a:rPr lang="en-US" b="0" dirty="0"/>
                        <a:t>Conduct an asset discovery scan and identify mission-critical data and IT assets</a:t>
                      </a:r>
                    </a:p>
                  </a:txBody>
                  <a:tcPr/>
                </a:tc>
                <a:extLst>
                  <a:ext uri="{0D108BD9-81ED-4DB2-BD59-A6C34878D82A}">
                    <a16:rowId xmlns:a16="http://schemas.microsoft.com/office/drawing/2014/main" val="4163247787"/>
                  </a:ext>
                </a:extLst>
              </a:tr>
              <a:tr h="370840">
                <a:tc>
                  <a:txBody>
                    <a:bodyPr/>
                    <a:lstStyle/>
                    <a:p>
                      <a:pPr algn="r"/>
                      <a:r>
                        <a:rPr lang="en-US" b="1" dirty="0">
                          <a:solidFill>
                            <a:srgbClr val="0070C0"/>
                          </a:solidFill>
                        </a:rPr>
                        <a:t>Risk Assessment</a:t>
                      </a:r>
                    </a:p>
                  </a:txBody>
                  <a:tcPr anchor="ctr">
                    <a:solidFill>
                      <a:schemeClr val="bg1"/>
                    </a:solidFill>
                  </a:tcPr>
                </a:tc>
                <a:tc>
                  <a:txBody>
                    <a:bodyPr/>
                    <a:lstStyle/>
                    <a:p>
                      <a:r>
                        <a:rPr lang="en-US" dirty="0"/>
                        <a:t>Conduct a risk assessment to identify likely risks and prioritize areas of concern. Understand the potential impact of a cybersecurity incident.</a:t>
                      </a:r>
                    </a:p>
                  </a:txBody>
                  <a:tcPr/>
                </a:tc>
                <a:extLst>
                  <a:ext uri="{0D108BD9-81ED-4DB2-BD59-A6C34878D82A}">
                    <a16:rowId xmlns:a16="http://schemas.microsoft.com/office/drawing/2014/main" val="2357328461"/>
                  </a:ext>
                </a:extLst>
              </a:tr>
              <a:tr h="370840">
                <a:tc>
                  <a:txBody>
                    <a:bodyPr/>
                    <a:lstStyle/>
                    <a:p>
                      <a:pPr algn="r"/>
                      <a:r>
                        <a:rPr lang="en-US" b="1" dirty="0">
                          <a:solidFill>
                            <a:srgbClr val="0070C0"/>
                          </a:solidFill>
                        </a:rPr>
                        <a:t>Response Team</a:t>
                      </a:r>
                    </a:p>
                  </a:txBody>
                  <a:tcPr anchor="ctr">
                    <a:solidFill>
                      <a:schemeClr val="bg1"/>
                    </a:solidFill>
                  </a:tcPr>
                </a:tc>
                <a:tc>
                  <a:txBody>
                    <a:bodyPr/>
                    <a:lstStyle/>
                    <a:p>
                      <a:r>
                        <a:rPr lang="en-US" dirty="0"/>
                        <a:t>Identify the key members of the response team and their backups (internal and external.</a:t>
                      </a:r>
                    </a:p>
                    <a:p>
                      <a:r>
                        <a:rPr lang="en-US" dirty="0"/>
                        <a:t>Ensure that they know their roles and responsibilities.</a:t>
                      </a:r>
                    </a:p>
                  </a:txBody>
                  <a:tcPr/>
                </a:tc>
                <a:extLst>
                  <a:ext uri="{0D108BD9-81ED-4DB2-BD59-A6C34878D82A}">
                    <a16:rowId xmlns:a16="http://schemas.microsoft.com/office/drawing/2014/main" val="996282359"/>
                  </a:ext>
                </a:extLst>
              </a:tr>
              <a:tr h="370840">
                <a:tc>
                  <a:txBody>
                    <a:bodyPr/>
                    <a:lstStyle/>
                    <a:p>
                      <a:pPr algn="r"/>
                      <a:r>
                        <a:rPr lang="en-US" b="1" dirty="0">
                          <a:solidFill>
                            <a:srgbClr val="0070C0"/>
                          </a:solidFill>
                        </a:rPr>
                        <a:t>Authority</a:t>
                      </a:r>
                    </a:p>
                  </a:txBody>
                  <a:tcPr anchor="ctr">
                    <a:solidFill>
                      <a:schemeClr val="bg1"/>
                    </a:solidFill>
                  </a:tcPr>
                </a:tc>
                <a:tc>
                  <a:txBody>
                    <a:bodyPr/>
                    <a:lstStyle/>
                    <a:p>
                      <a:r>
                        <a:rPr lang="en-US" dirty="0"/>
                        <a:t>Appoint an IR leader.  Define when to activate the plan and establish authority to take actions, such as shutting down resources and notifying law enforcement. </a:t>
                      </a:r>
                    </a:p>
                  </a:txBody>
                  <a:tcPr/>
                </a:tc>
                <a:extLst>
                  <a:ext uri="{0D108BD9-81ED-4DB2-BD59-A6C34878D82A}">
                    <a16:rowId xmlns:a16="http://schemas.microsoft.com/office/drawing/2014/main" val="2237492736"/>
                  </a:ext>
                </a:extLst>
              </a:tr>
              <a:tr h="370840">
                <a:tc>
                  <a:txBody>
                    <a:bodyPr/>
                    <a:lstStyle/>
                    <a:p>
                      <a:pPr algn="r"/>
                      <a:r>
                        <a:rPr lang="en-US" b="1" dirty="0">
                          <a:solidFill>
                            <a:srgbClr val="0070C0"/>
                          </a:solidFill>
                        </a:rPr>
                        <a:t>Stakeholders</a:t>
                      </a:r>
                    </a:p>
                  </a:txBody>
                  <a:tcPr anchor="ctr">
                    <a:solidFill>
                      <a:schemeClr val="bg1"/>
                    </a:solidFill>
                  </a:tcPr>
                </a:tc>
                <a:tc>
                  <a:txBody>
                    <a:bodyPr/>
                    <a:lstStyle/>
                    <a:p>
                      <a:r>
                        <a:rPr lang="en-US" dirty="0"/>
                        <a:t>Identify stakeholders who must be notified and kept apprised throughout the incident response operation. Stakeholders can be external as well as internal.</a:t>
                      </a:r>
                    </a:p>
                  </a:txBody>
                  <a:tcPr/>
                </a:tc>
                <a:extLst>
                  <a:ext uri="{0D108BD9-81ED-4DB2-BD59-A6C34878D82A}">
                    <a16:rowId xmlns:a16="http://schemas.microsoft.com/office/drawing/2014/main" val="3298343461"/>
                  </a:ext>
                </a:extLst>
              </a:tr>
              <a:tr h="370840">
                <a:tc>
                  <a:txBody>
                    <a:bodyPr/>
                    <a:lstStyle/>
                    <a:p>
                      <a:pPr algn="r"/>
                      <a:r>
                        <a:rPr lang="en-US" b="1" dirty="0">
                          <a:solidFill>
                            <a:srgbClr val="0070C0"/>
                          </a:solidFill>
                        </a:rPr>
                        <a:t>Communications</a:t>
                      </a:r>
                    </a:p>
                  </a:txBody>
                  <a:tcPr anchor="ctr">
                    <a:solidFill>
                      <a:schemeClr val="bg1"/>
                    </a:solidFill>
                  </a:tcPr>
                </a:tc>
                <a:tc>
                  <a:txBody>
                    <a:bodyPr/>
                    <a:lstStyle/>
                    <a:p>
                      <a:r>
                        <a:rPr lang="en-US" dirty="0"/>
                        <a:t>Establish clear plan: who must be notified and when.</a:t>
                      </a:r>
                    </a:p>
                    <a:p>
                      <a:r>
                        <a:rPr lang="en-US" dirty="0"/>
                        <a:t>Regulatory requirements may dictate mandatory notices.</a:t>
                      </a:r>
                    </a:p>
                  </a:txBody>
                  <a:tcPr/>
                </a:tc>
                <a:extLst>
                  <a:ext uri="{0D108BD9-81ED-4DB2-BD59-A6C34878D82A}">
                    <a16:rowId xmlns:a16="http://schemas.microsoft.com/office/drawing/2014/main" val="64343672"/>
                  </a:ext>
                </a:extLst>
              </a:tr>
              <a:tr h="370840">
                <a:tc>
                  <a:txBody>
                    <a:bodyPr/>
                    <a:lstStyle/>
                    <a:p>
                      <a:pPr algn="r"/>
                      <a:r>
                        <a:rPr lang="en-US" b="1" dirty="0">
                          <a:solidFill>
                            <a:srgbClr val="0070C0"/>
                          </a:solidFill>
                        </a:rPr>
                        <a:t>External Contacts</a:t>
                      </a:r>
                    </a:p>
                  </a:txBody>
                  <a:tcPr anchor="ctr">
                    <a:solidFill>
                      <a:schemeClr val="bg1"/>
                    </a:solidFill>
                  </a:tcPr>
                </a:tc>
                <a:tc>
                  <a:txBody>
                    <a:bodyPr/>
                    <a:lstStyle/>
                    <a:p>
                      <a:r>
                        <a:rPr lang="en-US" dirty="0"/>
                        <a:t>Arrange IR contracts in advance if you lack sufficient internal resources.</a:t>
                      </a:r>
                    </a:p>
                    <a:p>
                      <a:r>
                        <a:rPr lang="en-US" dirty="0"/>
                        <a:t>Establish when to enlist support if an incident occurs. </a:t>
                      </a:r>
                    </a:p>
                  </a:txBody>
                  <a:tcPr/>
                </a:tc>
                <a:extLst>
                  <a:ext uri="{0D108BD9-81ED-4DB2-BD59-A6C34878D82A}">
                    <a16:rowId xmlns:a16="http://schemas.microsoft.com/office/drawing/2014/main" val="4218670301"/>
                  </a:ext>
                </a:extLst>
              </a:tr>
              <a:tr h="370840">
                <a:tc>
                  <a:txBody>
                    <a:bodyPr/>
                    <a:lstStyle/>
                    <a:p>
                      <a:pPr algn="r"/>
                      <a:r>
                        <a:rPr lang="en-US" b="1" dirty="0">
                          <a:solidFill>
                            <a:srgbClr val="0070C0"/>
                          </a:solidFill>
                        </a:rPr>
                        <a:t>Test Your IR Plan</a:t>
                      </a:r>
                    </a:p>
                  </a:txBody>
                  <a:tcPr anchor="ctr">
                    <a:solidFill>
                      <a:schemeClr val="bg1"/>
                    </a:solidFill>
                  </a:tcPr>
                </a:tc>
                <a:tc>
                  <a:txBody>
                    <a:bodyPr/>
                    <a:lstStyle/>
                    <a:p>
                      <a:r>
                        <a:rPr lang="en-US" dirty="0"/>
                        <a:t>Test IR plan regularly via tabletop exercises, simulations, or actual incidents. </a:t>
                      </a:r>
                    </a:p>
                    <a:p>
                      <a:r>
                        <a:rPr lang="en-US" dirty="0"/>
                        <a:t>Run scenarios based on risk assessment. Update IR plan to reflect lessons learned</a:t>
                      </a:r>
                    </a:p>
                  </a:txBody>
                  <a:tcPr/>
                </a:tc>
                <a:extLst>
                  <a:ext uri="{0D108BD9-81ED-4DB2-BD59-A6C34878D82A}">
                    <a16:rowId xmlns:a16="http://schemas.microsoft.com/office/drawing/2014/main" val="3964463558"/>
                  </a:ext>
                </a:extLst>
              </a:tr>
            </a:tbl>
          </a:graphicData>
        </a:graphic>
      </p:graphicFrame>
    </p:spTree>
    <p:extLst>
      <p:ext uri="{BB962C8B-B14F-4D97-AF65-F5344CB8AC3E}">
        <p14:creationId xmlns:p14="http://schemas.microsoft.com/office/powerpoint/2010/main" val="841545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B5F67-822C-4C8E-A2B9-DD302D4DC85D}"/>
              </a:ext>
            </a:extLst>
          </p:cNvPr>
          <p:cNvSpPr>
            <a:spLocks noGrp="1"/>
          </p:cNvSpPr>
          <p:nvPr>
            <p:ph type="title"/>
          </p:nvPr>
        </p:nvSpPr>
        <p:spPr/>
        <p:txBody>
          <a:bodyPr>
            <a:normAutofit/>
          </a:bodyPr>
          <a:lstStyle/>
          <a:p>
            <a:r>
              <a:rPr lang="en-US" dirty="0"/>
              <a:t>Incident Response Plan Checklist (page 2) </a:t>
            </a:r>
            <a:r>
              <a:rPr lang="en-US" dirty="0">
                <a:solidFill>
                  <a:srgbClr val="0070C0"/>
                </a:solidFill>
              </a:rPr>
              <a:t>Before</a:t>
            </a:r>
            <a:r>
              <a:rPr lang="en-US" dirty="0"/>
              <a:t> </a:t>
            </a:r>
            <a:r>
              <a:rPr lang="en-US" dirty="0">
                <a:solidFill>
                  <a:srgbClr val="FF0000"/>
                </a:solidFill>
              </a:rPr>
              <a:t>During</a:t>
            </a:r>
            <a:r>
              <a:rPr lang="en-US" dirty="0"/>
              <a:t> </a:t>
            </a:r>
            <a:r>
              <a:rPr lang="en-US" dirty="0">
                <a:solidFill>
                  <a:srgbClr val="00B050"/>
                </a:solidFill>
              </a:rPr>
              <a:t>After</a:t>
            </a:r>
            <a:endParaRPr lang="en-US" dirty="0"/>
          </a:p>
        </p:txBody>
      </p:sp>
      <p:graphicFrame>
        <p:nvGraphicFramePr>
          <p:cNvPr id="4" name="Table 4">
            <a:extLst>
              <a:ext uri="{FF2B5EF4-FFF2-40B4-BE49-F238E27FC236}">
                <a16:creationId xmlns:a16="http://schemas.microsoft.com/office/drawing/2014/main" id="{7D261241-2B29-4D22-88F7-CCCD81BB8672}"/>
              </a:ext>
            </a:extLst>
          </p:cNvPr>
          <p:cNvGraphicFramePr>
            <a:graphicFrameLocks noGrp="1"/>
          </p:cNvGraphicFramePr>
          <p:nvPr>
            <p:ph idx="1"/>
            <p:extLst>
              <p:ext uri="{D42A27DB-BD31-4B8C-83A1-F6EECF244321}">
                <p14:modId xmlns:p14="http://schemas.microsoft.com/office/powerpoint/2010/main" val="969322454"/>
              </p:ext>
            </p:extLst>
          </p:nvPr>
        </p:nvGraphicFramePr>
        <p:xfrm>
          <a:off x="609600" y="914400"/>
          <a:ext cx="10972800" cy="5760720"/>
        </p:xfrm>
        <a:graphic>
          <a:graphicData uri="http://schemas.openxmlformats.org/drawingml/2006/table">
            <a:tbl>
              <a:tblPr bandRow="1">
                <a:tableStyleId>{2D5ABB26-0587-4C30-8999-92F81FD0307C}</a:tableStyleId>
              </a:tblPr>
              <a:tblGrid>
                <a:gridCol w="2286000">
                  <a:extLst>
                    <a:ext uri="{9D8B030D-6E8A-4147-A177-3AD203B41FA5}">
                      <a16:colId xmlns:a16="http://schemas.microsoft.com/office/drawing/2014/main" val="3943480241"/>
                    </a:ext>
                  </a:extLst>
                </a:gridCol>
                <a:gridCol w="8686800">
                  <a:extLst>
                    <a:ext uri="{9D8B030D-6E8A-4147-A177-3AD203B41FA5}">
                      <a16:colId xmlns:a16="http://schemas.microsoft.com/office/drawing/2014/main" val="1631487596"/>
                    </a:ext>
                  </a:extLst>
                </a:gridCol>
              </a:tblGrid>
              <a:tr h="370840">
                <a:tc>
                  <a:txBody>
                    <a:bodyPr/>
                    <a:lstStyle/>
                    <a:p>
                      <a:pPr algn="r"/>
                      <a:r>
                        <a:rPr lang="en-US" b="1" dirty="0">
                          <a:solidFill>
                            <a:srgbClr val="0070C0"/>
                          </a:solidFill>
                        </a:rPr>
                        <a:t>Business Continuity</a:t>
                      </a:r>
                    </a:p>
                  </a:txBody>
                  <a:tcPr anchor="ctr">
                    <a:solidFill>
                      <a:schemeClr val="bg1"/>
                    </a:solidFill>
                  </a:tcPr>
                </a:tc>
                <a:tc>
                  <a:txBody>
                    <a:bodyPr/>
                    <a:lstStyle/>
                    <a:p>
                      <a:r>
                        <a:rPr lang="en-US" dirty="0"/>
                        <a:t>Coordinate IR plan with business continuity plan to ensure operational disruption caused by a cyber incident is addressed consistently with the continuity plan.</a:t>
                      </a:r>
                      <a:endParaRPr lang="en-US" b="0" dirty="0"/>
                    </a:p>
                  </a:txBody>
                  <a:tcPr/>
                </a:tc>
                <a:extLst>
                  <a:ext uri="{0D108BD9-81ED-4DB2-BD59-A6C34878D82A}">
                    <a16:rowId xmlns:a16="http://schemas.microsoft.com/office/drawing/2014/main" val="4163247787"/>
                  </a:ext>
                </a:extLst>
              </a:tr>
              <a:tr h="370840">
                <a:tc>
                  <a:txBody>
                    <a:bodyPr/>
                    <a:lstStyle/>
                    <a:p>
                      <a:pPr algn="r"/>
                      <a:r>
                        <a:rPr lang="en-US" b="1" dirty="0">
                          <a:solidFill>
                            <a:srgbClr val="0070C0"/>
                          </a:solidFill>
                        </a:rPr>
                        <a:t>Training and Tools</a:t>
                      </a:r>
                    </a:p>
                  </a:txBody>
                  <a:tcPr anchor="ctr">
                    <a:solidFill>
                      <a:schemeClr val="bg1"/>
                    </a:solidFill>
                  </a:tcPr>
                </a:tc>
                <a:tc>
                  <a:txBody>
                    <a:bodyPr/>
                    <a:lstStyle/>
                    <a:p>
                      <a:r>
                        <a:rPr lang="en-US" dirty="0"/>
                        <a:t>Ensure your incident response team has the necessary training and tools to properly respond to security events and perform their designated roles.</a:t>
                      </a:r>
                    </a:p>
                  </a:txBody>
                  <a:tcPr/>
                </a:tc>
                <a:extLst>
                  <a:ext uri="{0D108BD9-81ED-4DB2-BD59-A6C34878D82A}">
                    <a16:rowId xmlns:a16="http://schemas.microsoft.com/office/drawing/2014/main" val="2357328461"/>
                  </a:ext>
                </a:extLst>
              </a:tr>
              <a:tr h="370840">
                <a:tc>
                  <a:txBody>
                    <a:bodyPr/>
                    <a:lstStyle/>
                    <a:p>
                      <a:pPr algn="r"/>
                      <a:r>
                        <a:rPr lang="en-US" b="1" dirty="0">
                          <a:solidFill>
                            <a:srgbClr val="0070C0"/>
                          </a:solidFill>
                        </a:rPr>
                        <a:t>Executive Support</a:t>
                      </a:r>
                    </a:p>
                  </a:txBody>
                  <a:tcPr anchor="ctr">
                    <a:solidFill>
                      <a:schemeClr val="bg1"/>
                    </a:solidFill>
                  </a:tcPr>
                </a:tc>
                <a:tc>
                  <a:txBody>
                    <a:bodyPr/>
                    <a:lstStyle/>
                    <a:p>
                      <a:r>
                        <a:rPr lang="en-US" dirty="0"/>
                        <a:t>Get executive buy-in and approval of the plan. </a:t>
                      </a:r>
                    </a:p>
                    <a:p>
                      <a:r>
                        <a:rPr lang="en-US" dirty="0"/>
                        <a:t>Ensure proper level of funding.</a:t>
                      </a:r>
                    </a:p>
                  </a:txBody>
                  <a:tcPr/>
                </a:tc>
                <a:extLst>
                  <a:ext uri="{0D108BD9-81ED-4DB2-BD59-A6C34878D82A}">
                    <a16:rowId xmlns:a16="http://schemas.microsoft.com/office/drawing/2014/main" val="996282359"/>
                  </a:ext>
                </a:extLst>
              </a:tr>
              <a:tr h="370840">
                <a:tc>
                  <a:txBody>
                    <a:bodyPr/>
                    <a:lstStyle/>
                    <a:p>
                      <a:pPr algn="r"/>
                      <a:r>
                        <a:rPr lang="en-US" b="1" dirty="0">
                          <a:solidFill>
                            <a:srgbClr val="0070C0"/>
                          </a:solidFill>
                        </a:rPr>
                        <a:t>Contact List</a:t>
                      </a:r>
                    </a:p>
                  </a:txBody>
                  <a:tcPr anchor="ctr">
                    <a:solidFill>
                      <a:schemeClr val="bg1"/>
                    </a:solidFill>
                  </a:tcPr>
                </a:tc>
                <a:tc>
                  <a:txBody>
                    <a:bodyPr/>
                    <a:lstStyle/>
                    <a:p>
                      <a:r>
                        <a:rPr lang="en-US" dirty="0"/>
                        <a:t>Keep an updated contact list of all IR plan participants and designated backups. ID alternate means of communication in the event that email, VoIP, etc. are down.</a:t>
                      </a:r>
                    </a:p>
                  </a:txBody>
                  <a:tcPr/>
                </a:tc>
                <a:extLst>
                  <a:ext uri="{0D108BD9-81ED-4DB2-BD59-A6C34878D82A}">
                    <a16:rowId xmlns:a16="http://schemas.microsoft.com/office/drawing/2014/main" val="2237492736"/>
                  </a:ext>
                </a:extLst>
              </a:tr>
              <a:tr h="370840">
                <a:tc>
                  <a:txBody>
                    <a:bodyPr/>
                    <a:lstStyle/>
                    <a:p>
                      <a:pPr algn="r"/>
                      <a:r>
                        <a:rPr lang="en-US" b="1" dirty="0">
                          <a:solidFill>
                            <a:srgbClr val="FF0000"/>
                          </a:solidFill>
                        </a:rPr>
                        <a:t>Containment</a:t>
                      </a:r>
                    </a:p>
                  </a:txBody>
                  <a:tcPr anchor="ctr">
                    <a:solidFill>
                      <a:schemeClr val="bg1"/>
                    </a:solidFill>
                  </a:tcPr>
                </a:tc>
                <a:tc>
                  <a:txBody>
                    <a:bodyPr/>
                    <a:lstStyle/>
                    <a:p>
                      <a:r>
                        <a:rPr lang="en-US" dirty="0"/>
                        <a:t>Establish effective means to isolate incident to minimize damage.</a:t>
                      </a:r>
                    </a:p>
                    <a:p>
                      <a:r>
                        <a:rPr lang="en-US" dirty="0"/>
                        <a:t>Establish effective means to detect re-emergence of the incident.</a:t>
                      </a:r>
                    </a:p>
                  </a:txBody>
                  <a:tcPr/>
                </a:tc>
                <a:extLst>
                  <a:ext uri="{0D108BD9-81ED-4DB2-BD59-A6C34878D82A}">
                    <a16:rowId xmlns:a16="http://schemas.microsoft.com/office/drawing/2014/main" val="3298343461"/>
                  </a:ext>
                </a:extLst>
              </a:tr>
              <a:tr h="370840">
                <a:tc>
                  <a:txBody>
                    <a:bodyPr/>
                    <a:lstStyle/>
                    <a:p>
                      <a:pPr algn="r"/>
                      <a:r>
                        <a:rPr lang="en-US" b="1" dirty="0">
                          <a:solidFill>
                            <a:srgbClr val="FF0000"/>
                          </a:solidFill>
                        </a:rPr>
                        <a:t>Eradication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Eradicate residual artifacts.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Restore system(s) to an operable, secure state.</a:t>
                      </a:r>
                    </a:p>
                  </a:txBody>
                  <a:tcPr/>
                </a:tc>
                <a:extLst>
                  <a:ext uri="{0D108BD9-81ED-4DB2-BD59-A6C34878D82A}">
                    <a16:rowId xmlns:a16="http://schemas.microsoft.com/office/drawing/2014/main" val="3539667507"/>
                  </a:ext>
                </a:extLst>
              </a:tr>
              <a:tr h="370840">
                <a:tc>
                  <a:txBody>
                    <a:bodyPr/>
                    <a:lstStyle/>
                    <a:p>
                      <a:pPr algn="r"/>
                      <a:r>
                        <a:rPr lang="en-US" b="1" dirty="0">
                          <a:solidFill>
                            <a:srgbClr val="FF0000"/>
                          </a:solidFill>
                        </a:rPr>
                        <a:t>Incident Event Log</a:t>
                      </a:r>
                    </a:p>
                  </a:txBody>
                  <a:tcPr anchor="ctr">
                    <a:solidFill>
                      <a:schemeClr val="bg1"/>
                    </a:solidFill>
                  </a:tcPr>
                </a:tc>
                <a:tc>
                  <a:txBody>
                    <a:bodyPr/>
                    <a:lstStyle/>
                    <a:p>
                      <a:r>
                        <a:rPr lang="en-US" dirty="0"/>
                        <a:t>Keep an incident event log to track and review pertinent information, such as how the incident was identified, assets affected, business operations impact, etc. </a:t>
                      </a:r>
                    </a:p>
                  </a:txBody>
                  <a:tcPr/>
                </a:tc>
                <a:extLst>
                  <a:ext uri="{0D108BD9-81ED-4DB2-BD59-A6C34878D82A}">
                    <a16:rowId xmlns:a16="http://schemas.microsoft.com/office/drawing/2014/main" val="64343672"/>
                  </a:ext>
                </a:extLst>
              </a:tr>
              <a:tr h="370840">
                <a:tc>
                  <a:txBody>
                    <a:bodyPr/>
                    <a:lstStyle/>
                    <a:p>
                      <a:pPr algn="r"/>
                      <a:r>
                        <a:rPr lang="en-US" b="1" dirty="0">
                          <a:solidFill>
                            <a:srgbClr val="FF0000"/>
                          </a:solidFill>
                        </a:rPr>
                        <a:t>Forensic Evidence</a:t>
                      </a:r>
                    </a:p>
                  </a:txBody>
                  <a:tcPr anchor="ctr">
                    <a:solidFill>
                      <a:schemeClr val="bg1"/>
                    </a:solidFill>
                  </a:tcPr>
                </a:tc>
                <a:tc>
                  <a:txBody>
                    <a:bodyPr/>
                    <a:lstStyle/>
                    <a:p>
                      <a:r>
                        <a:rPr lang="en-US" dirty="0"/>
                        <a:t>Capture and preserve forensic evidence to determine scope of impact and how incident evolved. Evidence may be needed if criminal prosecution is warranted.</a:t>
                      </a:r>
                    </a:p>
                  </a:txBody>
                  <a:tcPr/>
                </a:tc>
                <a:extLst>
                  <a:ext uri="{0D108BD9-81ED-4DB2-BD59-A6C34878D82A}">
                    <a16:rowId xmlns:a16="http://schemas.microsoft.com/office/drawing/2014/main" val="4218670301"/>
                  </a:ext>
                </a:extLst>
              </a:tr>
              <a:tr h="370840">
                <a:tc>
                  <a:txBody>
                    <a:bodyPr/>
                    <a:lstStyle/>
                    <a:p>
                      <a:pPr algn="r"/>
                      <a:r>
                        <a:rPr lang="en-US" b="1" dirty="0">
                          <a:solidFill>
                            <a:srgbClr val="00B050"/>
                          </a:solidFill>
                        </a:rPr>
                        <a:t>Retrospective</a:t>
                      </a:r>
                    </a:p>
                  </a:txBody>
                  <a:tcPr anchor="ctr">
                    <a:solidFill>
                      <a:schemeClr val="bg1"/>
                    </a:solidFill>
                  </a:tcPr>
                </a:tc>
                <a:tc>
                  <a:txBody>
                    <a:bodyPr/>
                    <a:lstStyle/>
                    <a:p>
                      <a:r>
                        <a:rPr lang="en-US" dirty="0"/>
                        <a:t>Conduct a thorough review to determine what went well and what didn’t. </a:t>
                      </a:r>
                    </a:p>
                    <a:p>
                      <a:r>
                        <a:rPr lang="en-US" dirty="0"/>
                        <a:t>Update the incident response plan to reflect lessons learned.</a:t>
                      </a:r>
                    </a:p>
                  </a:txBody>
                  <a:tcPr/>
                </a:tc>
                <a:extLst>
                  <a:ext uri="{0D108BD9-81ED-4DB2-BD59-A6C34878D82A}">
                    <a16:rowId xmlns:a16="http://schemas.microsoft.com/office/drawing/2014/main" val="3964463558"/>
                  </a:ext>
                </a:extLst>
              </a:tr>
            </a:tbl>
          </a:graphicData>
        </a:graphic>
      </p:graphicFrame>
    </p:spTree>
    <p:extLst>
      <p:ext uri="{BB962C8B-B14F-4D97-AF65-F5344CB8AC3E}">
        <p14:creationId xmlns:p14="http://schemas.microsoft.com/office/powerpoint/2010/main" val="1139833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dirty="0"/>
              <a:t>Configuration Management</a:t>
            </a:r>
          </a:p>
        </p:txBody>
      </p:sp>
    </p:spTree>
    <p:extLst>
      <p:ext uri="{BB962C8B-B14F-4D97-AF65-F5344CB8AC3E}">
        <p14:creationId xmlns:p14="http://schemas.microsoft.com/office/powerpoint/2010/main" val="3239579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8DA95A-A953-42A8-8226-B45039BF3ADC}"/>
              </a:ext>
            </a:extLst>
          </p:cNvPr>
          <p:cNvSpPr>
            <a:spLocks noGrp="1"/>
          </p:cNvSpPr>
          <p:nvPr>
            <p:ph type="title"/>
          </p:nvPr>
        </p:nvSpPr>
        <p:spPr/>
        <p:txBody>
          <a:bodyPr>
            <a:normAutofit fontScale="90000"/>
          </a:bodyPr>
          <a:lstStyle/>
          <a:p>
            <a:r>
              <a:rPr lang="en-US" dirty="0">
                <a:hlinkClick r:id="rId2"/>
              </a:rPr>
              <a:t>https://www.ncsc.gov.uk/collection/cyber-security-design-principles</a:t>
            </a:r>
            <a:endParaRPr lang="en-US" dirty="0"/>
          </a:p>
        </p:txBody>
      </p:sp>
      <p:sp>
        <p:nvSpPr>
          <p:cNvPr id="6" name="TextBox 5">
            <a:extLst>
              <a:ext uri="{FF2B5EF4-FFF2-40B4-BE49-F238E27FC236}">
                <a16:creationId xmlns:a16="http://schemas.microsoft.com/office/drawing/2014/main" id="{5037EE8E-8E58-4598-A640-073FE450B891}"/>
              </a:ext>
            </a:extLst>
          </p:cNvPr>
          <p:cNvSpPr txBox="1"/>
          <p:nvPr/>
        </p:nvSpPr>
        <p:spPr>
          <a:xfrm>
            <a:off x="2399654" y="5393410"/>
            <a:ext cx="914400" cy="914400"/>
          </a:xfrm>
          <a:prstGeom prst="rect">
            <a:avLst/>
          </a:prstGeom>
        </p:spPr>
        <p:txBody>
          <a:bodyPr vert="horz" wrap="none" lIns="91440" tIns="45720" rIns="91440" bIns="45720" rtlCol="0">
            <a:normAutofit/>
          </a:bodyPr>
          <a:lstStyle/>
          <a:p>
            <a:r>
              <a:rPr lang="en-US" dirty="0">
                <a:hlinkClick r:id="rId3"/>
              </a:rPr>
              <a:t>https://www.ncsc.gov.uk/guidance/security-design-principles-digital-services-main</a:t>
            </a:r>
            <a:r>
              <a:rPr lang="en-US" dirty="0"/>
              <a:t> </a:t>
            </a:r>
          </a:p>
        </p:txBody>
      </p:sp>
      <p:pic>
        <p:nvPicPr>
          <p:cNvPr id="9" name="Content Placeholder 8">
            <a:extLst>
              <a:ext uri="{FF2B5EF4-FFF2-40B4-BE49-F238E27FC236}">
                <a16:creationId xmlns:a16="http://schemas.microsoft.com/office/drawing/2014/main" id="{1D357ABF-A4B5-4E98-9E0B-6611C62C3A5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82533" y="1371600"/>
            <a:ext cx="11701640" cy="4724400"/>
          </a:xfrm>
        </p:spPr>
      </p:pic>
    </p:spTree>
    <p:extLst>
      <p:ext uri="{BB962C8B-B14F-4D97-AF65-F5344CB8AC3E}">
        <p14:creationId xmlns:p14="http://schemas.microsoft.com/office/powerpoint/2010/main" val="500610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6F88-57A6-4661-8724-FE8D4D0A8755}"/>
              </a:ext>
            </a:extLst>
          </p:cNvPr>
          <p:cNvSpPr>
            <a:spLocks noGrp="1"/>
          </p:cNvSpPr>
          <p:nvPr>
            <p:ph type="title"/>
          </p:nvPr>
        </p:nvSpPr>
        <p:spPr/>
        <p:txBody>
          <a:bodyPr/>
          <a:lstStyle/>
          <a:p>
            <a:r>
              <a:rPr lang="en-US">
                <a:cs typeface="Calibri"/>
              </a:rPr>
              <a:t>Generic Retail Outlet</a:t>
            </a:r>
            <a:endParaRPr lang="en-US"/>
          </a:p>
        </p:txBody>
      </p:sp>
      <p:pic>
        <p:nvPicPr>
          <p:cNvPr id="4" name="Picture 4" descr="A screenshot of a cell phone&#10;&#10;Description generated with very high confidence">
            <a:extLst>
              <a:ext uri="{FF2B5EF4-FFF2-40B4-BE49-F238E27FC236}">
                <a16:creationId xmlns:a16="http://schemas.microsoft.com/office/drawing/2014/main" id="{9740C3F4-23BE-4F7D-A928-11A45FAC46B6}"/>
              </a:ext>
            </a:extLst>
          </p:cNvPr>
          <p:cNvPicPr>
            <a:picLocks noGrp="1" noChangeAspect="1"/>
          </p:cNvPicPr>
          <p:nvPr>
            <p:ph idx="1"/>
          </p:nvPr>
        </p:nvPicPr>
        <p:blipFill>
          <a:blip r:embed="rId3"/>
          <a:stretch>
            <a:fillRect/>
          </a:stretch>
        </p:blipFill>
        <p:spPr>
          <a:xfrm>
            <a:off x="785422" y="914400"/>
            <a:ext cx="10621158" cy="5668962"/>
          </a:xfrm>
          <a:prstGeom prst="rect">
            <a:avLst/>
          </a:prstGeom>
        </p:spPr>
      </p:pic>
    </p:spTree>
    <p:extLst>
      <p:ext uri="{BB962C8B-B14F-4D97-AF65-F5344CB8AC3E}">
        <p14:creationId xmlns:p14="http://schemas.microsoft.com/office/powerpoint/2010/main" val="1000786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FE92B-6AF2-4BAE-B854-2A9A45A2B583}"/>
              </a:ext>
            </a:extLst>
          </p:cNvPr>
          <p:cNvSpPr>
            <a:spLocks noGrp="1"/>
          </p:cNvSpPr>
          <p:nvPr>
            <p:ph type="title"/>
          </p:nvPr>
        </p:nvSpPr>
        <p:spPr/>
        <p:txBody>
          <a:bodyPr/>
          <a:lstStyle/>
          <a:p>
            <a:r>
              <a:rPr lang="en-US" dirty="0"/>
              <a:t>Security Design Principles for Digital Services</a:t>
            </a:r>
          </a:p>
        </p:txBody>
      </p:sp>
      <p:sp>
        <p:nvSpPr>
          <p:cNvPr id="3" name="Content Placeholder 2">
            <a:extLst>
              <a:ext uri="{FF2B5EF4-FFF2-40B4-BE49-F238E27FC236}">
                <a16:creationId xmlns:a16="http://schemas.microsoft.com/office/drawing/2014/main" id="{D132E926-5FFD-4B94-969B-3E9971640B8B}"/>
              </a:ext>
            </a:extLst>
          </p:cNvPr>
          <p:cNvSpPr>
            <a:spLocks noGrp="1"/>
          </p:cNvSpPr>
          <p:nvPr>
            <p:ph idx="1"/>
          </p:nvPr>
        </p:nvSpPr>
        <p:spPr/>
        <p:txBody>
          <a:bodyPr>
            <a:normAutofit fontScale="77500" lnSpcReduction="20000"/>
          </a:bodyPr>
          <a:lstStyle/>
          <a:p>
            <a:pPr fontAlgn="base"/>
            <a:r>
              <a:rPr lang="en-US" b="1" dirty="0"/>
              <a:t>Establish the context</a:t>
            </a:r>
          </a:p>
          <a:p>
            <a:pPr lvl="1" fontAlgn="base"/>
            <a:r>
              <a:rPr lang="en-US" dirty="0"/>
              <a:t>Determine</a:t>
            </a:r>
            <a:r>
              <a:rPr lang="en-US" i="1" dirty="0"/>
              <a:t> all </a:t>
            </a:r>
            <a:r>
              <a:rPr lang="en-US" dirty="0"/>
              <a:t>the elements which compose your system, so your defensive measures will have no blind spots.</a:t>
            </a:r>
          </a:p>
          <a:p>
            <a:pPr fontAlgn="base"/>
            <a:r>
              <a:rPr lang="en-US" b="1" dirty="0"/>
              <a:t>Making compromise difficult</a:t>
            </a:r>
          </a:p>
          <a:p>
            <a:pPr lvl="1" fontAlgn="base"/>
            <a:r>
              <a:rPr lang="en-US" dirty="0"/>
              <a:t>An attacker can only target the parts of a system they can reach. Make your system as difficult to penetrate as possible</a:t>
            </a:r>
          </a:p>
          <a:p>
            <a:pPr fontAlgn="base"/>
            <a:r>
              <a:rPr lang="en-US" b="1" dirty="0"/>
              <a:t>Making disruption difficult</a:t>
            </a:r>
          </a:p>
          <a:p>
            <a:pPr lvl="1" fontAlgn="base"/>
            <a:r>
              <a:rPr lang="en-US" dirty="0"/>
              <a:t>Design a system that is resilient to denial of service attacks and usage spikes</a:t>
            </a:r>
          </a:p>
          <a:p>
            <a:pPr fontAlgn="base"/>
            <a:r>
              <a:rPr lang="en-US" b="1" dirty="0"/>
              <a:t>Making compromise detection easier</a:t>
            </a:r>
          </a:p>
          <a:p>
            <a:pPr lvl="1" fontAlgn="base"/>
            <a:r>
              <a:rPr lang="en-US" dirty="0"/>
              <a:t>Design your system so you can spot suspicious activity as it happens and take necessary action</a:t>
            </a:r>
          </a:p>
          <a:p>
            <a:pPr fontAlgn="base"/>
            <a:r>
              <a:rPr lang="en-US" b="1" dirty="0"/>
              <a:t>Reducing the impact of compromise</a:t>
            </a:r>
          </a:p>
          <a:p>
            <a:pPr lvl="1" fontAlgn="base"/>
            <a:r>
              <a:rPr lang="en-US" dirty="0"/>
              <a:t>If an attacker succeeds in gaining a foothold, they will then move to exploit your system. Make this as difficult as possible</a:t>
            </a:r>
          </a:p>
        </p:txBody>
      </p:sp>
    </p:spTree>
    <p:extLst>
      <p:ext uri="{BB962C8B-B14F-4D97-AF65-F5344CB8AC3E}">
        <p14:creationId xmlns:p14="http://schemas.microsoft.com/office/powerpoint/2010/main" val="1888286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ACE8-0961-47DF-990E-7A966E21EF98}"/>
              </a:ext>
            </a:extLst>
          </p:cNvPr>
          <p:cNvSpPr>
            <a:spLocks noGrp="1"/>
          </p:cNvSpPr>
          <p:nvPr>
            <p:ph type="title"/>
          </p:nvPr>
        </p:nvSpPr>
        <p:spPr/>
        <p:txBody>
          <a:bodyPr/>
          <a:lstStyle/>
          <a:p>
            <a:r>
              <a:rPr lang="en-US"/>
              <a:t>Least Privilege</a:t>
            </a:r>
          </a:p>
        </p:txBody>
      </p:sp>
      <p:sp>
        <p:nvSpPr>
          <p:cNvPr id="3" name="Content Placeholder 2">
            <a:extLst>
              <a:ext uri="{FF2B5EF4-FFF2-40B4-BE49-F238E27FC236}">
                <a16:creationId xmlns:a16="http://schemas.microsoft.com/office/drawing/2014/main" id="{E9702A09-0EC5-43CE-A707-FDC86E896474}"/>
              </a:ext>
            </a:extLst>
          </p:cNvPr>
          <p:cNvSpPr>
            <a:spLocks noGrp="1"/>
          </p:cNvSpPr>
          <p:nvPr>
            <p:ph idx="1"/>
          </p:nvPr>
        </p:nvSpPr>
        <p:spPr/>
        <p:txBody>
          <a:bodyPr vert="horz" lIns="91440" tIns="45720" rIns="91440" bIns="45720" rtlCol="0" anchor="t">
            <a:normAutofit fontScale="92500"/>
          </a:bodyPr>
          <a:lstStyle/>
          <a:p>
            <a:r>
              <a:rPr lang="en-US"/>
              <a:t>Each entity (user, process, or device) is granted the most restrictive set of privileges needed for the performance of that entity’s authorized tasks.</a:t>
            </a:r>
          </a:p>
          <a:p>
            <a:r>
              <a:rPr lang="en-US"/>
              <a:t>Application of this principle limits the damage that can result from accident, error, or unauthorized use of a system.</a:t>
            </a:r>
          </a:p>
          <a:p>
            <a:r>
              <a:rPr lang="en-US"/>
              <a:t>Least privilege also reduces the number of potential interactions among privileged processes or programs, so that unintentional, unwanted, or improper uses of privilege are less likely to occur.</a:t>
            </a:r>
          </a:p>
          <a:p>
            <a:r>
              <a:rPr lang="en-US">
                <a:cs typeface="Calibri"/>
              </a:rPr>
              <a:t>Example: Normal users can't modify /usr/bin</a:t>
            </a:r>
          </a:p>
          <a:p>
            <a:endParaRPr lang="en-US">
              <a:cs typeface="Calibri"/>
            </a:endParaRPr>
          </a:p>
        </p:txBody>
      </p:sp>
    </p:spTree>
    <p:extLst>
      <p:ext uri="{BB962C8B-B14F-4D97-AF65-F5344CB8AC3E}">
        <p14:creationId xmlns:p14="http://schemas.microsoft.com/office/powerpoint/2010/main" val="3181692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9187A-7E3F-4BE3-8274-F2874DFB3950}"/>
              </a:ext>
            </a:extLst>
          </p:cNvPr>
          <p:cNvSpPr>
            <a:spLocks noGrp="1"/>
          </p:cNvSpPr>
          <p:nvPr>
            <p:ph type="title"/>
          </p:nvPr>
        </p:nvSpPr>
        <p:spPr/>
        <p:txBody>
          <a:bodyPr/>
          <a:lstStyle/>
          <a:p>
            <a:r>
              <a:rPr lang="en-US" dirty="0"/>
              <a:t>Default to Fail-Secure</a:t>
            </a:r>
          </a:p>
        </p:txBody>
      </p:sp>
      <p:sp>
        <p:nvSpPr>
          <p:cNvPr id="3" name="Content Placeholder 2">
            <a:extLst>
              <a:ext uri="{FF2B5EF4-FFF2-40B4-BE49-F238E27FC236}">
                <a16:creationId xmlns:a16="http://schemas.microsoft.com/office/drawing/2014/main" id="{E88F9B4F-FD8B-4584-91BF-B3D1FC9D747D}"/>
              </a:ext>
            </a:extLst>
          </p:cNvPr>
          <p:cNvSpPr>
            <a:spLocks noGrp="1"/>
          </p:cNvSpPr>
          <p:nvPr>
            <p:ph idx="1"/>
          </p:nvPr>
        </p:nvSpPr>
        <p:spPr/>
        <p:txBody>
          <a:bodyPr vert="horz" lIns="91440" tIns="45720" rIns="91440" bIns="45720" rtlCol="0" anchor="t">
            <a:normAutofit/>
          </a:bodyPr>
          <a:lstStyle/>
          <a:p>
            <a:r>
              <a:rPr lang="en-US" dirty="0"/>
              <a:t>This principle calls for basing access decisions on permission rather than exclusion.</a:t>
            </a:r>
          </a:p>
          <a:p>
            <a:r>
              <a:rPr lang="en-US" dirty="0"/>
              <a:t>Thus, the default situation is lack of access, and the protection scheme identifies conditions under which access is permitted. </a:t>
            </a:r>
            <a:endParaRPr lang="en-US" dirty="0">
              <a:cs typeface="Calibri"/>
            </a:endParaRPr>
          </a:p>
          <a:p>
            <a:r>
              <a:rPr lang="en-US" dirty="0"/>
              <a:t>Example: Firewall DENY ALL</a:t>
            </a:r>
            <a:endParaRPr lang="en-US" dirty="0">
              <a:cs typeface="Calibri"/>
            </a:endParaRPr>
          </a:p>
        </p:txBody>
      </p:sp>
    </p:spTree>
    <p:extLst>
      <p:ext uri="{BB962C8B-B14F-4D97-AF65-F5344CB8AC3E}">
        <p14:creationId xmlns:p14="http://schemas.microsoft.com/office/powerpoint/2010/main" val="70990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D0486-ED47-4A27-8576-0A15A74C0049}"/>
              </a:ext>
            </a:extLst>
          </p:cNvPr>
          <p:cNvSpPr>
            <a:spLocks noGrp="1"/>
          </p:cNvSpPr>
          <p:nvPr>
            <p:ph type="title"/>
          </p:nvPr>
        </p:nvSpPr>
        <p:spPr/>
        <p:txBody>
          <a:bodyPr>
            <a:normAutofit/>
          </a:bodyPr>
          <a:lstStyle/>
          <a:p>
            <a:r>
              <a:rPr lang="en-US" dirty="0"/>
              <a:t>Verification - Complete Mediation</a:t>
            </a:r>
          </a:p>
        </p:txBody>
      </p:sp>
      <p:sp>
        <p:nvSpPr>
          <p:cNvPr id="3" name="Content Placeholder 2">
            <a:extLst>
              <a:ext uri="{FF2B5EF4-FFF2-40B4-BE49-F238E27FC236}">
                <a16:creationId xmlns:a16="http://schemas.microsoft.com/office/drawing/2014/main" id="{71BB75E3-12A6-47AB-A919-F4E19C037C08}"/>
              </a:ext>
            </a:extLst>
          </p:cNvPr>
          <p:cNvSpPr>
            <a:spLocks noGrp="1"/>
          </p:cNvSpPr>
          <p:nvPr>
            <p:ph idx="1"/>
          </p:nvPr>
        </p:nvSpPr>
        <p:spPr/>
        <p:txBody>
          <a:bodyPr vert="horz" lIns="91440" tIns="45720" rIns="91440" bIns="45720" rtlCol="0" anchor="t">
            <a:normAutofit/>
          </a:bodyPr>
          <a:lstStyle/>
          <a:p>
            <a:r>
              <a:rPr lang="en-US" dirty="0"/>
              <a:t>Every access to every (security-sensitive) object must be checked for proper authorization; and access denied if it violates authorizations.</a:t>
            </a:r>
          </a:p>
          <a:p>
            <a:r>
              <a:rPr lang="en-US" dirty="0"/>
              <a:t>Implies the existence and integrity of methods to:</a:t>
            </a:r>
            <a:endParaRPr lang="en-US" dirty="0">
              <a:cs typeface="Calibri"/>
            </a:endParaRPr>
          </a:p>
          <a:p>
            <a:pPr lvl="1"/>
            <a:r>
              <a:rPr lang="en-US" dirty="0"/>
              <a:t>identify the source of every request,</a:t>
            </a:r>
            <a:endParaRPr lang="en-US" dirty="0">
              <a:cs typeface="Calibri"/>
            </a:endParaRPr>
          </a:p>
          <a:p>
            <a:pPr lvl="1"/>
            <a:r>
              <a:rPr lang="en-US" dirty="0"/>
              <a:t>ensure the request is unchanged since its origination</a:t>
            </a:r>
            <a:endParaRPr lang="en-US" dirty="0">
              <a:cs typeface="Calibri"/>
            </a:endParaRPr>
          </a:p>
          <a:p>
            <a:pPr lvl="1"/>
            <a:r>
              <a:rPr lang="en-US" dirty="0"/>
              <a:t>check the relevant authorizations.</a:t>
            </a:r>
            <a:endParaRPr lang="en-US" dirty="0">
              <a:cs typeface="Calibri"/>
            </a:endParaRPr>
          </a:p>
          <a:p>
            <a:r>
              <a:rPr lang="en-US" dirty="0">
                <a:cs typeface="Calibri"/>
              </a:rPr>
              <a:t>Example: Certificate validation</a:t>
            </a:r>
          </a:p>
          <a:p>
            <a:endParaRPr lang="en-US" dirty="0">
              <a:cs typeface="Calibri"/>
            </a:endParaRPr>
          </a:p>
        </p:txBody>
      </p:sp>
    </p:spTree>
    <p:extLst>
      <p:ext uri="{BB962C8B-B14F-4D97-AF65-F5344CB8AC3E}">
        <p14:creationId xmlns:p14="http://schemas.microsoft.com/office/powerpoint/2010/main" val="4083677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F1E1-7AAC-4F11-8E69-664C786D8DBE}"/>
              </a:ext>
            </a:extLst>
          </p:cNvPr>
          <p:cNvSpPr>
            <a:spLocks noGrp="1"/>
          </p:cNvSpPr>
          <p:nvPr>
            <p:ph type="title"/>
          </p:nvPr>
        </p:nvSpPr>
        <p:spPr/>
        <p:txBody>
          <a:bodyPr>
            <a:normAutofit/>
          </a:bodyPr>
          <a:lstStyle/>
          <a:p>
            <a:r>
              <a:rPr lang="en-US"/>
              <a:t>Open Design</a:t>
            </a:r>
          </a:p>
        </p:txBody>
      </p:sp>
      <p:sp>
        <p:nvSpPr>
          <p:cNvPr id="3" name="Content Placeholder 2">
            <a:extLst>
              <a:ext uri="{FF2B5EF4-FFF2-40B4-BE49-F238E27FC236}">
                <a16:creationId xmlns:a16="http://schemas.microsoft.com/office/drawing/2014/main" id="{7D480ACE-FDD6-43DC-8592-2C8CF1768BA5}"/>
              </a:ext>
            </a:extLst>
          </p:cNvPr>
          <p:cNvSpPr>
            <a:spLocks noGrp="1"/>
          </p:cNvSpPr>
          <p:nvPr>
            <p:ph idx="1"/>
          </p:nvPr>
        </p:nvSpPr>
        <p:spPr/>
        <p:txBody>
          <a:bodyPr vert="horz" lIns="91440" tIns="45720" rIns="91440" bIns="45720" rtlCol="0" anchor="t">
            <a:normAutofit/>
          </a:bodyPr>
          <a:lstStyle/>
          <a:p>
            <a:r>
              <a:rPr lang="en-US" dirty="0"/>
              <a:t>Security mechanisms should not depend on the ignorance of potential attackers, but rather on assurance of correctness.</a:t>
            </a:r>
          </a:p>
          <a:p>
            <a:r>
              <a:rPr lang="en-US" dirty="0"/>
              <a:t>This permits the mechanisms to be examined by a number of reviewers without concern that the review may itself compromise the safeguards.</a:t>
            </a:r>
            <a:endParaRPr lang="en-US" dirty="0">
              <a:cs typeface="Calibri"/>
            </a:endParaRPr>
          </a:p>
          <a:p>
            <a:r>
              <a:rPr lang="en-US" dirty="0"/>
              <a:t>Open “Design” not open “Transactions”</a:t>
            </a:r>
            <a:endParaRPr lang="en-US" dirty="0">
              <a:cs typeface="Calibri"/>
            </a:endParaRPr>
          </a:p>
          <a:p>
            <a:r>
              <a:rPr lang="en-US" dirty="0">
                <a:cs typeface="Calibri"/>
              </a:rPr>
              <a:t>Example: SWIFT banking standard</a:t>
            </a:r>
          </a:p>
          <a:p>
            <a:endParaRPr lang="en-US" dirty="0">
              <a:cs typeface="Calibri"/>
            </a:endParaRPr>
          </a:p>
        </p:txBody>
      </p:sp>
    </p:spTree>
    <p:extLst>
      <p:ext uri="{BB962C8B-B14F-4D97-AF65-F5344CB8AC3E}">
        <p14:creationId xmlns:p14="http://schemas.microsoft.com/office/powerpoint/2010/main" val="3679690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610D-F4DB-4D3E-AA97-DF5B0969395D}"/>
              </a:ext>
            </a:extLst>
          </p:cNvPr>
          <p:cNvSpPr>
            <a:spLocks noGrp="1"/>
          </p:cNvSpPr>
          <p:nvPr>
            <p:ph type="title"/>
          </p:nvPr>
        </p:nvSpPr>
        <p:spPr/>
        <p:txBody>
          <a:bodyPr>
            <a:normAutofit/>
          </a:bodyPr>
          <a:lstStyle/>
          <a:p>
            <a:r>
              <a:rPr lang="en-US" dirty="0"/>
              <a:t>Separation of Privilege | Separation of Duties</a:t>
            </a:r>
          </a:p>
        </p:txBody>
      </p:sp>
      <p:sp>
        <p:nvSpPr>
          <p:cNvPr id="3" name="Content Placeholder 2">
            <a:extLst>
              <a:ext uri="{FF2B5EF4-FFF2-40B4-BE49-F238E27FC236}">
                <a16:creationId xmlns:a16="http://schemas.microsoft.com/office/drawing/2014/main" id="{05BE3B7E-FFFC-4D11-82AB-90B9FC88F474}"/>
              </a:ext>
            </a:extLst>
          </p:cNvPr>
          <p:cNvSpPr>
            <a:spLocks noGrp="1"/>
          </p:cNvSpPr>
          <p:nvPr>
            <p:ph idx="1"/>
          </p:nvPr>
        </p:nvSpPr>
        <p:spPr/>
        <p:txBody>
          <a:bodyPr vert="horz" lIns="91440" tIns="45720" rIns="91440" bIns="45720" rtlCol="0" anchor="t">
            <a:normAutofit/>
          </a:bodyPr>
          <a:lstStyle/>
          <a:p>
            <a:r>
              <a:rPr lang="en-US"/>
              <a:t>A protection mechanism that requires two keys(actors).</a:t>
            </a:r>
          </a:p>
          <a:p>
            <a:r>
              <a:rPr lang="en-US"/>
              <a:t>No one has unfettered access.</a:t>
            </a:r>
          </a:p>
          <a:p>
            <a:r>
              <a:rPr lang="en-US"/>
              <a:t>No single accident, deception, or breach of trust can lead to a compromise.</a:t>
            </a:r>
            <a:endParaRPr lang="en-US">
              <a:cs typeface="Calibri"/>
            </a:endParaRPr>
          </a:p>
          <a:p>
            <a:r>
              <a:rPr lang="en-US"/>
              <a:t>Redundancy is also used in the traditional “separation of duties” in human financial processes, e.g., the persons who fill out the check and sign it are two different people.</a:t>
            </a:r>
          </a:p>
          <a:p>
            <a:r>
              <a:rPr lang="en-US">
                <a:cs typeface="Calibri"/>
              </a:rPr>
              <a:t>Example: Cloud datacenter controls</a:t>
            </a:r>
          </a:p>
          <a:p>
            <a:endParaRPr lang="en-US">
              <a:cs typeface="Calibri"/>
            </a:endParaRPr>
          </a:p>
        </p:txBody>
      </p:sp>
    </p:spTree>
    <p:extLst>
      <p:ext uri="{BB962C8B-B14F-4D97-AF65-F5344CB8AC3E}">
        <p14:creationId xmlns:p14="http://schemas.microsoft.com/office/powerpoint/2010/main" val="2016055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0044D-1133-43F1-A14C-3D5A6687BF10}"/>
              </a:ext>
            </a:extLst>
          </p:cNvPr>
          <p:cNvSpPr>
            <a:spLocks noGrp="1"/>
          </p:cNvSpPr>
          <p:nvPr>
            <p:ph type="title"/>
          </p:nvPr>
        </p:nvSpPr>
        <p:spPr/>
        <p:txBody>
          <a:bodyPr>
            <a:normAutofit/>
          </a:bodyPr>
          <a:lstStyle/>
          <a:p>
            <a:r>
              <a:rPr lang="en-US" dirty="0"/>
              <a:t>Psychological Acceptability</a:t>
            </a:r>
          </a:p>
        </p:txBody>
      </p:sp>
      <p:sp>
        <p:nvSpPr>
          <p:cNvPr id="3" name="Content Placeholder 2">
            <a:extLst>
              <a:ext uri="{FF2B5EF4-FFF2-40B4-BE49-F238E27FC236}">
                <a16:creationId xmlns:a16="http://schemas.microsoft.com/office/drawing/2014/main" id="{CADC375D-9207-4DD9-93D6-61E3759AF6D7}"/>
              </a:ext>
            </a:extLst>
          </p:cNvPr>
          <p:cNvSpPr>
            <a:spLocks noGrp="1"/>
          </p:cNvSpPr>
          <p:nvPr>
            <p:ph idx="1"/>
          </p:nvPr>
        </p:nvSpPr>
        <p:spPr/>
        <p:txBody>
          <a:bodyPr vert="horz" lIns="91440" tIns="45720" rIns="91440" bIns="45720" rtlCol="0" anchor="t">
            <a:normAutofit/>
          </a:bodyPr>
          <a:lstStyle/>
          <a:p>
            <a:r>
              <a:rPr lang="en-US" dirty="0"/>
              <a:t>Security mechanisms should not make the resource more difficult to access than if the security mechanisms were not present.</a:t>
            </a:r>
          </a:p>
          <a:p>
            <a:r>
              <a:rPr lang="en-US" dirty="0">
                <a:cs typeface="Calibri"/>
              </a:rPr>
              <a:t>Example: SSH keys</a:t>
            </a:r>
          </a:p>
          <a:p>
            <a:endParaRPr lang="en-US" dirty="0">
              <a:cs typeface="Calibri"/>
            </a:endParaRPr>
          </a:p>
        </p:txBody>
      </p:sp>
    </p:spTree>
    <p:extLst>
      <p:ext uri="{BB962C8B-B14F-4D97-AF65-F5344CB8AC3E}">
        <p14:creationId xmlns:p14="http://schemas.microsoft.com/office/powerpoint/2010/main" val="1011321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0044D-1133-43F1-A14C-3D5A6687BF10}"/>
              </a:ext>
            </a:extLst>
          </p:cNvPr>
          <p:cNvSpPr>
            <a:spLocks noGrp="1"/>
          </p:cNvSpPr>
          <p:nvPr>
            <p:ph type="title"/>
          </p:nvPr>
        </p:nvSpPr>
        <p:spPr/>
        <p:txBody>
          <a:bodyPr>
            <a:normAutofit/>
          </a:bodyPr>
          <a:lstStyle/>
          <a:p>
            <a:r>
              <a:rPr lang="en-US" dirty="0"/>
              <a:t>Usability</a:t>
            </a:r>
          </a:p>
        </p:txBody>
      </p:sp>
      <p:sp>
        <p:nvSpPr>
          <p:cNvPr id="3" name="Content Placeholder 2">
            <a:extLst>
              <a:ext uri="{FF2B5EF4-FFF2-40B4-BE49-F238E27FC236}">
                <a16:creationId xmlns:a16="http://schemas.microsoft.com/office/drawing/2014/main" id="{CADC375D-9207-4DD9-93D6-61E3759AF6D7}"/>
              </a:ext>
            </a:extLst>
          </p:cNvPr>
          <p:cNvSpPr>
            <a:spLocks noGrp="1"/>
          </p:cNvSpPr>
          <p:nvPr>
            <p:ph idx="1"/>
          </p:nvPr>
        </p:nvSpPr>
        <p:spPr/>
        <p:txBody>
          <a:bodyPr vert="horz" lIns="91440" tIns="45720" rIns="91440" bIns="45720" rtlCol="0" anchor="t">
            <a:normAutofit/>
          </a:bodyPr>
          <a:lstStyle/>
          <a:p>
            <a:r>
              <a:rPr lang="en-US" dirty="0"/>
              <a:t>It is essential that the human interface be designed for ease of use, so that users routinely and automatically apply the protection mechanisms correctly</a:t>
            </a:r>
          </a:p>
          <a:p>
            <a:r>
              <a:rPr lang="en-US" dirty="0">
                <a:cs typeface="Calibri"/>
              </a:rPr>
              <a:t>Example: OpenID logins</a:t>
            </a:r>
          </a:p>
          <a:p>
            <a:endParaRPr lang="en-US" dirty="0">
              <a:cs typeface="Calibri"/>
            </a:endParaRPr>
          </a:p>
        </p:txBody>
      </p:sp>
    </p:spTree>
    <p:extLst>
      <p:ext uri="{BB962C8B-B14F-4D97-AF65-F5344CB8AC3E}">
        <p14:creationId xmlns:p14="http://schemas.microsoft.com/office/powerpoint/2010/main" val="1438787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E6219-6793-4992-890D-8F33E466DC74}"/>
              </a:ext>
            </a:extLst>
          </p:cNvPr>
          <p:cNvSpPr>
            <a:spLocks noGrp="1"/>
          </p:cNvSpPr>
          <p:nvPr>
            <p:ph type="title"/>
          </p:nvPr>
        </p:nvSpPr>
        <p:spPr/>
        <p:txBody>
          <a:bodyPr/>
          <a:lstStyle/>
          <a:p>
            <a:r>
              <a:rPr lang="en-US" dirty="0"/>
              <a:t>Information Hiding - Encapsulation</a:t>
            </a:r>
          </a:p>
        </p:txBody>
      </p:sp>
      <p:sp>
        <p:nvSpPr>
          <p:cNvPr id="3" name="Content Placeholder 2">
            <a:extLst>
              <a:ext uri="{FF2B5EF4-FFF2-40B4-BE49-F238E27FC236}">
                <a16:creationId xmlns:a16="http://schemas.microsoft.com/office/drawing/2014/main" id="{ED168F06-2987-4A26-A7F2-1EE7FF8E50F0}"/>
              </a:ext>
            </a:extLst>
          </p:cNvPr>
          <p:cNvSpPr>
            <a:spLocks noGrp="1"/>
          </p:cNvSpPr>
          <p:nvPr>
            <p:ph idx="1"/>
          </p:nvPr>
        </p:nvSpPr>
        <p:spPr/>
        <p:txBody>
          <a:bodyPr/>
          <a:lstStyle/>
          <a:p>
            <a:r>
              <a:rPr lang="en-US" dirty="0"/>
              <a:t>Do not allow the user to directly alter data, instead present objects, methods, services, processes that are logically well defined.</a:t>
            </a:r>
          </a:p>
          <a:p>
            <a:r>
              <a:rPr lang="en-US" dirty="0"/>
              <a:t>Example: encrypted session cookies</a:t>
            </a:r>
          </a:p>
        </p:txBody>
      </p:sp>
    </p:spTree>
    <p:extLst>
      <p:ext uri="{BB962C8B-B14F-4D97-AF65-F5344CB8AC3E}">
        <p14:creationId xmlns:p14="http://schemas.microsoft.com/office/powerpoint/2010/main" val="826742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7E47-FC6F-4D33-ACEE-3464C341E9FB}"/>
              </a:ext>
            </a:extLst>
          </p:cNvPr>
          <p:cNvSpPr>
            <a:spLocks noGrp="1"/>
          </p:cNvSpPr>
          <p:nvPr>
            <p:ph type="title"/>
          </p:nvPr>
        </p:nvSpPr>
        <p:spPr/>
        <p:txBody>
          <a:bodyPr/>
          <a:lstStyle/>
          <a:p>
            <a:r>
              <a:rPr lang="en-US" dirty="0"/>
              <a:t>Modularity</a:t>
            </a:r>
          </a:p>
        </p:txBody>
      </p:sp>
      <p:sp>
        <p:nvSpPr>
          <p:cNvPr id="3" name="Content Placeholder 2">
            <a:extLst>
              <a:ext uri="{FF2B5EF4-FFF2-40B4-BE49-F238E27FC236}">
                <a16:creationId xmlns:a16="http://schemas.microsoft.com/office/drawing/2014/main" id="{8825E4B9-F098-43E9-9F1F-4A1B3BAF7980}"/>
              </a:ext>
            </a:extLst>
          </p:cNvPr>
          <p:cNvSpPr>
            <a:spLocks noGrp="1"/>
          </p:cNvSpPr>
          <p:nvPr>
            <p:ph idx="1"/>
          </p:nvPr>
        </p:nvSpPr>
        <p:spPr/>
        <p:txBody>
          <a:bodyPr/>
          <a:lstStyle/>
          <a:p>
            <a:r>
              <a:rPr lang="en-US" dirty="0"/>
              <a:t>Independent components that can be replaced.</a:t>
            </a:r>
          </a:p>
          <a:p>
            <a:r>
              <a:rPr lang="en-US" dirty="0"/>
              <a:t>Normally requires some level of abstraction or standard that allows selection of components</a:t>
            </a:r>
          </a:p>
          <a:p>
            <a:r>
              <a:rPr lang="en-US" dirty="0"/>
              <a:t>Example: Not relying upon a single cipher or authentication method.</a:t>
            </a:r>
          </a:p>
        </p:txBody>
      </p:sp>
    </p:spTree>
    <p:extLst>
      <p:ext uri="{BB962C8B-B14F-4D97-AF65-F5344CB8AC3E}">
        <p14:creationId xmlns:p14="http://schemas.microsoft.com/office/powerpoint/2010/main" val="3756683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E292-9C6D-4CE5-904A-799FFB4713A1}"/>
              </a:ext>
            </a:extLst>
          </p:cNvPr>
          <p:cNvSpPr>
            <a:spLocks noGrp="1"/>
          </p:cNvSpPr>
          <p:nvPr>
            <p:ph type="title"/>
          </p:nvPr>
        </p:nvSpPr>
        <p:spPr/>
        <p:txBody>
          <a:bodyPr/>
          <a:lstStyle/>
          <a:p>
            <a:r>
              <a:rPr lang="en-US"/>
              <a:t>Defense in depth</a:t>
            </a:r>
          </a:p>
        </p:txBody>
      </p:sp>
      <p:sp>
        <p:nvSpPr>
          <p:cNvPr id="3" name="Content Placeholder 2">
            <a:extLst>
              <a:ext uri="{FF2B5EF4-FFF2-40B4-BE49-F238E27FC236}">
                <a16:creationId xmlns:a16="http://schemas.microsoft.com/office/drawing/2014/main" id="{318F01CC-720F-4C71-A1E5-693B9A98B3ED}"/>
              </a:ext>
            </a:extLst>
          </p:cNvPr>
          <p:cNvSpPr>
            <a:spLocks noGrp="1"/>
          </p:cNvSpPr>
          <p:nvPr>
            <p:ph idx="1"/>
          </p:nvPr>
        </p:nvSpPr>
        <p:spPr/>
        <p:txBody>
          <a:bodyPr/>
          <a:lstStyle/>
          <a:p>
            <a:r>
              <a:rPr lang="en-US"/>
              <a:t>Layered and complementary protections.</a:t>
            </a:r>
          </a:p>
          <a:p>
            <a:r>
              <a:rPr lang="en-US"/>
              <a:t>Different technology solutions not redundant implementations.</a:t>
            </a:r>
          </a:p>
        </p:txBody>
      </p:sp>
      <p:pic>
        <p:nvPicPr>
          <p:cNvPr id="5" name="Picture 4">
            <a:extLst>
              <a:ext uri="{FF2B5EF4-FFF2-40B4-BE49-F238E27FC236}">
                <a16:creationId xmlns:a16="http://schemas.microsoft.com/office/drawing/2014/main" id="{8D2D58E1-F5F0-453E-B69E-E58B03874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5454" y="3175360"/>
            <a:ext cx="6603004" cy="3408002"/>
          </a:xfrm>
          <a:prstGeom prst="rect">
            <a:avLst/>
          </a:prstGeom>
        </p:spPr>
      </p:pic>
    </p:spTree>
    <p:extLst>
      <p:ext uri="{BB962C8B-B14F-4D97-AF65-F5344CB8AC3E}">
        <p14:creationId xmlns:p14="http://schemas.microsoft.com/office/powerpoint/2010/main" val="1992686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1226A-5864-441E-B31D-3AF68D428A19}"/>
              </a:ext>
            </a:extLst>
          </p:cNvPr>
          <p:cNvSpPr>
            <a:spLocks noGrp="1"/>
          </p:cNvSpPr>
          <p:nvPr>
            <p:ph type="title"/>
          </p:nvPr>
        </p:nvSpPr>
        <p:spPr/>
        <p:txBody>
          <a:bodyPr/>
          <a:lstStyle/>
          <a:p>
            <a:r>
              <a:rPr lang="en-US" dirty="0"/>
              <a:t>Sandboxing - Process Isolation</a:t>
            </a:r>
          </a:p>
        </p:txBody>
      </p:sp>
      <p:sp>
        <p:nvSpPr>
          <p:cNvPr id="3" name="Content Placeholder 2">
            <a:extLst>
              <a:ext uri="{FF2B5EF4-FFF2-40B4-BE49-F238E27FC236}">
                <a16:creationId xmlns:a16="http://schemas.microsoft.com/office/drawing/2014/main" id="{4C8F015E-D00D-4AA5-90C9-74DA811E5EB8}"/>
              </a:ext>
            </a:extLst>
          </p:cNvPr>
          <p:cNvSpPr>
            <a:spLocks noGrp="1"/>
          </p:cNvSpPr>
          <p:nvPr>
            <p:ph idx="1"/>
          </p:nvPr>
        </p:nvSpPr>
        <p:spPr/>
        <p:txBody>
          <a:bodyPr/>
          <a:lstStyle/>
          <a:p>
            <a:r>
              <a:rPr lang="en-US" dirty="0"/>
              <a:t>Separating process resources to prevent the failure of one process from negatively impacting another.</a:t>
            </a:r>
          </a:p>
          <a:p>
            <a:r>
              <a:rPr lang="en-US" dirty="0"/>
              <a:t>Example: Browser tabs</a:t>
            </a:r>
          </a:p>
        </p:txBody>
      </p:sp>
    </p:spTree>
    <p:extLst>
      <p:ext uri="{BB962C8B-B14F-4D97-AF65-F5344CB8AC3E}">
        <p14:creationId xmlns:p14="http://schemas.microsoft.com/office/powerpoint/2010/main" val="25291333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58A1D-2C3A-41F2-8358-14E77937C689}"/>
              </a:ext>
            </a:extLst>
          </p:cNvPr>
          <p:cNvSpPr>
            <a:spLocks noGrp="1"/>
          </p:cNvSpPr>
          <p:nvPr>
            <p:ph type="title"/>
          </p:nvPr>
        </p:nvSpPr>
        <p:spPr/>
        <p:txBody>
          <a:bodyPr>
            <a:normAutofit/>
          </a:bodyPr>
          <a:lstStyle/>
          <a:p>
            <a:r>
              <a:rPr lang="en-US" dirty="0"/>
              <a:t>Least Common Mechanism</a:t>
            </a:r>
          </a:p>
        </p:txBody>
      </p:sp>
      <p:sp>
        <p:nvSpPr>
          <p:cNvPr id="3" name="Content Placeholder 2">
            <a:extLst>
              <a:ext uri="{FF2B5EF4-FFF2-40B4-BE49-F238E27FC236}">
                <a16:creationId xmlns:a16="http://schemas.microsoft.com/office/drawing/2014/main" id="{C2991A6C-8B94-4D2F-B88F-CB4846EE1A27}"/>
              </a:ext>
            </a:extLst>
          </p:cNvPr>
          <p:cNvSpPr>
            <a:spLocks noGrp="1"/>
          </p:cNvSpPr>
          <p:nvPr>
            <p:ph idx="1"/>
          </p:nvPr>
        </p:nvSpPr>
        <p:spPr/>
        <p:txBody>
          <a:bodyPr vert="horz" lIns="91440" tIns="45720" rIns="91440" bIns="45720" rtlCol="0" anchor="t">
            <a:normAutofit/>
          </a:bodyPr>
          <a:lstStyle/>
          <a:p>
            <a:r>
              <a:rPr lang="en-US" dirty="0"/>
              <a:t>Do not share components across systems that operating at different security levels</a:t>
            </a:r>
          </a:p>
          <a:p>
            <a:r>
              <a:rPr lang="en-US" dirty="0"/>
              <a:t>Concern that compromise might allow access to a higher privilege level.</a:t>
            </a:r>
          </a:p>
          <a:p>
            <a:r>
              <a:rPr lang="en-US" dirty="0"/>
              <a:t>If one program can corrupt the shared state, it can then corrupt other programs which depend on it.</a:t>
            </a:r>
          </a:p>
          <a:p>
            <a:r>
              <a:rPr lang="en-US" dirty="0">
                <a:cs typeface="Calibri"/>
              </a:rPr>
              <a:t>Example: DoD </a:t>
            </a:r>
            <a:r>
              <a:rPr lang="en-US" dirty="0" err="1">
                <a:cs typeface="Calibri"/>
              </a:rPr>
              <a:t>SIPRnet</a:t>
            </a:r>
            <a:r>
              <a:rPr lang="en-US" dirty="0">
                <a:cs typeface="Calibri"/>
              </a:rPr>
              <a:t> vs </a:t>
            </a:r>
            <a:r>
              <a:rPr lang="en-US" dirty="0" err="1">
                <a:cs typeface="Calibri"/>
              </a:rPr>
              <a:t>NIPRnet</a:t>
            </a:r>
            <a:endParaRPr lang="en-US" dirty="0">
              <a:cs typeface="Calibri"/>
            </a:endParaRPr>
          </a:p>
        </p:txBody>
      </p:sp>
    </p:spTree>
    <p:extLst>
      <p:ext uri="{BB962C8B-B14F-4D97-AF65-F5344CB8AC3E}">
        <p14:creationId xmlns:p14="http://schemas.microsoft.com/office/powerpoint/2010/main" val="901478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47220-646C-4B13-BAE8-D89C3233E1DA}"/>
              </a:ext>
            </a:extLst>
          </p:cNvPr>
          <p:cNvSpPr>
            <a:spLocks noGrp="1"/>
          </p:cNvSpPr>
          <p:nvPr>
            <p:ph type="title"/>
          </p:nvPr>
        </p:nvSpPr>
        <p:spPr/>
        <p:txBody>
          <a:bodyPr/>
          <a:lstStyle/>
          <a:p>
            <a:r>
              <a:rPr lang="en-US"/>
              <a:t>Economy of Mechanism</a:t>
            </a:r>
          </a:p>
        </p:txBody>
      </p:sp>
      <p:sp>
        <p:nvSpPr>
          <p:cNvPr id="3" name="Content Placeholder 2">
            <a:extLst>
              <a:ext uri="{FF2B5EF4-FFF2-40B4-BE49-F238E27FC236}">
                <a16:creationId xmlns:a16="http://schemas.microsoft.com/office/drawing/2014/main" id="{DEAFC554-0C77-4AD8-BF80-6A56BE56EFAC}"/>
              </a:ext>
            </a:extLst>
          </p:cNvPr>
          <p:cNvSpPr>
            <a:spLocks noGrp="1"/>
          </p:cNvSpPr>
          <p:nvPr>
            <p:ph idx="1"/>
          </p:nvPr>
        </p:nvSpPr>
        <p:spPr/>
        <p:txBody>
          <a:bodyPr vert="horz" lIns="91440" tIns="45720" rIns="91440" bIns="45720" rtlCol="0" anchor="t">
            <a:normAutofit/>
          </a:bodyPr>
          <a:lstStyle/>
          <a:p>
            <a:r>
              <a:rPr lang="en-US" dirty="0"/>
              <a:t>“Keep the design as simple and small as possible”</a:t>
            </a:r>
          </a:p>
          <a:p>
            <a:r>
              <a:rPr lang="en-US" dirty="0"/>
              <a:t>Conflicts with “Least common mechanism”</a:t>
            </a:r>
          </a:p>
          <a:p>
            <a:r>
              <a:rPr lang="en-US" dirty="0"/>
              <a:t>Design and implementation errors that result in unwanted access paths may not be noticed during testing or normal use.</a:t>
            </a:r>
          </a:p>
          <a:p>
            <a:r>
              <a:rPr lang="en-US" dirty="0">
                <a:cs typeface="Calibri"/>
              </a:rPr>
              <a:t>Example: Credit card processing</a:t>
            </a:r>
          </a:p>
          <a:p>
            <a:endParaRPr lang="en-US" dirty="0">
              <a:cs typeface="Calibri"/>
            </a:endParaRPr>
          </a:p>
        </p:txBody>
      </p:sp>
    </p:spTree>
    <p:extLst>
      <p:ext uri="{BB962C8B-B14F-4D97-AF65-F5344CB8AC3E}">
        <p14:creationId xmlns:p14="http://schemas.microsoft.com/office/powerpoint/2010/main" val="407492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047CB-A62A-48EF-9CA8-90EFF89FBC5A}"/>
              </a:ext>
            </a:extLst>
          </p:cNvPr>
          <p:cNvSpPr>
            <a:spLocks noGrp="1"/>
          </p:cNvSpPr>
          <p:nvPr>
            <p:ph type="title"/>
          </p:nvPr>
        </p:nvSpPr>
        <p:spPr/>
        <p:txBody>
          <a:bodyPr/>
          <a:lstStyle/>
          <a:p>
            <a:r>
              <a:rPr lang="en-US"/>
              <a:t>Trust</a:t>
            </a:r>
          </a:p>
        </p:txBody>
      </p:sp>
      <p:sp>
        <p:nvSpPr>
          <p:cNvPr id="3" name="Content Placeholder 2">
            <a:extLst>
              <a:ext uri="{FF2B5EF4-FFF2-40B4-BE49-F238E27FC236}">
                <a16:creationId xmlns:a16="http://schemas.microsoft.com/office/drawing/2014/main" id="{B320BAFD-9C12-40A4-A512-EC3FA907872F}"/>
              </a:ext>
            </a:extLst>
          </p:cNvPr>
          <p:cNvSpPr>
            <a:spLocks noGrp="1"/>
          </p:cNvSpPr>
          <p:nvPr>
            <p:ph idx="1"/>
          </p:nvPr>
        </p:nvSpPr>
        <p:spPr/>
        <p:txBody>
          <a:bodyPr vert="horz" lIns="91440" tIns="45720" rIns="91440" bIns="45720" rtlCol="0" anchor="t">
            <a:normAutofit/>
          </a:bodyPr>
          <a:lstStyle/>
          <a:p>
            <a:r>
              <a:rPr lang="en-US" dirty="0"/>
              <a:t>A relationship created at the direction of an entity, in which one or more entities hold the entity's property subject to certain duties to use and protect it for the benefit of others.</a:t>
            </a:r>
          </a:p>
          <a:p>
            <a:r>
              <a:rPr lang="en-US" dirty="0"/>
              <a:t>Be reluctant to trust</a:t>
            </a:r>
          </a:p>
          <a:p>
            <a:r>
              <a:rPr lang="en-US" dirty="0"/>
              <a:t>All types of entities:</a:t>
            </a:r>
          </a:p>
          <a:p>
            <a:pPr lvl="1"/>
            <a:r>
              <a:rPr lang="en-US" dirty="0"/>
              <a:t>Individual, corporation, network, system, device</a:t>
            </a:r>
          </a:p>
          <a:p>
            <a:r>
              <a:rPr lang="en-US" dirty="0">
                <a:cs typeface="Calibri"/>
              </a:rPr>
              <a:t>Example: Facebook is more than just friends</a:t>
            </a:r>
          </a:p>
        </p:txBody>
      </p:sp>
    </p:spTree>
    <p:extLst>
      <p:ext uri="{BB962C8B-B14F-4D97-AF65-F5344CB8AC3E}">
        <p14:creationId xmlns:p14="http://schemas.microsoft.com/office/powerpoint/2010/main" val="3709542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dirty="0"/>
              <a:t>Hardware</a:t>
            </a:r>
          </a:p>
          <a:p>
            <a:r>
              <a:rPr lang="en-US" sz="2400" i="1" dirty="0"/>
              <a:t>Physical vs. Virtual</a:t>
            </a:r>
          </a:p>
          <a:p>
            <a:r>
              <a:rPr lang="en-US" sz="2400" i="1" dirty="0"/>
              <a:t>Hacking Cars</a:t>
            </a:r>
          </a:p>
          <a:p>
            <a:r>
              <a:rPr lang="en-US" sz="2400" i="1" dirty="0"/>
              <a:t>Systems / SCADA</a:t>
            </a:r>
          </a:p>
        </p:txBody>
      </p:sp>
      <p:sp>
        <p:nvSpPr>
          <p:cNvPr id="3" name="Title 2">
            <a:extLst>
              <a:ext uri="{FF2B5EF4-FFF2-40B4-BE49-F238E27FC236}">
                <a16:creationId xmlns:a16="http://schemas.microsoft.com/office/drawing/2014/main" id="{30339020-0433-41D0-96B6-6FF579E93CD4}"/>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1772423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problems have historical roots</a:t>
            </a:r>
          </a:p>
        </p:txBody>
      </p:sp>
      <p:sp>
        <p:nvSpPr>
          <p:cNvPr id="3" name="Content Placeholder 2"/>
          <p:cNvSpPr>
            <a:spLocks noGrp="1"/>
          </p:cNvSpPr>
          <p:nvPr>
            <p:ph idx="1"/>
          </p:nvPr>
        </p:nvSpPr>
        <p:spPr/>
        <p:txBody>
          <a:bodyPr/>
          <a:lstStyle/>
          <a:p>
            <a:r>
              <a:rPr lang="en-US" dirty="0"/>
              <a:t>You can do anything in assembly</a:t>
            </a:r>
          </a:p>
          <a:p>
            <a:r>
              <a:rPr lang="en-US" dirty="0"/>
              <a:t>Pointers, pointers, pointers</a:t>
            </a:r>
          </a:p>
          <a:p>
            <a:pPr lvl="1"/>
            <a:r>
              <a:rPr lang="en-US" dirty="0"/>
              <a:t>FP, IP, SP, registers</a:t>
            </a:r>
          </a:p>
          <a:p>
            <a:r>
              <a:rPr lang="en-US" dirty="0"/>
              <a:t>Interrupts</a:t>
            </a:r>
          </a:p>
          <a:p>
            <a:pPr lvl="1"/>
            <a:r>
              <a:rPr lang="en-US" dirty="0"/>
              <a:t>IP -&gt; current state</a:t>
            </a:r>
          </a:p>
          <a:p>
            <a:pPr lvl="1"/>
            <a:r>
              <a:rPr lang="en-US" dirty="0"/>
              <a:t>On return restore state</a:t>
            </a:r>
          </a:p>
          <a:p>
            <a:r>
              <a:rPr lang="en-US" dirty="0"/>
              <a:t>JMP*</a:t>
            </a:r>
          </a:p>
          <a:p>
            <a:pPr lvl="1"/>
            <a:r>
              <a:rPr lang="en-US" dirty="0"/>
              <a:t>Go anywhere</a:t>
            </a:r>
          </a:p>
        </p:txBody>
      </p:sp>
    </p:spTree>
    <p:extLst>
      <p:ext uri="{BB962C8B-B14F-4D97-AF65-F5344CB8AC3E}">
        <p14:creationId xmlns:p14="http://schemas.microsoft.com/office/powerpoint/2010/main" val="1471413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hrowing Star LAN Tap Pro pho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3005" y="1143001"/>
            <a:ext cx="1973699" cy="131284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p:txBody>
          <a:bodyPr>
            <a:normAutofit/>
          </a:bodyPr>
          <a:lstStyle/>
          <a:p>
            <a:r>
              <a:rPr lang="en-US" dirty="0"/>
              <a:t>Inside an office = Inside the network</a:t>
            </a:r>
          </a:p>
        </p:txBody>
      </p:sp>
      <p:sp>
        <p:nvSpPr>
          <p:cNvPr id="6" name="Text Placeholder 2"/>
          <p:cNvSpPr txBox="1">
            <a:spLocks/>
          </p:cNvSpPr>
          <p:nvPr/>
        </p:nvSpPr>
        <p:spPr>
          <a:xfrm>
            <a:off x="1752601" y="1430028"/>
            <a:ext cx="4845639" cy="4970773"/>
          </a:xfrm>
          <a:prstGeom prst="rect">
            <a:avLst/>
          </a:prstGeom>
        </p:spPr>
        <p:txBody>
          <a:bodyPr/>
          <a:lstStyle>
            <a:lvl1pPr marL="342900" indent="-342900" algn="l" defTabSz="914400" rtl="0" eaLnBrk="1" latinLnBrk="0" hangingPunct="1">
              <a:spcBef>
                <a:spcPts val="600"/>
              </a:spcBef>
              <a:buClr>
                <a:schemeClr val="tx1"/>
              </a:buClr>
              <a:buFont typeface="Arial" pitchFamily="34" charset="0"/>
              <a:buChar char="•"/>
              <a:defRPr sz="1600" kern="1200">
                <a:solidFill>
                  <a:schemeClr val="tx2"/>
                </a:solidFill>
                <a:latin typeface="Arial" pitchFamily="34" charset="0"/>
                <a:ea typeface="+mn-ea"/>
                <a:cs typeface="Arial" pitchFamily="34" charset="0"/>
              </a:defRPr>
            </a:lvl1pPr>
            <a:lvl2pPr marL="742950" indent="-285750" algn="l" defTabSz="914400" rtl="0" eaLnBrk="1" latinLnBrk="0" hangingPunct="1">
              <a:spcBef>
                <a:spcPts val="600"/>
              </a:spcBef>
              <a:buClr>
                <a:schemeClr val="tx1"/>
              </a:buClr>
              <a:buFont typeface="Arial" pitchFamily="34" charset="0"/>
              <a:buChar char="–"/>
              <a:defRPr sz="1400" kern="1200">
                <a:solidFill>
                  <a:schemeClr val="tx2"/>
                </a:solidFill>
                <a:latin typeface="Arial" pitchFamily="34" charset="0"/>
                <a:ea typeface="+mn-ea"/>
                <a:cs typeface="Arial" pitchFamily="34" charset="0"/>
              </a:defRPr>
            </a:lvl2pPr>
            <a:lvl3pPr marL="1143000" indent="-228600" algn="l" defTabSz="914400" rtl="0" eaLnBrk="1" latinLnBrk="0" hangingPunct="1">
              <a:spcBef>
                <a:spcPts val="600"/>
              </a:spcBef>
              <a:buClr>
                <a:schemeClr val="tx1"/>
              </a:buClr>
              <a:buFont typeface="Arial" pitchFamily="34" charset="0"/>
              <a:buChar char="•"/>
              <a:defRPr sz="1200" kern="1200">
                <a:solidFill>
                  <a:schemeClr val="tx2"/>
                </a:solidFill>
                <a:latin typeface="Arial" pitchFamily="34" charset="0"/>
                <a:ea typeface="+mn-ea"/>
                <a:cs typeface="Arial" pitchFamily="34" charset="0"/>
              </a:defRPr>
            </a:lvl3pPr>
            <a:lvl4pPr marL="1600200" indent="-228600" algn="l" defTabSz="914400" rtl="0" eaLnBrk="1" latinLnBrk="0" hangingPunct="1">
              <a:spcBef>
                <a:spcPts val="600"/>
              </a:spcBef>
              <a:buClr>
                <a:schemeClr val="tx1"/>
              </a:buClr>
              <a:buFont typeface="Arial" pitchFamily="34" charset="0"/>
              <a:buChar char="–"/>
              <a:defRPr sz="1100" kern="1200">
                <a:solidFill>
                  <a:schemeClr val="tx2"/>
                </a:solidFill>
                <a:latin typeface="Arial" pitchFamily="34" charset="0"/>
                <a:ea typeface="+mn-ea"/>
                <a:cs typeface="Arial" pitchFamily="34" charset="0"/>
              </a:defRPr>
            </a:lvl4pPr>
            <a:lvl5pPr marL="2057400" indent="-228600" algn="l" defTabSz="914400" rtl="0" eaLnBrk="1" latinLnBrk="0" hangingPunct="1">
              <a:spcBef>
                <a:spcPts val="600"/>
              </a:spcBef>
              <a:buClr>
                <a:schemeClr val="tx1"/>
              </a:buClr>
              <a:buFont typeface="Arial" pitchFamily="34" charset="0"/>
              <a:buChar char="»"/>
              <a:defRPr sz="1100" kern="1200">
                <a:solidFill>
                  <a:schemeClr val="tx2"/>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Install a LAN Tap or Packet Squirrel</a:t>
            </a:r>
          </a:p>
          <a:p>
            <a:pPr lvl="1"/>
            <a:r>
              <a:rPr lang="en-US" sz="1800" dirty="0"/>
              <a:t>Undetectable Monitoring</a:t>
            </a:r>
          </a:p>
          <a:p>
            <a:pPr lvl="1"/>
            <a:r>
              <a:rPr lang="en-US" sz="1800" dirty="0">
                <a:hlinkClick r:id="rId3"/>
              </a:rPr>
              <a:t>https://www.hak5.org</a:t>
            </a:r>
            <a:r>
              <a:rPr lang="en-US" sz="1800" dirty="0"/>
              <a:t> </a:t>
            </a:r>
          </a:p>
          <a:p>
            <a:pPr lvl="1"/>
            <a:endParaRPr lang="en-US" sz="1800" dirty="0"/>
          </a:p>
          <a:p>
            <a:r>
              <a:rPr lang="en-US" sz="2000" dirty="0"/>
              <a:t>Installing software on unlocked laptops</a:t>
            </a:r>
          </a:p>
          <a:p>
            <a:pPr lvl="1"/>
            <a:r>
              <a:rPr lang="en-US" sz="1800" dirty="0"/>
              <a:t>Memory sticks</a:t>
            </a:r>
          </a:p>
          <a:p>
            <a:pPr lvl="1"/>
            <a:r>
              <a:rPr lang="en-US" sz="1800" dirty="0"/>
              <a:t>Keyboard controllers</a:t>
            </a:r>
          </a:p>
          <a:p>
            <a:pPr lvl="1"/>
            <a:r>
              <a:rPr lang="en-US" sz="1800" dirty="0"/>
              <a:t>Rootkits and </a:t>
            </a:r>
            <a:r>
              <a:rPr lang="en-US" sz="1800" dirty="0" err="1"/>
              <a:t>Bootkits</a:t>
            </a:r>
            <a:endParaRPr lang="en-US" sz="1800" dirty="0"/>
          </a:p>
          <a:p>
            <a:endParaRPr lang="en-US" sz="2000" dirty="0"/>
          </a:p>
          <a:p>
            <a:r>
              <a:rPr lang="en-US" sz="2000" dirty="0"/>
              <a:t>Bugs: Eavesdropping audio and video</a:t>
            </a:r>
          </a:p>
          <a:p>
            <a:pPr marL="0" indent="0">
              <a:buNone/>
            </a:pPr>
            <a:endParaRPr lang="en-US" sz="1200" dirty="0"/>
          </a:p>
        </p:txBody>
      </p:sp>
      <p:pic>
        <p:nvPicPr>
          <p:cNvPr id="9" name="Picture 16" descr="http://ep.yimg.com/ca/I/spyville_2272_3215747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89921" y="5488415"/>
            <a:ext cx="509774" cy="3823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8" descr="http://ep.yimg.com/ay/spyville/hidden-camera-mantle-clock-hd-quality-video-long-battery-life-sleuthgear-3.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23547" y="5417722"/>
            <a:ext cx="789026" cy="5237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7162801" y="6002180"/>
            <a:ext cx="2953053" cy="246221"/>
          </a:xfrm>
          <a:prstGeom prst="rect">
            <a:avLst/>
          </a:prstGeom>
          <a:noFill/>
        </p:spPr>
        <p:txBody>
          <a:bodyPr wrap="none" rtlCol="0">
            <a:spAutoFit/>
          </a:bodyPr>
          <a:lstStyle/>
          <a:p>
            <a:r>
              <a:rPr lang="en-US" sz="1000" dirty="0">
                <a:hlinkClick r:id="rId6"/>
              </a:rPr>
              <a:t>www.spyville.com</a:t>
            </a:r>
            <a:r>
              <a:rPr lang="en-US" sz="1000" dirty="0"/>
              <a:t> – Video Cameras, Audio Recorders</a:t>
            </a:r>
          </a:p>
        </p:txBody>
      </p:sp>
      <p:sp>
        <p:nvSpPr>
          <p:cNvPr id="12" name="TextBox 11"/>
          <p:cNvSpPr txBox="1"/>
          <p:nvPr/>
        </p:nvSpPr>
        <p:spPr>
          <a:xfrm>
            <a:off x="7155639" y="4392180"/>
            <a:ext cx="909223" cy="400110"/>
          </a:xfrm>
          <a:prstGeom prst="rect">
            <a:avLst/>
          </a:prstGeom>
          <a:noFill/>
        </p:spPr>
        <p:txBody>
          <a:bodyPr wrap="none" rtlCol="0">
            <a:spAutoFit/>
          </a:bodyPr>
          <a:lstStyle/>
          <a:p>
            <a:pPr algn="ctr"/>
            <a:r>
              <a:rPr lang="en-US" sz="1000" dirty="0"/>
              <a:t>Rubber Ducky</a:t>
            </a:r>
          </a:p>
          <a:p>
            <a:pPr algn="ctr"/>
            <a:r>
              <a:rPr lang="en-US" sz="1000" dirty="0"/>
              <a:t>$45</a:t>
            </a:r>
          </a:p>
        </p:txBody>
      </p:sp>
      <p:sp>
        <p:nvSpPr>
          <p:cNvPr id="13" name="TextBox 12"/>
          <p:cNvSpPr txBox="1"/>
          <p:nvPr/>
        </p:nvSpPr>
        <p:spPr>
          <a:xfrm>
            <a:off x="8982070" y="4399346"/>
            <a:ext cx="792205" cy="400110"/>
          </a:xfrm>
          <a:prstGeom prst="rect">
            <a:avLst/>
          </a:prstGeom>
          <a:noFill/>
        </p:spPr>
        <p:txBody>
          <a:bodyPr wrap="none" rtlCol="0">
            <a:spAutoFit/>
          </a:bodyPr>
          <a:lstStyle/>
          <a:p>
            <a:pPr algn="ctr"/>
            <a:r>
              <a:rPr lang="en-US" sz="1000" dirty="0"/>
              <a:t>Bash Bunny</a:t>
            </a:r>
          </a:p>
          <a:p>
            <a:pPr algn="ctr"/>
            <a:r>
              <a:rPr lang="en-US" sz="1000" dirty="0"/>
              <a:t>$100</a:t>
            </a:r>
          </a:p>
        </p:txBody>
      </p:sp>
      <p:sp>
        <p:nvSpPr>
          <p:cNvPr id="14" name="TextBox 13"/>
          <p:cNvSpPr txBox="1"/>
          <p:nvPr/>
        </p:nvSpPr>
        <p:spPr>
          <a:xfrm>
            <a:off x="8749592" y="2332731"/>
            <a:ext cx="1059906" cy="400110"/>
          </a:xfrm>
          <a:prstGeom prst="rect">
            <a:avLst/>
          </a:prstGeom>
          <a:noFill/>
        </p:spPr>
        <p:txBody>
          <a:bodyPr wrap="none" rtlCol="0">
            <a:spAutoFit/>
          </a:bodyPr>
          <a:lstStyle/>
          <a:p>
            <a:r>
              <a:rPr lang="en-US" sz="1000" dirty="0"/>
              <a:t>LAN Star Tap Pro</a:t>
            </a:r>
          </a:p>
          <a:p>
            <a:pPr algn="ctr"/>
            <a:r>
              <a:rPr lang="en-US" sz="1000" dirty="0"/>
              <a:t>$15</a:t>
            </a:r>
          </a:p>
        </p:txBody>
      </p:sp>
      <p:sp>
        <p:nvSpPr>
          <p:cNvPr id="15" name="TextBox 14"/>
          <p:cNvSpPr txBox="1"/>
          <p:nvPr/>
        </p:nvSpPr>
        <p:spPr>
          <a:xfrm>
            <a:off x="6880124" y="2679991"/>
            <a:ext cx="965329" cy="400110"/>
          </a:xfrm>
          <a:prstGeom prst="rect">
            <a:avLst/>
          </a:prstGeom>
          <a:noFill/>
        </p:spPr>
        <p:txBody>
          <a:bodyPr wrap="none" rtlCol="0">
            <a:spAutoFit/>
          </a:bodyPr>
          <a:lstStyle/>
          <a:p>
            <a:r>
              <a:rPr lang="en-US" sz="1000" dirty="0"/>
              <a:t>Packet Squirrel</a:t>
            </a:r>
          </a:p>
          <a:p>
            <a:pPr algn="ctr"/>
            <a:r>
              <a:rPr lang="en-US" sz="1000" dirty="0"/>
              <a:t>$60</a:t>
            </a:r>
          </a:p>
        </p:txBody>
      </p:sp>
      <p:pic>
        <p:nvPicPr>
          <p:cNvPr id="16" name="Picture 15">
            <a:extLst>
              <a:ext uri="{FF2B5EF4-FFF2-40B4-BE49-F238E27FC236}">
                <a16:creationId xmlns:a16="http://schemas.microsoft.com/office/drawing/2014/main" id="{E2008134-F5BF-4512-8B81-A276F7F9728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725882" y="1852481"/>
            <a:ext cx="1630266" cy="650325"/>
          </a:xfrm>
          <a:prstGeom prst="rect">
            <a:avLst/>
          </a:prstGeom>
        </p:spPr>
      </p:pic>
      <p:pic>
        <p:nvPicPr>
          <p:cNvPr id="18" name="Picture 17">
            <a:extLst>
              <a:ext uri="{FF2B5EF4-FFF2-40B4-BE49-F238E27FC236}">
                <a16:creationId xmlns:a16="http://schemas.microsoft.com/office/drawing/2014/main" id="{3ADBCC69-907E-4144-A9E3-952265E4C5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62751" y="3565648"/>
            <a:ext cx="1504203" cy="783627"/>
          </a:xfrm>
          <a:prstGeom prst="rect">
            <a:avLst/>
          </a:prstGeom>
        </p:spPr>
      </p:pic>
      <p:pic>
        <p:nvPicPr>
          <p:cNvPr id="20" name="Picture 19">
            <a:extLst>
              <a:ext uri="{FF2B5EF4-FFF2-40B4-BE49-F238E27FC236}">
                <a16:creationId xmlns:a16="http://schemas.microsoft.com/office/drawing/2014/main" id="{EF5189AD-3995-4537-8272-CBEA355C409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20552" y="3208391"/>
            <a:ext cx="1267635" cy="1287885"/>
          </a:xfrm>
          <a:prstGeom prst="rect">
            <a:avLst/>
          </a:prstGeom>
        </p:spPr>
      </p:pic>
    </p:spTree>
    <p:extLst>
      <p:ext uri="{BB962C8B-B14F-4D97-AF65-F5344CB8AC3E}">
        <p14:creationId xmlns:p14="http://schemas.microsoft.com/office/powerpoint/2010/main" val="3925157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851660" y="1202284"/>
            <a:ext cx="4373880" cy="764811"/>
          </a:xfrm>
          <a:prstGeom prst="rect">
            <a:avLst/>
          </a:prstGeom>
        </p:spPr>
        <p:txBody>
          <a:bodyPr/>
          <a:lstStyle>
            <a:lvl1pPr algn="l" defTabSz="914400" rtl="0" eaLnBrk="1" latinLnBrk="0" hangingPunct="1">
              <a:spcBef>
                <a:spcPct val="0"/>
              </a:spcBef>
              <a:buNone/>
              <a:defRPr sz="2000" b="0" kern="1200">
                <a:solidFill>
                  <a:schemeClr val="tx1"/>
                </a:solidFill>
                <a:latin typeface="Rockwell" pitchFamily="18" charset="0"/>
                <a:ea typeface="+mj-ea"/>
                <a:cs typeface="Arial" pitchFamily="34" charset="0"/>
              </a:defRPr>
            </a:lvl1pPr>
          </a:lstStyle>
          <a:p>
            <a:endParaRPr lang="en-US" dirty="0"/>
          </a:p>
        </p:txBody>
      </p:sp>
      <p:sp>
        <p:nvSpPr>
          <p:cNvPr id="4" name="Text Placeholder 2"/>
          <p:cNvSpPr txBox="1">
            <a:spLocks/>
          </p:cNvSpPr>
          <p:nvPr/>
        </p:nvSpPr>
        <p:spPr>
          <a:xfrm>
            <a:off x="1851660" y="1202284"/>
            <a:ext cx="4373880" cy="5350916"/>
          </a:xfrm>
          <a:prstGeom prst="rect">
            <a:avLst/>
          </a:prstGeom>
        </p:spPr>
        <p:txBody>
          <a:bodyPr/>
          <a:lstStyle>
            <a:lvl1pPr marL="342900" indent="-342900" algn="l" defTabSz="914400" rtl="0" eaLnBrk="1" latinLnBrk="0" hangingPunct="1">
              <a:spcBef>
                <a:spcPts val="600"/>
              </a:spcBef>
              <a:buClr>
                <a:schemeClr val="tx1"/>
              </a:buClr>
              <a:buFont typeface="Arial" pitchFamily="34" charset="0"/>
              <a:buChar char="•"/>
              <a:defRPr sz="1600" kern="1200">
                <a:solidFill>
                  <a:schemeClr val="tx2"/>
                </a:solidFill>
                <a:latin typeface="Arial" pitchFamily="34" charset="0"/>
                <a:ea typeface="+mn-ea"/>
                <a:cs typeface="Arial" pitchFamily="34" charset="0"/>
              </a:defRPr>
            </a:lvl1pPr>
            <a:lvl2pPr marL="742950" indent="-285750" algn="l" defTabSz="914400" rtl="0" eaLnBrk="1" latinLnBrk="0" hangingPunct="1">
              <a:spcBef>
                <a:spcPts val="600"/>
              </a:spcBef>
              <a:buClr>
                <a:schemeClr val="tx1"/>
              </a:buClr>
              <a:buFont typeface="Arial" pitchFamily="34" charset="0"/>
              <a:buChar char="–"/>
              <a:defRPr sz="1400" kern="1200">
                <a:solidFill>
                  <a:schemeClr val="tx2"/>
                </a:solidFill>
                <a:latin typeface="Arial" pitchFamily="34" charset="0"/>
                <a:ea typeface="+mn-ea"/>
                <a:cs typeface="Arial" pitchFamily="34" charset="0"/>
              </a:defRPr>
            </a:lvl2pPr>
            <a:lvl3pPr marL="1143000" indent="-228600" algn="l" defTabSz="914400" rtl="0" eaLnBrk="1" latinLnBrk="0" hangingPunct="1">
              <a:spcBef>
                <a:spcPts val="600"/>
              </a:spcBef>
              <a:buClr>
                <a:schemeClr val="tx1"/>
              </a:buClr>
              <a:buFont typeface="Arial" pitchFamily="34" charset="0"/>
              <a:buChar char="•"/>
              <a:defRPr sz="1200" kern="1200">
                <a:solidFill>
                  <a:schemeClr val="tx2"/>
                </a:solidFill>
                <a:latin typeface="Arial" pitchFamily="34" charset="0"/>
                <a:ea typeface="+mn-ea"/>
                <a:cs typeface="Arial" pitchFamily="34" charset="0"/>
              </a:defRPr>
            </a:lvl3pPr>
            <a:lvl4pPr marL="1600200" indent="-228600" algn="l" defTabSz="914400" rtl="0" eaLnBrk="1" latinLnBrk="0" hangingPunct="1">
              <a:spcBef>
                <a:spcPts val="600"/>
              </a:spcBef>
              <a:buClr>
                <a:schemeClr val="tx1"/>
              </a:buClr>
              <a:buFont typeface="Arial" pitchFamily="34" charset="0"/>
              <a:buChar char="–"/>
              <a:defRPr sz="1100" kern="1200">
                <a:solidFill>
                  <a:schemeClr val="tx2"/>
                </a:solidFill>
                <a:latin typeface="Arial" pitchFamily="34" charset="0"/>
                <a:ea typeface="+mn-ea"/>
                <a:cs typeface="Arial" pitchFamily="34" charset="0"/>
              </a:defRPr>
            </a:lvl4pPr>
            <a:lvl5pPr marL="2057400" indent="-228600" algn="l" defTabSz="914400" rtl="0" eaLnBrk="1" latinLnBrk="0" hangingPunct="1">
              <a:spcBef>
                <a:spcPts val="600"/>
              </a:spcBef>
              <a:buClr>
                <a:schemeClr val="tx1"/>
              </a:buClr>
              <a:buFont typeface="Arial" pitchFamily="34" charset="0"/>
              <a:buChar char="»"/>
              <a:defRPr sz="1100" kern="1200">
                <a:solidFill>
                  <a:schemeClr val="tx2"/>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What is a </a:t>
            </a:r>
            <a:r>
              <a:rPr lang="en-US" b="1" dirty="0"/>
              <a:t>rootkit</a:t>
            </a:r>
            <a:r>
              <a:rPr lang="en-US" dirty="0"/>
              <a:t>? </a:t>
            </a:r>
          </a:p>
          <a:p>
            <a:pPr lvl="1"/>
            <a:r>
              <a:rPr lang="en-US" dirty="0"/>
              <a:t>It’s </a:t>
            </a:r>
            <a:r>
              <a:rPr lang="en-US" b="1" dirty="0"/>
              <a:t>stealth</a:t>
            </a:r>
          </a:p>
          <a:p>
            <a:pPr lvl="1"/>
            <a:r>
              <a:rPr lang="en-US" dirty="0"/>
              <a:t>It’s a lot like a remote administration system – can access files, control hardware, control processes or start processes</a:t>
            </a:r>
          </a:p>
          <a:p>
            <a:pPr lvl="1"/>
            <a:endParaRPr lang="en-US" dirty="0"/>
          </a:p>
          <a:p>
            <a:r>
              <a:rPr lang="en-US" dirty="0" err="1"/>
              <a:t>Bootkits</a:t>
            </a:r>
            <a:r>
              <a:rPr lang="en-US" dirty="0"/>
              <a:t> – an rootkit in your firmware</a:t>
            </a:r>
          </a:p>
          <a:p>
            <a:endParaRPr lang="en-US" dirty="0"/>
          </a:p>
          <a:p>
            <a:r>
              <a:rPr lang="en-US" dirty="0"/>
              <a:t>Real World Rootkits:</a:t>
            </a:r>
          </a:p>
          <a:p>
            <a:pPr lvl="1"/>
            <a:r>
              <a:rPr lang="en-US" dirty="0" err="1"/>
              <a:t>HBGary</a:t>
            </a:r>
            <a:r>
              <a:rPr lang="en-US" dirty="0"/>
              <a:t> Federal rootkits about $60k per license</a:t>
            </a:r>
          </a:p>
          <a:p>
            <a:pPr lvl="1"/>
            <a:r>
              <a:rPr lang="en-US" dirty="0"/>
              <a:t>Lots of open source efforts; but tend to be incomplete, or special purpose</a:t>
            </a:r>
          </a:p>
          <a:p>
            <a:pPr lvl="1"/>
            <a:r>
              <a:rPr lang="en-US" dirty="0"/>
              <a:t>European ATM hacks – attackers physically broke into ATM machines and installed customized rootkit</a:t>
            </a:r>
          </a:p>
          <a:p>
            <a:pPr lvl="1"/>
            <a:r>
              <a:rPr lang="en-US" dirty="0"/>
              <a:t>Disclosures from the Snowden archives reveal these are more prominent that previously thought, especially in the intelligence community</a:t>
            </a:r>
          </a:p>
          <a:p>
            <a:pPr lvl="1"/>
            <a:endParaRPr lang="en-US" sz="1100" dirty="0"/>
          </a:p>
        </p:txBody>
      </p:sp>
      <p:sp>
        <p:nvSpPr>
          <p:cNvPr id="5" name="TextBox 4"/>
          <p:cNvSpPr txBox="1"/>
          <p:nvPr/>
        </p:nvSpPr>
        <p:spPr>
          <a:xfrm>
            <a:off x="6858001" y="1466196"/>
            <a:ext cx="3453609" cy="4401205"/>
          </a:xfrm>
          <a:prstGeom prst="rect">
            <a:avLst/>
          </a:prstGeom>
          <a:solidFill>
            <a:schemeClr val="bg2"/>
          </a:solidFill>
          <a:ln w="12700">
            <a:solidFill>
              <a:schemeClr val="tx2"/>
            </a:solidFill>
          </a:ln>
        </p:spPr>
        <p:txBody>
          <a:bodyPr wrap="square" rtlCol="0">
            <a:spAutoFit/>
          </a:bodyPr>
          <a:lstStyle/>
          <a:p>
            <a:pPr algn="ctr"/>
            <a:r>
              <a:rPr lang="en-US" sz="1400" b="1" dirty="0"/>
              <a:t>Rootkits A Glance</a:t>
            </a:r>
          </a:p>
          <a:p>
            <a:pPr marL="171450" indent="-171450">
              <a:buFontTx/>
              <a:buChar char="-"/>
            </a:pPr>
            <a:r>
              <a:rPr lang="en-US" sz="1400" dirty="0"/>
              <a:t>Professional kits nearly impossible to detect with automated tools</a:t>
            </a:r>
          </a:p>
          <a:p>
            <a:pPr marL="171450" indent="-171450">
              <a:buFontTx/>
              <a:buChar char="-"/>
            </a:pPr>
            <a:r>
              <a:rPr lang="en-US" sz="1400" dirty="0"/>
              <a:t>First step to selling rootkit is to prove no current AV scanners can spot it</a:t>
            </a:r>
          </a:p>
          <a:p>
            <a:pPr marL="171450" indent="-171450">
              <a:buFontTx/>
              <a:buChar char="-"/>
            </a:pPr>
            <a:r>
              <a:rPr lang="en-US" sz="1400" dirty="0"/>
              <a:t>Payments are normally timed, based on keeping its stealth intact</a:t>
            </a:r>
          </a:p>
          <a:p>
            <a:pPr marL="171450" indent="-171450">
              <a:buFontTx/>
              <a:buChar char="-"/>
            </a:pPr>
            <a:endParaRPr lang="en-US" sz="1400" dirty="0"/>
          </a:p>
          <a:p>
            <a:pPr marL="171450" indent="-171450">
              <a:buFontTx/>
              <a:buChar char="-"/>
            </a:pPr>
            <a:r>
              <a:rPr lang="en-US" sz="1400" dirty="0"/>
              <a:t>Basic Features:</a:t>
            </a:r>
          </a:p>
          <a:p>
            <a:pPr marL="628650" lvl="1" indent="-171450">
              <a:buFontTx/>
              <a:buChar char="-"/>
            </a:pPr>
            <a:r>
              <a:rPr lang="en-US" sz="1400" dirty="0"/>
              <a:t>Record what is on the screen</a:t>
            </a:r>
          </a:p>
          <a:p>
            <a:pPr marL="628650" lvl="1" indent="-171450">
              <a:buFontTx/>
              <a:buChar char="-"/>
            </a:pPr>
            <a:r>
              <a:rPr lang="en-US" sz="1400" dirty="0"/>
              <a:t>Keystroke logger</a:t>
            </a:r>
          </a:p>
          <a:p>
            <a:pPr marL="628650" lvl="1" indent="-171450">
              <a:buFontTx/>
              <a:buChar char="-"/>
            </a:pPr>
            <a:r>
              <a:rPr lang="en-US" sz="1400" dirty="0"/>
              <a:t>Record from microphone </a:t>
            </a:r>
          </a:p>
          <a:p>
            <a:pPr marL="628650" lvl="1" indent="-171450">
              <a:buFontTx/>
              <a:buChar char="-"/>
            </a:pPr>
            <a:r>
              <a:rPr lang="en-US" sz="1400" dirty="0"/>
              <a:t>Record from select webcams without indication to end user</a:t>
            </a:r>
          </a:p>
          <a:p>
            <a:pPr marL="628650" lvl="1" indent="-171450">
              <a:buFontTx/>
              <a:buChar char="-"/>
            </a:pPr>
            <a:r>
              <a:rPr lang="en-US" sz="1400" dirty="0"/>
              <a:t>Remote install to other devices</a:t>
            </a:r>
          </a:p>
          <a:p>
            <a:pPr marL="171450" indent="-171450">
              <a:buFontTx/>
              <a:buChar char="-"/>
            </a:pPr>
            <a:r>
              <a:rPr lang="en-US" sz="1400" dirty="0"/>
              <a:t>Weapons-Grade Packages:</a:t>
            </a:r>
          </a:p>
          <a:p>
            <a:pPr marL="628650" lvl="1" indent="-171450">
              <a:buFontTx/>
              <a:buChar char="-"/>
            </a:pPr>
            <a:r>
              <a:rPr lang="en-US" sz="1400" dirty="0"/>
              <a:t>Jumping Air Gaps</a:t>
            </a:r>
          </a:p>
          <a:p>
            <a:pPr marL="628650" lvl="1" indent="-171450">
              <a:buFontTx/>
              <a:buChar char="-"/>
            </a:pPr>
            <a:r>
              <a:rPr lang="en-US" sz="1400" dirty="0"/>
              <a:t>Convert Channels to </a:t>
            </a:r>
            <a:r>
              <a:rPr lang="en-US" sz="1400" dirty="0" err="1"/>
              <a:t>exfiltrate</a:t>
            </a:r>
            <a:r>
              <a:rPr lang="en-US" sz="1400" dirty="0"/>
              <a:t> data</a:t>
            </a:r>
          </a:p>
          <a:p>
            <a:pPr marL="628650" lvl="1" indent="-171450">
              <a:buFontTx/>
              <a:buChar char="-"/>
            </a:pPr>
            <a:r>
              <a:rPr lang="en-US" sz="1400" dirty="0"/>
              <a:t>Cloud Virtualization Technology</a:t>
            </a:r>
          </a:p>
          <a:p>
            <a:pPr marL="171450" indent="-171450">
              <a:buFontTx/>
              <a:buChar char="-"/>
            </a:pPr>
            <a:endParaRPr lang="en-US" sz="1400" dirty="0"/>
          </a:p>
        </p:txBody>
      </p:sp>
      <p:sp>
        <p:nvSpPr>
          <p:cNvPr id="6" name="Title 1"/>
          <p:cNvSpPr txBox="1">
            <a:spLocks/>
          </p:cNvSpPr>
          <p:nvPr/>
        </p:nvSpPr>
        <p:spPr>
          <a:xfrm>
            <a:off x="1910871" y="135162"/>
            <a:ext cx="8229600" cy="764811"/>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Rootkits</a:t>
            </a:r>
          </a:p>
        </p:txBody>
      </p:sp>
      <p:sp>
        <p:nvSpPr>
          <p:cNvPr id="2" name="Title 1">
            <a:extLst>
              <a:ext uri="{FF2B5EF4-FFF2-40B4-BE49-F238E27FC236}">
                <a16:creationId xmlns:a16="http://schemas.microsoft.com/office/drawing/2014/main" id="{34BFDDE3-C345-4EFE-A9A3-A10CC70FC60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21488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Microsoft – Virtualize security data</a:t>
            </a:r>
          </a:p>
        </p:txBody>
      </p:sp>
      <p:pic>
        <p:nvPicPr>
          <p:cNvPr id="1026" name="Picture 2" descr="Image result for windows defender credential guard">
            <a:extLst>
              <a:ext uri="{FF2B5EF4-FFF2-40B4-BE49-F238E27FC236}">
                <a16:creationId xmlns:a16="http://schemas.microsoft.com/office/drawing/2014/main" id="{6AE14700-9D67-4A0B-8AFF-F239FE708FA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91354" y="1143000"/>
            <a:ext cx="11677266"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560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Services</a:t>
            </a:r>
          </a:p>
        </p:txBody>
      </p:sp>
      <p:sp>
        <p:nvSpPr>
          <p:cNvPr id="3" name="Content Placeholder 2"/>
          <p:cNvSpPr>
            <a:spLocks noGrp="1"/>
          </p:cNvSpPr>
          <p:nvPr>
            <p:ph idx="1"/>
          </p:nvPr>
        </p:nvSpPr>
        <p:spPr/>
        <p:txBody>
          <a:bodyPr/>
          <a:lstStyle/>
          <a:p>
            <a:r>
              <a:rPr lang="en-US" dirty="0"/>
              <a:t>Full disk encryption</a:t>
            </a:r>
          </a:p>
          <a:p>
            <a:pPr lvl="1"/>
            <a:r>
              <a:rPr lang="en-US" dirty="0"/>
              <a:t>Prevent disk swaps</a:t>
            </a:r>
          </a:p>
          <a:p>
            <a:r>
              <a:rPr lang="en-US" dirty="0" err="1"/>
              <a:t>Geofence</a:t>
            </a:r>
            <a:endParaRPr lang="en-US" dirty="0"/>
          </a:p>
          <a:p>
            <a:pPr lvl="1"/>
            <a:r>
              <a:rPr lang="en-US" dirty="0"/>
              <a:t>GPS controls </a:t>
            </a:r>
          </a:p>
          <a:p>
            <a:r>
              <a:rPr lang="en-US" dirty="0"/>
              <a:t>Poison Pills</a:t>
            </a:r>
          </a:p>
          <a:p>
            <a:pPr lvl="1"/>
            <a:r>
              <a:rPr lang="en-US" dirty="0"/>
              <a:t>Brick it when lost</a:t>
            </a:r>
          </a:p>
          <a:p>
            <a:r>
              <a:rPr lang="en-US" dirty="0"/>
              <a:t>Asset Recovery</a:t>
            </a:r>
          </a:p>
          <a:p>
            <a:pPr lvl="1"/>
            <a:r>
              <a:rPr lang="en-US" dirty="0" err="1"/>
              <a:t>Preboot</a:t>
            </a:r>
            <a:r>
              <a:rPr lang="en-US" dirty="0"/>
              <a:t> message on where to return</a:t>
            </a:r>
          </a:p>
        </p:txBody>
      </p:sp>
    </p:spTree>
    <p:extLst>
      <p:ext uri="{BB962C8B-B14F-4D97-AF65-F5344CB8AC3E}">
        <p14:creationId xmlns:p14="http://schemas.microsoft.com/office/powerpoint/2010/main" val="656430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Trusted Processing Module (TPM)</a:t>
            </a:r>
          </a:p>
        </p:txBody>
      </p:sp>
      <p:sp>
        <p:nvSpPr>
          <p:cNvPr id="3" name="Content Placeholder 2"/>
          <p:cNvSpPr>
            <a:spLocks noGrp="1"/>
          </p:cNvSpPr>
          <p:nvPr>
            <p:ph idx="1"/>
          </p:nvPr>
        </p:nvSpPr>
        <p:spPr/>
        <p:txBody>
          <a:bodyPr>
            <a:normAutofit lnSpcReduction="10000"/>
          </a:bodyPr>
          <a:lstStyle/>
          <a:p>
            <a:r>
              <a:rPr lang="en-US" dirty="0"/>
              <a:t>Public standard (TCG)</a:t>
            </a:r>
          </a:p>
          <a:p>
            <a:r>
              <a:rPr lang="en-US" dirty="0"/>
              <a:t>Provide security functions</a:t>
            </a:r>
          </a:p>
          <a:p>
            <a:pPr lvl="1"/>
            <a:r>
              <a:rPr lang="en-US" dirty="0"/>
              <a:t>Protected against manipulations</a:t>
            </a:r>
          </a:p>
          <a:p>
            <a:r>
              <a:rPr lang="en-US" dirty="0"/>
              <a:t>Responses only</a:t>
            </a:r>
          </a:p>
          <a:p>
            <a:pPr lvl="1"/>
            <a:r>
              <a:rPr lang="en-US" dirty="0"/>
              <a:t>Does not initiate requests</a:t>
            </a:r>
          </a:p>
          <a:p>
            <a:r>
              <a:rPr lang="en-US" dirty="0"/>
              <a:t>Has a unique endorsement key and cert</a:t>
            </a:r>
          </a:p>
          <a:p>
            <a:r>
              <a:rPr lang="en-US" dirty="0"/>
              <a:t>Provides SECURE storage</a:t>
            </a:r>
          </a:p>
          <a:p>
            <a:pPr lvl="1"/>
            <a:r>
              <a:rPr lang="en-US" dirty="0"/>
              <a:t>Keys, certs, platform metrics</a:t>
            </a:r>
          </a:p>
          <a:p>
            <a:r>
              <a:rPr lang="en-US" dirty="0"/>
              <a:t>RSA, SHA-1, RNG, Counter</a:t>
            </a:r>
          </a:p>
          <a:p>
            <a:endParaRPr lang="en-US" dirty="0"/>
          </a:p>
        </p:txBody>
      </p:sp>
    </p:spTree>
    <p:extLst>
      <p:ext uri="{BB962C8B-B14F-4D97-AF65-F5344CB8AC3E}">
        <p14:creationId xmlns:p14="http://schemas.microsoft.com/office/powerpoint/2010/main" val="1642271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16059B-BEAE-4714-85CD-D7AE64CD618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B25FED9-2046-4658-8A25-B83759837EAE}"/>
              </a:ext>
            </a:extLst>
          </p:cNvPr>
          <p:cNvPicPr>
            <a:picLocks noGrp="1" noChangeAspect="1"/>
          </p:cNvPicPr>
          <p:nvPr>
            <p:ph idx="1"/>
          </p:nvPr>
        </p:nvPicPr>
        <p:blipFill>
          <a:blip r:embed="rId2"/>
          <a:stretch>
            <a:fillRect/>
          </a:stretch>
        </p:blipFill>
        <p:spPr>
          <a:xfrm>
            <a:off x="1796667" y="199723"/>
            <a:ext cx="8598665" cy="6458553"/>
          </a:xfrm>
          <a:prstGeom prst="rect">
            <a:avLst/>
          </a:prstGeom>
        </p:spPr>
      </p:pic>
    </p:spTree>
    <p:extLst>
      <p:ext uri="{BB962C8B-B14F-4D97-AF65-F5344CB8AC3E}">
        <p14:creationId xmlns:p14="http://schemas.microsoft.com/office/powerpoint/2010/main" val="676332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Phone Privacy</a:t>
            </a:r>
          </a:p>
        </p:txBody>
      </p:sp>
      <p:sp>
        <p:nvSpPr>
          <p:cNvPr id="3" name="Content Placeholder 2">
            <a:extLst>
              <a:ext uri="{FF2B5EF4-FFF2-40B4-BE49-F238E27FC236}">
                <a16:creationId xmlns:a16="http://schemas.microsoft.com/office/drawing/2014/main" id="{6C592EA9-750A-4802-98C9-EE62031A38AA}"/>
              </a:ext>
            </a:extLst>
          </p:cNvPr>
          <p:cNvSpPr>
            <a:spLocks noGrp="1"/>
          </p:cNvSpPr>
          <p:nvPr>
            <p:ph idx="1"/>
          </p:nvPr>
        </p:nvSpPr>
        <p:spPr/>
        <p:txBody>
          <a:bodyPr/>
          <a:lstStyle/>
          <a:p>
            <a:endParaRPr lang="en-US"/>
          </a:p>
        </p:txBody>
      </p:sp>
      <p:sp>
        <p:nvSpPr>
          <p:cNvPr id="4" name="TextBox 3"/>
          <p:cNvSpPr txBox="1"/>
          <p:nvPr/>
        </p:nvSpPr>
        <p:spPr>
          <a:xfrm>
            <a:off x="2833057" y="3429000"/>
            <a:ext cx="572208" cy="369332"/>
          </a:xfrm>
          <a:prstGeom prst="rect">
            <a:avLst/>
          </a:prstGeom>
          <a:noFill/>
          <a:ln>
            <a:solidFill>
              <a:schemeClr val="tx1"/>
            </a:solidFill>
          </a:ln>
        </p:spPr>
        <p:txBody>
          <a:bodyPr wrap="none" rtlCol="0">
            <a:spAutoFit/>
          </a:bodyPr>
          <a:lstStyle/>
          <a:p>
            <a:r>
              <a:rPr lang="en-US" dirty="0" err="1"/>
              <a:t>K</a:t>
            </a:r>
            <a:r>
              <a:rPr lang="en-US" baseline="-25000" dirty="0" err="1"/>
              <a:t>user</a:t>
            </a:r>
            <a:endParaRPr lang="en-US" baseline="-25000" dirty="0"/>
          </a:p>
        </p:txBody>
      </p:sp>
      <p:sp>
        <p:nvSpPr>
          <p:cNvPr id="5" name="TextBox 4"/>
          <p:cNvSpPr txBox="1"/>
          <p:nvPr/>
        </p:nvSpPr>
        <p:spPr>
          <a:xfrm>
            <a:off x="2819401" y="3886200"/>
            <a:ext cx="804579" cy="369332"/>
          </a:xfrm>
          <a:prstGeom prst="rect">
            <a:avLst/>
          </a:prstGeom>
          <a:noFill/>
          <a:ln>
            <a:solidFill>
              <a:schemeClr val="tx1"/>
            </a:solidFill>
          </a:ln>
        </p:spPr>
        <p:txBody>
          <a:bodyPr wrap="none" rtlCol="0">
            <a:spAutoFit/>
          </a:bodyPr>
          <a:lstStyle/>
          <a:p>
            <a:r>
              <a:rPr lang="en-US" dirty="0" err="1"/>
              <a:t>K</a:t>
            </a:r>
            <a:r>
              <a:rPr lang="en-US" baseline="-25000" dirty="0" err="1"/>
              <a:t>supplier</a:t>
            </a:r>
            <a:endParaRPr lang="en-US" baseline="-25000" dirty="0"/>
          </a:p>
        </p:txBody>
      </p:sp>
      <p:sp>
        <p:nvSpPr>
          <p:cNvPr id="6" name="TextBox 5"/>
          <p:cNvSpPr txBox="1"/>
          <p:nvPr/>
        </p:nvSpPr>
        <p:spPr>
          <a:xfrm>
            <a:off x="2833057" y="4343400"/>
            <a:ext cx="790922" cy="369332"/>
          </a:xfrm>
          <a:prstGeom prst="rect">
            <a:avLst/>
          </a:prstGeom>
          <a:noFill/>
          <a:ln>
            <a:solidFill>
              <a:schemeClr val="tx1"/>
            </a:solidFill>
          </a:ln>
        </p:spPr>
        <p:txBody>
          <a:bodyPr wrap="none" rtlCol="0">
            <a:spAutoFit/>
          </a:bodyPr>
          <a:lstStyle/>
          <a:p>
            <a:r>
              <a:rPr lang="en-US" dirty="0" err="1"/>
              <a:t>K</a:t>
            </a:r>
            <a:r>
              <a:rPr lang="en-US" baseline="-25000" dirty="0" err="1"/>
              <a:t>product</a:t>
            </a:r>
            <a:endParaRPr lang="en-US" baseline="-25000" dirty="0"/>
          </a:p>
        </p:txBody>
      </p:sp>
      <p:sp>
        <p:nvSpPr>
          <p:cNvPr id="7" name="TextBox 6"/>
          <p:cNvSpPr txBox="1"/>
          <p:nvPr/>
        </p:nvSpPr>
        <p:spPr>
          <a:xfrm>
            <a:off x="2286000" y="2819400"/>
            <a:ext cx="1987788" cy="2133600"/>
          </a:xfrm>
          <a:prstGeom prst="rect">
            <a:avLst/>
          </a:prstGeom>
          <a:noFill/>
          <a:ln>
            <a:solidFill>
              <a:schemeClr val="tx1"/>
            </a:solidFill>
          </a:ln>
        </p:spPr>
        <p:txBody>
          <a:bodyPr wrap="none" rtlCol="0">
            <a:noAutofit/>
          </a:bodyPr>
          <a:lstStyle/>
          <a:p>
            <a:r>
              <a:rPr lang="en-US" dirty="0"/>
              <a:t>Secure Store (TPM)</a:t>
            </a:r>
          </a:p>
        </p:txBody>
      </p:sp>
      <p:sp>
        <p:nvSpPr>
          <p:cNvPr id="8" name="TextBox 7"/>
          <p:cNvSpPr txBox="1"/>
          <p:nvPr/>
        </p:nvSpPr>
        <p:spPr>
          <a:xfrm>
            <a:off x="1828801" y="1981201"/>
            <a:ext cx="2767681" cy="646331"/>
          </a:xfrm>
          <a:prstGeom prst="rect">
            <a:avLst/>
          </a:prstGeom>
          <a:noFill/>
        </p:spPr>
        <p:txBody>
          <a:bodyPr wrap="none" rtlCol="0">
            <a:spAutoFit/>
          </a:bodyPr>
          <a:lstStyle/>
          <a:p>
            <a:r>
              <a:rPr lang="en-US" dirty="0"/>
              <a:t>H’ = sign( bytes, ID</a:t>
            </a:r>
            <a:r>
              <a:rPr lang="en-US" baseline="-25000" dirty="0"/>
              <a:t>K</a:t>
            </a:r>
            <a:r>
              <a:rPr lang="en-US" dirty="0"/>
              <a:t> )</a:t>
            </a:r>
          </a:p>
          <a:p>
            <a:r>
              <a:rPr lang="en-US" dirty="0"/>
              <a:t>K</a:t>
            </a:r>
            <a:r>
              <a:rPr lang="en-US" baseline="-25000" dirty="0"/>
              <a:t>AES </a:t>
            </a:r>
            <a:r>
              <a:rPr lang="en-US" dirty="0"/>
              <a:t>= </a:t>
            </a:r>
            <a:r>
              <a:rPr lang="en-US" dirty="0" err="1"/>
              <a:t>genkey</a:t>
            </a:r>
            <a:r>
              <a:rPr lang="en-US" dirty="0"/>
              <a:t>( ID</a:t>
            </a:r>
            <a:r>
              <a:rPr lang="en-US" baseline="-25000" dirty="0"/>
              <a:t>K</a:t>
            </a:r>
            <a:r>
              <a:rPr lang="en-US" dirty="0"/>
              <a:t>, “secret’ )</a:t>
            </a:r>
          </a:p>
        </p:txBody>
      </p:sp>
      <p:sp>
        <p:nvSpPr>
          <p:cNvPr id="10" name="TextBox 9"/>
          <p:cNvSpPr txBox="1"/>
          <p:nvPr/>
        </p:nvSpPr>
        <p:spPr>
          <a:xfrm>
            <a:off x="7162801" y="4916270"/>
            <a:ext cx="2902077" cy="646331"/>
          </a:xfrm>
          <a:prstGeom prst="rect">
            <a:avLst/>
          </a:prstGeom>
          <a:noFill/>
        </p:spPr>
        <p:txBody>
          <a:bodyPr wrap="none" rtlCol="0">
            <a:spAutoFit/>
          </a:bodyPr>
          <a:lstStyle/>
          <a:p>
            <a:r>
              <a:rPr lang="en-US" dirty="0"/>
              <a:t>B’ = sign( hash(B-B</a:t>
            </a:r>
            <a:r>
              <a:rPr lang="en-US" baseline="-25000" dirty="0"/>
              <a:t>S</a:t>
            </a:r>
            <a:r>
              <a:rPr lang="en-US" dirty="0"/>
              <a:t>), </a:t>
            </a:r>
            <a:r>
              <a:rPr lang="en-US" dirty="0" err="1"/>
              <a:t>K</a:t>
            </a:r>
            <a:r>
              <a:rPr lang="en-US" baseline="-25000" dirty="0" err="1"/>
              <a:t>product</a:t>
            </a:r>
            <a:r>
              <a:rPr lang="en-US" dirty="0"/>
              <a:t> )</a:t>
            </a:r>
          </a:p>
          <a:p>
            <a:r>
              <a:rPr lang="en-US" dirty="0"/>
              <a:t>If B’ == B</a:t>
            </a:r>
            <a:r>
              <a:rPr lang="en-US" baseline="-25000" dirty="0"/>
              <a:t>S </a:t>
            </a:r>
            <a:r>
              <a:rPr lang="en-US" dirty="0"/>
              <a:t>then load B</a:t>
            </a:r>
          </a:p>
        </p:txBody>
      </p:sp>
      <p:sp>
        <p:nvSpPr>
          <p:cNvPr id="11" name="TextBox 10"/>
          <p:cNvSpPr txBox="1"/>
          <p:nvPr/>
        </p:nvSpPr>
        <p:spPr>
          <a:xfrm>
            <a:off x="3124200" y="6324600"/>
            <a:ext cx="1132490" cy="369332"/>
          </a:xfrm>
          <a:prstGeom prst="rect">
            <a:avLst/>
          </a:prstGeom>
          <a:noFill/>
        </p:spPr>
        <p:txBody>
          <a:bodyPr wrap="none" rtlCol="0">
            <a:spAutoFit/>
          </a:bodyPr>
          <a:lstStyle/>
          <a:p>
            <a:r>
              <a:rPr lang="en-US" dirty="0"/>
              <a:t>Power ON</a:t>
            </a:r>
          </a:p>
        </p:txBody>
      </p:sp>
      <p:sp>
        <p:nvSpPr>
          <p:cNvPr id="13" name="Freeform 12"/>
          <p:cNvSpPr/>
          <p:nvPr/>
        </p:nvSpPr>
        <p:spPr>
          <a:xfrm>
            <a:off x="4316627" y="6063301"/>
            <a:ext cx="1460779" cy="461068"/>
          </a:xfrm>
          <a:custGeom>
            <a:avLst/>
            <a:gdLst>
              <a:gd name="connsiteX0" fmla="*/ 0 w 1468794"/>
              <a:gd name="connsiteY0" fmla="*/ 466091 h 466091"/>
              <a:gd name="connsiteX1" fmla="*/ 1025611 w 1468794"/>
              <a:gd name="connsiteY1" fmla="*/ 429020 h 466091"/>
              <a:gd name="connsiteX2" fmla="*/ 1433384 w 1468794"/>
              <a:gd name="connsiteY2" fmla="*/ 45961 h 466091"/>
              <a:gd name="connsiteX3" fmla="*/ 1421027 w 1468794"/>
              <a:gd name="connsiteY3" fmla="*/ 21247 h 466091"/>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Lst>
            <a:ahLst/>
            <a:cxnLst>
              <a:cxn ang="0">
                <a:pos x="connsiteX0" y="connsiteY0"/>
              </a:cxn>
              <a:cxn ang="0">
                <a:pos x="connsiteX1" y="connsiteY1"/>
              </a:cxn>
              <a:cxn ang="0">
                <a:pos x="connsiteX2" y="connsiteY2"/>
              </a:cxn>
              <a:cxn ang="0">
                <a:pos x="connsiteX3" y="connsiteY3"/>
              </a:cxn>
            </a:cxnLst>
            <a:rect l="l" t="t" r="r" b="b"/>
            <a:pathLst>
              <a:path w="1460779" h="461068">
                <a:moveTo>
                  <a:pt x="0" y="461068"/>
                </a:moveTo>
                <a:cubicBezTo>
                  <a:pt x="378941" y="419878"/>
                  <a:pt x="947352" y="419878"/>
                  <a:pt x="1136822" y="337499"/>
                </a:cubicBezTo>
                <a:cubicBezTo>
                  <a:pt x="1326292" y="255120"/>
                  <a:pt x="1386017" y="94484"/>
                  <a:pt x="1433384" y="40938"/>
                </a:cubicBezTo>
                <a:cubicBezTo>
                  <a:pt x="1480752" y="-12608"/>
                  <a:pt x="1460157" y="-5400"/>
                  <a:pt x="1421027" y="16224"/>
                </a:cubicBezTo>
              </a:path>
            </a:pathLst>
          </a:custGeom>
          <a:noFill/>
          <a:ln w="31750">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126122" y="3657601"/>
            <a:ext cx="3313279" cy="646331"/>
          </a:xfrm>
          <a:prstGeom prst="rect">
            <a:avLst/>
          </a:prstGeom>
          <a:noFill/>
        </p:spPr>
        <p:txBody>
          <a:bodyPr wrap="none" rtlCol="0">
            <a:spAutoFit/>
          </a:bodyPr>
          <a:lstStyle/>
          <a:p>
            <a:r>
              <a:rPr lang="en-US" dirty="0"/>
              <a:t>OS’ = sign( hash(OS-OS</a:t>
            </a:r>
            <a:r>
              <a:rPr lang="en-US" baseline="-25000" dirty="0"/>
              <a:t>S</a:t>
            </a:r>
            <a:r>
              <a:rPr lang="en-US" dirty="0"/>
              <a:t>), </a:t>
            </a:r>
            <a:r>
              <a:rPr lang="en-US" dirty="0" err="1"/>
              <a:t>K</a:t>
            </a:r>
            <a:r>
              <a:rPr lang="en-US" baseline="-25000" dirty="0" err="1"/>
              <a:t>supplier</a:t>
            </a:r>
            <a:r>
              <a:rPr lang="en-US" dirty="0"/>
              <a:t> )</a:t>
            </a:r>
          </a:p>
          <a:p>
            <a:r>
              <a:rPr lang="en-US" dirty="0"/>
              <a:t>If OS’ == OS</a:t>
            </a:r>
            <a:r>
              <a:rPr lang="en-US" baseline="-25000" dirty="0"/>
              <a:t>S </a:t>
            </a:r>
            <a:r>
              <a:rPr lang="en-US" dirty="0"/>
              <a:t>then load OS</a:t>
            </a:r>
          </a:p>
        </p:txBody>
      </p:sp>
      <p:sp>
        <p:nvSpPr>
          <p:cNvPr id="17" name="TextBox 16"/>
          <p:cNvSpPr txBox="1"/>
          <p:nvPr/>
        </p:nvSpPr>
        <p:spPr>
          <a:xfrm>
            <a:off x="7461124" y="2477870"/>
            <a:ext cx="2816733" cy="646331"/>
          </a:xfrm>
          <a:prstGeom prst="rect">
            <a:avLst/>
          </a:prstGeom>
          <a:noFill/>
        </p:spPr>
        <p:txBody>
          <a:bodyPr wrap="none" rtlCol="0">
            <a:spAutoFit/>
          </a:bodyPr>
          <a:lstStyle/>
          <a:p>
            <a:r>
              <a:rPr lang="en-US" dirty="0"/>
              <a:t>D’ = sign( hash(D-D</a:t>
            </a:r>
            <a:r>
              <a:rPr lang="en-US" baseline="-25000" dirty="0"/>
              <a:t>S</a:t>
            </a:r>
            <a:r>
              <a:rPr lang="en-US" dirty="0"/>
              <a:t>), </a:t>
            </a:r>
            <a:r>
              <a:rPr lang="en-US" dirty="0" err="1"/>
              <a:t>K</a:t>
            </a:r>
            <a:r>
              <a:rPr lang="en-US" baseline="-25000" dirty="0" err="1"/>
              <a:t>user</a:t>
            </a:r>
            <a:r>
              <a:rPr lang="en-US" dirty="0"/>
              <a:t> )</a:t>
            </a:r>
          </a:p>
          <a:p>
            <a:r>
              <a:rPr lang="en-US" dirty="0"/>
              <a:t>If D’ == D</a:t>
            </a:r>
            <a:r>
              <a:rPr lang="en-US" baseline="-25000" dirty="0"/>
              <a:t>S </a:t>
            </a:r>
            <a:r>
              <a:rPr lang="en-US" dirty="0"/>
              <a:t>then load D</a:t>
            </a:r>
          </a:p>
        </p:txBody>
      </p:sp>
      <p:sp>
        <p:nvSpPr>
          <p:cNvPr id="18" name="TextBox 17"/>
          <p:cNvSpPr txBox="1"/>
          <p:nvPr/>
        </p:nvSpPr>
        <p:spPr>
          <a:xfrm>
            <a:off x="4724400" y="1752600"/>
            <a:ext cx="1987788" cy="914400"/>
          </a:xfrm>
          <a:prstGeom prst="rect">
            <a:avLst/>
          </a:prstGeom>
          <a:noFill/>
          <a:ln>
            <a:solidFill>
              <a:schemeClr val="tx1"/>
            </a:solidFill>
          </a:ln>
        </p:spPr>
        <p:txBody>
          <a:bodyPr wrap="none" rtlCol="0">
            <a:noAutofit/>
          </a:bodyPr>
          <a:lstStyle/>
          <a:p>
            <a:r>
              <a:rPr lang="en-US" dirty="0"/>
              <a:t>Apps and personal</a:t>
            </a:r>
          </a:p>
          <a:p>
            <a:r>
              <a:rPr lang="en-US" dirty="0"/>
              <a:t>data (D) </a:t>
            </a:r>
            <a:r>
              <a:rPr lang="en-US" dirty="0">
                <a:solidFill>
                  <a:srgbClr val="FF0000"/>
                </a:solidFill>
              </a:rPr>
              <a:t>encrypted</a:t>
            </a:r>
          </a:p>
        </p:txBody>
      </p:sp>
      <p:sp>
        <p:nvSpPr>
          <p:cNvPr id="19" name="TextBox 18"/>
          <p:cNvSpPr txBox="1"/>
          <p:nvPr/>
        </p:nvSpPr>
        <p:spPr>
          <a:xfrm>
            <a:off x="7443120" y="1792070"/>
            <a:ext cx="2767681" cy="646331"/>
          </a:xfrm>
          <a:prstGeom prst="rect">
            <a:avLst/>
          </a:prstGeom>
          <a:noFill/>
        </p:spPr>
        <p:txBody>
          <a:bodyPr wrap="none" rtlCol="0">
            <a:spAutoFit/>
          </a:bodyPr>
          <a:lstStyle/>
          <a:p>
            <a:r>
              <a:rPr lang="en-US" dirty="0"/>
              <a:t>K</a:t>
            </a:r>
            <a:r>
              <a:rPr lang="en-US" baseline="-25000" dirty="0"/>
              <a:t>AES </a:t>
            </a:r>
            <a:r>
              <a:rPr lang="en-US" dirty="0"/>
              <a:t>= </a:t>
            </a:r>
            <a:r>
              <a:rPr lang="en-US" dirty="0" err="1"/>
              <a:t>genkey</a:t>
            </a:r>
            <a:r>
              <a:rPr lang="en-US" dirty="0"/>
              <a:t>( ID</a:t>
            </a:r>
            <a:r>
              <a:rPr lang="en-US" baseline="-25000" dirty="0"/>
              <a:t>K</a:t>
            </a:r>
            <a:r>
              <a:rPr lang="en-US" dirty="0"/>
              <a:t>, “secret’ )</a:t>
            </a:r>
          </a:p>
          <a:p>
            <a:r>
              <a:rPr lang="en-US" dirty="0"/>
              <a:t>D’ = decrypt( D, </a:t>
            </a:r>
            <a:r>
              <a:rPr lang="en-US" dirty="0" err="1"/>
              <a:t>K</a:t>
            </a:r>
            <a:r>
              <a:rPr lang="en-US" baseline="-25000" dirty="0" err="1"/>
              <a:t>aes</a:t>
            </a:r>
            <a:r>
              <a:rPr lang="en-US" dirty="0"/>
              <a:t> )</a:t>
            </a:r>
          </a:p>
        </p:txBody>
      </p:sp>
      <p:sp>
        <p:nvSpPr>
          <p:cNvPr id="20" name="TextBox 19"/>
          <p:cNvSpPr txBox="1"/>
          <p:nvPr/>
        </p:nvSpPr>
        <p:spPr>
          <a:xfrm>
            <a:off x="8310343" y="2286001"/>
            <a:ext cx="583814" cy="1015663"/>
          </a:xfrm>
          <a:prstGeom prst="rect">
            <a:avLst/>
          </a:prstGeom>
          <a:noFill/>
        </p:spPr>
        <p:txBody>
          <a:bodyPr wrap="none" rtlCol="0">
            <a:spAutoFit/>
          </a:bodyPr>
          <a:lstStyle/>
          <a:p>
            <a:r>
              <a:rPr lang="en-US" sz="6000" dirty="0">
                <a:solidFill>
                  <a:srgbClr val="FF0000"/>
                </a:solidFill>
              </a:rPr>
              <a:t>X</a:t>
            </a:r>
          </a:p>
        </p:txBody>
      </p:sp>
      <p:sp>
        <p:nvSpPr>
          <p:cNvPr id="23" name="Freeform 22"/>
          <p:cNvSpPr/>
          <p:nvPr/>
        </p:nvSpPr>
        <p:spPr>
          <a:xfrm rot="10800000">
            <a:off x="6672946" y="2152637"/>
            <a:ext cx="411989" cy="1138058"/>
          </a:xfrm>
          <a:custGeom>
            <a:avLst/>
            <a:gdLst>
              <a:gd name="connsiteX0" fmla="*/ 0 w 1468794"/>
              <a:gd name="connsiteY0" fmla="*/ 466091 h 466091"/>
              <a:gd name="connsiteX1" fmla="*/ 1025611 w 1468794"/>
              <a:gd name="connsiteY1" fmla="*/ 429020 h 466091"/>
              <a:gd name="connsiteX2" fmla="*/ 1433384 w 1468794"/>
              <a:gd name="connsiteY2" fmla="*/ 45961 h 466091"/>
              <a:gd name="connsiteX3" fmla="*/ 1421027 w 1468794"/>
              <a:gd name="connsiteY3" fmla="*/ 21247 h 466091"/>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 name="connsiteX0" fmla="*/ 259537 w 378953"/>
              <a:gd name="connsiteY0" fmla="*/ 1128333 h 1128333"/>
              <a:gd name="connsiteX1" fmla="*/ 45 w 378953"/>
              <a:gd name="connsiteY1" fmla="*/ 337499 h 1128333"/>
              <a:gd name="connsiteX2" fmla="*/ 296607 w 378953"/>
              <a:gd name="connsiteY2" fmla="*/ 40938 h 1128333"/>
              <a:gd name="connsiteX3" fmla="*/ 284250 w 378953"/>
              <a:gd name="connsiteY3" fmla="*/ 16224 h 1128333"/>
              <a:gd name="connsiteX0" fmla="*/ 278936 w 343401"/>
              <a:gd name="connsiteY0" fmla="*/ 1128333 h 1128333"/>
              <a:gd name="connsiteX1" fmla="*/ 19444 w 343401"/>
              <a:gd name="connsiteY1" fmla="*/ 337499 h 1128333"/>
              <a:gd name="connsiteX2" fmla="*/ 316006 w 343401"/>
              <a:gd name="connsiteY2" fmla="*/ 40938 h 1128333"/>
              <a:gd name="connsiteX3" fmla="*/ 303649 w 343401"/>
              <a:gd name="connsiteY3" fmla="*/ 16224 h 1128333"/>
              <a:gd name="connsiteX0" fmla="*/ 337290 w 407084"/>
              <a:gd name="connsiteY0" fmla="*/ 1138058 h 1138058"/>
              <a:gd name="connsiteX1" fmla="*/ 3657 w 407084"/>
              <a:gd name="connsiteY1" fmla="*/ 507862 h 1138058"/>
              <a:gd name="connsiteX2" fmla="*/ 374360 w 407084"/>
              <a:gd name="connsiteY2" fmla="*/ 50663 h 1138058"/>
              <a:gd name="connsiteX3" fmla="*/ 362003 w 407084"/>
              <a:gd name="connsiteY3" fmla="*/ 25949 h 1138058"/>
              <a:gd name="connsiteX0" fmla="*/ 342195 w 411989"/>
              <a:gd name="connsiteY0" fmla="*/ 1138058 h 1138058"/>
              <a:gd name="connsiteX1" fmla="*/ 8562 w 411989"/>
              <a:gd name="connsiteY1" fmla="*/ 507862 h 1138058"/>
              <a:gd name="connsiteX2" fmla="*/ 379265 w 411989"/>
              <a:gd name="connsiteY2" fmla="*/ 50663 h 1138058"/>
              <a:gd name="connsiteX3" fmla="*/ 366908 w 411989"/>
              <a:gd name="connsiteY3" fmla="*/ 25949 h 1138058"/>
            </a:gdLst>
            <a:ahLst/>
            <a:cxnLst>
              <a:cxn ang="0">
                <a:pos x="connsiteX0" y="connsiteY0"/>
              </a:cxn>
              <a:cxn ang="0">
                <a:pos x="connsiteX1" y="connsiteY1"/>
              </a:cxn>
              <a:cxn ang="0">
                <a:pos x="connsiteX2" y="connsiteY2"/>
              </a:cxn>
              <a:cxn ang="0">
                <a:pos x="connsiteX3" y="connsiteY3"/>
              </a:cxn>
            </a:cxnLst>
            <a:rect l="l" t="t" r="r" b="b"/>
            <a:pathLst>
              <a:path w="411989" h="1138058">
                <a:moveTo>
                  <a:pt x="342195" y="1138058"/>
                </a:moveTo>
                <a:cubicBezTo>
                  <a:pt x="-32627" y="948587"/>
                  <a:pt x="-9973" y="701451"/>
                  <a:pt x="8562" y="507862"/>
                </a:cubicBezTo>
                <a:cubicBezTo>
                  <a:pt x="27097" y="314273"/>
                  <a:pt x="319541" y="130982"/>
                  <a:pt x="379265" y="50663"/>
                </a:cubicBezTo>
                <a:cubicBezTo>
                  <a:pt x="438989" y="-29656"/>
                  <a:pt x="406038" y="4325"/>
                  <a:pt x="366908" y="25949"/>
                </a:cubicBezTo>
              </a:path>
            </a:pathLst>
          </a:custGeom>
          <a:noFill/>
          <a:ln w="31750">
            <a:solidFill>
              <a:schemeClr val="tx1"/>
            </a:solidFill>
            <a:headEnd type="stealth"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724400" y="2895600"/>
            <a:ext cx="1987788" cy="914400"/>
          </a:xfrm>
          <a:prstGeom prst="rect">
            <a:avLst/>
          </a:prstGeom>
          <a:solidFill>
            <a:schemeClr val="bg1"/>
          </a:solidFill>
          <a:ln>
            <a:solidFill>
              <a:schemeClr val="tx1"/>
            </a:solidFill>
          </a:ln>
        </p:spPr>
        <p:txBody>
          <a:bodyPr wrap="none" rtlCol="0">
            <a:noAutofit/>
          </a:bodyPr>
          <a:lstStyle/>
          <a:p>
            <a:r>
              <a:rPr lang="en-US" dirty="0"/>
              <a:t>(OS</a:t>
            </a:r>
            <a:r>
              <a:rPr lang="en-US" baseline="-25000" dirty="0"/>
              <a:t>S</a:t>
            </a:r>
            <a:r>
              <a:rPr lang="en-US" dirty="0"/>
              <a:t>) OS signature</a:t>
            </a:r>
          </a:p>
          <a:p>
            <a:r>
              <a:rPr lang="en-US" dirty="0"/>
              <a:t>(OS) OS</a:t>
            </a:r>
          </a:p>
          <a:p>
            <a:r>
              <a:rPr lang="en-US" dirty="0"/>
              <a:t>Location of data (D)</a:t>
            </a:r>
          </a:p>
        </p:txBody>
      </p:sp>
      <p:sp>
        <p:nvSpPr>
          <p:cNvPr id="25" name="Freeform 22"/>
          <p:cNvSpPr/>
          <p:nvPr/>
        </p:nvSpPr>
        <p:spPr>
          <a:xfrm rot="10800000">
            <a:off x="6672947" y="3429000"/>
            <a:ext cx="411989" cy="1138058"/>
          </a:xfrm>
          <a:custGeom>
            <a:avLst/>
            <a:gdLst>
              <a:gd name="connsiteX0" fmla="*/ 0 w 1468794"/>
              <a:gd name="connsiteY0" fmla="*/ 466091 h 466091"/>
              <a:gd name="connsiteX1" fmla="*/ 1025611 w 1468794"/>
              <a:gd name="connsiteY1" fmla="*/ 429020 h 466091"/>
              <a:gd name="connsiteX2" fmla="*/ 1433384 w 1468794"/>
              <a:gd name="connsiteY2" fmla="*/ 45961 h 466091"/>
              <a:gd name="connsiteX3" fmla="*/ 1421027 w 1468794"/>
              <a:gd name="connsiteY3" fmla="*/ 21247 h 466091"/>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 name="connsiteX0" fmla="*/ 259537 w 378953"/>
              <a:gd name="connsiteY0" fmla="*/ 1128333 h 1128333"/>
              <a:gd name="connsiteX1" fmla="*/ 45 w 378953"/>
              <a:gd name="connsiteY1" fmla="*/ 337499 h 1128333"/>
              <a:gd name="connsiteX2" fmla="*/ 296607 w 378953"/>
              <a:gd name="connsiteY2" fmla="*/ 40938 h 1128333"/>
              <a:gd name="connsiteX3" fmla="*/ 284250 w 378953"/>
              <a:gd name="connsiteY3" fmla="*/ 16224 h 1128333"/>
              <a:gd name="connsiteX0" fmla="*/ 278936 w 343401"/>
              <a:gd name="connsiteY0" fmla="*/ 1128333 h 1128333"/>
              <a:gd name="connsiteX1" fmla="*/ 19444 w 343401"/>
              <a:gd name="connsiteY1" fmla="*/ 337499 h 1128333"/>
              <a:gd name="connsiteX2" fmla="*/ 316006 w 343401"/>
              <a:gd name="connsiteY2" fmla="*/ 40938 h 1128333"/>
              <a:gd name="connsiteX3" fmla="*/ 303649 w 343401"/>
              <a:gd name="connsiteY3" fmla="*/ 16224 h 1128333"/>
              <a:gd name="connsiteX0" fmla="*/ 337290 w 407084"/>
              <a:gd name="connsiteY0" fmla="*/ 1138058 h 1138058"/>
              <a:gd name="connsiteX1" fmla="*/ 3657 w 407084"/>
              <a:gd name="connsiteY1" fmla="*/ 507862 h 1138058"/>
              <a:gd name="connsiteX2" fmla="*/ 374360 w 407084"/>
              <a:gd name="connsiteY2" fmla="*/ 50663 h 1138058"/>
              <a:gd name="connsiteX3" fmla="*/ 362003 w 407084"/>
              <a:gd name="connsiteY3" fmla="*/ 25949 h 1138058"/>
              <a:gd name="connsiteX0" fmla="*/ 342195 w 411989"/>
              <a:gd name="connsiteY0" fmla="*/ 1138058 h 1138058"/>
              <a:gd name="connsiteX1" fmla="*/ 8562 w 411989"/>
              <a:gd name="connsiteY1" fmla="*/ 507862 h 1138058"/>
              <a:gd name="connsiteX2" fmla="*/ 379265 w 411989"/>
              <a:gd name="connsiteY2" fmla="*/ 50663 h 1138058"/>
              <a:gd name="connsiteX3" fmla="*/ 366908 w 411989"/>
              <a:gd name="connsiteY3" fmla="*/ 25949 h 1138058"/>
            </a:gdLst>
            <a:ahLst/>
            <a:cxnLst>
              <a:cxn ang="0">
                <a:pos x="connsiteX0" y="connsiteY0"/>
              </a:cxn>
              <a:cxn ang="0">
                <a:pos x="connsiteX1" y="connsiteY1"/>
              </a:cxn>
              <a:cxn ang="0">
                <a:pos x="connsiteX2" y="connsiteY2"/>
              </a:cxn>
              <a:cxn ang="0">
                <a:pos x="connsiteX3" y="connsiteY3"/>
              </a:cxn>
            </a:cxnLst>
            <a:rect l="l" t="t" r="r" b="b"/>
            <a:pathLst>
              <a:path w="411989" h="1138058">
                <a:moveTo>
                  <a:pt x="342195" y="1138058"/>
                </a:moveTo>
                <a:cubicBezTo>
                  <a:pt x="-32627" y="948587"/>
                  <a:pt x="-9973" y="701451"/>
                  <a:pt x="8562" y="507862"/>
                </a:cubicBezTo>
                <a:cubicBezTo>
                  <a:pt x="27097" y="314273"/>
                  <a:pt x="319541" y="130982"/>
                  <a:pt x="379265" y="50663"/>
                </a:cubicBezTo>
                <a:cubicBezTo>
                  <a:pt x="438989" y="-29656"/>
                  <a:pt x="406038" y="4325"/>
                  <a:pt x="366908" y="25949"/>
                </a:cubicBezTo>
              </a:path>
            </a:pathLst>
          </a:custGeom>
          <a:noFill/>
          <a:ln w="31750">
            <a:solidFill>
              <a:schemeClr val="tx1"/>
            </a:solidFill>
            <a:headEnd type="stealth"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2"/>
          <p:cNvSpPr/>
          <p:nvPr/>
        </p:nvSpPr>
        <p:spPr>
          <a:xfrm rot="10800000">
            <a:off x="6672947" y="4724400"/>
            <a:ext cx="411989" cy="1138058"/>
          </a:xfrm>
          <a:custGeom>
            <a:avLst/>
            <a:gdLst>
              <a:gd name="connsiteX0" fmla="*/ 0 w 1468794"/>
              <a:gd name="connsiteY0" fmla="*/ 466091 h 466091"/>
              <a:gd name="connsiteX1" fmla="*/ 1025611 w 1468794"/>
              <a:gd name="connsiteY1" fmla="*/ 429020 h 466091"/>
              <a:gd name="connsiteX2" fmla="*/ 1433384 w 1468794"/>
              <a:gd name="connsiteY2" fmla="*/ 45961 h 466091"/>
              <a:gd name="connsiteX3" fmla="*/ 1421027 w 1468794"/>
              <a:gd name="connsiteY3" fmla="*/ 21247 h 466091"/>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 name="connsiteX0" fmla="*/ 0 w 1460779"/>
              <a:gd name="connsiteY0" fmla="*/ 461068 h 461068"/>
              <a:gd name="connsiteX1" fmla="*/ 1136822 w 1460779"/>
              <a:gd name="connsiteY1" fmla="*/ 337499 h 461068"/>
              <a:gd name="connsiteX2" fmla="*/ 1433384 w 1460779"/>
              <a:gd name="connsiteY2" fmla="*/ 40938 h 461068"/>
              <a:gd name="connsiteX3" fmla="*/ 1421027 w 1460779"/>
              <a:gd name="connsiteY3" fmla="*/ 16224 h 461068"/>
              <a:gd name="connsiteX0" fmla="*/ 259537 w 378953"/>
              <a:gd name="connsiteY0" fmla="*/ 1128333 h 1128333"/>
              <a:gd name="connsiteX1" fmla="*/ 45 w 378953"/>
              <a:gd name="connsiteY1" fmla="*/ 337499 h 1128333"/>
              <a:gd name="connsiteX2" fmla="*/ 296607 w 378953"/>
              <a:gd name="connsiteY2" fmla="*/ 40938 h 1128333"/>
              <a:gd name="connsiteX3" fmla="*/ 284250 w 378953"/>
              <a:gd name="connsiteY3" fmla="*/ 16224 h 1128333"/>
              <a:gd name="connsiteX0" fmla="*/ 278936 w 343401"/>
              <a:gd name="connsiteY0" fmla="*/ 1128333 h 1128333"/>
              <a:gd name="connsiteX1" fmla="*/ 19444 w 343401"/>
              <a:gd name="connsiteY1" fmla="*/ 337499 h 1128333"/>
              <a:gd name="connsiteX2" fmla="*/ 316006 w 343401"/>
              <a:gd name="connsiteY2" fmla="*/ 40938 h 1128333"/>
              <a:gd name="connsiteX3" fmla="*/ 303649 w 343401"/>
              <a:gd name="connsiteY3" fmla="*/ 16224 h 1128333"/>
              <a:gd name="connsiteX0" fmla="*/ 337290 w 407084"/>
              <a:gd name="connsiteY0" fmla="*/ 1138058 h 1138058"/>
              <a:gd name="connsiteX1" fmla="*/ 3657 w 407084"/>
              <a:gd name="connsiteY1" fmla="*/ 507862 h 1138058"/>
              <a:gd name="connsiteX2" fmla="*/ 374360 w 407084"/>
              <a:gd name="connsiteY2" fmla="*/ 50663 h 1138058"/>
              <a:gd name="connsiteX3" fmla="*/ 362003 w 407084"/>
              <a:gd name="connsiteY3" fmla="*/ 25949 h 1138058"/>
              <a:gd name="connsiteX0" fmla="*/ 342195 w 411989"/>
              <a:gd name="connsiteY0" fmla="*/ 1138058 h 1138058"/>
              <a:gd name="connsiteX1" fmla="*/ 8562 w 411989"/>
              <a:gd name="connsiteY1" fmla="*/ 507862 h 1138058"/>
              <a:gd name="connsiteX2" fmla="*/ 379265 w 411989"/>
              <a:gd name="connsiteY2" fmla="*/ 50663 h 1138058"/>
              <a:gd name="connsiteX3" fmla="*/ 366908 w 411989"/>
              <a:gd name="connsiteY3" fmla="*/ 25949 h 1138058"/>
            </a:gdLst>
            <a:ahLst/>
            <a:cxnLst>
              <a:cxn ang="0">
                <a:pos x="connsiteX0" y="connsiteY0"/>
              </a:cxn>
              <a:cxn ang="0">
                <a:pos x="connsiteX1" y="connsiteY1"/>
              </a:cxn>
              <a:cxn ang="0">
                <a:pos x="connsiteX2" y="connsiteY2"/>
              </a:cxn>
              <a:cxn ang="0">
                <a:pos x="connsiteX3" y="connsiteY3"/>
              </a:cxn>
            </a:cxnLst>
            <a:rect l="l" t="t" r="r" b="b"/>
            <a:pathLst>
              <a:path w="411989" h="1138058">
                <a:moveTo>
                  <a:pt x="342195" y="1138058"/>
                </a:moveTo>
                <a:cubicBezTo>
                  <a:pt x="-32627" y="948587"/>
                  <a:pt x="-9973" y="701451"/>
                  <a:pt x="8562" y="507862"/>
                </a:cubicBezTo>
                <a:cubicBezTo>
                  <a:pt x="27097" y="314273"/>
                  <a:pt x="319541" y="130982"/>
                  <a:pt x="379265" y="50663"/>
                </a:cubicBezTo>
                <a:cubicBezTo>
                  <a:pt x="438989" y="-29656"/>
                  <a:pt x="406038" y="4325"/>
                  <a:pt x="366908" y="25949"/>
                </a:cubicBezTo>
              </a:path>
            </a:pathLst>
          </a:custGeom>
          <a:noFill/>
          <a:ln w="31750">
            <a:solidFill>
              <a:schemeClr val="tx1"/>
            </a:solidFill>
            <a:headEnd type="stealth"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724400" y="4038600"/>
            <a:ext cx="1987788" cy="914400"/>
          </a:xfrm>
          <a:prstGeom prst="rect">
            <a:avLst/>
          </a:prstGeom>
          <a:solidFill>
            <a:schemeClr val="bg1"/>
          </a:solidFill>
          <a:ln>
            <a:solidFill>
              <a:schemeClr val="tx1"/>
            </a:solidFill>
          </a:ln>
        </p:spPr>
        <p:txBody>
          <a:bodyPr wrap="none" rtlCol="0">
            <a:noAutofit/>
          </a:bodyPr>
          <a:lstStyle/>
          <a:p>
            <a:r>
              <a:rPr lang="en-US" dirty="0"/>
              <a:t>(B</a:t>
            </a:r>
            <a:r>
              <a:rPr lang="en-US" baseline="-25000" dirty="0"/>
              <a:t>S</a:t>
            </a:r>
            <a:r>
              <a:rPr lang="en-US" dirty="0"/>
              <a:t>) boot signature</a:t>
            </a:r>
          </a:p>
          <a:p>
            <a:r>
              <a:rPr lang="en-US" dirty="0"/>
              <a:t>(B) Boot code</a:t>
            </a:r>
          </a:p>
          <a:p>
            <a:r>
              <a:rPr lang="en-US" dirty="0"/>
              <a:t>Location of OS (OS)</a:t>
            </a:r>
          </a:p>
        </p:txBody>
      </p:sp>
      <p:sp>
        <p:nvSpPr>
          <p:cNvPr id="9" name="TextBox 8"/>
          <p:cNvSpPr txBox="1"/>
          <p:nvPr/>
        </p:nvSpPr>
        <p:spPr>
          <a:xfrm>
            <a:off x="4724400" y="5181600"/>
            <a:ext cx="1987788" cy="914400"/>
          </a:xfrm>
          <a:prstGeom prst="rect">
            <a:avLst/>
          </a:prstGeom>
          <a:solidFill>
            <a:schemeClr val="bg1"/>
          </a:solidFill>
          <a:ln>
            <a:solidFill>
              <a:schemeClr val="tx1"/>
            </a:solidFill>
          </a:ln>
        </p:spPr>
        <p:txBody>
          <a:bodyPr wrap="none" rtlCol="0">
            <a:noAutofit/>
          </a:bodyPr>
          <a:lstStyle/>
          <a:p>
            <a:r>
              <a:rPr lang="en-US" dirty="0"/>
              <a:t>Firmware</a:t>
            </a:r>
          </a:p>
          <a:p>
            <a:r>
              <a:rPr lang="en-US" dirty="0"/>
              <a:t>Location of boot (B)</a:t>
            </a:r>
          </a:p>
        </p:txBody>
      </p:sp>
    </p:spTree>
    <p:extLst>
      <p:ext uri="{BB962C8B-B14F-4D97-AF65-F5344CB8AC3E}">
        <p14:creationId xmlns:p14="http://schemas.microsoft.com/office/powerpoint/2010/main" val="3734502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00"/>
                </a:solidFill>
                <a:ea typeface="DejaVu Sans" charset="0"/>
                <a:cs typeface="DejaVu Sans" charset="0"/>
              </a:rPr>
              <a:t>Crypto Instructions</a:t>
            </a:r>
            <a:endParaRPr lang="en-US" dirty="0"/>
          </a:p>
        </p:txBody>
      </p:sp>
      <p:sp>
        <p:nvSpPr>
          <p:cNvPr id="3" name="Content Placeholder 2"/>
          <p:cNvSpPr>
            <a:spLocks noGrp="1"/>
          </p:cNvSpPr>
          <p:nvPr>
            <p:ph idx="1"/>
          </p:nvPr>
        </p:nvSpPr>
        <p:spPr/>
        <p:txBody>
          <a:bodyPr/>
          <a:lstStyle/>
          <a:p>
            <a:r>
              <a:rPr lang="en-US" dirty="0"/>
              <a:t>2009 Intel added AES</a:t>
            </a:r>
          </a:p>
          <a:p>
            <a:r>
              <a:rPr lang="en-US" dirty="0"/>
              <a:t>Good</a:t>
            </a:r>
          </a:p>
          <a:p>
            <a:pPr lvl="1"/>
            <a:r>
              <a:rPr lang="en-US" dirty="0"/>
              <a:t>Many applications:  IP-Sec, SSL, Full disk encrypt</a:t>
            </a:r>
          </a:p>
          <a:p>
            <a:pPr lvl="1"/>
            <a:r>
              <a:rPr lang="en-US" dirty="0"/>
              <a:t>10X faster</a:t>
            </a:r>
          </a:p>
          <a:p>
            <a:pPr lvl="1"/>
            <a:r>
              <a:rPr lang="en-US" dirty="0"/>
              <a:t>Widely deployed: BSAFE, </a:t>
            </a:r>
            <a:r>
              <a:rPr lang="en-US" dirty="0" err="1"/>
              <a:t>OpenSSL</a:t>
            </a:r>
            <a:endParaRPr lang="en-US" dirty="0"/>
          </a:p>
          <a:p>
            <a:r>
              <a:rPr lang="en-US" dirty="0"/>
              <a:t>Bad</a:t>
            </a:r>
          </a:p>
          <a:p>
            <a:pPr lvl="1"/>
            <a:r>
              <a:rPr lang="en-US" dirty="0"/>
              <a:t>Import controlled (Russia</a:t>
            </a:r>
            <a:r>
              <a:rPr lang="en-US"/>
              <a:t>, China)</a:t>
            </a:r>
            <a:endParaRPr lang="en-US" dirty="0"/>
          </a:p>
        </p:txBody>
      </p:sp>
    </p:spTree>
    <p:extLst>
      <p:ext uri="{BB962C8B-B14F-4D97-AF65-F5344CB8AC3E}">
        <p14:creationId xmlns:p14="http://schemas.microsoft.com/office/powerpoint/2010/main" val="1409701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8D47-DF9B-4ABB-A05B-57C0F2B7E9A3}"/>
              </a:ext>
            </a:extLst>
          </p:cNvPr>
          <p:cNvSpPr>
            <a:spLocks noGrp="1"/>
          </p:cNvSpPr>
          <p:nvPr>
            <p:ph type="title"/>
          </p:nvPr>
        </p:nvSpPr>
        <p:spPr/>
        <p:txBody>
          <a:bodyPr/>
          <a:lstStyle/>
          <a:p>
            <a:endParaRPr lang="en-US"/>
          </a:p>
        </p:txBody>
      </p:sp>
      <p:graphicFrame>
        <p:nvGraphicFramePr>
          <p:cNvPr id="8" name="Table 8">
            <a:extLst>
              <a:ext uri="{FF2B5EF4-FFF2-40B4-BE49-F238E27FC236}">
                <a16:creationId xmlns:a16="http://schemas.microsoft.com/office/drawing/2014/main" id="{7D5400E6-BCF1-4E09-8660-F5E2E9D2DFC3}"/>
              </a:ext>
            </a:extLst>
          </p:cNvPr>
          <p:cNvGraphicFramePr>
            <a:graphicFrameLocks noGrp="1"/>
          </p:cNvGraphicFramePr>
          <p:nvPr>
            <p:ph idx="1"/>
            <p:extLst>
              <p:ext uri="{D42A27DB-BD31-4B8C-83A1-F6EECF244321}">
                <p14:modId xmlns:p14="http://schemas.microsoft.com/office/powerpoint/2010/main" val="4071338090"/>
              </p:ext>
            </p:extLst>
          </p:nvPr>
        </p:nvGraphicFramePr>
        <p:xfrm>
          <a:off x="381000" y="274638"/>
          <a:ext cx="11506200" cy="6308723"/>
        </p:xfrm>
        <a:graphic>
          <a:graphicData uri="http://schemas.openxmlformats.org/drawingml/2006/table">
            <a:tbl>
              <a:tblPr firstRow="1" bandRow="1">
                <a:tableStyleId>{5C22544A-7EE6-4342-B048-85BDC9FD1C3A}</a:tableStyleId>
              </a:tblPr>
              <a:tblGrid>
                <a:gridCol w="1497382">
                  <a:extLst>
                    <a:ext uri="{9D8B030D-6E8A-4147-A177-3AD203B41FA5}">
                      <a16:colId xmlns:a16="http://schemas.microsoft.com/office/drawing/2014/main" val="86828330"/>
                    </a:ext>
                  </a:extLst>
                </a:gridCol>
                <a:gridCol w="4176908">
                  <a:extLst>
                    <a:ext uri="{9D8B030D-6E8A-4147-A177-3AD203B41FA5}">
                      <a16:colId xmlns:a16="http://schemas.microsoft.com/office/drawing/2014/main" val="3519612855"/>
                    </a:ext>
                  </a:extLst>
                </a:gridCol>
                <a:gridCol w="3467622">
                  <a:extLst>
                    <a:ext uri="{9D8B030D-6E8A-4147-A177-3AD203B41FA5}">
                      <a16:colId xmlns:a16="http://schemas.microsoft.com/office/drawing/2014/main" val="1504587418"/>
                    </a:ext>
                  </a:extLst>
                </a:gridCol>
                <a:gridCol w="2364288">
                  <a:extLst>
                    <a:ext uri="{9D8B030D-6E8A-4147-A177-3AD203B41FA5}">
                      <a16:colId xmlns:a16="http://schemas.microsoft.com/office/drawing/2014/main" val="4225482453"/>
                    </a:ext>
                  </a:extLst>
                </a:gridCol>
              </a:tblGrid>
              <a:tr h="490252">
                <a:tc>
                  <a:txBody>
                    <a:bodyPr/>
                    <a:lstStyle/>
                    <a:p>
                      <a:r>
                        <a:rPr lang="en-US" sz="1200" dirty="0"/>
                        <a:t>ITA Committee Priority</a:t>
                      </a:r>
                    </a:p>
                  </a:txBody>
                  <a:tcPr/>
                </a:tc>
                <a:tc>
                  <a:txBody>
                    <a:bodyPr/>
                    <a:lstStyle/>
                    <a:p>
                      <a:r>
                        <a:rPr lang="en-US" sz="1200" dirty="0"/>
                        <a:t>Technology</a:t>
                      </a:r>
                    </a:p>
                  </a:txBody>
                  <a:tcPr/>
                </a:tc>
                <a:tc>
                  <a:txBody>
                    <a:bodyPr/>
                    <a:lstStyle/>
                    <a:p>
                      <a:r>
                        <a:rPr lang="en-US" sz="1200" dirty="0"/>
                        <a:t>Hard Problem</a:t>
                      </a:r>
                    </a:p>
                  </a:txBody>
                  <a:tcPr/>
                </a:tc>
                <a:tc>
                  <a:txBody>
                    <a:bodyPr/>
                    <a:lstStyle/>
                    <a:p>
                      <a:r>
                        <a:rPr lang="en-US" sz="1200" dirty="0"/>
                        <a:t>Solution themes</a:t>
                      </a:r>
                    </a:p>
                  </a:txBody>
                  <a:tcPr/>
                </a:tc>
                <a:extLst>
                  <a:ext uri="{0D108BD9-81ED-4DB2-BD59-A6C34878D82A}">
                    <a16:rowId xmlns:a16="http://schemas.microsoft.com/office/drawing/2014/main" val="763408353"/>
                  </a:ext>
                </a:extLst>
              </a:tr>
              <a:tr h="686353">
                <a:tc>
                  <a:txBody>
                    <a:bodyPr/>
                    <a:lstStyle/>
                    <a:p>
                      <a:r>
                        <a:rPr lang="en-US" sz="1200" b="1" dirty="0"/>
                        <a:t>Authentication</a:t>
                      </a:r>
                    </a:p>
                  </a:txBody>
                  <a:tcPr/>
                </a:tc>
                <a:tc>
                  <a:txBody>
                    <a:bodyPr/>
                    <a:lstStyle/>
                    <a:p>
                      <a:r>
                        <a:rPr lang="en-US" sz="1200" b="1" dirty="0"/>
                        <a:t>Authentication, authorization, trust management, access control, and privilege management </a:t>
                      </a:r>
                    </a:p>
                  </a:txBody>
                  <a:tcPr/>
                </a:tc>
                <a:tc>
                  <a:txBody>
                    <a:bodyPr/>
                    <a:lstStyle/>
                    <a:p>
                      <a:r>
                        <a:rPr lang="en-US" sz="1200" b="1" dirty="0"/>
                        <a:t>Scalable trustworthy systems (including system architecture and the requisite development methodology)</a:t>
                      </a:r>
                    </a:p>
                  </a:txBody>
                  <a:tcPr/>
                </a:tc>
                <a:tc>
                  <a:txBody>
                    <a:bodyPr/>
                    <a:lstStyle/>
                    <a:p>
                      <a:r>
                        <a:rPr lang="en-US" sz="1200" b="1" dirty="0"/>
                        <a:t>Hardware-enabled trust (knowing when you’ve been had)</a:t>
                      </a:r>
                    </a:p>
                  </a:txBody>
                  <a:tcPr/>
                </a:tc>
                <a:extLst>
                  <a:ext uri="{0D108BD9-81ED-4DB2-BD59-A6C34878D82A}">
                    <a16:rowId xmlns:a16="http://schemas.microsoft.com/office/drawing/2014/main" val="2565046262"/>
                  </a:ext>
                </a:extLst>
              </a:tr>
              <a:tr h="490252">
                <a:tc>
                  <a:txBody>
                    <a:bodyPr/>
                    <a:lstStyle/>
                    <a:p>
                      <a:r>
                        <a:rPr lang="en-US" sz="1200" b="1" dirty="0"/>
                        <a:t>Secure software engineering</a:t>
                      </a:r>
                    </a:p>
                  </a:txBody>
                  <a:tcPr/>
                </a:tc>
                <a:tc>
                  <a:txBody>
                    <a:bodyPr/>
                    <a:lstStyle/>
                    <a:p>
                      <a:r>
                        <a:rPr lang="en-US" sz="1200" b="1" dirty="0"/>
                        <a:t>Large-scale cyber situational awareness; automated attack detection, warning, and response </a:t>
                      </a:r>
                    </a:p>
                  </a:txBody>
                  <a:tcPr/>
                </a:tc>
                <a:tc>
                  <a:txBody>
                    <a:bodyPr/>
                    <a:lstStyle/>
                    <a:p>
                      <a:r>
                        <a:rPr lang="en-US" sz="1200" b="1" dirty="0"/>
                        <a:t>Enterprise-level security metrics (measures of overall system trustworthiness)</a:t>
                      </a:r>
                    </a:p>
                  </a:txBody>
                  <a:tcPr/>
                </a:tc>
                <a:tc>
                  <a:txBody>
                    <a:bodyPr/>
                    <a:lstStyle/>
                    <a:p>
                      <a:endParaRPr lang="en-US" sz="1200" b="1" dirty="0"/>
                    </a:p>
                  </a:txBody>
                  <a:tcPr/>
                </a:tc>
                <a:extLst>
                  <a:ext uri="{0D108BD9-81ED-4DB2-BD59-A6C34878D82A}">
                    <a16:rowId xmlns:a16="http://schemas.microsoft.com/office/drawing/2014/main" val="1574830342"/>
                  </a:ext>
                </a:extLst>
              </a:tr>
              <a:tr h="490252">
                <a:tc>
                  <a:txBody>
                    <a:bodyPr/>
                    <a:lstStyle/>
                    <a:p>
                      <a:r>
                        <a:rPr lang="en-US" sz="1200" b="1" dirty="0"/>
                        <a:t>Holistic system security </a:t>
                      </a:r>
                    </a:p>
                  </a:txBody>
                  <a:tcPr/>
                </a:tc>
                <a:tc>
                  <a:txBody>
                    <a:bodyPr/>
                    <a:lstStyle/>
                    <a:p>
                      <a:r>
                        <a:rPr lang="en-US" sz="1200" b="1" dirty="0"/>
                        <a:t>Insider threat detection, mitigation, forensics, traceback, and attribution </a:t>
                      </a:r>
                    </a:p>
                  </a:txBody>
                  <a:tcPr/>
                </a:tc>
                <a:tc>
                  <a:txBody>
                    <a:bodyPr/>
                    <a:lstStyle/>
                    <a:p>
                      <a:r>
                        <a:rPr lang="en-US" sz="1200" b="1" dirty="0"/>
                        <a:t>System evaluation life cycle (including approaches for sufficient assurance) </a:t>
                      </a:r>
                    </a:p>
                  </a:txBody>
                  <a:tcPr/>
                </a:tc>
                <a:tc>
                  <a:txBody>
                    <a:bodyPr/>
                    <a:lstStyle/>
                    <a:p>
                      <a:r>
                        <a:rPr lang="en-US" sz="1200" b="1" dirty="0" err="1"/>
                        <a:t>Cybereconomics</a:t>
                      </a:r>
                      <a:r>
                        <a:rPr lang="en-US" sz="1200" b="1" dirty="0"/>
                        <a:t> (crime and fraud don’t pay)</a:t>
                      </a:r>
                    </a:p>
                  </a:txBody>
                  <a:tcPr/>
                </a:tc>
                <a:extLst>
                  <a:ext uri="{0D108BD9-81ED-4DB2-BD59-A6C34878D82A}">
                    <a16:rowId xmlns:a16="http://schemas.microsoft.com/office/drawing/2014/main" val="3183393755"/>
                  </a:ext>
                </a:extLst>
              </a:tr>
              <a:tr h="490252">
                <a:tc>
                  <a:txBody>
                    <a:bodyPr/>
                    <a:lstStyle/>
                    <a:p>
                      <a:r>
                        <a:rPr lang="en-US" sz="1200" b="1" dirty="0"/>
                        <a:t>Monitoring and detection </a:t>
                      </a:r>
                    </a:p>
                  </a:txBody>
                  <a:tcPr/>
                </a:tc>
                <a:tc>
                  <a:txBody>
                    <a:bodyPr/>
                    <a:lstStyle/>
                    <a:p>
                      <a:r>
                        <a:rPr lang="en-US" sz="1200" b="1" dirty="0"/>
                        <a:t>Secure Domain Name System and routing, and protocols and process control systems</a:t>
                      </a:r>
                    </a:p>
                  </a:txBody>
                  <a:tcPr/>
                </a:tc>
                <a:tc>
                  <a:txBody>
                    <a:bodyPr/>
                    <a:lstStyle/>
                    <a:p>
                      <a:r>
                        <a:rPr lang="en-US" sz="1200" b="1" dirty="0"/>
                        <a:t>Combating insider threats</a:t>
                      </a:r>
                    </a:p>
                  </a:txBody>
                  <a:tcPr/>
                </a:tc>
                <a:tc>
                  <a:txBody>
                    <a:bodyPr/>
                    <a:lstStyle/>
                    <a:p>
                      <a:endParaRPr lang="en-US" sz="1200" b="1" dirty="0"/>
                    </a:p>
                  </a:txBody>
                  <a:tcPr/>
                </a:tc>
                <a:extLst>
                  <a:ext uri="{0D108BD9-81ED-4DB2-BD59-A6C34878D82A}">
                    <a16:rowId xmlns:a16="http://schemas.microsoft.com/office/drawing/2014/main" val="3842966448"/>
                  </a:ext>
                </a:extLst>
              </a:tr>
              <a:tr h="490252">
                <a:tc>
                  <a:txBody>
                    <a:bodyPr/>
                    <a:lstStyle/>
                    <a:p>
                      <a:r>
                        <a:rPr lang="en-US" sz="1200" b="1" dirty="0"/>
                        <a:t>Secure fundamental protocols </a:t>
                      </a:r>
                    </a:p>
                  </a:txBody>
                  <a:tcPr/>
                </a:tc>
                <a:tc>
                  <a:txBody>
                    <a:bodyPr/>
                    <a:lstStyle/>
                    <a:p>
                      <a:r>
                        <a:rPr lang="en-US" sz="1200" b="1" dirty="0"/>
                        <a:t>Domain-specific security (for example, wireless and RFID)</a:t>
                      </a:r>
                    </a:p>
                  </a:txBody>
                  <a:tcPr/>
                </a:tc>
                <a:tc>
                  <a:txBody>
                    <a:bodyPr/>
                    <a:lstStyle/>
                    <a:p>
                      <a:r>
                        <a:rPr lang="en-US" sz="1200" b="1" dirty="0"/>
                        <a:t>Combating malware and botnets</a:t>
                      </a:r>
                    </a:p>
                  </a:txBody>
                  <a:tcPr/>
                </a:tc>
                <a:tc>
                  <a:txBody>
                    <a:bodyPr/>
                    <a:lstStyle/>
                    <a:p>
                      <a:r>
                        <a:rPr lang="en-US" sz="1200" b="1" dirty="0"/>
                        <a:t>Moving-target defense (attacks work once if at all)</a:t>
                      </a:r>
                    </a:p>
                  </a:txBody>
                  <a:tcPr/>
                </a:tc>
                <a:extLst>
                  <a:ext uri="{0D108BD9-81ED-4DB2-BD59-A6C34878D82A}">
                    <a16:rowId xmlns:a16="http://schemas.microsoft.com/office/drawing/2014/main" val="1225686831"/>
                  </a:ext>
                </a:extLst>
              </a:tr>
              <a:tr h="490252">
                <a:tc>
                  <a:txBody>
                    <a:bodyPr/>
                    <a:lstStyle/>
                    <a:p>
                      <a:r>
                        <a:rPr lang="en-US" sz="1200" b="1" dirty="0"/>
                        <a:t>Mitigation and recovery</a:t>
                      </a:r>
                    </a:p>
                  </a:txBody>
                  <a:tcPr/>
                </a:tc>
                <a:tc>
                  <a:txBody>
                    <a:bodyPr/>
                    <a:lstStyle/>
                    <a:p>
                      <a:r>
                        <a:rPr lang="en-US" sz="1200" b="1" dirty="0"/>
                        <a:t>Detection of vulnerabilities and malicious code; metrics and software testing and assessment </a:t>
                      </a:r>
                    </a:p>
                  </a:txBody>
                  <a:tcPr/>
                </a:tc>
                <a:tc>
                  <a:txBody>
                    <a:bodyPr/>
                    <a:lstStyle/>
                    <a:p>
                      <a:r>
                        <a:rPr lang="en-US" sz="1200" b="1" dirty="0"/>
                        <a:t>Global-scale identity management </a:t>
                      </a:r>
                    </a:p>
                  </a:txBody>
                  <a:tcPr/>
                </a:tc>
                <a:tc>
                  <a:txBody>
                    <a:bodyPr/>
                    <a:lstStyle/>
                    <a:p>
                      <a:endParaRPr lang="en-US" sz="1200" b="1" dirty="0"/>
                    </a:p>
                  </a:txBody>
                  <a:tcPr/>
                </a:tc>
                <a:extLst>
                  <a:ext uri="{0D108BD9-81ED-4DB2-BD59-A6C34878D82A}">
                    <a16:rowId xmlns:a16="http://schemas.microsoft.com/office/drawing/2014/main" val="1848395718"/>
                  </a:ext>
                </a:extLst>
              </a:tr>
              <a:tr h="490252">
                <a:tc>
                  <a:txBody>
                    <a:bodyPr/>
                    <a:lstStyle/>
                    <a:p>
                      <a:r>
                        <a:rPr lang="en-US" sz="1200" b="1" dirty="0" err="1"/>
                        <a:t>Cyberforensics</a:t>
                      </a:r>
                      <a:endParaRPr lang="en-US" sz="1200" b="1" dirty="0"/>
                    </a:p>
                  </a:txBody>
                  <a:tcPr/>
                </a:tc>
                <a:tc>
                  <a:txBody>
                    <a:bodyPr/>
                    <a:lstStyle/>
                    <a:p>
                      <a:r>
                        <a:rPr lang="en-US" sz="1200" b="1" dirty="0"/>
                        <a:t>Secure OSs, software engineering, and information provenance</a:t>
                      </a:r>
                    </a:p>
                  </a:txBody>
                  <a:tcPr/>
                </a:tc>
                <a:tc>
                  <a:txBody>
                    <a:bodyPr/>
                    <a:lstStyle/>
                    <a:p>
                      <a:r>
                        <a:rPr lang="en-US" sz="1200" b="1" dirty="0"/>
                        <a:t>Survivability of time-critical systems </a:t>
                      </a:r>
                    </a:p>
                  </a:txBody>
                  <a:tcPr/>
                </a:tc>
                <a:tc>
                  <a:txBody>
                    <a:bodyPr/>
                    <a:lstStyle/>
                    <a:p>
                      <a:r>
                        <a:rPr lang="en-US" sz="1200" b="1" dirty="0"/>
                        <a:t>Digital provenance (basing trust decisions on verified assertions)</a:t>
                      </a:r>
                    </a:p>
                  </a:txBody>
                  <a:tcPr/>
                </a:tc>
                <a:extLst>
                  <a:ext uri="{0D108BD9-81ED-4DB2-BD59-A6C34878D82A}">
                    <a16:rowId xmlns:a16="http://schemas.microsoft.com/office/drawing/2014/main" val="4108172856"/>
                  </a:ext>
                </a:extLst>
              </a:tr>
              <a:tr h="490252">
                <a:tc>
                  <a:txBody>
                    <a:bodyPr/>
                    <a:lstStyle/>
                    <a:p>
                      <a:r>
                        <a:rPr lang="en-US" sz="1200" b="1" dirty="0"/>
                        <a:t>Modeling and testbeds</a:t>
                      </a:r>
                    </a:p>
                  </a:txBody>
                  <a:tcPr/>
                </a:tc>
                <a:tc>
                  <a:txBody>
                    <a:bodyPr/>
                    <a:lstStyle/>
                    <a:p>
                      <a:r>
                        <a:rPr lang="en-US" sz="1200" b="1" dirty="0"/>
                        <a:t>Cybersecurity, information assurance R&amp;D testbeds, IT systems, Internet modeling, simulation, and visualization </a:t>
                      </a:r>
                    </a:p>
                  </a:txBody>
                  <a:tcPr/>
                </a:tc>
                <a:tc>
                  <a:txBody>
                    <a:bodyPr/>
                    <a:lstStyle/>
                    <a:p>
                      <a:r>
                        <a:rPr lang="en-US" sz="1200" b="1" dirty="0"/>
                        <a:t>Situational understanding and attack attribution </a:t>
                      </a:r>
                    </a:p>
                  </a:txBody>
                  <a:tcPr/>
                </a:tc>
                <a:tc>
                  <a:txBody>
                    <a:bodyPr/>
                    <a:lstStyle/>
                    <a:p>
                      <a:endParaRPr lang="en-US" sz="1200" b="1" dirty="0"/>
                    </a:p>
                  </a:txBody>
                  <a:tcPr/>
                </a:tc>
                <a:extLst>
                  <a:ext uri="{0D108BD9-81ED-4DB2-BD59-A6C34878D82A}">
                    <a16:rowId xmlns:a16="http://schemas.microsoft.com/office/drawing/2014/main" val="1584663419"/>
                  </a:ext>
                </a:extLst>
              </a:tr>
              <a:tr h="686353">
                <a:tc>
                  <a:txBody>
                    <a:bodyPr/>
                    <a:lstStyle/>
                    <a:p>
                      <a:r>
                        <a:rPr lang="en-US" sz="1200" b="1" dirty="0"/>
                        <a:t>Metrics, benchmarks, and best practices </a:t>
                      </a:r>
                    </a:p>
                  </a:txBody>
                  <a:tcPr/>
                </a:tc>
                <a:tc>
                  <a:txBody>
                    <a:bodyPr/>
                    <a:lstStyle/>
                    <a:p>
                      <a:r>
                        <a:rPr lang="en-US" sz="1200" b="1" dirty="0"/>
                        <a:t>Trusted computing base architectures and composable, scalable, and secure systems </a:t>
                      </a:r>
                    </a:p>
                  </a:txBody>
                  <a:tcPr/>
                </a:tc>
                <a:tc>
                  <a:txBody>
                    <a:bodyPr/>
                    <a:lstStyle/>
                    <a:p>
                      <a:r>
                        <a:rPr lang="en-US" sz="1200" b="1" dirty="0"/>
                        <a:t>Provenance (relating to information, systems, and hardware)</a:t>
                      </a:r>
                    </a:p>
                  </a:txBody>
                  <a:tcPr/>
                </a:tc>
                <a:tc>
                  <a:txBody>
                    <a:bodyPr/>
                    <a:lstStyle/>
                    <a:p>
                      <a:r>
                        <a:rPr lang="en-US" sz="1200" b="1" dirty="0"/>
                        <a:t>Nature-inspired cyberhealth (moving from forensics to real-time diagnosis)</a:t>
                      </a:r>
                    </a:p>
                  </a:txBody>
                  <a:tcPr/>
                </a:tc>
                <a:extLst>
                  <a:ext uri="{0D108BD9-81ED-4DB2-BD59-A6C34878D82A}">
                    <a16:rowId xmlns:a16="http://schemas.microsoft.com/office/drawing/2014/main" val="3587795815"/>
                  </a:ext>
                </a:extLst>
              </a:tr>
              <a:tr h="532166">
                <a:tc>
                  <a:txBody>
                    <a:bodyPr/>
                    <a:lstStyle/>
                    <a:p>
                      <a:r>
                        <a:rPr lang="en-US" sz="1200" b="1" dirty="0"/>
                        <a:t>Nontechnology issues</a:t>
                      </a:r>
                    </a:p>
                  </a:txBody>
                  <a:tcPr/>
                </a:tc>
                <a:tc>
                  <a:txBody>
                    <a:bodyPr/>
                    <a:lstStyle/>
                    <a:p>
                      <a:r>
                        <a:rPr lang="en-US" sz="1200" b="1" dirty="0"/>
                        <a:t>Inherently secure, high-assurance, and provably secure systems and architectures </a:t>
                      </a:r>
                    </a:p>
                  </a:txBody>
                  <a:tcPr/>
                </a:tc>
                <a:tc>
                  <a:txBody>
                    <a:bodyPr/>
                    <a:lstStyle/>
                    <a:p>
                      <a:r>
                        <a:rPr lang="en-US" sz="1200" b="1" dirty="0"/>
                        <a:t>Privacy-aware security</a:t>
                      </a:r>
                    </a:p>
                  </a:txBody>
                  <a:tcPr/>
                </a:tc>
                <a:tc>
                  <a:txBody>
                    <a:bodyPr/>
                    <a:lstStyle/>
                    <a:p>
                      <a:endParaRPr lang="en-US" sz="1200" b="1" dirty="0"/>
                    </a:p>
                  </a:txBody>
                  <a:tcPr/>
                </a:tc>
                <a:extLst>
                  <a:ext uri="{0D108BD9-81ED-4DB2-BD59-A6C34878D82A}">
                    <a16:rowId xmlns:a16="http://schemas.microsoft.com/office/drawing/2014/main" val="1241833806"/>
                  </a:ext>
                </a:extLst>
              </a:tr>
              <a:tr h="481835">
                <a:tc>
                  <a:txBody>
                    <a:bodyPr/>
                    <a:lstStyle/>
                    <a:p>
                      <a:endParaRPr lang="en-US" sz="1200" b="1" dirty="0"/>
                    </a:p>
                  </a:txBody>
                  <a:tcPr/>
                </a:tc>
                <a:tc>
                  <a:txBody>
                    <a:bodyPr/>
                    <a:lstStyle/>
                    <a:p>
                      <a:r>
                        <a:rPr lang="en-US" sz="1200" b="1" dirty="0"/>
                        <a:t>Trust in the Internet and privacy</a:t>
                      </a:r>
                    </a:p>
                  </a:txBody>
                  <a:tcPr/>
                </a:tc>
                <a:tc>
                  <a:txBody>
                    <a:bodyPr/>
                    <a:lstStyle/>
                    <a:p>
                      <a:r>
                        <a:rPr lang="en-US" sz="1200" b="1" dirty="0"/>
                        <a:t>Usable security </a:t>
                      </a:r>
                    </a:p>
                  </a:txBody>
                  <a:tcPr/>
                </a:tc>
                <a:tc>
                  <a:txBody>
                    <a:bodyPr/>
                    <a:lstStyle/>
                    <a:p>
                      <a:endParaRPr lang="en-US" sz="1200" b="1" dirty="0"/>
                    </a:p>
                  </a:txBody>
                  <a:tcPr/>
                </a:tc>
                <a:extLst>
                  <a:ext uri="{0D108BD9-81ED-4DB2-BD59-A6C34878D82A}">
                    <a16:rowId xmlns:a16="http://schemas.microsoft.com/office/drawing/2014/main" val="3876620879"/>
                  </a:ext>
                </a:extLst>
              </a:tr>
            </a:tbl>
          </a:graphicData>
        </a:graphic>
      </p:graphicFrame>
    </p:spTree>
    <p:extLst>
      <p:ext uri="{BB962C8B-B14F-4D97-AF65-F5344CB8AC3E}">
        <p14:creationId xmlns:p14="http://schemas.microsoft.com/office/powerpoint/2010/main" val="1608255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B718D-590E-4040-A887-C709E2B47B71}"/>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88283D9E-AEB9-4BE0-88AB-448950909646}"/>
              </a:ext>
            </a:extLst>
          </p:cNvPr>
          <p:cNvGraphicFramePr>
            <a:graphicFrameLocks noGrp="1"/>
          </p:cNvGraphicFramePr>
          <p:nvPr>
            <p:ph idx="1"/>
            <p:extLst>
              <p:ext uri="{D42A27DB-BD31-4B8C-83A1-F6EECF244321}">
                <p14:modId xmlns:p14="http://schemas.microsoft.com/office/powerpoint/2010/main" val="386617455"/>
              </p:ext>
            </p:extLst>
          </p:nvPr>
        </p:nvGraphicFramePr>
        <p:xfrm>
          <a:off x="381000" y="238442"/>
          <a:ext cx="10972800" cy="63449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152619638"/>
                    </a:ext>
                  </a:extLst>
                </a:gridCol>
                <a:gridCol w="8458200">
                  <a:extLst>
                    <a:ext uri="{9D8B030D-6E8A-4147-A177-3AD203B41FA5}">
                      <a16:colId xmlns:a16="http://schemas.microsoft.com/office/drawing/2014/main" val="2601549601"/>
                    </a:ext>
                  </a:extLst>
                </a:gridCol>
                <a:gridCol w="1295400">
                  <a:extLst>
                    <a:ext uri="{9D8B030D-6E8A-4147-A177-3AD203B41FA5}">
                      <a16:colId xmlns:a16="http://schemas.microsoft.com/office/drawing/2014/main" val="855869953"/>
                    </a:ext>
                  </a:extLst>
                </a:gridCol>
              </a:tblGrid>
              <a:tr h="370840">
                <a:tc>
                  <a:txBody>
                    <a:bodyPr/>
                    <a:lstStyle/>
                    <a:p>
                      <a:r>
                        <a:rPr lang="en-US" sz="1400" dirty="0"/>
                        <a:t>Body system</a:t>
                      </a:r>
                    </a:p>
                  </a:txBody>
                  <a:tcPr/>
                </a:tc>
                <a:tc>
                  <a:txBody>
                    <a:bodyPr/>
                    <a:lstStyle/>
                    <a:p>
                      <a:r>
                        <a:rPr lang="en-US" sz="1400" dirty="0"/>
                        <a:t>Immune functions</a:t>
                      </a:r>
                    </a:p>
                  </a:txBody>
                  <a:tcPr/>
                </a:tc>
                <a:tc>
                  <a:txBody>
                    <a:bodyPr/>
                    <a:lstStyle/>
                    <a:p>
                      <a:r>
                        <a:rPr lang="en-US" sz="1400" dirty="0"/>
                        <a:t>Cyber</a:t>
                      </a:r>
                    </a:p>
                  </a:txBody>
                  <a:tcPr/>
                </a:tc>
                <a:extLst>
                  <a:ext uri="{0D108BD9-81ED-4DB2-BD59-A6C34878D82A}">
                    <a16:rowId xmlns:a16="http://schemas.microsoft.com/office/drawing/2014/main" val="4247050781"/>
                  </a:ext>
                </a:extLst>
              </a:tr>
              <a:tr h="370840">
                <a:tc>
                  <a:txBody>
                    <a:bodyPr/>
                    <a:lstStyle/>
                    <a:p>
                      <a:r>
                        <a:rPr lang="en-US" sz="1400" dirty="0"/>
                        <a:t>Circulatory</a:t>
                      </a:r>
                    </a:p>
                  </a:txBody>
                  <a:tcPr/>
                </a:tc>
                <a:tc>
                  <a:txBody>
                    <a:bodyPr/>
                    <a:lstStyle/>
                    <a:p>
                      <a:r>
                        <a:rPr lang="en-US" sz="1400" dirty="0"/>
                        <a:t>1) Blood-distributed immune cells throughout the body 2) Recovery of immune cells through lymphatic flow</a:t>
                      </a:r>
                    </a:p>
                  </a:txBody>
                  <a:tcPr/>
                </a:tc>
                <a:tc>
                  <a:txBody>
                    <a:bodyPr/>
                    <a:lstStyle/>
                    <a:p>
                      <a:r>
                        <a:rPr lang="en-US" sz="1400" dirty="0"/>
                        <a:t>NIDS</a:t>
                      </a:r>
                    </a:p>
                  </a:txBody>
                  <a:tcPr/>
                </a:tc>
                <a:extLst>
                  <a:ext uri="{0D108BD9-81ED-4DB2-BD59-A6C34878D82A}">
                    <a16:rowId xmlns:a16="http://schemas.microsoft.com/office/drawing/2014/main" val="3191737222"/>
                  </a:ext>
                </a:extLst>
              </a:tr>
              <a:tr h="370840">
                <a:tc>
                  <a:txBody>
                    <a:bodyPr/>
                    <a:lstStyle/>
                    <a:p>
                      <a:r>
                        <a:rPr lang="en-US" sz="1400" dirty="0"/>
                        <a:t>Digestive</a:t>
                      </a:r>
                    </a:p>
                  </a:txBody>
                  <a:tcPr/>
                </a:tc>
                <a:tc>
                  <a:txBody>
                    <a:bodyPr/>
                    <a:lstStyle/>
                    <a:p>
                      <a:r>
                        <a:rPr lang="en-US" sz="1400" dirty="0"/>
                        <a:t>Continuous salivary cleansing of the mouth through lysozymes Pathogen destruction by HCl in the stomach</a:t>
                      </a:r>
                    </a:p>
                  </a:txBody>
                  <a:tcPr/>
                </a:tc>
                <a:tc>
                  <a:txBody>
                    <a:bodyPr/>
                    <a:lstStyle/>
                    <a:p>
                      <a:r>
                        <a:rPr lang="en-US" sz="1400" dirty="0"/>
                        <a:t>WAF</a:t>
                      </a:r>
                    </a:p>
                  </a:txBody>
                  <a:tcPr/>
                </a:tc>
                <a:extLst>
                  <a:ext uri="{0D108BD9-81ED-4DB2-BD59-A6C34878D82A}">
                    <a16:rowId xmlns:a16="http://schemas.microsoft.com/office/drawing/2014/main" val="844695877"/>
                  </a:ext>
                </a:extLst>
              </a:tr>
              <a:tr h="370840">
                <a:tc>
                  <a:txBody>
                    <a:bodyPr/>
                    <a:lstStyle/>
                    <a:p>
                      <a:r>
                        <a:rPr lang="en-US" sz="1400" dirty="0"/>
                        <a:t>Endocrine</a:t>
                      </a:r>
                    </a:p>
                  </a:txBody>
                  <a:tcPr/>
                </a:tc>
                <a:tc>
                  <a:txBody>
                    <a:bodyPr/>
                    <a:lstStyle/>
                    <a:p>
                      <a:r>
                        <a:rPr lang="en-US" sz="1400" dirty="0"/>
                        <a:t>1) T-lymphocyte programming messages through thymus hormone 2) Depression of immune activity through stress</a:t>
                      </a:r>
                    </a:p>
                  </a:txBody>
                  <a:tcPr/>
                </a:tc>
                <a:tc>
                  <a:txBody>
                    <a:bodyPr/>
                    <a:lstStyle/>
                    <a:p>
                      <a:endParaRPr lang="en-US" sz="1400"/>
                    </a:p>
                  </a:txBody>
                  <a:tcPr/>
                </a:tc>
                <a:extLst>
                  <a:ext uri="{0D108BD9-81ED-4DB2-BD59-A6C34878D82A}">
                    <a16:rowId xmlns:a16="http://schemas.microsoft.com/office/drawing/2014/main" val="540032083"/>
                  </a:ext>
                </a:extLst>
              </a:tr>
              <a:tr h="370840">
                <a:tc>
                  <a:txBody>
                    <a:bodyPr/>
                    <a:lstStyle/>
                    <a:p>
                      <a:r>
                        <a:rPr lang="en-US" sz="1400" dirty="0"/>
                        <a:t>Immune</a:t>
                      </a:r>
                    </a:p>
                  </a:txBody>
                  <a:tcPr/>
                </a:tc>
                <a:tc>
                  <a:txBody>
                    <a:bodyPr/>
                    <a:lstStyle/>
                    <a:p>
                      <a:r>
                        <a:rPr lang="en-US" sz="1400" dirty="0"/>
                        <a:t>1) Capture and destruction of pathogens at surface membrane barriers by phagocytes  2) Natural-killer-cell attack of virus or cancer 3) Inflammation to isolate site, attract phagocytes, dispose of dead cells, and promote repair  4) Fever response by pyrogens to enhance repair and inhibit pathogens 5) Apoptosis 6) </a:t>
                      </a:r>
                    </a:p>
                    <a:p>
                      <a:r>
                        <a:rPr lang="en-US" sz="1400" dirty="0"/>
                        <a:t>The major histocompatibility complex</a:t>
                      </a:r>
                    </a:p>
                  </a:txBody>
                  <a:tcPr/>
                </a:tc>
                <a:tc>
                  <a:txBody>
                    <a:bodyPr/>
                    <a:lstStyle/>
                    <a:p>
                      <a:r>
                        <a:rPr lang="en-US" sz="1400" dirty="0"/>
                        <a:t>Anti-Virus</a:t>
                      </a:r>
                    </a:p>
                  </a:txBody>
                  <a:tcPr/>
                </a:tc>
                <a:extLst>
                  <a:ext uri="{0D108BD9-81ED-4DB2-BD59-A6C34878D82A}">
                    <a16:rowId xmlns:a16="http://schemas.microsoft.com/office/drawing/2014/main" val="2601687747"/>
                  </a:ext>
                </a:extLst>
              </a:tr>
              <a:tr h="370840">
                <a:tc>
                  <a:txBody>
                    <a:bodyPr/>
                    <a:lstStyle/>
                    <a:p>
                      <a:r>
                        <a:rPr lang="en-US" sz="1400" dirty="0"/>
                        <a:t>Muscular</a:t>
                      </a:r>
                    </a:p>
                  </a:txBody>
                  <a:tcPr/>
                </a:tc>
                <a:tc>
                  <a:txBody>
                    <a:bodyPr/>
                    <a:lstStyle/>
                    <a:p>
                      <a:r>
                        <a:rPr lang="en-US" sz="1400" dirty="0"/>
                        <a:t>Movement to avoid or protect from pain, heat, or danger</a:t>
                      </a:r>
                    </a:p>
                  </a:txBody>
                  <a:tcPr/>
                </a:tc>
                <a:tc>
                  <a:txBody>
                    <a:bodyPr/>
                    <a:lstStyle/>
                    <a:p>
                      <a:r>
                        <a:rPr lang="en-US" sz="1400" dirty="0"/>
                        <a:t>Dashboards</a:t>
                      </a:r>
                    </a:p>
                  </a:txBody>
                  <a:tcPr/>
                </a:tc>
                <a:extLst>
                  <a:ext uri="{0D108BD9-81ED-4DB2-BD59-A6C34878D82A}">
                    <a16:rowId xmlns:a16="http://schemas.microsoft.com/office/drawing/2014/main" val="1214228539"/>
                  </a:ext>
                </a:extLst>
              </a:tr>
              <a:tr h="370840">
                <a:tc>
                  <a:txBody>
                    <a:bodyPr/>
                    <a:lstStyle/>
                    <a:p>
                      <a:r>
                        <a:rPr lang="en-US" sz="1400" dirty="0"/>
                        <a:t>Nervous</a:t>
                      </a:r>
                    </a:p>
                  </a:txBody>
                  <a:tcPr/>
                </a:tc>
                <a:tc>
                  <a:txBody>
                    <a:bodyPr/>
                    <a:lstStyle/>
                    <a:p>
                      <a:r>
                        <a:rPr lang="en-US" sz="1400" dirty="0"/>
                        <a:t>1) Fight-or-flight response 2) Avoidance of unhealthy actions or promotion of healthy habits  3) Enhancement or inhibition of immune functions through serotonin, norepinephrine, or epinephrine </a:t>
                      </a:r>
                    </a:p>
                    <a:p>
                      <a:r>
                        <a:rPr lang="en-US" sz="1400" dirty="0"/>
                        <a:t>4) The blood-brain barrier</a:t>
                      </a:r>
                    </a:p>
                  </a:txBody>
                  <a:tcPr/>
                </a:tc>
                <a:tc>
                  <a:txBody>
                    <a:bodyPr/>
                    <a:lstStyle/>
                    <a:p>
                      <a:r>
                        <a:rPr lang="en-US" sz="1400" dirty="0"/>
                        <a:t>Event Logging</a:t>
                      </a:r>
                    </a:p>
                  </a:txBody>
                  <a:tcPr/>
                </a:tc>
                <a:extLst>
                  <a:ext uri="{0D108BD9-81ED-4DB2-BD59-A6C34878D82A}">
                    <a16:rowId xmlns:a16="http://schemas.microsoft.com/office/drawing/2014/main" val="181681895"/>
                  </a:ext>
                </a:extLst>
              </a:tr>
              <a:tr h="370840">
                <a:tc>
                  <a:txBody>
                    <a:bodyPr/>
                    <a:lstStyle/>
                    <a:p>
                      <a:r>
                        <a:rPr lang="en-US" sz="1400" dirty="0"/>
                        <a:t>Reproductive</a:t>
                      </a:r>
                    </a:p>
                  </a:txBody>
                  <a:tcPr/>
                </a:tc>
                <a:tc>
                  <a:txBody>
                    <a:bodyPr/>
                    <a:lstStyle/>
                    <a:p>
                      <a:r>
                        <a:rPr lang="en-US" sz="1400" dirty="0"/>
                        <a:t>Inhibition of bacterial and fungal growth by the vagina’s acidic mantle</a:t>
                      </a:r>
                    </a:p>
                  </a:txBody>
                  <a:tcPr/>
                </a:tc>
                <a:tc>
                  <a:txBody>
                    <a:bodyPr/>
                    <a:lstStyle/>
                    <a:p>
                      <a:r>
                        <a:rPr lang="en-US" sz="1400" dirty="0"/>
                        <a:t>DevOps</a:t>
                      </a:r>
                    </a:p>
                  </a:txBody>
                  <a:tcPr/>
                </a:tc>
                <a:extLst>
                  <a:ext uri="{0D108BD9-81ED-4DB2-BD59-A6C34878D82A}">
                    <a16:rowId xmlns:a16="http://schemas.microsoft.com/office/drawing/2014/main" val="1817030429"/>
                  </a:ext>
                </a:extLst>
              </a:tr>
              <a:tr h="370840">
                <a:tc>
                  <a:txBody>
                    <a:bodyPr/>
                    <a:lstStyle/>
                    <a:p>
                      <a:r>
                        <a:rPr lang="en-US" sz="1400" dirty="0"/>
                        <a:t>Respiratory</a:t>
                      </a:r>
                    </a:p>
                  </a:txBody>
                  <a:tcPr/>
                </a:tc>
                <a:tc>
                  <a:txBody>
                    <a:bodyPr/>
                    <a:lstStyle/>
                    <a:p>
                      <a:r>
                        <a:rPr lang="en-US" sz="1400" dirty="0"/>
                        <a:t>1) A physical barrier for and entrapment of microorganisms by mucous 2) Removal of debris-laden mucous from lower tract by cilia 3) Filtering and entrapment of microorganisms by nasal hairs</a:t>
                      </a:r>
                    </a:p>
                  </a:txBody>
                  <a:tcPr/>
                </a:tc>
                <a:tc>
                  <a:txBody>
                    <a:bodyPr/>
                    <a:lstStyle/>
                    <a:p>
                      <a:r>
                        <a:rPr lang="en-US" sz="1400" dirty="0"/>
                        <a:t>WAF</a:t>
                      </a:r>
                    </a:p>
                  </a:txBody>
                  <a:tcPr/>
                </a:tc>
                <a:extLst>
                  <a:ext uri="{0D108BD9-81ED-4DB2-BD59-A6C34878D82A}">
                    <a16:rowId xmlns:a16="http://schemas.microsoft.com/office/drawing/2014/main" val="2305088621"/>
                  </a:ext>
                </a:extLst>
              </a:tr>
              <a:tr h="370840">
                <a:tc>
                  <a:txBody>
                    <a:bodyPr/>
                    <a:lstStyle/>
                    <a:p>
                      <a:r>
                        <a:rPr lang="en-US" sz="1400" dirty="0"/>
                        <a:t>Sensory</a:t>
                      </a:r>
                    </a:p>
                  </a:txBody>
                  <a:tcPr/>
                </a:tc>
                <a:tc>
                  <a:txBody>
                    <a:bodyPr/>
                    <a:lstStyle/>
                    <a:p>
                      <a:r>
                        <a:rPr lang="en-US" sz="1400" dirty="0"/>
                        <a:t>1) Cerumen and hairs as external barriers in the ear 2) Foul tastes to prevent eating unhealthy food 3) Continuous eye cleansing by tears with lysozyme</a:t>
                      </a:r>
                    </a:p>
                  </a:txBody>
                  <a:tcPr/>
                </a:tc>
                <a:tc>
                  <a:txBody>
                    <a:bodyPr/>
                    <a:lstStyle/>
                    <a:p>
                      <a:r>
                        <a:rPr lang="en-US" sz="1400" dirty="0"/>
                        <a:t>Advisors</a:t>
                      </a:r>
                    </a:p>
                  </a:txBody>
                  <a:tcPr/>
                </a:tc>
                <a:extLst>
                  <a:ext uri="{0D108BD9-81ED-4DB2-BD59-A6C34878D82A}">
                    <a16:rowId xmlns:a16="http://schemas.microsoft.com/office/drawing/2014/main" val="3926403637"/>
                  </a:ext>
                </a:extLst>
              </a:tr>
              <a:tr h="370840">
                <a:tc>
                  <a:txBody>
                    <a:bodyPr/>
                    <a:lstStyle/>
                    <a:p>
                      <a:r>
                        <a:rPr lang="en-US" sz="1400" dirty="0"/>
                        <a:t>Skeletal</a:t>
                      </a:r>
                    </a:p>
                  </a:txBody>
                  <a:tcPr/>
                </a:tc>
                <a:tc>
                  <a:txBody>
                    <a:bodyPr/>
                    <a:lstStyle/>
                    <a:p>
                      <a:r>
                        <a:rPr lang="en-US" sz="1400" dirty="0"/>
                        <a:t>Production of blood (immune) cells in bone marrow</a:t>
                      </a:r>
                    </a:p>
                  </a:txBody>
                  <a:tcPr/>
                </a:tc>
                <a:tc>
                  <a:txBody>
                    <a:bodyPr/>
                    <a:lstStyle/>
                    <a:p>
                      <a:r>
                        <a:rPr lang="en-US" sz="1400" dirty="0"/>
                        <a:t>Security Group</a:t>
                      </a:r>
                    </a:p>
                  </a:txBody>
                  <a:tcPr/>
                </a:tc>
                <a:extLst>
                  <a:ext uri="{0D108BD9-81ED-4DB2-BD59-A6C34878D82A}">
                    <a16:rowId xmlns:a16="http://schemas.microsoft.com/office/drawing/2014/main" val="3937560371"/>
                  </a:ext>
                </a:extLst>
              </a:tr>
              <a:tr h="370840">
                <a:tc>
                  <a:txBody>
                    <a:bodyPr/>
                    <a:lstStyle/>
                    <a:p>
                      <a:r>
                        <a:rPr lang="en-US" sz="1400" dirty="0"/>
                        <a:t>Skin</a:t>
                      </a:r>
                    </a:p>
                  </a:txBody>
                  <a:tcPr/>
                </a:tc>
                <a:tc>
                  <a:txBody>
                    <a:bodyPr/>
                    <a:lstStyle/>
                    <a:p>
                      <a:r>
                        <a:rPr lang="en-US" sz="1400" dirty="0"/>
                        <a:t>1) A mechanical barrier against entry of pathogens and toxins 2) Perspiration as a bacterial growth inhibitor</a:t>
                      </a:r>
                    </a:p>
                  </a:txBody>
                  <a:tcPr/>
                </a:tc>
                <a:tc>
                  <a:txBody>
                    <a:bodyPr/>
                    <a:lstStyle/>
                    <a:p>
                      <a:r>
                        <a:rPr lang="en-US" sz="1400" dirty="0"/>
                        <a:t>Firewalls</a:t>
                      </a:r>
                    </a:p>
                  </a:txBody>
                  <a:tcPr/>
                </a:tc>
                <a:extLst>
                  <a:ext uri="{0D108BD9-81ED-4DB2-BD59-A6C34878D82A}">
                    <a16:rowId xmlns:a16="http://schemas.microsoft.com/office/drawing/2014/main" val="2406245297"/>
                  </a:ext>
                </a:extLst>
              </a:tr>
              <a:tr h="370840">
                <a:tc>
                  <a:txBody>
                    <a:bodyPr/>
                    <a:lstStyle/>
                    <a:p>
                      <a:r>
                        <a:rPr lang="en-US" sz="1400" dirty="0"/>
                        <a:t>Urinary</a:t>
                      </a:r>
                    </a:p>
                  </a:txBody>
                  <a:tcPr/>
                </a:tc>
                <a:tc>
                  <a:txBody>
                    <a:bodyPr/>
                    <a:lstStyle/>
                    <a:p>
                      <a:r>
                        <a:rPr lang="en-US" sz="1400" dirty="0"/>
                        <a:t>1) The acidic pH of urine as a bacterial inhibitor 2) Cleansing of lower urinary tract with each voiding 3) A bactericidal chemical in sebum 4) Resistance against acids, alkalis, and bacterial enzymes in keratin</a:t>
                      </a:r>
                    </a:p>
                  </a:txBody>
                  <a:tcPr/>
                </a:tc>
                <a:tc>
                  <a:txBody>
                    <a:bodyPr/>
                    <a:lstStyle/>
                    <a:p>
                      <a:r>
                        <a:rPr lang="en-US" sz="1400" dirty="0"/>
                        <a:t>DLP</a:t>
                      </a:r>
                    </a:p>
                  </a:txBody>
                  <a:tcPr/>
                </a:tc>
                <a:extLst>
                  <a:ext uri="{0D108BD9-81ED-4DB2-BD59-A6C34878D82A}">
                    <a16:rowId xmlns:a16="http://schemas.microsoft.com/office/drawing/2014/main" val="2139173445"/>
                  </a:ext>
                </a:extLst>
              </a:tr>
            </a:tbl>
          </a:graphicData>
        </a:graphic>
      </p:graphicFrame>
    </p:spTree>
    <p:extLst>
      <p:ext uri="{BB962C8B-B14F-4D97-AF65-F5344CB8AC3E}">
        <p14:creationId xmlns:p14="http://schemas.microsoft.com/office/powerpoint/2010/main" val="2629757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3044" y="1600200"/>
            <a:ext cx="5272557" cy="4194834"/>
          </a:xfrm>
          <a:prstGeom prst="rect">
            <a:avLst/>
          </a:prstGeom>
        </p:spPr>
      </p:pic>
      <p:sp>
        <p:nvSpPr>
          <p:cNvPr id="2" name="Title 1"/>
          <p:cNvSpPr>
            <a:spLocks noGrp="1"/>
          </p:cNvSpPr>
          <p:nvPr>
            <p:ph type="title"/>
          </p:nvPr>
        </p:nvSpPr>
        <p:spPr/>
        <p:txBody>
          <a:bodyPr/>
          <a:lstStyle/>
          <a:p>
            <a:r>
              <a:rPr lang="en-US" dirty="0"/>
              <a:t>DARPA – CRASH : SAFE</a:t>
            </a:r>
          </a:p>
        </p:txBody>
      </p:sp>
      <p:sp>
        <p:nvSpPr>
          <p:cNvPr id="3" name="Content Placeholder 2"/>
          <p:cNvSpPr>
            <a:spLocks noGrp="1"/>
          </p:cNvSpPr>
          <p:nvPr>
            <p:ph idx="1"/>
          </p:nvPr>
        </p:nvSpPr>
        <p:spPr/>
        <p:txBody>
          <a:bodyPr/>
          <a:lstStyle/>
          <a:p>
            <a:r>
              <a:rPr lang="en-US" dirty="0"/>
              <a:t>Proofs for</a:t>
            </a:r>
          </a:p>
          <a:p>
            <a:pPr lvl="1"/>
            <a:r>
              <a:rPr lang="en-US" dirty="0"/>
              <a:t>Hardware</a:t>
            </a:r>
          </a:p>
          <a:p>
            <a:pPr lvl="1"/>
            <a:r>
              <a:rPr lang="en-US" dirty="0"/>
              <a:t>Services</a:t>
            </a:r>
          </a:p>
          <a:p>
            <a:r>
              <a:rPr lang="en-US" dirty="0"/>
              <a:t>Overhead OK</a:t>
            </a:r>
          </a:p>
          <a:p>
            <a:r>
              <a:rPr lang="en-US" dirty="0"/>
              <a:t>Tagged Memory</a:t>
            </a:r>
          </a:p>
          <a:p>
            <a:pPr lvl="1"/>
            <a:r>
              <a:rPr lang="en-US" dirty="0"/>
              <a:t>pointer not bits</a:t>
            </a:r>
          </a:p>
          <a:p>
            <a:pPr lvl="1"/>
            <a:r>
              <a:rPr lang="en-US" dirty="0"/>
              <a:t>Base </a:t>
            </a:r>
            <a:r>
              <a:rPr lang="en-US"/>
              <a:t>and bounds</a:t>
            </a:r>
          </a:p>
          <a:p>
            <a:pPr lvl="1"/>
            <a:r>
              <a:rPr lang="en-US"/>
              <a:t>Type </a:t>
            </a:r>
            <a:r>
              <a:rPr lang="en-US" dirty="0"/>
              <a:t>safety</a:t>
            </a:r>
          </a:p>
          <a:p>
            <a:endParaRPr lang="en-US" dirty="0"/>
          </a:p>
          <a:p>
            <a:endParaRPr lang="en-US" dirty="0"/>
          </a:p>
          <a:p>
            <a:endParaRPr lang="en-US" dirty="0"/>
          </a:p>
        </p:txBody>
      </p:sp>
      <p:sp>
        <p:nvSpPr>
          <p:cNvPr id="5" name="TextBox 4"/>
          <p:cNvSpPr txBox="1"/>
          <p:nvPr/>
        </p:nvSpPr>
        <p:spPr>
          <a:xfrm>
            <a:off x="2791314" y="6400800"/>
            <a:ext cx="6609373" cy="369332"/>
          </a:xfrm>
          <a:prstGeom prst="rect">
            <a:avLst/>
          </a:prstGeom>
          <a:noFill/>
        </p:spPr>
        <p:txBody>
          <a:bodyPr wrap="none" rtlCol="0">
            <a:spAutoFit/>
          </a:bodyPr>
          <a:lstStyle/>
          <a:p>
            <a:r>
              <a:rPr lang="en-US" dirty="0">
                <a:hlinkClick r:id="rId4"/>
              </a:rPr>
              <a:t>http://www.crash-safe.org/sites/default/files/plos11-submission.pdf</a:t>
            </a:r>
            <a:endParaRPr lang="en-US" dirty="0"/>
          </a:p>
        </p:txBody>
      </p:sp>
    </p:spTree>
    <p:extLst>
      <p:ext uri="{BB962C8B-B14F-4D97-AF65-F5344CB8AC3E}">
        <p14:creationId xmlns:p14="http://schemas.microsoft.com/office/powerpoint/2010/main" val="1411556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0DA6DC-AF34-4B11-A796-55AA0F85E431}"/>
              </a:ext>
            </a:extLst>
          </p:cNvPr>
          <p:cNvSpPr>
            <a:spLocks noGrp="1"/>
          </p:cNvSpPr>
          <p:nvPr>
            <p:ph type="title"/>
          </p:nvPr>
        </p:nvSpPr>
        <p:spPr/>
        <p:txBody>
          <a:bodyPr/>
          <a:lstStyle/>
          <a:p>
            <a:r>
              <a:rPr lang="en-US" dirty="0"/>
              <a:t>Does this start to look like containers?</a:t>
            </a:r>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1219200"/>
            <a:ext cx="8734209" cy="5212985"/>
          </a:xfrm>
        </p:spPr>
      </p:pic>
    </p:spTree>
    <p:extLst>
      <p:ext uri="{BB962C8B-B14F-4D97-AF65-F5344CB8AC3E}">
        <p14:creationId xmlns:p14="http://schemas.microsoft.com/office/powerpoint/2010/main" val="3851482415"/>
      </p:ext>
    </p:extLst>
  </p:cSld>
  <p:clrMapOvr>
    <a:masterClrMapping/>
  </p:clrMapOvr>
</p:sld>
</file>

<file path=ppt/theme/theme1.xml><?xml version="1.0" encoding="utf-8"?>
<a:theme xmlns:a="http://schemas.openxmlformats.org/drawingml/2006/main" name="IT66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ormAutofit/>
      </a:bodyPr>
      <a:lstStyle>
        <a:defPPr>
          <a:defRPr sz="2400" dirty="0" smtClean="0"/>
        </a:defPPr>
      </a:lstStyle>
    </a:txDef>
  </a:objectDefaults>
  <a:extraClrSchemeLst/>
  <a:extLst>
    <a:ext uri="{05A4C25C-085E-4340-85A3-A5531E510DB2}">
      <thm15:themeFamily xmlns:thm15="http://schemas.microsoft.com/office/thememl/2012/main" name="Presentation21" id="{E6424F00-CB15-469C-8ED9-E12AE889829C}" vid="{5DE17743-287A-437B-9EC9-957D32FAF4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D48B0CB13E69F42B54D3DE424488AFE" ma:contentTypeVersion="13" ma:contentTypeDescription="Create a new document." ma:contentTypeScope="" ma:versionID="c580b450af3975084ea9d9a74b1aa1c3">
  <xsd:schema xmlns:xsd="http://www.w3.org/2001/XMLSchema" xmlns:xs="http://www.w3.org/2001/XMLSchema" xmlns:p="http://schemas.microsoft.com/office/2006/metadata/properties" xmlns:ns3="6e27e843-6876-4ec5-817f-dbc394bc1606" xmlns:ns4="1ea98ed5-bdea-415e-9a90-b2f6afa71452" targetNamespace="http://schemas.microsoft.com/office/2006/metadata/properties" ma:root="true" ma:fieldsID="ee979d553edbfea5e3efbc24595909db" ns3:_="" ns4:_="">
    <xsd:import namespace="6e27e843-6876-4ec5-817f-dbc394bc1606"/>
    <xsd:import namespace="1ea98ed5-bdea-415e-9a90-b2f6afa71452"/>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4:SharedWithUsers" minOccurs="0"/>
                <xsd:element ref="ns4:SharedWithDetails" minOccurs="0"/>
                <xsd:element ref="ns4:SharingHintHash" minOccurs="0"/>
                <xsd:element ref="ns3:MediaServiceAutoTags" minOccurs="0"/>
                <xsd:element ref="ns3:MediaServiceDateTaken" minOccurs="0"/>
                <xsd:element ref="ns3:MediaServiceLocation"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7e843-6876-4ec5-817f-dbc394bc16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ea98ed5-bdea-415e-9a90-b2f6afa714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9EDA2D-2D25-4C9B-B388-2626A106A5DE}">
  <ds:schemaRefs>
    <ds:schemaRef ds:uri="http://schemas.microsoft.com/sharepoint/v3/contenttype/forms"/>
  </ds:schemaRefs>
</ds:datastoreItem>
</file>

<file path=customXml/itemProps2.xml><?xml version="1.0" encoding="utf-8"?>
<ds:datastoreItem xmlns:ds="http://schemas.openxmlformats.org/officeDocument/2006/customXml" ds:itemID="{2DB4A837-8F3B-4881-BE2E-1CD30F9388A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72F2E2A-6D82-4B29-B9EA-9BB67068FB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27e843-6876-4ec5-817f-dbc394bc1606"/>
    <ds:schemaRef ds:uri="1ea98ed5-bdea-415e-9a90-b2f6afa714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UNH-lecture-template</Template>
  <TotalTime>207</TotalTime>
  <Words>3320</Words>
  <Application>Microsoft Office PowerPoint</Application>
  <PresentationFormat>Widescreen</PresentationFormat>
  <Paragraphs>454</Paragraphs>
  <Slides>44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Rockwell</vt:lpstr>
      <vt:lpstr>IT666</vt:lpstr>
      <vt:lpstr>PowerPoint Presentation</vt:lpstr>
      <vt:lpstr>0-day Timeline</vt:lpstr>
      <vt:lpstr>Disclosure Increases Attacks</vt:lpstr>
      <vt:lpstr>Bug Bounty Platforms</vt:lpstr>
      <vt:lpstr>Not Normally Accepted</vt:lpstr>
      <vt:lpstr>Discovery to Patch Lifetime</vt:lpstr>
      <vt:lpstr>Digital Signatures</vt:lpstr>
      <vt:lpstr>Implementation</vt:lpstr>
      <vt:lpstr>XML signature HMAC truncation</vt:lpstr>
      <vt:lpstr>Microsoft Disclosures</vt:lpstr>
      <vt:lpstr>Incident Response Plan Checklist (page 1) Before During After</vt:lpstr>
      <vt:lpstr>Incident Response Plan Checklist (page 2) Before During After</vt:lpstr>
      <vt:lpstr>PowerPoint Presentation</vt:lpstr>
      <vt:lpstr>https://www.ncsc.gov.uk/collection/cyber-security-design-principles</vt:lpstr>
      <vt:lpstr>Generic Retail Outlet</vt:lpstr>
      <vt:lpstr>Security Design Principles for Digital Services</vt:lpstr>
      <vt:lpstr>Least Privilege</vt:lpstr>
      <vt:lpstr>Default to Fail-Secure</vt:lpstr>
      <vt:lpstr>Verification - Complete Mediation</vt:lpstr>
      <vt:lpstr>Open Design</vt:lpstr>
      <vt:lpstr>Separation of Privilege | Separation of Duties</vt:lpstr>
      <vt:lpstr>Psychological Acceptability</vt:lpstr>
      <vt:lpstr>Usability</vt:lpstr>
      <vt:lpstr>Information Hiding - Encapsulation</vt:lpstr>
      <vt:lpstr>Modularity</vt:lpstr>
      <vt:lpstr>Defense in depth</vt:lpstr>
      <vt:lpstr>Sandboxing - Process Isolation</vt:lpstr>
      <vt:lpstr>Least Common Mechanism</vt:lpstr>
      <vt:lpstr>Economy of Mechanism</vt:lpstr>
      <vt:lpstr>Trust</vt:lpstr>
      <vt:lpstr>PowerPoint Presentation</vt:lpstr>
      <vt:lpstr>Security problems have historical roots</vt:lpstr>
      <vt:lpstr>Inside an office = Inside the network</vt:lpstr>
      <vt:lpstr>PowerPoint Presentation</vt:lpstr>
      <vt:lpstr>Microsoft – Virtualize security data</vt:lpstr>
      <vt:lpstr>Hardware Services</vt:lpstr>
      <vt:lpstr>Trusted Processing Module (TPM)</vt:lpstr>
      <vt:lpstr>PowerPoint Presentation</vt:lpstr>
      <vt:lpstr>Simple Phone Privacy</vt:lpstr>
      <vt:lpstr>Crypto Instructions</vt:lpstr>
      <vt:lpstr>PowerPoint Presentation</vt:lpstr>
      <vt:lpstr>PowerPoint Presentation</vt:lpstr>
      <vt:lpstr>DARPA – CRASH : SAFE</vt:lpstr>
      <vt:lpstr>Does this start to look like containers?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Graf</dc:creator>
  <cp:lastModifiedBy>Ken Graf</cp:lastModifiedBy>
  <cp:revision>23</cp:revision>
  <cp:lastPrinted>2015-03-25T21:04:44Z</cp:lastPrinted>
  <dcterms:created xsi:type="dcterms:W3CDTF">2020-01-07T22:06:18Z</dcterms:created>
  <dcterms:modified xsi:type="dcterms:W3CDTF">2020-03-01T17:12:51Z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0x010100BD48B0CB13E69F42B54D3DE424488AFE</vt:lpwstr>
  </property>
</Properties>
</file>