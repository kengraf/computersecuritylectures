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66"/>
  </p:notesMasterIdLst>
  <p:sldIdLst>
    <p:sldId id="267" r:id="rId5"/>
    <p:sldId id="372" r:id="rId6"/>
    <p:sldId id="373" r:id="rId7"/>
    <p:sldId id="370" r:id="rId8"/>
    <p:sldId id="322" r:id="rId9"/>
    <p:sldId id="371" r:id="rId10"/>
    <p:sldId id="274" r:id="rId11"/>
    <p:sldId id="326" r:id="rId12"/>
    <p:sldId id="325" r:id="rId13"/>
    <p:sldId id="324" r:id="rId14"/>
    <p:sldId id="281" r:id="rId15"/>
    <p:sldId id="261" r:id="rId16"/>
    <p:sldId id="273" r:id="rId17"/>
    <p:sldId id="286" r:id="rId18"/>
    <p:sldId id="287" r:id="rId19"/>
    <p:sldId id="288" r:id="rId20"/>
    <p:sldId id="289" r:id="rId21"/>
    <p:sldId id="290" r:id="rId22"/>
    <p:sldId id="291" r:id="rId23"/>
    <p:sldId id="271" r:id="rId24"/>
    <p:sldId id="327" r:id="rId25"/>
    <p:sldId id="280" r:id="rId26"/>
    <p:sldId id="282" r:id="rId27"/>
    <p:sldId id="293" r:id="rId28"/>
    <p:sldId id="277" r:id="rId29"/>
    <p:sldId id="276" r:id="rId30"/>
    <p:sldId id="263" r:id="rId31"/>
    <p:sldId id="278" r:id="rId32"/>
    <p:sldId id="283" r:id="rId33"/>
    <p:sldId id="262" r:id="rId34"/>
    <p:sldId id="323" r:id="rId35"/>
    <p:sldId id="264" r:id="rId36"/>
    <p:sldId id="260" r:id="rId37"/>
    <p:sldId id="259" r:id="rId38"/>
    <p:sldId id="265" r:id="rId39"/>
    <p:sldId id="266" r:id="rId40"/>
    <p:sldId id="328" r:id="rId41"/>
    <p:sldId id="268" r:id="rId42"/>
    <p:sldId id="338" r:id="rId43"/>
    <p:sldId id="339" r:id="rId44"/>
    <p:sldId id="270" r:id="rId45"/>
    <p:sldId id="344" r:id="rId46"/>
    <p:sldId id="272" r:id="rId47"/>
    <p:sldId id="256" r:id="rId48"/>
    <p:sldId id="351" r:id="rId49"/>
    <p:sldId id="352" r:id="rId50"/>
    <p:sldId id="257" r:id="rId51"/>
    <p:sldId id="258" r:id="rId52"/>
    <p:sldId id="353" r:id="rId53"/>
    <p:sldId id="354" r:id="rId54"/>
    <p:sldId id="355" r:id="rId55"/>
    <p:sldId id="356" r:id="rId56"/>
    <p:sldId id="357" r:id="rId57"/>
    <p:sldId id="358" r:id="rId58"/>
    <p:sldId id="359" r:id="rId59"/>
    <p:sldId id="360" r:id="rId60"/>
    <p:sldId id="279" r:id="rId61"/>
    <p:sldId id="361" r:id="rId62"/>
    <p:sldId id="362" r:id="rId63"/>
    <p:sldId id="363" r:id="rId64"/>
    <p:sldId id="369" r:id="rId6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2296" autoAdjust="0"/>
  </p:normalViewPr>
  <p:slideViewPr>
    <p:cSldViewPr>
      <p:cViewPr varScale="1">
        <p:scale>
          <a:sx n="67" d="100"/>
          <a:sy n="67" d="100"/>
        </p:scale>
        <p:origin x="84" y="396"/>
      </p:cViewPr>
      <p:guideLst>
        <p:guide orient="horz" pos="2160"/>
        <p:guide pos="3840"/>
      </p:guideLst>
    </p:cSldViewPr>
  </p:slideViewPr>
  <p:notesTextViewPr>
    <p:cViewPr>
      <p:scale>
        <a:sx n="3" d="2"/>
        <a:sy n="3" d="2"/>
      </p:scale>
      <p:origin x="0" y="0"/>
    </p:cViewPr>
  </p:notesTextViewPr>
  <p:sorterViewPr>
    <p:cViewPr varScale="1">
      <p:scale>
        <a:sx n="100" d="100"/>
        <a:sy n="100" d="100"/>
      </p:scale>
      <p:origin x="0" y="0"/>
    </p:cViewPr>
  </p:sorterViewPr>
  <p:notesViewPr>
    <p:cSldViewPr>
      <p:cViewPr varScale="1">
        <p:scale>
          <a:sx n="85" d="100"/>
          <a:sy n="85" d="100"/>
        </p:scale>
        <p:origin x="1116"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Graf" userId="d1890dd4-deb6-4a9b-a156-5113ac77bda8" providerId="ADAL" clId="{69E383D6-C176-4468-AE5C-C438ADBCA7BB}"/>
    <pc:docChg chg="custSel addSld delSld modSld sldOrd">
      <pc:chgData name="Kenneth Graf" userId="d1890dd4-deb6-4a9b-a156-5113ac77bda8" providerId="ADAL" clId="{69E383D6-C176-4468-AE5C-C438ADBCA7BB}" dt="2020-02-01T23:13:49.791" v="140" actId="14100"/>
      <pc:docMkLst>
        <pc:docMk/>
      </pc:docMkLst>
      <pc:sldChg chg="addSp delSp modSp add">
        <pc:chgData name="Kenneth Graf" userId="d1890dd4-deb6-4a9b-a156-5113ac77bda8" providerId="ADAL" clId="{69E383D6-C176-4468-AE5C-C438ADBCA7BB}" dt="2020-01-09T05:11:31.885" v="20"/>
        <pc:sldMkLst>
          <pc:docMk/>
          <pc:sldMk cId="4123162658" sldId="256"/>
        </pc:sldMkLst>
        <pc:spChg chg="del">
          <ac:chgData name="Kenneth Graf" userId="d1890dd4-deb6-4a9b-a156-5113ac77bda8" providerId="ADAL" clId="{69E383D6-C176-4468-AE5C-C438ADBCA7BB}" dt="2020-01-09T05:11:25.949" v="19"/>
          <ac:spMkLst>
            <pc:docMk/>
            <pc:sldMk cId="4123162658" sldId="256"/>
            <ac:spMk id="2" creationId="{00000000-0000-0000-0000-000000000000}"/>
          </ac:spMkLst>
        </pc:spChg>
        <pc:spChg chg="add del mod">
          <ac:chgData name="Kenneth Graf" userId="d1890dd4-deb6-4a9b-a156-5113ac77bda8" providerId="ADAL" clId="{69E383D6-C176-4468-AE5C-C438ADBCA7BB}" dt="2020-01-09T05:11:31.885" v="20"/>
          <ac:spMkLst>
            <pc:docMk/>
            <pc:sldMk cId="4123162658" sldId="256"/>
            <ac:spMk id="4" creationId="{96C1C3AE-4DC1-42C1-9353-AFF444967DCF}"/>
          </ac:spMkLst>
        </pc:spChg>
        <pc:spChg chg="add mod">
          <ac:chgData name="Kenneth Graf" userId="d1890dd4-deb6-4a9b-a156-5113ac77bda8" providerId="ADAL" clId="{69E383D6-C176-4468-AE5C-C438ADBCA7BB}" dt="2020-01-09T05:11:31.885" v="20"/>
          <ac:spMkLst>
            <pc:docMk/>
            <pc:sldMk cId="4123162658" sldId="256"/>
            <ac:spMk id="5" creationId="{8D5BFD35-505B-4EC0-957C-993CA69FE49B}"/>
          </ac:spMkLst>
        </pc:spChg>
      </pc:sldChg>
      <pc:sldChg chg="add">
        <pc:chgData name="Kenneth Graf" userId="d1890dd4-deb6-4a9b-a156-5113ac77bda8" providerId="ADAL" clId="{69E383D6-C176-4468-AE5C-C438ADBCA7BB}" dt="2020-01-09T05:11:18.017" v="16"/>
        <pc:sldMkLst>
          <pc:docMk/>
          <pc:sldMk cId="3473402535" sldId="257"/>
        </pc:sldMkLst>
      </pc:sldChg>
      <pc:sldChg chg="modSp add">
        <pc:chgData name="Kenneth Graf" userId="d1890dd4-deb6-4a9b-a156-5113ac77bda8" providerId="ADAL" clId="{69E383D6-C176-4468-AE5C-C438ADBCA7BB}" dt="2020-01-09T05:11:18.052" v="18" actId="27636"/>
        <pc:sldMkLst>
          <pc:docMk/>
          <pc:sldMk cId="134973018" sldId="258"/>
        </pc:sldMkLst>
        <pc:spChg chg="mod">
          <ac:chgData name="Kenneth Graf" userId="d1890dd4-deb6-4a9b-a156-5113ac77bda8" providerId="ADAL" clId="{69E383D6-C176-4468-AE5C-C438ADBCA7BB}" dt="2020-01-09T05:11:18.052" v="18" actId="27636"/>
          <ac:spMkLst>
            <pc:docMk/>
            <pc:sldMk cId="134973018" sldId="258"/>
            <ac:spMk id="2" creationId="{00000000-0000-0000-0000-000000000000}"/>
          </ac:spMkLst>
        </pc:spChg>
      </pc:sldChg>
      <pc:sldChg chg="add">
        <pc:chgData name="Kenneth Graf" userId="d1890dd4-deb6-4a9b-a156-5113ac77bda8" providerId="ADAL" clId="{69E383D6-C176-4468-AE5C-C438ADBCA7BB}" dt="2020-01-08T20:52:52.148" v="0"/>
        <pc:sldMkLst>
          <pc:docMk/>
          <pc:sldMk cId="1238394371" sldId="259"/>
        </pc:sldMkLst>
      </pc:sldChg>
      <pc:sldChg chg="add">
        <pc:chgData name="Kenneth Graf" userId="d1890dd4-deb6-4a9b-a156-5113ac77bda8" providerId="ADAL" clId="{69E383D6-C176-4468-AE5C-C438ADBCA7BB}" dt="2020-01-08T20:52:52.148" v="0"/>
        <pc:sldMkLst>
          <pc:docMk/>
          <pc:sldMk cId="1697527513" sldId="260"/>
        </pc:sldMkLst>
      </pc:sldChg>
      <pc:sldChg chg="add">
        <pc:chgData name="Kenneth Graf" userId="d1890dd4-deb6-4a9b-a156-5113ac77bda8" providerId="ADAL" clId="{69E383D6-C176-4468-AE5C-C438ADBCA7BB}" dt="2020-01-08T20:52:52.148" v="0"/>
        <pc:sldMkLst>
          <pc:docMk/>
          <pc:sldMk cId="910556236" sldId="261"/>
        </pc:sldMkLst>
      </pc:sldChg>
      <pc:sldChg chg="add">
        <pc:chgData name="Kenneth Graf" userId="d1890dd4-deb6-4a9b-a156-5113ac77bda8" providerId="ADAL" clId="{69E383D6-C176-4468-AE5C-C438ADBCA7BB}" dt="2020-01-08T20:52:52.148" v="0"/>
        <pc:sldMkLst>
          <pc:docMk/>
          <pc:sldMk cId="1334664485" sldId="262"/>
        </pc:sldMkLst>
      </pc:sldChg>
      <pc:sldChg chg="modSp add">
        <pc:chgData name="Kenneth Graf" userId="d1890dd4-deb6-4a9b-a156-5113ac77bda8" providerId="ADAL" clId="{69E383D6-C176-4468-AE5C-C438ADBCA7BB}" dt="2020-01-08T20:52:52.302" v="5" actId="27636"/>
        <pc:sldMkLst>
          <pc:docMk/>
          <pc:sldMk cId="2076965500" sldId="263"/>
        </pc:sldMkLst>
        <pc:spChg chg="mod">
          <ac:chgData name="Kenneth Graf" userId="d1890dd4-deb6-4a9b-a156-5113ac77bda8" providerId="ADAL" clId="{69E383D6-C176-4468-AE5C-C438ADBCA7BB}" dt="2020-01-08T20:52:52.302" v="5" actId="27636"/>
          <ac:spMkLst>
            <pc:docMk/>
            <pc:sldMk cId="2076965500" sldId="263"/>
            <ac:spMk id="3" creationId="{00000000-0000-0000-0000-000000000000}"/>
          </ac:spMkLst>
        </pc:spChg>
      </pc:sldChg>
      <pc:sldChg chg="add">
        <pc:chgData name="Kenneth Graf" userId="d1890dd4-deb6-4a9b-a156-5113ac77bda8" providerId="ADAL" clId="{69E383D6-C176-4468-AE5C-C438ADBCA7BB}" dt="2020-01-08T20:52:52.148" v="0"/>
        <pc:sldMkLst>
          <pc:docMk/>
          <pc:sldMk cId="1832013678" sldId="264"/>
        </pc:sldMkLst>
      </pc:sldChg>
      <pc:sldChg chg="add">
        <pc:chgData name="Kenneth Graf" userId="d1890dd4-deb6-4a9b-a156-5113ac77bda8" providerId="ADAL" clId="{69E383D6-C176-4468-AE5C-C438ADBCA7BB}" dt="2020-01-08T20:52:52.148" v="0"/>
        <pc:sldMkLst>
          <pc:docMk/>
          <pc:sldMk cId="1417534595" sldId="265"/>
        </pc:sldMkLst>
      </pc:sldChg>
      <pc:sldChg chg="add">
        <pc:chgData name="Kenneth Graf" userId="d1890dd4-deb6-4a9b-a156-5113ac77bda8" providerId="ADAL" clId="{69E383D6-C176-4468-AE5C-C438ADBCA7BB}" dt="2020-01-08T20:52:52.148" v="0"/>
        <pc:sldMkLst>
          <pc:docMk/>
          <pc:sldMk cId="1456936540" sldId="266"/>
        </pc:sldMkLst>
      </pc:sldChg>
      <pc:sldChg chg="modSp">
        <pc:chgData name="Kenneth Graf" userId="d1890dd4-deb6-4a9b-a156-5113ac77bda8" providerId="ADAL" clId="{69E383D6-C176-4468-AE5C-C438ADBCA7BB}" dt="2020-02-01T22:58:28.373" v="72" actId="20577"/>
        <pc:sldMkLst>
          <pc:docMk/>
          <pc:sldMk cId="1793285008" sldId="267"/>
        </pc:sldMkLst>
        <pc:spChg chg="mod">
          <ac:chgData name="Kenneth Graf" userId="d1890dd4-deb6-4a9b-a156-5113ac77bda8" providerId="ADAL" clId="{69E383D6-C176-4468-AE5C-C438ADBCA7BB}" dt="2020-02-01T22:58:28.373" v="72" actId="20577"/>
          <ac:spMkLst>
            <pc:docMk/>
            <pc:sldMk cId="1793285008" sldId="267"/>
            <ac:spMk id="5" creationId="{00000000-0000-0000-0000-000000000000}"/>
          </ac:spMkLst>
        </pc:spChg>
      </pc:sldChg>
      <pc:sldChg chg="modSp add">
        <pc:chgData name="Kenneth Graf" userId="d1890dd4-deb6-4a9b-a156-5113ac77bda8" providerId="ADAL" clId="{69E383D6-C176-4468-AE5C-C438ADBCA7BB}" dt="2020-01-08T20:52:52.332" v="8" actId="27636"/>
        <pc:sldMkLst>
          <pc:docMk/>
          <pc:sldMk cId="265196097" sldId="268"/>
        </pc:sldMkLst>
        <pc:spChg chg="mod">
          <ac:chgData name="Kenneth Graf" userId="d1890dd4-deb6-4a9b-a156-5113ac77bda8" providerId="ADAL" clId="{69E383D6-C176-4468-AE5C-C438ADBCA7BB}" dt="2020-01-08T20:52:52.332" v="8" actId="27636"/>
          <ac:spMkLst>
            <pc:docMk/>
            <pc:sldMk cId="265196097" sldId="268"/>
            <ac:spMk id="3" creationId="{00000000-0000-0000-0000-000000000000}"/>
          </ac:spMkLst>
        </pc:spChg>
      </pc:sldChg>
      <pc:sldChg chg="add del">
        <pc:chgData name="Kenneth Graf" userId="d1890dd4-deb6-4a9b-a156-5113ac77bda8" providerId="ADAL" clId="{69E383D6-C176-4468-AE5C-C438ADBCA7BB}" dt="2020-01-19T04:53:47.494" v="38" actId="2696"/>
        <pc:sldMkLst>
          <pc:docMk/>
          <pc:sldMk cId="4176950490" sldId="269"/>
        </pc:sldMkLst>
      </pc:sldChg>
      <pc:sldChg chg="add">
        <pc:chgData name="Kenneth Graf" userId="d1890dd4-deb6-4a9b-a156-5113ac77bda8" providerId="ADAL" clId="{69E383D6-C176-4468-AE5C-C438ADBCA7BB}" dt="2020-01-09T05:04:27.288" v="14"/>
        <pc:sldMkLst>
          <pc:docMk/>
          <pc:sldMk cId="4080699349" sldId="270"/>
        </pc:sldMkLst>
      </pc:sldChg>
      <pc:sldChg chg="add">
        <pc:chgData name="Kenneth Graf" userId="d1890dd4-deb6-4a9b-a156-5113ac77bda8" providerId="ADAL" clId="{69E383D6-C176-4468-AE5C-C438ADBCA7BB}" dt="2020-01-08T20:52:52.148" v="0"/>
        <pc:sldMkLst>
          <pc:docMk/>
          <pc:sldMk cId="2307071517" sldId="271"/>
        </pc:sldMkLst>
      </pc:sldChg>
      <pc:sldChg chg="add">
        <pc:chgData name="Kenneth Graf" userId="d1890dd4-deb6-4a9b-a156-5113ac77bda8" providerId="ADAL" clId="{69E383D6-C176-4468-AE5C-C438ADBCA7BB}" dt="2020-01-09T05:04:27.288" v="14"/>
        <pc:sldMkLst>
          <pc:docMk/>
          <pc:sldMk cId="447081231" sldId="272"/>
        </pc:sldMkLst>
      </pc:sldChg>
      <pc:sldChg chg="add">
        <pc:chgData name="Kenneth Graf" userId="d1890dd4-deb6-4a9b-a156-5113ac77bda8" providerId="ADAL" clId="{69E383D6-C176-4468-AE5C-C438ADBCA7BB}" dt="2020-01-08T20:52:52.148" v="0"/>
        <pc:sldMkLst>
          <pc:docMk/>
          <pc:sldMk cId="1506811967" sldId="273"/>
        </pc:sldMkLst>
      </pc:sldChg>
      <pc:sldChg chg="add">
        <pc:chgData name="Kenneth Graf" userId="d1890dd4-deb6-4a9b-a156-5113ac77bda8" providerId="ADAL" clId="{69E383D6-C176-4468-AE5C-C438ADBCA7BB}" dt="2020-01-08T20:52:52.148" v="0"/>
        <pc:sldMkLst>
          <pc:docMk/>
          <pc:sldMk cId="3048606421" sldId="274"/>
        </pc:sldMkLst>
      </pc:sldChg>
      <pc:sldChg chg="add del">
        <pc:chgData name="Kenneth Graf" userId="d1890dd4-deb6-4a9b-a156-5113ac77bda8" providerId="ADAL" clId="{69E383D6-C176-4468-AE5C-C438ADBCA7BB}" dt="2020-01-19T14:43:30.766" v="39" actId="2696"/>
        <pc:sldMkLst>
          <pc:docMk/>
          <pc:sldMk cId="3032765936" sldId="275"/>
        </pc:sldMkLst>
      </pc:sldChg>
      <pc:sldChg chg="modSp add">
        <pc:chgData name="Kenneth Graf" userId="d1890dd4-deb6-4a9b-a156-5113ac77bda8" providerId="ADAL" clId="{69E383D6-C176-4468-AE5C-C438ADBCA7BB}" dt="2020-01-08T20:52:52.296" v="4" actId="27636"/>
        <pc:sldMkLst>
          <pc:docMk/>
          <pc:sldMk cId="1612846659" sldId="276"/>
        </pc:sldMkLst>
        <pc:spChg chg="mod">
          <ac:chgData name="Kenneth Graf" userId="d1890dd4-deb6-4a9b-a156-5113ac77bda8" providerId="ADAL" clId="{69E383D6-C176-4468-AE5C-C438ADBCA7BB}" dt="2020-01-08T20:52:52.296" v="4" actId="27636"/>
          <ac:spMkLst>
            <pc:docMk/>
            <pc:sldMk cId="1612846659" sldId="276"/>
            <ac:spMk id="3" creationId="{00000000-0000-0000-0000-000000000000}"/>
          </ac:spMkLst>
        </pc:spChg>
      </pc:sldChg>
      <pc:sldChg chg="modSp add">
        <pc:chgData name="Kenneth Graf" userId="d1890dd4-deb6-4a9b-a156-5113ac77bda8" providerId="ADAL" clId="{69E383D6-C176-4468-AE5C-C438ADBCA7BB}" dt="2020-01-08T20:52:52.286" v="3" actId="27636"/>
        <pc:sldMkLst>
          <pc:docMk/>
          <pc:sldMk cId="2631012663" sldId="277"/>
        </pc:sldMkLst>
        <pc:spChg chg="mod">
          <ac:chgData name="Kenneth Graf" userId="d1890dd4-deb6-4a9b-a156-5113ac77bda8" providerId="ADAL" clId="{69E383D6-C176-4468-AE5C-C438ADBCA7BB}" dt="2020-01-08T20:52:52.286" v="3" actId="27636"/>
          <ac:spMkLst>
            <pc:docMk/>
            <pc:sldMk cId="2631012663" sldId="277"/>
            <ac:spMk id="3" creationId="{00000000-0000-0000-0000-000000000000}"/>
          </ac:spMkLst>
        </pc:spChg>
      </pc:sldChg>
      <pc:sldChg chg="modSp add">
        <pc:chgData name="Kenneth Graf" userId="d1890dd4-deb6-4a9b-a156-5113ac77bda8" providerId="ADAL" clId="{69E383D6-C176-4468-AE5C-C438ADBCA7BB}" dt="2020-01-08T20:52:52.308" v="6" actId="27636"/>
        <pc:sldMkLst>
          <pc:docMk/>
          <pc:sldMk cId="1083466186" sldId="278"/>
        </pc:sldMkLst>
        <pc:spChg chg="mod">
          <ac:chgData name="Kenneth Graf" userId="d1890dd4-deb6-4a9b-a156-5113ac77bda8" providerId="ADAL" clId="{69E383D6-C176-4468-AE5C-C438ADBCA7BB}" dt="2020-01-08T20:52:52.308" v="6" actId="27636"/>
          <ac:spMkLst>
            <pc:docMk/>
            <pc:sldMk cId="1083466186" sldId="278"/>
            <ac:spMk id="3" creationId="{00000000-0000-0000-0000-000000000000}"/>
          </ac:spMkLst>
        </pc:spChg>
      </pc:sldChg>
      <pc:sldChg chg="add">
        <pc:chgData name="Kenneth Graf" userId="d1890dd4-deb6-4a9b-a156-5113ac77bda8" providerId="ADAL" clId="{69E383D6-C176-4468-AE5C-C438ADBCA7BB}" dt="2020-01-09T05:27:08.832" v="21"/>
        <pc:sldMkLst>
          <pc:docMk/>
          <pc:sldMk cId="637508725" sldId="279"/>
        </pc:sldMkLst>
      </pc:sldChg>
      <pc:sldChg chg="add">
        <pc:chgData name="Kenneth Graf" userId="d1890dd4-deb6-4a9b-a156-5113ac77bda8" providerId="ADAL" clId="{69E383D6-C176-4468-AE5C-C438ADBCA7BB}" dt="2020-01-08T20:52:52.148" v="0"/>
        <pc:sldMkLst>
          <pc:docMk/>
          <pc:sldMk cId="77508732" sldId="280"/>
        </pc:sldMkLst>
      </pc:sldChg>
      <pc:sldChg chg="add">
        <pc:chgData name="Kenneth Graf" userId="d1890dd4-deb6-4a9b-a156-5113ac77bda8" providerId="ADAL" clId="{69E383D6-C176-4468-AE5C-C438ADBCA7BB}" dt="2020-01-08T20:52:52.148" v="0"/>
        <pc:sldMkLst>
          <pc:docMk/>
          <pc:sldMk cId="1473766947" sldId="281"/>
        </pc:sldMkLst>
      </pc:sldChg>
      <pc:sldChg chg="modSp add">
        <pc:chgData name="Kenneth Graf" userId="d1890dd4-deb6-4a9b-a156-5113ac77bda8" providerId="ADAL" clId="{69E383D6-C176-4468-AE5C-C438ADBCA7BB}" dt="2020-01-08T20:52:52.272" v="2" actId="27636"/>
        <pc:sldMkLst>
          <pc:docMk/>
          <pc:sldMk cId="2206726219" sldId="282"/>
        </pc:sldMkLst>
        <pc:spChg chg="mod">
          <ac:chgData name="Kenneth Graf" userId="d1890dd4-deb6-4a9b-a156-5113ac77bda8" providerId="ADAL" clId="{69E383D6-C176-4468-AE5C-C438ADBCA7BB}" dt="2020-01-08T20:52:52.272" v="2" actId="27636"/>
          <ac:spMkLst>
            <pc:docMk/>
            <pc:sldMk cId="2206726219" sldId="282"/>
            <ac:spMk id="3" creationId="{1A406229-B200-44CD-97CF-024CC2861ACF}"/>
          </ac:spMkLst>
        </pc:spChg>
      </pc:sldChg>
      <pc:sldChg chg="add">
        <pc:chgData name="Kenneth Graf" userId="d1890dd4-deb6-4a9b-a156-5113ac77bda8" providerId="ADAL" clId="{69E383D6-C176-4468-AE5C-C438ADBCA7BB}" dt="2020-01-08T20:52:52.148" v="0"/>
        <pc:sldMkLst>
          <pc:docMk/>
          <pc:sldMk cId="4102417609" sldId="283"/>
        </pc:sldMkLst>
      </pc:sldChg>
      <pc:sldChg chg="add del">
        <pc:chgData name="Kenneth Graf" userId="d1890dd4-deb6-4a9b-a156-5113ac77bda8" providerId="ADAL" clId="{69E383D6-C176-4468-AE5C-C438ADBCA7BB}" dt="2020-01-19T04:53:47.494" v="38" actId="2696"/>
        <pc:sldMkLst>
          <pc:docMk/>
          <pc:sldMk cId="2683788707" sldId="284"/>
        </pc:sldMkLst>
      </pc:sldChg>
      <pc:sldChg chg="add del">
        <pc:chgData name="Kenneth Graf" userId="d1890dd4-deb6-4a9b-a156-5113ac77bda8" providerId="ADAL" clId="{69E383D6-C176-4468-AE5C-C438ADBCA7BB}" dt="2020-01-19T04:53:47.494" v="38" actId="2696"/>
        <pc:sldMkLst>
          <pc:docMk/>
          <pc:sldMk cId="1241432961" sldId="285"/>
        </pc:sldMkLst>
      </pc:sldChg>
      <pc:sldChg chg="add">
        <pc:chgData name="Kenneth Graf" userId="d1890dd4-deb6-4a9b-a156-5113ac77bda8" providerId="ADAL" clId="{69E383D6-C176-4468-AE5C-C438ADBCA7BB}" dt="2020-01-08T20:52:52.148" v="0"/>
        <pc:sldMkLst>
          <pc:docMk/>
          <pc:sldMk cId="3075134040" sldId="286"/>
        </pc:sldMkLst>
      </pc:sldChg>
      <pc:sldChg chg="add">
        <pc:chgData name="Kenneth Graf" userId="d1890dd4-deb6-4a9b-a156-5113ac77bda8" providerId="ADAL" clId="{69E383D6-C176-4468-AE5C-C438ADBCA7BB}" dt="2020-01-08T20:52:52.148" v="0"/>
        <pc:sldMkLst>
          <pc:docMk/>
          <pc:sldMk cId="85887649" sldId="287"/>
        </pc:sldMkLst>
      </pc:sldChg>
      <pc:sldChg chg="modSp add">
        <pc:chgData name="Kenneth Graf" userId="d1890dd4-deb6-4a9b-a156-5113ac77bda8" providerId="ADAL" clId="{69E383D6-C176-4468-AE5C-C438ADBCA7BB}" dt="2020-02-01T22:58:13.975" v="50" actId="27636"/>
        <pc:sldMkLst>
          <pc:docMk/>
          <pc:sldMk cId="3157602653" sldId="288"/>
        </pc:sldMkLst>
        <pc:spChg chg="mod">
          <ac:chgData name="Kenneth Graf" userId="d1890dd4-deb6-4a9b-a156-5113ac77bda8" providerId="ADAL" clId="{69E383D6-C176-4468-AE5C-C438ADBCA7BB}" dt="2020-01-08T20:52:52.250" v="1" actId="27636"/>
          <ac:spMkLst>
            <pc:docMk/>
            <pc:sldMk cId="3157602653" sldId="288"/>
            <ac:spMk id="2" creationId="{8ACD7A79-1940-405B-9F75-DC363E1AD83B}"/>
          </ac:spMkLst>
        </pc:spChg>
        <pc:spChg chg="mod">
          <ac:chgData name="Kenneth Graf" userId="d1890dd4-deb6-4a9b-a156-5113ac77bda8" providerId="ADAL" clId="{69E383D6-C176-4468-AE5C-C438ADBCA7BB}" dt="2020-02-01T22:58:13.975" v="50" actId="27636"/>
          <ac:spMkLst>
            <pc:docMk/>
            <pc:sldMk cId="3157602653" sldId="288"/>
            <ac:spMk id="3" creationId="{9DA6F069-CDC5-473A-9885-A3FBC981FFB4}"/>
          </ac:spMkLst>
        </pc:spChg>
      </pc:sldChg>
      <pc:sldChg chg="add">
        <pc:chgData name="Kenneth Graf" userId="d1890dd4-deb6-4a9b-a156-5113ac77bda8" providerId="ADAL" clId="{69E383D6-C176-4468-AE5C-C438ADBCA7BB}" dt="2020-01-08T20:52:52.148" v="0"/>
        <pc:sldMkLst>
          <pc:docMk/>
          <pc:sldMk cId="2754658506" sldId="289"/>
        </pc:sldMkLst>
      </pc:sldChg>
      <pc:sldChg chg="add">
        <pc:chgData name="Kenneth Graf" userId="d1890dd4-deb6-4a9b-a156-5113ac77bda8" providerId="ADAL" clId="{69E383D6-C176-4468-AE5C-C438ADBCA7BB}" dt="2020-01-08T20:52:52.148" v="0"/>
        <pc:sldMkLst>
          <pc:docMk/>
          <pc:sldMk cId="2374593885" sldId="290"/>
        </pc:sldMkLst>
      </pc:sldChg>
      <pc:sldChg chg="add">
        <pc:chgData name="Kenneth Graf" userId="d1890dd4-deb6-4a9b-a156-5113ac77bda8" providerId="ADAL" clId="{69E383D6-C176-4468-AE5C-C438ADBCA7BB}" dt="2020-01-08T20:52:52.148" v="0"/>
        <pc:sldMkLst>
          <pc:docMk/>
          <pc:sldMk cId="4086679142" sldId="291"/>
        </pc:sldMkLst>
      </pc:sldChg>
      <pc:sldChg chg="add">
        <pc:chgData name="Kenneth Graf" userId="d1890dd4-deb6-4a9b-a156-5113ac77bda8" providerId="ADAL" clId="{69E383D6-C176-4468-AE5C-C438ADBCA7BB}" dt="2020-01-08T20:52:52.148" v="0"/>
        <pc:sldMkLst>
          <pc:docMk/>
          <pc:sldMk cId="3333321352" sldId="293"/>
        </pc:sldMkLst>
      </pc:sldChg>
      <pc:sldChg chg="add">
        <pc:chgData name="Kenneth Graf" userId="d1890dd4-deb6-4a9b-a156-5113ac77bda8" providerId="ADAL" clId="{69E383D6-C176-4468-AE5C-C438ADBCA7BB}" dt="2020-02-01T22:57:36.531" v="46"/>
        <pc:sldMkLst>
          <pc:docMk/>
          <pc:sldMk cId="419863872" sldId="322"/>
        </pc:sldMkLst>
      </pc:sldChg>
      <pc:sldChg chg="modSp add">
        <pc:chgData name="Kenneth Graf" userId="d1890dd4-deb6-4a9b-a156-5113ac77bda8" providerId="ADAL" clId="{69E383D6-C176-4468-AE5C-C438ADBCA7BB}" dt="2020-01-08T20:52:52.315" v="7" actId="27636"/>
        <pc:sldMkLst>
          <pc:docMk/>
          <pc:sldMk cId="1848022246" sldId="323"/>
        </pc:sldMkLst>
        <pc:spChg chg="mod">
          <ac:chgData name="Kenneth Graf" userId="d1890dd4-deb6-4a9b-a156-5113ac77bda8" providerId="ADAL" clId="{69E383D6-C176-4468-AE5C-C438ADBCA7BB}" dt="2020-01-08T20:52:52.315" v="7" actId="27636"/>
          <ac:spMkLst>
            <pc:docMk/>
            <pc:sldMk cId="1848022246" sldId="323"/>
            <ac:spMk id="2" creationId="{85E05399-BA8D-4569-8217-F0F9747BC181}"/>
          </ac:spMkLst>
        </pc:spChg>
      </pc:sldChg>
      <pc:sldChg chg="add">
        <pc:chgData name="Kenneth Graf" userId="d1890dd4-deb6-4a9b-a156-5113ac77bda8" providerId="ADAL" clId="{69E383D6-C176-4468-AE5C-C438ADBCA7BB}" dt="2020-01-08T20:52:52.148" v="0"/>
        <pc:sldMkLst>
          <pc:docMk/>
          <pc:sldMk cId="860249954" sldId="324"/>
        </pc:sldMkLst>
      </pc:sldChg>
      <pc:sldChg chg="add ord">
        <pc:chgData name="Kenneth Graf" userId="d1890dd4-deb6-4a9b-a156-5113ac77bda8" providerId="ADAL" clId="{69E383D6-C176-4468-AE5C-C438ADBCA7BB}" dt="2020-01-19T16:49:27.998" v="43"/>
        <pc:sldMkLst>
          <pc:docMk/>
          <pc:sldMk cId="4287431349" sldId="325"/>
        </pc:sldMkLst>
      </pc:sldChg>
      <pc:sldChg chg="add ord">
        <pc:chgData name="Kenneth Graf" userId="d1890dd4-deb6-4a9b-a156-5113ac77bda8" providerId="ADAL" clId="{69E383D6-C176-4468-AE5C-C438ADBCA7BB}" dt="2020-01-19T16:49:45.596" v="45"/>
        <pc:sldMkLst>
          <pc:docMk/>
          <pc:sldMk cId="935429295" sldId="326"/>
        </pc:sldMkLst>
      </pc:sldChg>
      <pc:sldChg chg="add">
        <pc:chgData name="Kenneth Graf" userId="d1890dd4-deb6-4a9b-a156-5113ac77bda8" providerId="ADAL" clId="{69E383D6-C176-4468-AE5C-C438ADBCA7BB}" dt="2020-01-08T20:52:52.148" v="0"/>
        <pc:sldMkLst>
          <pc:docMk/>
          <pc:sldMk cId="3688037478" sldId="327"/>
        </pc:sldMkLst>
      </pc:sldChg>
      <pc:sldChg chg="add">
        <pc:chgData name="Kenneth Graf" userId="d1890dd4-deb6-4a9b-a156-5113ac77bda8" providerId="ADAL" clId="{69E383D6-C176-4468-AE5C-C438ADBCA7BB}" dt="2020-01-08T20:52:52.148" v="0"/>
        <pc:sldMkLst>
          <pc:docMk/>
          <pc:sldMk cId="143240066" sldId="328"/>
        </pc:sldMkLst>
      </pc:sldChg>
      <pc:sldChg chg="modSp add del">
        <pc:chgData name="Kenneth Graf" userId="d1890dd4-deb6-4a9b-a156-5113ac77bda8" providerId="ADAL" clId="{69E383D6-C176-4468-AE5C-C438ADBCA7BB}" dt="2020-01-19T04:50:32.667" v="35" actId="47"/>
        <pc:sldMkLst>
          <pc:docMk/>
          <pc:sldMk cId="3429378415" sldId="329"/>
        </pc:sldMkLst>
        <pc:picChg chg="mod">
          <ac:chgData name="Kenneth Graf" userId="d1890dd4-deb6-4a9b-a156-5113ac77bda8" providerId="ADAL" clId="{69E383D6-C176-4468-AE5C-C438ADBCA7BB}" dt="2020-01-08T20:59:19.519" v="11" actId="14100"/>
          <ac:picMkLst>
            <pc:docMk/>
            <pc:sldMk cId="3429378415" sldId="329"/>
            <ac:picMk id="4" creationId="{16554ECE-064A-4CBD-ACE1-1FC5683A90CF}"/>
          </ac:picMkLst>
        </pc:picChg>
      </pc:sldChg>
      <pc:sldChg chg="add del">
        <pc:chgData name="Kenneth Graf" userId="d1890dd4-deb6-4a9b-a156-5113ac77bda8" providerId="ADAL" clId="{69E383D6-C176-4468-AE5C-C438ADBCA7BB}" dt="2020-01-19T04:50:33.950" v="36" actId="47"/>
        <pc:sldMkLst>
          <pc:docMk/>
          <pc:sldMk cId="2264769030" sldId="330"/>
        </pc:sldMkLst>
      </pc:sldChg>
      <pc:sldChg chg="add del">
        <pc:chgData name="Kenneth Graf" userId="d1890dd4-deb6-4a9b-a156-5113ac77bda8" providerId="ADAL" clId="{69E383D6-C176-4468-AE5C-C438ADBCA7BB}" dt="2020-01-19T04:51:25.041" v="37" actId="47"/>
        <pc:sldMkLst>
          <pc:docMk/>
          <pc:sldMk cId="487300846" sldId="331"/>
        </pc:sldMkLst>
      </pc:sldChg>
      <pc:sldChg chg="modSp add del">
        <pc:chgData name="Kenneth Graf" userId="d1890dd4-deb6-4a9b-a156-5113ac77bda8" providerId="ADAL" clId="{69E383D6-C176-4468-AE5C-C438ADBCA7BB}" dt="2020-01-19T04:53:47.494" v="38" actId="2696"/>
        <pc:sldMkLst>
          <pc:docMk/>
          <pc:sldMk cId="3060862333" sldId="332"/>
        </pc:sldMkLst>
        <pc:picChg chg="mod">
          <ac:chgData name="Kenneth Graf" userId="d1890dd4-deb6-4a9b-a156-5113ac77bda8" providerId="ADAL" clId="{69E383D6-C176-4468-AE5C-C438ADBCA7BB}" dt="2020-01-08T20:59:28.172" v="13" actId="14100"/>
          <ac:picMkLst>
            <pc:docMk/>
            <pc:sldMk cId="3060862333" sldId="332"/>
            <ac:picMk id="5" creationId="{2B58E91F-7D88-416F-BA9C-ADE48AAD4BF5}"/>
          </ac:picMkLst>
        </pc:picChg>
      </pc:sldChg>
      <pc:sldChg chg="add del">
        <pc:chgData name="Kenneth Graf" userId="d1890dd4-deb6-4a9b-a156-5113ac77bda8" providerId="ADAL" clId="{69E383D6-C176-4468-AE5C-C438ADBCA7BB}" dt="2020-01-19T04:53:47.494" v="38" actId="2696"/>
        <pc:sldMkLst>
          <pc:docMk/>
          <pc:sldMk cId="2770323180" sldId="333"/>
        </pc:sldMkLst>
      </pc:sldChg>
      <pc:sldChg chg="add del">
        <pc:chgData name="Kenneth Graf" userId="d1890dd4-deb6-4a9b-a156-5113ac77bda8" providerId="ADAL" clId="{69E383D6-C176-4468-AE5C-C438ADBCA7BB}" dt="2020-01-19T04:53:47.494" v="38" actId="2696"/>
        <pc:sldMkLst>
          <pc:docMk/>
          <pc:sldMk cId="3787937310" sldId="334"/>
        </pc:sldMkLst>
      </pc:sldChg>
      <pc:sldChg chg="add del">
        <pc:chgData name="Kenneth Graf" userId="d1890dd4-deb6-4a9b-a156-5113ac77bda8" providerId="ADAL" clId="{69E383D6-C176-4468-AE5C-C438ADBCA7BB}" dt="2020-01-19T04:53:47.494" v="38" actId="2696"/>
        <pc:sldMkLst>
          <pc:docMk/>
          <pc:sldMk cId="1292164341" sldId="335"/>
        </pc:sldMkLst>
      </pc:sldChg>
      <pc:sldChg chg="add del">
        <pc:chgData name="Kenneth Graf" userId="d1890dd4-deb6-4a9b-a156-5113ac77bda8" providerId="ADAL" clId="{69E383D6-C176-4468-AE5C-C438ADBCA7BB}" dt="2020-01-19T04:53:47.494" v="38" actId="2696"/>
        <pc:sldMkLst>
          <pc:docMk/>
          <pc:sldMk cId="287758716" sldId="336"/>
        </pc:sldMkLst>
      </pc:sldChg>
      <pc:sldChg chg="add del">
        <pc:chgData name="Kenneth Graf" userId="d1890dd4-deb6-4a9b-a156-5113ac77bda8" providerId="ADAL" clId="{69E383D6-C176-4468-AE5C-C438ADBCA7BB}" dt="2020-01-19T04:53:47.494" v="38" actId="2696"/>
        <pc:sldMkLst>
          <pc:docMk/>
          <pc:sldMk cId="3575505853" sldId="337"/>
        </pc:sldMkLst>
      </pc:sldChg>
      <pc:sldChg chg="add">
        <pc:chgData name="Kenneth Graf" userId="d1890dd4-deb6-4a9b-a156-5113ac77bda8" providerId="ADAL" clId="{69E383D6-C176-4468-AE5C-C438ADBCA7BB}" dt="2020-01-08T20:59:08.847" v="9"/>
        <pc:sldMkLst>
          <pc:docMk/>
          <pc:sldMk cId="392898226" sldId="338"/>
        </pc:sldMkLst>
      </pc:sldChg>
      <pc:sldChg chg="add">
        <pc:chgData name="Kenneth Graf" userId="d1890dd4-deb6-4a9b-a156-5113ac77bda8" providerId="ADAL" clId="{69E383D6-C176-4468-AE5C-C438ADBCA7BB}" dt="2020-01-09T05:04:27.288" v="14"/>
        <pc:sldMkLst>
          <pc:docMk/>
          <pc:sldMk cId="4157386250" sldId="339"/>
        </pc:sldMkLst>
      </pc:sldChg>
      <pc:sldChg chg="modSp add del">
        <pc:chgData name="Kenneth Graf" userId="d1890dd4-deb6-4a9b-a156-5113ac77bda8" providerId="ADAL" clId="{69E383D6-C176-4468-AE5C-C438ADBCA7BB}" dt="2020-01-19T14:43:30.766" v="39" actId="2696"/>
        <pc:sldMkLst>
          <pc:docMk/>
          <pc:sldMk cId="1820138324" sldId="340"/>
        </pc:sldMkLst>
        <pc:spChg chg="mod">
          <ac:chgData name="Kenneth Graf" userId="d1890dd4-deb6-4a9b-a156-5113ac77bda8" providerId="ADAL" clId="{69E383D6-C176-4468-AE5C-C438ADBCA7BB}" dt="2020-01-09T05:04:27.323" v="15" actId="27636"/>
          <ac:spMkLst>
            <pc:docMk/>
            <pc:sldMk cId="1820138324" sldId="340"/>
            <ac:spMk id="3" creationId="{00000000-0000-0000-0000-000000000000}"/>
          </ac:spMkLst>
        </pc:spChg>
      </pc:sldChg>
      <pc:sldChg chg="add del">
        <pc:chgData name="Kenneth Graf" userId="d1890dd4-deb6-4a9b-a156-5113ac77bda8" providerId="ADAL" clId="{69E383D6-C176-4468-AE5C-C438ADBCA7BB}" dt="2020-01-19T14:43:30.766" v="39" actId="2696"/>
        <pc:sldMkLst>
          <pc:docMk/>
          <pc:sldMk cId="658808536" sldId="341"/>
        </pc:sldMkLst>
      </pc:sldChg>
      <pc:sldChg chg="add del">
        <pc:chgData name="Kenneth Graf" userId="d1890dd4-deb6-4a9b-a156-5113ac77bda8" providerId="ADAL" clId="{69E383D6-C176-4468-AE5C-C438ADBCA7BB}" dt="2020-01-19T14:43:30.766" v="39" actId="2696"/>
        <pc:sldMkLst>
          <pc:docMk/>
          <pc:sldMk cId="4093469920" sldId="342"/>
        </pc:sldMkLst>
      </pc:sldChg>
      <pc:sldChg chg="add del">
        <pc:chgData name="Kenneth Graf" userId="d1890dd4-deb6-4a9b-a156-5113ac77bda8" providerId="ADAL" clId="{69E383D6-C176-4468-AE5C-C438ADBCA7BB}" dt="2020-01-19T14:43:30.766" v="39" actId="2696"/>
        <pc:sldMkLst>
          <pc:docMk/>
          <pc:sldMk cId="540615885" sldId="343"/>
        </pc:sldMkLst>
      </pc:sldChg>
      <pc:sldChg chg="add">
        <pc:chgData name="Kenneth Graf" userId="d1890dd4-deb6-4a9b-a156-5113ac77bda8" providerId="ADAL" clId="{69E383D6-C176-4468-AE5C-C438ADBCA7BB}" dt="2020-01-09T05:04:27.288" v="14"/>
        <pc:sldMkLst>
          <pc:docMk/>
          <pc:sldMk cId="839656091" sldId="344"/>
        </pc:sldMkLst>
      </pc:sldChg>
      <pc:sldChg chg="add del">
        <pc:chgData name="Kenneth Graf" userId="d1890dd4-deb6-4a9b-a156-5113ac77bda8" providerId="ADAL" clId="{69E383D6-C176-4468-AE5C-C438ADBCA7BB}" dt="2020-01-19T14:43:30.766" v="39" actId="2696"/>
        <pc:sldMkLst>
          <pc:docMk/>
          <pc:sldMk cId="1272296810" sldId="345"/>
        </pc:sldMkLst>
      </pc:sldChg>
      <pc:sldChg chg="add del">
        <pc:chgData name="Kenneth Graf" userId="d1890dd4-deb6-4a9b-a156-5113ac77bda8" providerId="ADAL" clId="{69E383D6-C176-4468-AE5C-C438ADBCA7BB}" dt="2020-01-19T14:43:30.766" v="39" actId="2696"/>
        <pc:sldMkLst>
          <pc:docMk/>
          <pc:sldMk cId="3770658668" sldId="346"/>
        </pc:sldMkLst>
      </pc:sldChg>
      <pc:sldChg chg="add del">
        <pc:chgData name="Kenneth Graf" userId="d1890dd4-deb6-4a9b-a156-5113ac77bda8" providerId="ADAL" clId="{69E383D6-C176-4468-AE5C-C438ADBCA7BB}" dt="2020-01-19T14:43:30.766" v="39" actId="2696"/>
        <pc:sldMkLst>
          <pc:docMk/>
          <pc:sldMk cId="2428426141" sldId="347"/>
        </pc:sldMkLst>
      </pc:sldChg>
      <pc:sldChg chg="add del">
        <pc:chgData name="Kenneth Graf" userId="d1890dd4-deb6-4a9b-a156-5113ac77bda8" providerId="ADAL" clId="{69E383D6-C176-4468-AE5C-C438ADBCA7BB}" dt="2020-01-19T14:43:30.766" v="39" actId="2696"/>
        <pc:sldMkLst>
          <pc:docMk/>
          <pc:sldMk cId="560624556" sldId="348"/>
        </pc:sldMkLst>
      </pc:sldChg>
      <pc:sldChg chg="add del">
        <pc:chgData name="Kenneth Graf" userId="d1890dd4-deb6-4a9b-a156-5113ac77bda8" providerId="ADAL" clId="{69E383D6-C176-4468-AE5C-C438ADBCA7BB}" dt="2020-01-19T14:43:30.766" v="39" actId="2696"/>
        <pc:sldMkLst>
          <pc:docMk/>
          <pc:sldMk cId="3632957069" sldId="349"/>
        </pc:sldMkLst>
      </pc:sldChg>
      <pc:sldChg chg="add del">
        <pc:chgData name="Kenneth Graf" userId="d1890dd4-deb6-4a9b-a156-5113ac77bda8" providerId="ADAL" clId="{69E383D6-C176-4468-AE5C-C438ADBCA7BB}" dt="2020-01-19T14:43:30.766" v="39" actId="2696"/>
        <pc:sldMkLst>
          <pc:docMk/>
          <pc:sldMk cId="3519548398" sldId="350"/>
        </pc:sldMkLst>
      </pc:sldChg>
      <pc:sldChg chg="add">
        <pc:chgData name="Kenneth Graf" userId="d1890dd4-deb6-4a9b-a156-5113ac77bda8" providerId="ADAL" clId="{69E383D6-C176-4468-AE5C-C438ADBCA7BB}" dt="2020-01-09T05:11:18.017" v="16"/>
        <pc:sldMkLst>
          <pc:docMk/>
          <pc:sldMk cId="555049107" sldId="351"/>
        </pc:sldMkLst>
      </pc:sldChg>
      <pc:sldChg chg="modSp add">
        <pc:chgData name="Kenneth Graf" userId="d1890dd4-deb6-4a9b-a156-5113ac77bda8" providerId="ADAL" clId="{69E383D6-C176-4468-AE5C-C438ADBCA7BB}" dt="2020-01-09T05:11:18.048" v="17" actId="27636"/>
        <pc:sldMkLst>
          <pc:docMk/>
          <pc:sldMk cId="2922033037" sldId="352"/>
        </pc:sldMkLst>
        <pc:spChg chg="mod">
          <ac:chgData name="Kenneth Graf" userId="d1890dd4-deb6-4a9b-a156-5113ac77bda8" providerId="ADAL" clId="{69E383D6-C176-4468-AE5C-C438ADBCA7BB}" dt="2020-01-09T05:11:18.048" v="17" actId="27636"/>
          <ac:spMkLst>
            <pc:docMk/>
            <pc:sldMk cId="2922033037" sldId="352"/>
            <ac:spMk id="3" creationId="{00000000-0000-0000-0000-000000000000}"/>
          </ac:spMkLst>
        </pc:spChg>
      </pc:sldChg>
      <pc:sldChg chg="add">
        <pc:chgData name="Kenneth Graf" userId="d1890dd4-deb6-4a9b-a156-5113ac77bda8" providerId="ADAL" clId="{69E383D6-C176-4468-AE5C-C438ADBCA7BB}" dt="2020-01-09T05:11:18.017" v="16"/>
        <pc:sldMkLst>
          <pc:docMk/>
          <pc:sldMk cId="1699128554" sldId="353"/>
        </pc:sldMkLst>
      </pc:sldChg>
      <pc:sldChg chg="add">
        <pc:chgData name="Kenneth Graf" userId="d1890dd4-deb6-4a9b-a156-5113ac77bda8" providerId="ADAL" clId="{69E383D6-C176-4468-AE5C-C438ADBCA7BB}" dt="2020-01-09T05:11:18.017" v="16"/>
        <pc:sldMkLst>
          <pc:docMk/>
          <pc:sldMk cId="4246851525" sldId="354"/>
        </pc:sldMkLst>
      </pc:sldChg>
      <pc:sldChg chg="addSp delSp modSp add">
        <pc:chgData name="Kenneth Graf" userId="d1890dd4-deb6-4a9b-a156-5113ac77bda8" providerId="ADAL" clId="{69E383D6-C176-4468-AE5C-C438ADBCA7BB}" dt="2020-01-09T05:27:23.530" v="30"/>
        <pc:sldMkLst>
          <pc:docMk/>
          <pc:sldMk cId="147151441" sldId="355"/>
        </pc:sldMkLst>
        <pc:spChg chg="add del mod">
          <ac:chgData name="Kenneth Graf" userId="d1890dd4-deb6-4a9b-a156-5113ac77bda8" providerId="ADAL" clId="{69E383D6-C176-4468-AE5C-C438ADBCA7BB}" dt="2020-01-09T05:27:23.530" v="30"/>
          <ac:spMkLst>
            <pc:docMk/>
            <pc:sldMk cId="147151441" sldId="355"/>
            <ac:spMk id="2" creationId="{E4A056FB-9860-4EE0-AF2B-C15B59010CBF}"/>
          </ac:spMkLst>
        </pc:spChg>
        <pc:spChg chg="add mod">
          <ac:chgData name="Kenneth Graf" userId="d1890dd4-deb6-4a9b-a156-5113ac77bda8" providerId="ADAL" clId="{69E383D6-C176-4468-AE5C-C438ADBCA7BB}" dt="2020-01-09T05:27:23.530" v="30"/>
          <ac:spMkLst>
            <pc:docMk/>
            <pc:sldMk cId="147151441" sldId="355"/>
            <ac:spMk id="3" creationId="{3B503467-0A4E-4DD6-AB43-E05B78F00722}"/>
          </ac:spMkLst>
        </pc:spChg>
        <pc:spChg chg="del">
          <ac:chgData name="Kenneth Graf" userId="d1890dd4-deb6-4a9b-a156-5113ac77bda8" providerId="ADAL" clId="{69E383D6-C176-4468-AE5C-C438ADBCA7BB}" dt="2020-01-09T05:27:14.890" v="26"/>
          <ac:spMkLst>
            <pc:docMk/>
            <pc:sldMk cId="147151441" sldId="355"/>
            <ac:spMk id="4" creationId="{00000000-0000-0000-0000-000000000000}"/>
          </ac:spMkLst>
        </pc:spChg>
      </pc:sldChg>
      <pc:sldChg chg="addSp modSp add">
        <pc:chgData name="Kenneth Graf" userId="d1890dd4-deb6-4a9b-a156-5113ac77bda8" providerId="ADAL" clId="{69E383D6-C176-4468-AE5C-C438ADBCA7BB}" dt="2020-01-09T05:27:30.954" v="31" actId="14100"/>
        <pc:sldMkLst>
          <pc:docMk/>
          <pc:sldMk cId="3850173855" sldId="356"/>
        </pc:sldMkLst>
        <pc:spChg chg="add mod">
          <ac:chgData name="Kenneth Graf" userId="d1890dd4-deb6-4a9b-a156-5113ac77bda8" providerId="ADAL" clId="{69E383D6-C176-4468-AE5C-C438ADBCA7BB}" dt="2020-01-09T05:27:14.890" v="26"/>
          <ac:spMkLst>
            <pc:docMk/>
            <pc:sldMk cId="3850173855" sldId="356"/>
            <ac:spMk id="3" creationId="{38FABEAA-7B45-43C1-A26D-D7DC07BFD8CF}"/>
          </ac:spMkLst>
        </pc:spChg>
        <pc:picChg chg="mod">
          <ac:chgData name="Kenneth Graf" userId="d1890dd4-deb6-4a9b-a156-5113ac77bda8" providerId="ADAL" clId="{69E383D6-C176-4468-AE5C-C438ADBCA7BB}" dt="2020-01-09T05:27:30.954" v="31" actId="14100"/>
          <ac:picMkLst>
            <pc:docMk/>
            <pc:sldMk cId="3850173855" sldId="356"/>
            <ac:picMk id="4098" creationId="{00000000-0000-0000-0000-000000000000}"/>
          </ac:picMkLst>
        </pc:picChg>
      </pc:sldChg>
      <pc:sldChg chg="modSp add">
        <pc:chgData name="Kenneth Graf" userId="d1890dd4-deb6-4a9b-a156-5113ac77bda8" providerId="ADAL" clId="{69E383D6-C176-4468-AE5C-C438ADBCA7BB}" dt="2020-01-09T05:27:08.862" v="22" actId="27636"/>
        <pc:sldMkLst>
          <pc:docMk/>
          <pc:sldMk cId="2802417301" sldId="357"/>
        </pc:sldMkLst>
        <pc:spChg chg="mod">
          <ac:chgData name="Kenneth Graf" userId="d1890dd4-deb6-4a9b-a156-5113ac77bda8" providerId="ADAL" clId="{69E383D6-C176-4468-AE5C-C438ADBCA7BB}" dt="2020-01-09T05:27:08.862" v="22" actId="27636"/>
          <ac:spMkLst>
            <pc:docMk/>
            <pc:sldMk cId="2802417301" sldId="357"/>
            <ac:spMk id="2" creationId="{00000000-0000-0000-0000-000000000000}"/>
          </ac:spMkLst>
        </pc:spChg>
      </pc:sldChg>
      <pc:sldChg chg="add">
        <pc:chgData name="Kenneth Graf" userId="d1890dd4-deb6-4a9b-a156-5113ac77bda8" providerId="ADAL" clId="{69E383D6-C176-4468-AE5C-C438ADBCA7BB}" dt="2020-01-09T05:27:08.832" v="21"/>
        <pc:sldMkLst>
          <pc:docMk/>
          <pc:sldMk cId="2616388196" sldId="358"/>
        </pc:sldMkLst>
      </pc:sldChg>
      <pc:sldChg chg="add">
        <pc:chgData name="Kenneth Graf" userId="d1890dd4-deb6-4a9b-a156-5113ac77bda8" providerId="ADAL" clId="{69E383D6-C176-4468-AE5C-C438ADBCA7BB}" dt="2020-01-09T05:27:08.832" v="21"/>
        <pc:sldMkLst>
          <pc:docMk/>
          <pc:sldMk cId="1263813645" sldId="359"/>
        </pc:sldMkLst>
      </pc:sldChg>
      <pc:sldChg chg="modSp add">
        <pc:chgData name="Kenneth Graf" userId="d1890dd4-deb6-4a9b-a156-5113ac77bda8" providerId="ADAL" clId="{69E383D6-C176-4468-AE5C-C438ADBCA7BB}" dt="2020-01-09T05:27:14.923" v="27" actId="27636"/>
        <pc:sldMkLst>
          <pc:docMk/>
          <pc:sldMk cId="2901443010" sldId="360"/>
        </pc:sldMkLst>
        <pc:spChg chg="mod">
          <ac:chgData name="Kenneth Graf" userId="d1890dd4-deb6-4a9b-a156-5113ac77bda8" providerId="ADAL" clId="{69E383D6-C176-4468-AE5C-C438ADBCA7BB}" dt="2020-01-09T05:27:14.923" v="27" actId="27636"/>
          <ac:spMkLst>
            <pc:docMk/>
            <pc:sldMk cId="2901443010" sldId="360"/>
            <ac:spMk id="3" creationId="{00000000-0000-0000-0000-000000000000}"/>
          </ac:spMkLst>
        </pc:spChg>
      </pc:sldChg>
      <pc:sldChg chg="modSp add">
        <pc:chgData name="Kenneth Graf" userId="d1890dd4-deb6-4a9b-a156-5113ac77bda8" providerId="ADAL" clId="{69E383D6-C176-4468-AE5C-C438ADBCA7BB}" dt="2020-01-09T05:27:08.879" v="23" actId="27636"/>
        <pc:sldMkLst>
          <pc:docMk/>
          <pc:sldMk cId="315828624" sldId="361"/>
        </pc:sldMkLst>
        <pc:spChg chg="mod">
          <ac:chgData name="Kenneth Graf" userId="d1890dd4-deb6-4a9b-a156-5113ac77bda8" providerId="ADAL" clId="{69E383D6-C176-4468-AE5C-C438ADBCA7BB}" dt="2020-01-09T05:27:08.879" v="23" actId="27636"/>
          <ac:spMkLst>
            <pc:docMk/>
            <pc:sldMk cId="315828624" sldId="361"/>
            <ac:spMk id="3" creationId="{00000000-0000-0000-0000-000000000000}"/>
          </ac:spMkLst>
        </pc:spChg>
      </pc:sldChg>
      <pc:sldChg chg="addSp modSp add">
        <pc:chgData name="Kenneth Graf" userId="d1890dd4-deb6-4a9b-a156-5113ac77bda8" providerId="ADAL" clId="{69E383D6-C176-4468-AE5C-C438ADBCA7BB}" dt="2020-01-09T05:27:51.299" v="34" actId="167"/>
        <pc:sldMkLst>
          <pc:docMk/>
          <pc:sldMk cId="2582870235" sldId="362"/>
        </pc:sldMkLst>
        <pc:spChg chg="add mod">
          <ac:chgData name="Kenneth Graf" userId="d1890dd4-deb6-4a9b-a156-5113ac77bda8" providerId="ADAL" clId="{69E383D6-C176-4468-AE5C-C438ADBCA7BB}" dt="2020-01-09T05:27:14.890" v="26"/>
          <ac:spMkLst>
            <pc:docMk/>
            <pc:sldMk cId="2582870235" sldId="362"/>
            <ac:spMk id="3" creationId="{C4BFB4F8-40B0-4AE9-842D-010D2D277DEC}"/>
          </ac:spMkLst>
        </pc:spChg>
        <pc:picChg chg="mod">
          <ac:chgData name="Kenneth Graf" userId="d1890dd4-deb6-4a9b-a156-5113ac77bda8" providerId="ADAL" clId="{69E383D6-C176-4468-AE5C-C438ADBCA7BB}" dt="2020-01-09T05:27:51.299" v="34" actId="167"/>
          <ac:picMkLst>
            <pc:docMk/>
            <pc:sldMk cId="2582870235" sldId="362"/>
            <ac:picMk id="5122" creationId="{00000000-0000-0000-0000-000000000000}"/>
          </ac:picMkLst>
        </pc:picChg>
      </pc:sldChg>
      <pc:sldChg chg="add">
        <pc:chgData name="Kenneth Graf" userId="d1890dd4-deb6-4a9b-a156-5113ac77bda8" providerId="ADAL" clId="{69E383D6-C176-4468-AE5C-C438ADBCA7BB}" dt="2020-01-09T05:27:08.832" v="21"/>
        <pc:sldMkLst>
          <pc:docMk/>
          <pc:sldMk cId="1148071201" sldId="363"/>
        </pc:sldMkLst>
      </pc:sldChg>
      <pc:sldChg chg="add del">
        <pc:chgData name="Kenneth Graf" userId="d1890dd4-deb6-4a9b-a156-5113ac77bda8" providerId="ADAL" clId="{69E383D6-C176-4468-AE5C-C438ADBCA7BB}" dt="2020-01-19T16:45:19.364" v="41" actId="47"/>
        <pc:sldMkLst>
          <pc:docMk/>
          <pc:sldMk cId="3600872065" sldId="364"/>
        </pc:sldMkLst>
      </pc:sldChg>
      <pc:sldChg chg="modSp add del">
        <pc:chgData name="Kenneth Graf" userId="d1890dd4-deb6-4a9b-a156-5113ac77bda8" providerId="ADAL" clId="{69E383D6-C176-4468-AE5C-C438ADBCA7BB}" dt="2020-01-19T14:43:30.766" v="39" actId="2696"/>
        <pc:sldMkLst>
          <pc:docMk/>
          <pc:sldMk cId="3115975290" sldId="365"/>
        </pc:sldMkLst>
        <pc:spChg chg="mod">
          <ac:chgData name="Kenneth Graf" userId="d1890dd4-deb6-4a9b-a156-5113ac77bda8" providerId="ADAL" clId="{69E383D6-C176-4468-AE5C-C438ADBCA7BB}" dt="2020-01-09T05:27:14.940" v="28" actId="27636"/>
          <ac:spMkLst>
            <pc:docMk/>
            <pc:sldMk cId="3115975290" sldId="365"/>
            <ac:spMk id="3" creationId="{00000000-0000-0000-0000-000000000000}"/>
          </ac:spMkLst>
        </pc:spChg>
      </pc:sldChg>
      <pc:sldChg chg="modSp add del">
        <pc:chgData name="Kenneth Graf" userId="d1890dd4-deb6-4a9b-a156-5113ac77bda8" providerId="ADAL" clId="{69E383D6-C176-4468-AE5C-C438ADBCA7BB}" dt="2020-01-19T14:43:30.766" v="39" actId="2696"/>
        <pc:sldMkLst>
          <pc:docMk/>
          <pc:sldMk cId="1628189974" sldId="366"/>
        </pc:sldMkLst>
        <pc:spChg chg="mod">
          <ac:chgData name="Kenneth Graf" userId="d1890dd4-deb6-4a9b-a156-5113ac77bda8" providerId="ADAL" clId="{69E383D6-C176-4468-AE5C-C438ADBCA7BB}" dt="2020-01-09T05:27:08.893" v="24" actId="27636"/>
          <ac:spMkLst>
            <pc:docMk/>
            <pc:sldMk cId="1628189974" sldId="366"/>
            <ac:spMk id="3" creationId="{00000000-0000-0000-0000-000000000000}"/>
          </ac:spMkLst>
        </pc:spChg>
      </pc:sldChg>
      <pc:sldChg chg="modSp add del">
        <pc:chgData name="Kenneth Graf" userId="d1890dd4-deb6-4a9b-a156-5113ac77bda8" providerId="ADAL" clId="{69E383D6-C176-4468-AE5C-C438ADBCA7BB}" dt="2020-01-19T14:43:30.766" v="39" actId="2696"/>
        <pc:sldMkLst>
          <pc:docMk/>
          <pc:sldMk cId="1135028754" sldId="367"/>
        </pc:sldMkLst>
        <pc:spChg chg="mod">
          <ac:chgData name="Kenneth Graf" userId="d1890dd4-deb6-4a9b-a156-5113ac77bda8" providerId="ADAL" clId="{69E383D6-C176-4468-AE5C-C438ADBCA7BB}" dt="2020-01-09T05:27:08.897" v="25" actId="27636"/>
          <ac:spMkLst>
            <pc:docMk/>
            <pc:sldMk cId="1135028754" sldId="367"/>
            <ac:spMk id="3" creationId="{00000000-0000-0000-0000-000000000000}"/>
          </ac:spMkLst>
        </pc:spChg>
      </pc:sldChg>
      <pc:sldChg chg="modSp add del">
        <pc:chgData name="Kenneth Graf" userId="d1890dd4-deb6-4a9b-a156-5113ac77bda8" providerId="ADAL" clId="{69E383D6-C176-4468-AE5C-C438ADBCA7BB}" dt="2020-01-19T16:45:14.900" v="40" actId="47"/>
        <pc:sldMkLst>
          <pc:docMk/>
          <pc:sldMk cId="945357878" sldId="368"/>
        </pc:sldMkLst>
        <pc:spChg chg="mod">
          <ac:chgData name="Kenneth Graf" userId="d1890dd4-deb6-4a9b-a156-5113ac77bda8" providerId="ADAL" clId="{69E383D6-C176-4468-AE5C-C438ADBCA7BB}" dt="2020-01-09T05:27:14.955" v="29" actId="27636"/>
          <ac:spMkLst>
            <pc:docMk/>
            <pc:sldMk cId="945357878" sldId="368"/>
            <ac:spMk id="3" creationId="{00000000-0000-0000-0000-000000000000}"/>
          </ac:spMkLst>
        </pc:spChg>
      </pc:sldChg>
      <pc:sldChg chg="add">
        <pc:chgData name="Kenneth Graf" userId="d1890dd4-deb6-4a9b-a156-5113ac77bda8" providerId="ADAL" clId="{69E383D6-C176-4468-AE5C-C438ADBCA7BB}" dt="2020-01-09T05:27:08.832" v="21"/>
        <pc:sldMkLst>
          <pc:docMk/>
          <pc:sldMk cId="3568254819" sldId="369"/>
        </pc:sldMkLst>
      </pc:sldChg>
      <pc:sldChg chg="add">
        <pc:chgData name="Kenneth Graf" userId="d1890dd4-deb6-4a9b-a156-5113ac77bda8" providerId="ADAL" clId="{69E383D6-C176-4468-AE5C-C438ADBCA7BB}" dt="2020-02-01T22:57:36.531" v="46"/>
        <pc:sldMkLst>
          <pc:docMk/>
          <pc:sldMk cId="841582349" sldId="370"/>
        </pc:sldMkLst>
      </pc:sldChg>
      <pc:sldChg chg="add">
        <pc:chgData name="Kenneth Graf" userId="d1890dd4-deb6-4a9b-a156-5113ac77bda8" providerId="ADAL" clId="{69E383D6-C176-4468-AE5C-C438ADBCA7BB}" dt="2020-02-01T22:58:00.575" v="47"/>
        <pc:sldMkLst>
          <pc:docMk/>
          <pc:sldMk cId="800172771" sldId="371"/>
        </pc:sldMkLst>
      </pc:sldChg>
      <pc:sldChg chg="addSp delSp modSp add">
        <pc:chgData name="Kenneth Graf" userId="d1890dd4-deb6-4a9b-a156-5113ac77bda8" providerId="ADAL" clId="{69E383D6-C176-4468-AE5C-C438ADBCA7BB}" dt="2020-02-01T23:12:25.835" v="106" actId="20577"/>
        <pc:sldMkLst>
          <pc:docMk/>
          <pc:sldMk cId="933003194" sldId="372"/>
        </pc:sldMkLst>
        <pc:spChg chg="mod">
          <ac:chgData name="Kenneth Graf" userId="d1890dd4-deb6-4a9b-a156-5113ac77bda8" providerId="ADAL" clId="{69E383D6-C176-4468-AE5C-C438ADBCA7BB}" dt="2020-02-01T23:12:25.835" v="106" actId="20577"/>
          <ac:spMkLst>
            <pc:docMk/>
            <pc:sldMk cId="933003194" sldId="372"/>
            <ac:spMk id="2" creationId="{C71D9A97-C4C4-41CE-8781-E4E351EFA721}"/>
          </ac:spMkLst>
        </pc:spChg>
        <pc:spChg chg="del">
          <ac:chgData name="Kenneth Graf" userId="d1890dd4-deb6-4a9b-a156-5113ac77bda8" providerId="ADAL" clId="{69E383D6-C176-4468-AE5C-C438ADBCA7BB}" dt="2020-02-01T23:12:05.001" v="73" actId="931"/>
          <ac:spMkLst>
            <pc:docMk/>
            <pc:sldMk cId="933003194" sldId="372"/>
            <ac:spMk id="3" creationId="{3A3BFA87-2187-49A4-8C6F-E64394B9528F}"/>
          </ac:spMkLst>
        </pc:spChg>
        <pc:picChg chg="add mod">
          <ac:chgData name="Kenneth Graf" userId="d1890dd4-deb6-4a9b-a156-5113ac77bda8" providerId="ADAL" clId="{69E383D6-C176-4468-AE5C-C438ADBCA7BB}" dt="2020-02-01T23:12:12.817" v="75" actId="14100"/>
          <ac:picMkLst>
            <pc:docMk/>
            <pc:sldMk cId="933003194" sldId="372"/>
            <ac:picMk id="5" creationId="{FFD551E0-2316-4DF4-AB47-B8115D6EBCB8}"/>
          </ac:picMkLst>
        </pc:picChg>
      </pc:sldChg>
      <pc:sldChg chg="addSp delSp modSp add">
        <pc:chgData name="Kenneth Graf" userId="d1890dd4-deb6-4a9b-a156-5113ac77bda8" providerId="ADAL" clId="{69E383D6-C176-4468-AE5C-C438ADBCA7BB}" dt="2020-02-01T23:13:49.791" v="140" actId="14100"/>
        <pc:sldMkLst>
          <pc:docMk/>
          <pc:sldMk cId="798539825" sldId="373"/>
        </pc:sldMkLst>
        <pc:spChg chg="mod">
          <ac:chgData name="Kenneth Graf" userId="d1890dd4-deb6-4a9b-a156-5113ac77bda8" providerId="ADAL" clId="{69E383D6-C176-4468-AE5C-C438ADBCA7BB}" dt="2020-02-01T23:12:44.473" v="137" actId="20577"/>
          <ac:spMkLst>
            <pc:docMk/>
            <pc:sldMk cId="798539825" sldId="373"/>
            <ac:spMk id="2" creationId="{C71D9A97-C4C4-41CE-8781-E4E351EFA721}"/>
          </ac:spMkLst>
        </pc:spChg>
        <pc:spChg chg="add del mod">
          <ac:chgData name="Kenneth Graf" userId="d1890dd4-deb6-4a9b-a156-5113ac77bda8" providerId="ADAL" clId="{69E383D6-C176-4468-AE5C-C438ADBCA7BB}" dt="2020-02-01T23:13:34.372" v="138" actId="931"/>
          <ac:spMkLst>
            <pc:docMk/>
            <pc:sldMk cId="798539825" sldId="373"/>
            <ac:spMk id="4" creationId="{8ACFE8F5-8667-4829-9EE7-8348F93DBF6D}"/>
          </ac:spMkLst>
        </pc:spChg>
        <pc:picChg chg="del">
          <ac:chgData name="Kenneth Graf" userId="d1890dd4-deb6-4a9b-a156-5113ac77bda8" providerId="ADAL" clId="{69E383D6-C176-4468-AE5C-C438ADBCA7BB}" dt="2020-02-01T23:12:37.750" v="108" actId="478"/>
          <ac:picMkLst>
            <pc:docMk/>
            <pc:sldMk cId="798539825" sldId="373"/>
            <ac:picMk id="5" creationId="{FFD551E0-2316-4DF4-AB47-B8115D6EBCB8}"/>
          </ac:picMkLst>
        </pc:picChg>
        <pc:picChg chg="add mod">
          <ac:chgData name="Kenneth Graf" userId="d1890dd4-deb6-4a9b-a156-5113ac77bda8" providerId="ADAL" clId="{69E383D6-C176-4468-AE5C-C438ADBCA7BB}" dt="2020-02-01T23:13:49.791" v="140" actId="14100"/>
          <ac:picMkLst>
            <pc:docMk/>
            <pc:sldMk cId="798539825" sldId="373"/>
            <ac:picMk id="7" creationId="{258C1F1F-3A72-422A-AC78-D50E6080D7D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8F3AA64-1AA2-40FC-9C4D-FF0C9CC41531}" type="datetimeFigureOut">
              <a:rPr lang="en-US" smtClean="0"/>
              <a:t>2/1/2020</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E13BA3-2BF5-478F-8F09-F40177E242D0}" type="slidenum">
              <a:rPr lang="en-US" smtClean="0"/>
              <a:t>‹#›</a:t>
            </a:fld>
            <a:endParaRPr lang="en-US" dirty="0"/>
          </a:p>
        </p:txBody>
      </p:sp>
    </p:spTree>
    <p:extLst>
      <p:ext uri="{BB962C8B-B14F-4D97-AF65-F5344CB8AC3E}">
        <p14:creationId xmlns:p14="http://schemas.microsoft.com/office/powerpoint/2010/main" val="4542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marcian.com/what-is-sp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marcian.com/what-is-dki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money.cnn.com/technology/tech30/index.html?iid=EL" TargetMode="External"/><Relationship Id="rId3" Type="http://schemas.openxmlformats.org/officeDocument/2006/relationships/hyperlink" Target="https://www.microsoft.com/en-us/privacystatement/default.aspx" TargetMode="External"/><Relationship Id="rId7" Type="http://schemas.openxmlformats.org/officeDocument/2006/relationships/hyperlink" Target="http://money.cnn.com/quote/quote.html?symb=MSFT&amp;source=story_quote_link" TargetMode="External"/><Relationship Id="rId2" Type="http://schemas.openxmlformats.org/officeDocument/2006/relationships/slide" Target="../slides/slide33.xml"/><Relationship Id="rId1" Type="http://schemas.openxmlformats.org/officeDocument/2006/relationships/notesMaster" Target="../notesMasters/notesMaster1.xml"/><Relationship Id="rId6" Type="http://schemas.openxmlformats.org/officeDocument/2006/relationships/hyperlink" Target="http://money.cnn.com/2015/07/30/technology/windows10-wifi-sense/?iid=EL" TargetMode="External"/><Relationship Id="rId11" Type="http://schemas.openxmlformats.org/officeDocument/2006/relationships/hyperlink" Target="http://www.alphr.com/microsoft/microsoft-windows-10/1001360/microsoft-can-disable-your-pirated-games-and-illegal-hardware" TargetMode="External"/><Relationship Id="rId5" Type="http://schemas.openxmlformats.org/officeDocument/2006/relationships/hyperlink" Target="http://windows.microsoft.com/en-us/windows-10/windows-update-delivery-optimization-faq" TargetMode="External"/><Relationship Id="rId10" Type="http://schemas.openxmlformats.org/officeDocument/2006/relationships/hyperlink" Target="http://arstechnica.com/information-technology/2015/08/even-when-told-not-to-windows-10-just-cant-stop-talking-to-microsoft/" TargetMode="External"/><Relationship Id="rId4" Type="http://schemas.openxmlformats.org/officeDocument/2006/relationships/hyperlink" Target="http://www.slate.com/articles/technology/bitwise/2015/08/windows_10_privacy_problems_here_s_how_bad_they_are_and_how_to_plug_them.single.html" TargetMode="External"/><Relationship Id="rId9" Type="http://schemas.openxmlformats.org/officeDocument/2006/relationships/hyperlink" Target="http://money.cnn.com/quote/quote.html?symb=FB&amp;source=story_quote_link"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ordpress.com/wp-login.php"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hlinkClick r:id="rId3"/>
              </a:rPr>
              <a:t>https://dmarcian.com/what-is-spf/</a:t>
            </a:r>
            <a:endParaRPr lang="en-US" dirty="0"/>
          </a:p>
          <a:p>
            <a:pPr fontAlgn="base"/>
            <a:r>
              <a:rPr lang="en-US" sz="1200" b="0" i="0" kern="1200" dirty="0">
                <a:solidFill>
                  <a:schemeClr val="tx1"/>
                </a:solidFill>
                <a:effectLst/>
                <a:latin typeface="+mn-lt"/>
                <a:ea typeface="+mn-ea"/>
                <a:cs typeface="+mn-cs"/>
              </a:rPr>
              <a:t>SPF is a way for Internet Service Providers to verify that a mail server (IP address) is authorized to send email for a specific domain.</a:t>
            </a:r>
          </a:p>
          <a:p>
            <a:pPr fontAlgn="base"/>
            <a:r>
              <a:rPr lang="en-US" sz="1200" b="0" i="0" kern="1200" dirty="0">
                <a:solidFill>
                  <a:schemeClr val="tx1"/>
                </a:solidFill>
                <a:effectLst/>
                <a:latin typeface="+mn-lt"/>
                <a:ea typeface="+mn-ea"/>
                <a:cs typeface="+mn-cs"/>
              </a:rPr>
              <a:t>To use SPF, the administrator of an email domain publishes a list of servers or IP addresses that are allowed to send email on behalf of the domain. When a sender tries to hand-off email to an email “receiving” sever for delivery, the email server checks to see if the sender is on domain’s list of allowed senders. If so, then a link has been established between the piece of email and the email domain.</a:t>
            </a:r>
          </a:p>
          <a:p>
            <a:endParaRPr lang="en-US" dirty="0"/>
          </a:p>
        </p:txBody>
      </p:sp>
      <p:sp>
        <p:nvSpPr>
          <p:cNvPr id="4" name="Slide Number Placeholder 3"/>
          <p:cNvSpPr>
            <a:spLocks noGrp="1"/>
          </p:cNvSpPr>
          <p:nvPr>
            <p:ph type="sldNum" sz="quarter" idx="5"/>
          </p:nvPr>
        </p:nvSpPr>
        <p:spPr/>
        <p:txBody>
          <a:bodyPr/>
          <a:lstStyle/>
          <a:p>
            <a:fld id="{EBE13BA3-2BF5-478F-8F09-F40177E242D0}" type="slidenum">
              <a:rPr lang="en-US" smtClean="0"/>
              <a:t>4</a:t>
            </a:fld>
            <a:endParaRPr lang="en-US" dirty="0"/>
          </a:p>
        </p:txBody>
      </p:sp>
    </p:spTree>
    <p:extLst>
      <p:ext uri="{BB962C8B-B14F-4D97-AF65-F5344CB8AC3E}">
        <p14:creationId xmlns:p14="http://schemas.microsoft.com/office/powerpoint/2010/main" val="1981036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https://dmarcian.com/what-is-dkim/</a:t>
            </a:r>
            <a:br>
              <a:rPr lang="en-US" dirty="0"/>
            </a:br>
            <a:r>
              <a:rPr lang="en-US" sz="1200" b="0" i="0" kern="1200" dirty="0">
                <a:solidFill>
                  <a:schemeClr val="tx1"/>
                </a:solidFill>
                <a:effectLst/>
                <a:latin typeface="+mn-lt"/>
                <a:ea typeface="+mn-ea"/>
                <a:cs typeface="+mn-cs"/>
              </a:rPr>
              <a:t>DKIM is a free technology that is used to link a piece of email back to a domain. When an email is sent, it is signed using a private domain key and then validated on the receiving mail server (or ISP) using a public key that is located within the DNS. This action authenticates that the content of the email was not modified during its transfer. It prevents someone from intercepting your email, altering it, then sending it along with altered information.</a:t>
            </a:r>
            <a:br>
              <a:rPr lang="en-US" dirty="0"/>
            </a:br>
            <a:r>
              <a:rPr lang="en-US" sz="1200" b="0" i="0" kern="1200" dirty="0">
                <a:solidFill>
                  <a:schemeClr val="tx1"/>
                </a:solidFill>
                <a:effectLst/>
                <a:latin typeface="+mn-lt"/>
                <a:ea typeface="+mn-ea"/>
                <a:cs typeface="+mn-cs"/>
              </a:rPr>
              <a:t>DKIM signatures can survive forwarding, which makes it superior to SPF and a great way to secure your email.</a:t>
            </a:r>
            <a:endParaRPr lang="en-US" dirty="0"/>
          </a:p>
        </p:txBody>
      </p:sp>
      <p:sp>
        <p:nvSpPr>
          <p:cNvPr id="4" name="Slide Number Placeholder 3"/>
          <p:cNvSpPr>
            <a:spLocks noGrp="1"/>
          </p:cNvSpPr>
          <p:nvPr>
            <p:ph type="sldNum" sz="quarter" idx="5"/>
          </p:nvPr>
        </p:nvSpPr>
        <p:spPr/>
        <p:txBody>
          <a:bodyPr/>
          <a:lstStyle/>
          <a:p>
            <a:fld id="{EBE13BA3-2BF5-478F-8F09-F40177E242D0}" type="slidenum">
              <a:rPr lang="en-US" smtClean="0"/>
              <a:t>5</a:t>
            </a:fld>
            <a:endParaRPr lang="en-US" dirty="0"/>
          </a:p>
        </p:txBody>
      </p:sp>
    </p:spTree>
    <p:extLst>
      <p:ext uri="{BB962C8B-B14F-4D97-AF65-F5344CB8AC3E}">
        <p14:creationId xmlns:p14="http://schemas.microsoft.com/office/powerpoint/2010/main" val="2242161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8</a:t>
            </a:fld>
            <a:endParaRPr lang="en-US"/>
          </a:p>
        </p:txBody>
      </p:sp>
    </p:spTree>
    <p:extLst>
      <p:ext uri="{BB962C8B-B14F-4D97-AF65-F5344CB8AC3E}">
        <p14:creationId xmlns:p14="http://schemas.microsoft.com/office/powerpoint/2010/main" val="1420117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9</a:t>
            </a:fld>
            <a:endParaRPr lang="en-US"/>
          </a:p>
        </p:txBody>
      </p:sp>
    </p:spTree>
    <p:extLst>
      <p:ext uri="{BB962C8B-B14F-4D97-AF65-F5344CB8AC3E}">
        <p14:creationId xmlns:p14="http://schemas.microsoft.com/office/powerpoint/2010/main" val="1197070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12</a:t>
            </a:fld>
            <a:endParaRPr lang="en-US"/>
          </a:p>
        </p:txBody>
      </p:sp>
    </p:spTree>
    <p:extLst>
      <p:ext uri="{BB962C8B-B14F-4D97-AF65-F5344CB8AC3E}">
        <p14:creationId xmlns:p14="http://schemas.microsoft.com/office/powerpoint/2010/main" val="1936198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GB" sz="1200" b="0" i="0" kern="1200">
                <a:solidFill>
                  <a:schemeClr val="tx1"/>
                </a:solidFill>
                <a:effectLst/>
                <a:latin typeface="+mn-lt"/>
                <a:ea typeface="+mn-ea"/>
                <a:cs typeface="+mn-cs"/>
              </a:rPr>
              <a:t>Policyholders, customers, claimants and employees entrust us with their personal information and we strive to protect the confidentiality of that information. The following principles are the :</a:t>
            </a:r>
          </a:p>
          <a:p>
            <a:r>
              <a:rPr lang="en-GB" sz="1200" b="1" i="0" kern="1200">
                <a:solidFill>
                  <a:schemeClr val="tx1"/>
                </a:solidFill>
                <a:effectLst/>
                <a:latin typeface="+mn-lt"/>
                <a:ea typeface="+mn-ea"/>
                <a:cs typeface="+mn-cs"/>
              </a:rPr>
              <a:t>1. Recognizes and respects each individual’s right to the privacy of their personal information. </a:t>
            </a:r>
            <a:r>
              <a:rPr lang="en-GB" sz="1200" b="0" i="0" kern="1200">
                <a:solidFill>
                  <a:schemeClr val="tx1"/>
                </a:solidFill>
                <a:effectLst/>
                <a:latin typeface="+mn-lt"/>
                <a:ea typeface="+mn-ea"/>
                <a:cs typeface="+mn-cs"/>
              </a:rPr>
              <a:t>Information which can be associated with, or used to identify, an individual, particularly information about their finances, health or affiliations, is personally identifiable information. Personally identifiable information is vital to the operation of our businesses, but it is also private. While we must utilize personally identifiable information to provide our products and services, we respect and maintain the confidentiality of the information.</a:t>
            </a:r>
          </a:p>
          <a:p>
            <a:r>
              <a:rPr lang="en-GB" sz="1200" b="1" i="0" kern="1200">
                <a:solidFill>
                  <a:schemeClr val="tx1"/>
                </a:solidFill>
                <a:effectLst/>
                <a:latin typeface="+mn-lt"/>
                <a:ea typeface="+mn-ea"/>
                <a:cs typeface="+mn-cs"/>
              </a:rPr>
              <a:t>2. Collect only the personal information needed to provide our products and services and manage our businesses. </a:t>
            </a:r>
            <a:r>
              <a:rPr lang="en-GB" sz="1200" b="0" i="0" kern="1200">
                <a:solidFill>
                  <a:schemeClr val="tx1"/>
                </a:solidFill>
                <a:effectLst/>
                <a:latin typeface="+mn-lt"/>
                <a:ea typeface="+mn-ea"/>
                <a:cs typeface="+mn-cs"/>
              </a:rPr>
              <a:t>We expect our employees and representatives to respect and observe the reasonable privacy expectations of each consumer, customer or claimant who inquires about, or receives, any of our products or services, as well as the reasonable privacy expectations of our personnel.</a:t>
            </a:r>
          </a:p>
          <a:p>
            <a:r>
              <a:rPr lang="en-GB" sz="1200" b="1" i="0" kern="1200">
                <a:solidFill>
                  <a:schemeClr val="tx1"/>
                </a:solidFill>
                <a:effectLst/>
                <a:latin typeface="+mn-lt"/>
                <a:ea typeface="+mn-ea"/>
                <a:cs typeface="+mn-cs"/>
              </a:rPr>
              <a:t>3. We provide notice of our privacy practices. </a:t>
            </a:r>
            <a:r>
              <a:rPr lang="en-GB" sz="1200" b="0" i="0" kern="1200">
                <a:solidFill>
                  <a:schemeClr val="tx1"/>
                </a:solidFill>
                <a:effectLst/>
                <a:latin typeface="+mn-lt"/>
                <a:ea typeface="+mn-ea"/>
                <a:cs typeface="+mn-cs"/>
              </a:rPr>
              <a:t> Generally, our privacy notices provide information about the type of personal information we collect and how we may use the information. If applicable, the notice may also provide the individual the opportunity to limit sharing of their personal information or identify how to contact the business with inquiries regarding the collection and use of their personal information.</a:t>
            </a:r>
          </a:p>
          <a:p>
            <a:r>
              <a:rPr lang="en-GB" sz="1200" b="1" i="0" kern="1200">
                <a:solidFill>
                  <a:schemeClr val="tx1"/>
                </a:solidFill>
                <a:effectLst/>
                <a:latin typeface="+mn-lt"/>
                <a:ea typeface="+mn-ea"/>
                <a:cs typeface="+mn-cs"/>
              </a:rPr>
              <a:t>4.</a:t>
            </a:r>
            <a:r>
              <a:rPr lang="en-GB" sz="1200" b="1" i="0" kern="1200" baseline="0">
                <a:solidFill>
                  <a:schemeClr val="tx1"/>
                </a:solidFill>
                <a:effectLst/>
                <a:latin typeface="+mn-lt"/>
                <a:ea typeface="+mn-ea"/>
                <a:cs typeface="+mn-cs"/>
              </a:rPr>
              <a:t> M</a:t>
            </a:r>
            <a:r>
              <a:rPr lang="en-GB" sz="1200" b="1" i="0" kern="1200">
                <a:solidFill>
                  <a:schemeClr val="tx1"/>
                </a:solidFill>
                <a:effectLst/>
                <a:latin typeface="+mn-lt"/>
                <a:ea typeface="+mn-ea"/>
                <a:cs typeface="+mn-cs"/>
              </a:rPr>
              <a:t>aintain accurate records and when required provide individuals reasonable access to their personal information. </a:t>
            </a:r>
            <a:r>
              <a:rPr lang="en-GB" sz="1200" b="0" i="0" kern="1200">
                <a:solidFill>
                  <a:schemeClr val="tx1"/>
                </a:solidFill>
                <a:effectLst/>
                <a:latin typeface="+mn-lt"/>
                <a:ea typeface="+mn-ea"/>
                <a:cs typeface="+mn-cs"/>
              </a:rPr>
              <a:t>We make all reasonable efforts to keep customer files and information complete, current and accurate. If applicable, individuals are notified of their rights, and the procedures to follow, with respect to accessing and correcting their personal information.</a:t>
            </a:r>
          </a:p>
          <a:p>
            <a:r>
              <a:rPr lang="en-GB" sz="1200" b="1" i="0" kern="1200">
                <a:solidFill>
                  <a:schemeClr val="tx1"/>
                </a:solidFill>
                <a:effectLst/>
                <a:latin typeface="+mn-lt"/>
                <a:ea typeface="+mn-ea"/>
                <a:cs typeface="+mn-cs"/>
              </a:rPr>
              <a:t>5.</a:t>
            </a:r>
            <a:r>
              <a:rPr lang="en-GB" sz="1200" b="1" i="0" kern="1200" baseline="0">
                <a:solidFill>
                  <a:schemeClr val="tx1"/>
                </a:solidFill>
                <a:effectLst/>
                <a:latin typeface="+mn-lt"/>
                <a:ea typeface="+mn-ea"/>
                <a:cs typeface="+mn-cs"/>
              </a:rPr>
              <a:t> S</a:t>
            </a:r>
            <a:r>
              <a:rPr lang="en-GB" sz="1200" b="1" i="0" kern="1200">
                <a:solidFill>
                  <a:schemeClr val="tx1"/>
                </a:solidFill>
                <a:effectLst/>
                <a:latin typeface="+mn-lt"/>
                <a:ea typeface="+mn-ea"/>
                <a:cs typeface="+mn-cs"/>
              </a:rPr>
              <a:t>afeguard personal information that we collect.  </a:t>
            </a:r>
            <a:r>
              <a:rPr lang="en-GB" sz="1200" b="0" i="0" kern="1200">
                <a:solidFill>
                  <a:schemeClr val="tx1"/>
                </a:solidFill>
                <a:effectLst/>
                <a:latin typeface="+mn-lt"/>
                <a:ea typeface="+mn-ea"/>
                <a:cs typeface="+mn-cs"/>
              </a:rPr>
              <a:t>ensure personal information is protected from unauthorized access, use and disclosure. Our policies and procedures include mandatory training for personnel authorized to access personal information.</a:t>
            </a:r>
          </a:p>
          <a:p>
            <a:r>
              <a:rPr lang="en-GB" sz="1200" b="1" i="0" kern="1200">
                <a:solidFill>
                  <a:schemeClr val="tx1"/>
                </a:solidFill>
                <a:effectLst/>
                <a:latin typeface="+mn-lt"/>
                <a:ea typeface="+mn-ea"/>
                <a:cs typeface="+mn-cs"/>
              </a:rPr>
              <a:t>6. Do not sell personal information to marketers.  </a:t>
            </a:r>
            <a:r>
              <a:rPr lang="en-GB" sz="1200" b="0" i="0" kern="1200">
                <a:solidFill>
                  <a:schemeClr val="tx1"/>
                </a:solidFill>
                <a:effectLst/>
                <a:latin typeface="+mn-lt"/>
                <a:ea typeface="+mn-ea"/>
                <a:cs typeface="+mn-cs"/>
              </a:rPr>
              <a:t>share personally identifiable information with business partners for purposes of providing our products and services or with other third parties as otherwise required or permitted by law.</a:t>
            </a:r>
          </a:p>
          <a:p>
            <a:r>
              <a:rPr lang="en-GB" sz="1200" b="1" i="0" kern="1200">
                <a:solidFill>
                  <a:schemeClr val="tx1"/>
                </a:solidFill>
                <a:effectLst/>
                <a:latin typeface="+mn-lt"/>
                <a:ea typeface="+mn-ea"/>
                <a:cs typeface="+mn-cs"/>
              </a:rPr>
              <a:t>7. Retain personal information for as long as needed and then securely dispose of the information. </a:t>
            </a:r>
            <a:r>
              <a:rPr lang="en-GB" sz="1200" b="0" i="0" kern="1200">
                <a:solidFill>
                  <a:schemeClr val="tx1"/>
                </a:solidFill>
                <a:effectLst/>
                <a:latin typeface="+mn-lt"/>
                <a:ea typeface="+mn-ea"/>
                <a:cs typeface="+mn-cs"/>
              </a:rPr>
              <a:t>maintain records in accordance with applicable retention policies and procedures. These records retention policies and procedures are designed to comply with applicable law. Records which are no longer required to be maintained are securely disposed.</a:t>
            </a:r>
          </a:p>
        </p:txBody>
      </p:sp>
      <p:sp>
        <p:nvSpPr>
          <p:cNvPr id="4" name="Slide Number Placeholder 3"/>
          <p:cNvSpPr>
            <a:spLocks noGrp="1"/>
          </p:cNvSpPr>
          <p:nvPr>
            <p:ph type="sldNum" sz="quarter" idx="10"/>
          </p:nvPr>
        </p:nvSpPr>
        <p:spPr/>
        <p:txBody>
          <a:bodyPr/>
          <a:lstStyle/>
          <a:p>
            <a:fld id="{EBE13BA3-2BF5-478F-8F09-F40177E242D0}" type="slidenum">
              <a:rPr lang="en-US" smtClean="0"/>
              <a:t>27</a:t>
            </a:fld>
            <a:endParaRPr lang="en-US"/>
          </a:p>
        </p:txBody>
      </p:sp>
    </p:spTree>
    <p:extLst>
      <p:ext uri="{BB962C8B-B14F-4D97-AF65-F5344CB8AC3E}">
        <p14:creationId xmlns:p14="http://schemas.microsoft.com/office/powerpoint/2010/main" val="2030413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30</a:t>
            </a:fld>
            <a:endParaRPr lang="en-US"/>
          </a:p>
        </p:txBody>
      </p:sp>
    </p:spTree>
    <p:extLst>
      <p:ext uri="{BB962C8B-B14F-4D97-AF65-F5344CB8AC3E}">
        <p14:creationId xmlns:p14="http://schemas.microsoft.com/office/powerpoint/2010/main" val="3373235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a:t>There are no hard fast rules</a:t>
            </a:r>
          </a:p>
          <a:p>
            <a:endParaRPr lang="en-US"/>
          </a:p>
          <a:p>
            <a:r>
              <a:rPr lang="en-US"/>
              <a:t> </a:t>
            </a:r>
            <a:r>
              <a:rPr lang="en-US" b="1" err="1"/>
              <a:t>Identifiability</a:t>
            </a:r>
            <a:r>
              <a:rPr lang="en-US" b="1"/>
              <a:t>. </a:t>
            </a:r>
            <a:r>
              <a:rPr lang="en-US"/>
              <a:t>Organizations should evaluate how easily PII can be used to identify specific individuals. For example, a SSN uniquely and directly identifies an individual, whereas a telephone area code identifies a set of people. </a:t>
            </a:r>
          </a:p>
          <a:p>
            <a:r>
              <a:rPr lang="en-US"/>
              <a:t> </a:t>
            </a:r>
            <a:r>
              <a:rPr lang="en-US" b="1"/>
              <a:t>Quantity of PII. </a:t>
            </a:r>
            <a:r>
              <a:rPr lang="en-US"/>
              <a:t>Organizations should consider how many individuals can be identified from the PII. Breaches of 25 records and 25 million records may have different impacts. The PII confidentiality impact level should only be raised and not lowered based on this factor. </a:t>
            </a:r>
          </a:p>
          <a:p>
            <a:r>
              <a:rPr lang="en-US"/>
              <a:t> </a:t>
            </a:r>
            <a:r>
              <a:rPr lang="en-US" b="1"/>
              <a:t>Data Field Sensitivity. </a:t>
            </a:r>
            <a:r>
              <a:rPr lang="en-US"/>
              <a:t>Organizations should evaluate the sensitivity of each individual PII data field. For example, an individual‘s SSN or financial account number is generally more sensitive than an individual¡¥s phone number or ZIP code. Organizations should also evaluate the sensitivity of the PII data fields when combined.</a:t>
            </a:r>
          </a:p>
          <a:p>
            <a:r>
              <a:rPr lang="en-US" b="1"/>
              <a:t>Context of Use</a:t>
            </a:r>
            <a:r>
              <a:rPr lang="en-US"/>
              <a:t>. Organizations should evaluate the context of </a:t>
            </a:r>
            <a:r>
              <a:rPr lang="en-US" err="1"/>
              <a:t>use¡Xthe</a:t>
            </a:r>
            <a:r>
              <a:rPr lang="en-US"/>
              <a:t> purpose for which the PII is collected, stored, used, processed, disclosed, or disseminated. The context of use may cause the same PII data elements to be assigned different PII confidentiality impact levels based on their use. For example, suppose that an organization has two lists that contain the same PII data fields (e.g., name, address, phone number). The first list is people who subscribe to a general-interest newsletter produced by the organization, and the second list is people who work undercover in law enforcement. If the confidentiality of the lists is breached, the potential impacts to the affected individuals and to the organization are significantly different for each list.</a:t>
            </a:r>
          </a:p>
          <a:p>
            <a:r>
              <a:rPr lang="en-US" b="1"/>
              <a:t>Obligations to Protect Confidentiality</a:t>
            </a:r>
            <a:r>
              <a:rPr lang="en-US"/>
              <a:t>. An organization that is subject to any obligations to protect PII should consider such obligations when determining the PII confidentiality impact level. Obligations to protect generally include laws, regulations, or other mandates (e.g., Privacy Act, OMB guidance). For example, some Federal agencies, such as the Census Bureau and the Internal Revenue Service (IRS), are subject to specific legal obligations to protect certain types of PII.</a:t>
            </a:r>
          </a:p>
        </p:txBody>
      </p:sp>
      <p:sp>
        <p:nvSpPr>
          <p:cNvPr id="4" name="Slide Number Placeholder 3"/>
          <p:cNvSpPr>
            <a:spLocks noGrp="1"/>
          </p:cNvSpPr>
          <p:nvPr>
            <p:ph type="sldNum" sz="quarter" idx="10"/>
          </p:nvPr>
        </p:nvSpPr>
        <p:spPr/>
        <p:txBody>
          <a:bodyPr/>
          <a:lstStyle/>
          <a:p>
            <a:fld id="{EBE13BA3-2BF5-478F-8F09-F40177E242D0}" type="slidenum">
              <a:rPr lang="en-US" smtClean="0"/>
              <a:t>32</a:t>
            </a:fld>
            <a:endParaRPr lang="en-US"/>
          </a:p>
        </p:txBody>
      </p:sp>
    </p:spTree>
    <p:extLst>
      <p:ext uri="{BB962C8B-B14F-4D97-AF65-F5344CB8AC3E}">
        <p14:creationId xmlns:p14="http://schemas.microsoft.com/office/powerpoint/2010/main" val="3047838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Microsoft just can't seem to shake the image that Windows 10 is spying on you. And Microsoft's lack of transparency about Windows 10's privacy isn't doing much to dispel the notion.</a:t>
            </a:r>
          </a:p>
          <a:p>
            <a:r>
              <a:rPr lang="en-US" sz="1200" b="0" i="0" kern="1200">
                <a:solidFill>
                  <a:schemeClr val="tx1"/>
                </a:solidFill>
                <a:effectLst/>
                <a:latin typeface="+mn-lt"/>
                <a:ea typeface="+mn-ea"/>
                <a:cs typeface="+mn-cs"/>
              </a:rPr>
              <a:t>In the nearly three weeks following Windows 10's release, there have been numerous reports about how much personal information Microsoft collects, and the hurdles to stopping it.</a:t>
            </a:r>
          </a:p>
          <a:p>
            <a:r>
              <a:rPr lang="en-US" sz="1200" b="0" i="0" kern="1200">
                <a:solidFill>
                  <a:schemeClr val="tx1"/>
                </a:solidFill>
                <a:effectLst/>
                <a:latin typeface="+mn-lt"/>
                <a:ea typeface="+mn-ea"/>
                <a:cs typeface="+mn-cs"/>
              </a:rPr>
              <a:t>Now take a deep breath. There's actually a reasonable explanation for all of this -- it enables some of Windows 10's best and most convenient features.</a:t>
            </a:r>
          </a:p>
          <a:p>
            <a:r>
              <a:rPr lang="en-US" sz="1200" b="0" i="0" kern="1200">
                <a:solidFill>
                  <a:schemeClr val="tx1"/>
                </a:solidFill>
                <a:effectLst/>
                <a:latin typeface="+mn-lt"/>
                <a:ea typeface="+mn-ea"/>
                <a:cs typeface="+mn-cs"/>
              </a:rPr>
              <a:t>Here are the main privacy gripes about Windows 10:</a:t>
            </a:r>
          </a:p>
          <a:p>
            <a:r>
              <a:rPr lang="en-US" sz="1200" b="0" i="0" kern="1200">
                <a:solidFill>
                  <a:schemeClr val="tx1"/>
                </a:solidFill>
                <a:effectLst/>
                <a:latin typeface="+mn-lt"/>
                <a:ea typeface="+mn-ea"/>
                <a:cs typeface="+mn-cs"/>
              </a:rPr>
              <a:t>1) Shares your personal information with Microsoft by default</a:t>
            </a:r>
          </a:p>
          <a:p>
            <a:r>
              <a:rPr lang="en-US" sz="1200" b="0" i="0" kern="1200">
                <a:solidFill>
                  <a:schemeClr val="tx1"/>
                </a:solidFill>
                <a:effectLst/>
                <a:latin typeface="+mn-lt"/>
                <a:ea typeface="+mn-ea"/>
                <a:cs typeface="+mn-cs"/>
              </a:rPr>
              <a:t>By default, Windows 10 shares a lot of information about you with Microsoft. According to the company's </a:t>
            </a:r>
            <a:r>
              <a:rPr lang="en-US" sz="1200" b="0" i="0" u="none" strike="noStrike" kern="1200">
                <a:solidFill>
                  <a:schemeClr val="tx1"/>
                </a:solidFill>
                <a:effectLst/>
                <a:latin typeface="+mn-lt"/>
                <a:ea typeface="+mn-ea"/>
                <a:cs typeface="+mn-cs"/>
                <a:hlinkClick r:id="rId3"/>
              </a:rPr>
              <a:t>privacy policy</a:t>
            </a:r>
            <a:r>
              <a:rPr lang="en-US" sz="1200" b="0" i="0" kern="1200">
                <a:solidFill>
                  <a:schemeClr val="tx1"/>
                </a:solidFill>
                <a:effectLst/>
                <a:latin typeface="+mn-lt"/>
                <a:ea typeface="+mn-ea"/>
                <a:cs typeface="+mn-cs"/>
              </a:rPr>
              <a:t>, Windows sends Microsoft everything you say to Cortana, Windows 10's Siri-like virtual assistant. It also collects your name and nickname, your recent calendar events, the names of the people in your appointments, and information about your contacts -- including their names and nicknames.</a:t>
            </a:r>
          </a:p>
          <a:p>
            <a:r>
              <a:rPr lang="en-US" sz="1200" b="0" i="0" kern="1200">
                <a:solidFill>
                  <a:schemeClr val="tx1"/>
                </a:solidFill>
                <a:effectLst/>
                <a:latin typeface="+mn-lt"/>
                <a:ea typeface="+mn-ea"/>
                <a:cs typeface="+mn-cs"/>
              </a:rPr>
              <a:t>The good news: If you don't want to share that information, you can disable it.</a:t>
            </a:r>
          </a:p>
          <a:p>
            <a:r>
              <a:rPr lang="en-US" sz="1200" b="0" i="0" kern="1200">
                <a:solidFill>
                  <a:schemeClr val="tx1"/>
                </a:solidFill>
                <a:effectLst/>
                <a:latin typeface="+mn-lt"/>
                <a:ea typeface="+mn-ea"/>
                <a:cs typeface="+mn-cs"/>
              </a:rPr>
              <a:t>The bad news: Microsoft has an incredible </a:t>
            </a:r>
            <a:r>
              <a:rPr lang="en-US" sz="1200" b="0" i="0" u="none" strike="noStrike" kern="1200">
                <a:solidFill>
                  <a:schemeClr val="tx1"/>
                </a:solidFill>
                <a:effectLst/>
                <a:latin typeface="+mn-lt"/>
                <a:ea typeface="+mn-ea"/>
                <a:cs typeface="+mn-cs"/>
                <a:hlinkClick r:id="rId4"/>
              </a:rPr>
              <a:t>13 separate privacy screens that you'll have to navigate through</a:t>
            </a:r>
            <a:r>
              <a:rPr lang="en-US" sz="1200" b="0" i="0" kern="1200">
                <a:solidFill>
                  <a:schemeClr val="tx1"/>
                </a:solidFill>
                <a:effectLst/>
                <a:latin typeface="+mn-lt"/>
                <a:ea typeface="+mn-ea"/>
                <a:cs typeface="+mn-cs"/>
              </a:rPr>
              <a:t> to shut off all information sharing.</a:t>
            </a:r>
          </a:p>
          <a:p>
            <a:r>
              <a:rPr lang="en-US" sz="1200" b="0" i="0" kern="1200">
                <a:solidFill>
                  <a:schemeClr val="tx1"/>
                </a:solidFill>
                <a:effectLst/>
                <a:latin typeface="+mn-lt"/>
                <a:ea typeface="+mn-ea"/>
                <a:cs typeface="+mn-cs"/>
              </a:rPr>
              <a:t>2) Borrows bandwidth from your home Internet connection</a:t>
            </a:r>
          </a:p>
          <a:p>
            <a:r>
              <a:rPr lang="en-US" sz="1200" b="0" i="0" kern="1200">
                <a:solidFill>
                  <a:schemeClr val="tx1"/>
                </a:solidFill>
                <a:effectLst/>
                <a:latin typeface="+mn-lt"/>
                <a:ea typeface="+mn-ea"/>
                <a:cs typeface="+mn-cs"/>
              </a:rPr>
              <a:t>Windows 10 will use your Internet connection to help other people download apps or update their PCs.</a:t>
            </a:r>
          </a:p>
          <a:p>
            <a:r>
              <a:rPr lang="en-US" sz="1200" b="0" i="0" kern="1200">
                <a:solidFill>
                  <a:schemeClr val="tx1"/>
                </a:solidFill>
                <a:effectLst/>
                <a:latin typeface="+mn-lt"/>
                <a:ea typeface="+mn-ea"/>
                <a:cs typeface="+mn-cs"/>
              </a:rPr>
              <a:t>If someone (let's call her Rebecca) is having trouble connecting to Microsoft's servers, Rebecca might instead download that update or app from you, a complete stranger.</a:t>
            </a:r>
          </a:p>
          <a:p>
            <a:r>
              <a:rPr lang="en-US" sz="1200" b="0" i="0" kern="1200">
                <a:solidFill>
                  <a:schemeClr val="tx1"/>
                </a:solidFill>
                <a:effectLst/>
                <a:latin typeface="+mn-lt"/>
                <a:ea typeface="+mn-ea"/>
                <a:cs typeface="+mn-cs"/>
              </a:rPr>
              <a:t>It all happens in the background, without either of you ever knowing it.</a:t>
            </a:r>
          </a:p>
          <a:p>
            <a:r>
              <a:rPr lang="en-US" sz="1200" b="0" i="0" kern="1200">
                <a:solidFill>
                  <a:schemeClr val="tx1"/>
                </a:solidFill>
                <a:effectLst/>
                <a:latin typeface="+mn-lt"/>
                <a:ea typeface="+mn-ea"/>
                <a:cs typeface="+mn-cs"/>
              </a:rPr>
              <a:t>It's a feature called </a:t>
            </a:r>
            <a:r>
              <a:rPr lang="en-US" sz="1200" b="0" i="0" u="none" strike="noStrike" kern="1200">
                <a:solidFill>
                  <a:schemeClr val="tx1"/>
                </a:solidFill>
                <a:effectLst/>
                <a:latin typeface="+mn-lt"/>
                <a:ea typeface="+mn-ea"/>
                <a:cs typeface="+mn-cs"/>
                <a:hlinkClick r:id="rId5"/>
              </a:rPr>
              <a:t>Windows Update Delivery Optimization</a:t>
            </a:r>
            <a:r>
              <a:rPr lang="en-US" sz="1200" b="0" i="0" kern="1200">
                <a:solidFill>
                  <a:schemeClr val="tx1"/>
                </a:solidFill>
                <a:effectLst/>
                <a:latin typeface="+mn-lt"/>
                <a:ea typeface="+mn-ea"/>
                <a:cs typeface="+mn-cs"/>
              </a:rPr>
              <a:t>, and it's actually a potentially brilliant way to help Windows 10 users update their PCs faster by connecting to millions of different people instead of just Microsoft.</a:t>
            </a:r>
          </a:p>
          <a:p>
            <a:r>
              <a:rPr lang="en-US" sz="1200" b="0" i="0" kern="1200">
                <a:solidFill>
                  <a:schemeClr val="tx1"/>
                </a:solidFill>
                <a:effectLst/>
                <a:latin typeface="+mn-lt"/>
                <a:ea typeface="+mn-ea"/>
                <a:cs typeface="+mn-cs"/>
              </a:rPr>
              <a:t>But Microsoft isn't upfront with customers about it. To turn it off, you'll have to navigate to a submenu ("Choose how updates are delivered") of a submenu ("Advanced options") within the settings app.</a:t>
            </a:r>
          </a:p>
          <a:p>
            <a:r>
              <a:rPr lang="en-US" sz="1200" b="0" i="0" kern="1200">
                <a:solidFill>
                  <a:schemeClr val="tx1"/>
                </a:solidFill>
                <a:effectLst/>
                <a:latin typeface="+mn-lt"/>
                <a:ea typeface="+mn-ea"/>
                <a:cs typeface="+mn-cs"/>
              </a:rPr>
              <a:t>Microsoft should be more forthright that it's using your PC as an update server, and it should make turning the feature off easier.</a:t>
            </a:r>
          </a:p>
          <a:p>
            <a:r>
              <a:rPr lang="en-US" sz="1200" b="0" i="0" kern="1200">
                <a:solidFill>
                  <a:schemeClr val="tx1"/>
                </a:solidFill>
                <a:effectLst/>
                <a:latin typeface="+mn-lt"/>
                <a:ea typeface="+mn-ea"/>
                <a:cs typeface="+mn-cs"/>
              </a:rPr>
              <a:t>3) Can share your wireless password with your friends' PCs</a:t>
            </a:r>
          </a:p>
          <a:p>
            <a:r>
              <a:rPr lang="en-US" sz="1200" b="0" i="0" kern="1200">
                <a:solidFill>
                  <a:schemeClr val="tx1"/>
                </a:solidFill>
                <a:effectLst/>
                <a:latin typeface="+mn-lt"/>
                <a:ea typeface="+mn-ea"/>
                <a:cs typeface="+mn-cs"/>
              </a:rPr>
              <a:t>Windows 10 includes a new feature called </a:t>
            </a:r>
            <a:r>
              <a:rPr lang="en-US" sz="1200" b="0" i="0" u="none" strike="noStrike" kern="1200">
                <a:solidFill>
                  <a:schemeClr val="tx1"/>
                </a:solidFill>
                <a:effectLst/>
                <a:latin typeface="+mn-lt"/>
                <a:ea typeface="+mn-ea"/>
                <a:cs typeface="+mn-cs"/>
                <a:hlinkClick r:id="rId6"/>
              </a:rPr>
              <a:t>Wi-Fi Sense</a:t>
            </a:r>
            <a:r>
              <a:rPr lang="en-US" sz="1200" b="0" i="0" kern="1200">
                <a:solidFill>
                  <a:schemeClr val="tx1"/>
                </a:solidFill>
                <a:effectLst/>
                <a:latin typeface="+mn-lt"/>
                <a:ea typeface="+mn-ea"/>
                <a:cs typeface="+mn-cs"/>
              </a:rPr>
              <a:t>, which allows you to automatically log your friends onto your Wi-Fi network without ever giving them your password.</a:t>
            </a:r>
          </a:p>
          <a:p>
            <a:r>
              <a:rPr lang="en-US" sz="1200" b="0" i="0" kern="1200">
                <a:solidFill>
                  <a:schemeClr val="tx1"/>
                </a:solidFill>
                <a:effectLst/>
                <a:latin typeface="+mn-lt"/>
                <a:ea typeface="+mn-ea"/>
                <a:cs typeface="+mn-cs"/>
              </a:rPr>
              <a:t>That freaked some people out, because Microsoft (</a:t>
            </a:r>
            <a:r>
              <a:rPr lang="en-US" sz="1200" b="0" i="0" u="none" strike="noStrike" kern="1200">
                <a:solidFill>
                  <a:schemeClr val="tx1"/>
                </a:solidFill>
                <a:effectLst/>
                <a:latin typeface="+mn-lt"/>
                <a:ea typeface="+mn-ea"/>
                <a:cs typeface="+mn-cs"/>
                <a:hlinkClick r:id="rId7"/>
              </a:rPr>
              <a:t>MSFT</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8"/>
              </a:rPr>
              <a:t>Tech30</a:t>
            </a:r>
            <a:r>
              <a:rPr lang="en-US" sz="1200" b="0" i="0" kern="1200">
                <a:solidFill>
                  <a:schemeClr val="tx1"/>
                </a:solidFill>
                <a:effectLst/>
                <a:latin typeface="+mn-lt"/>
                <a:ea typeface="+mn-ea"/>
                <a:cs typeface="+mn-cs"/>
              </a:rPr>
              <a:t>) is storing and delivering your Wi-Fi password, which can be a key to all your private photos.</a:t>
            </a:r>
          </a:p>
          <a:p>
            <a:r>
              <a:rPr lang="en-US" sz="1200" b="0" i="0" kern="1200">
                <a:solidFill>
                  <a:schemeClr val="tx1"/>
                </a:solidFill>
                <a:effectLst/>
                <a:latin typeface="+mn-lt"/>
                <a:ea typeface="+mn-ea"/>
                <a:cs typeface="+mn-cs"/>
              </a:rPr>
              <a:t>In truth, there's really not much to worry about. Though Microsoft enables Wi-Fi Sense by default on Windows 10, it doesn't share your networks by default -- you have to choose to do that. When your friends connect via Wi-Fi Sense, they won't then, in turn, be able to share your network with their friends. Wi-Fi Sense encrypts your password, and it won't work on corporate networks with special security protocols. And you can opt out.</a:t>
            </a:r>
          </a:p>
          <a:p>
            <a:r>
              <a:rPr lang="en-US" sz="1200" b="0" i="0" kern="1200">
                <a:solidFill>
                  <a:schemeClr val="tx1"/>
                </a:solidFill>
                <a:effectLst/>
                <a:latin typeface="+mn-lt"/>
                <a:ea typeface="+mn-ea"/>
                <a:cs typeface="+mn-cs"/>
              </a:rPr>
              <a:t>Still, Microsoft's all-or-nothing policy is potentially troubling. Choosing to share access to your Wi-Fi network with all your Facebook (</a:t>
            </a:r>
            <a:r>
              <a:rPr lang="en-US" sz="1200" b="0" i="0" u="none" strike="noStrike" kern="1200">
                <a:solidFill>
                  <a:schemeClr val="tx1"/>
                </a:solidFill>
                <a:effectLst/>
                <a:latin typeface="+mn-lt"/>
                <a:ea typeface="+mn-ea"/>
                <a:cs typeface="+mn-cs"/>
                <a:hlinkClick r:id="rId9"/>
              </a:rPr>
              <a:t>FB</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8"/>
              </a:rPr>
              <a:t>Tech30</a:t>
            </a:r>
            <a:r>
              <a:rPr lang="en-US" sz="1200" b="0" i="0" kern="1200">
                <a:solidFill>
                  <a:schemeClr val="tx1"/>
                </a:solidFill>
                <a:effectLst/>
                <a:latin typeface="+mn-lt"/>
                <a:ea typeface="+mn-ea"/>
                <a:cs typeface="+mn-cs"/>
              </a:rPr>
              <a:t>), Skype and Outlook.com contacts means your best friend will get access, but your stalker will too.</a:t>
            </a:r>
          </a:p>
          <a:p>
            <a:r>
              <a:rPr lang="en-US" sz="1200" b="0" i="0" kern="1200">
                <a:solidFill>
                  <a:schemeClr val="tx1"/>
                </a:solidFill>
                <a:effectLst/>
                <a:latin typeface="+mn-lt"/>
                <a:ea typeface="+mn-ea"/>
                <a:cs typeface="+mn-cs"/>
              </a:rPr>
              <a:t>4) Will continue to send information to Microsoft after you disable data-sharing settings</a:t>
            </a:r>
          </a:p>
          <a:p>
            <a:r>
              <a:rPr lang="en-US" sz="1200" b="0" i="0" kern="1200">
                <a:solidFill>
                  <a:schemeClr val="tx1"/>
                </a:solidFill>
                <a:effectLst/>
                <a:latin typeface="+mn-lt"/>
                <a:ea typeface="+mn-ea"/>
                <a:cs typeface="+mn-cs"/>
              </a:rPr>
              <a:t>If you went to all 13 privacy pages and shut off all data sharing, you'll </a:t>
            </a:r>
            <a:r>
              <a:rPr lang="en-US" sz="1200" b="0" i="1" kern="1200">
                <a:solidFill>
                  <a:schemeClr val="tx1"/>
                </a:solidFill>
                <a:effectLst/>
                <a:latin typeface="+mn-lt"/>
                <a:ea typeface="+mn-ea"/>
                <a:cs typeface="+mn-cs"/>
              </a:rPr>
              <a:t>still</a:t>
            </a:r>
            <a:r>
              <a:rPr lang="en-US" sz="1200" b="0" i="0" kern="1200">
                <a:solidFill>
                  <a:schemeClr val="tx1"/>
                </a:solidFill>
                <a:effectLst/>
                <a:latin typeface="+mn-lt"/>
                <a:ea typeface="+mn-ea"/>
                <a:cs typeface="+mn-cs"/>
              </a:rPr>
              <a:t> share information with Microsoft.</a:t>
            </a:r>
          </a:p>
          <a:p>
            <a:r>
              <a:rPr lang="en-US" sz="1200" b="0" i="0" kern="1200">
                <a:solidFill>
                  <a:schemeClr val="tx1"/>
                </a:solidFill>
                <a:effectLst/>
                <a:latin typeface="+mn-lt"/>
                <a:ea typeface="+mn-ea"/>
                <a:cs typeface="+mn-cs"/>
              </a:rPr>
              <a:t>As </a:t>
            </a:r>
            <a:r>
              <a:rPr lang="en-US" sz="1200" b="0" i="0" u="none" strike="noStrike" kern="1200" err="1">
                <a:solidFill>
                  <a:schemeClr val="tx1"/>
                </a:solidFill>
                <a:effectLst/>
                <a:latin typeface="+mn-lt"/>
                <a:ea typeface="+mn-ea"/>
                <a:cs typeface="+mn-cs"/>
                <a:hlinkClick r:id="rId10"/>
              </a:rPr>
              <a:t>Ars</a:t>
            </a:r>
            <a:r>
              <a:rPr lang="en-US" sz="1200" b="0" i="0" u="none" strike="noStrike" kern="1200">
                <a:solidFill>
                  <a:schemeClr val="tx1"/>
                </a:solidFill>
                <a:effectLst/>
                <a:latin typeface="+mn-lt"/>
                <a:ea typeface="+mn-ea"/>
                <a:cs typeface="+mn-cs"/>
                <a:hlinkClick r:id="rId10"/>
              </a:rPr>
              <a:t> </a:t>
            </a:r>
            <a:r>
              <a:rPr lang="en-US" sz="1200" b="0" i="0" u="none" strike="noStrike" kern="1200" err="1">
                <a:solidFill>
                  <a:schemeClr val="tx1"/>
                </a:solidFill>
                <a:effectLst/>
                <a:latin typeface="+mn-lt"/>
                <a:ea typeface="+mn-ea"/>
                <a:cs typeface="+mn-cs"/>
                <a:hlinkClick r:id="rId10"/>
              </a:rPr>
              <a:t>Technica</a:t>
            </a:r>
            <a:r>
              <a:rPr lang="en-US" sz="1200" b="0" i="0" kern="1200">
                <a:solidFill>
                  <a:schemeClr val="tx1"/>
                </a:solidFill>
                <a:effectLst/>
                <a:latin typeface="+mn-lt"/>
                <a:ea typeface="+mn-ea"/>
                <a:cs typeface="+mn-cs"/>
              </a:rPr>
              <a:t> first reported, even if you disable Cortana and Bing queries in the search box, opening the Start Menu and typing -- anything --</a:t>
            </a:r>
            <a:r>
              <a:rPr lang="en-US" sz="1200" b="0" i="1"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will still send some data to Microsoft.</a:t>
            </a:r>
          </a:p>
          <a:p>
            <a:r>
              <a:rPr lang="en-US" sz="1200" b="0" i="0" kern="1200">
                <a:solidFill>
                  <a:schemeClr val="tx1"/>
                </a:solidFill>
                <a:effectLst/>
                <a:latin typeface="+mn-lt"/>
                <a:ea typeface="+mn-ea"/>
                <a:cs typeface="+mn-cs"/>
              </a:rPr>
              <a:t>Microsoft said there's nothing nefarious going on there. It's not reading your search queries, just learning some basic habits about how you (and many others) are using search. It's not clear exactly what Microsoft means by that, but the company hinted that it's looking at broad behaviors. For example, it may be recording the simple fact that you searched for an item on your PC and how you initiated the search (a click vs. a keystroke).</a:t>
            </a:r>
          </a:p>
          <a:p>
            <a:r>
              <a:rPr lang="en-US" sz="1200" b="0" i="0" kern="1200">
                <a:solidFill>
                  <a:schemeClr val="tx1"/>
                </a:solidFill>
                <a:effectLst/>
                <a:latin typeface="+mn-lt"/>
                <a:ea typeface="+mn-ea"/>
                <a:cs typeface="+mn-cs"/>
              </a:rPr>
              <a:t>"As part of delivering Windows 10 as a service, updates may be delivered to provide ongoing new features to Bing search, such as new visual layouts, styles and search code," a Microsoft spokeswoman said in a statement. "No query or search usage data is sent to Microsoft, in accordance with the customer's chosen privacy settings."</a:t>
            </a:r>
          </a:p>
          <a:p>
            <a:r>
              <a:rPr lang="en-US" sz="1200" b="0" i="0" kern="1200">
                <a:solidFill>
                  <a:schemeClr val="tx1"/>
                </a:solidFill>
                <a:effectLst/>
                <a:latin typeface="+mn-lt"/>
                <a:ea typeface="+mn-ea"/>
                <a:cs typeface="+mn-cs"/>
              </a:rPr>
              <a:t>But, come on, Microsoft. Shouldn't there be a way to just opt out of </a:t>
            </a:r>
            <a:r>
              <a:rPr lang="en-US" sz="1200" b="0" i="1" kern="1200">
                <a:solidFill>
                  <a:schemeClr val="tx1"/>
                </a:solidFill>
                <a:effectLst/>
                <a:latin typeface="+mn-lt"/>
                <a:ea typeface="+mn-ea"/>
                <a:cs typeface="+mn-cs"/>
              </a:rPr>
              <a:t>all</a:t>
            </a:r>
            <a:r>
              <a:rPr lang="en-US" sz="1200" b="0" i="0" kern="1200">
                <a:solidFill>
                  <a:schemeClr val="tx1"/>
                </a:solidFill>
                <a:effectLst/>
                <a:latin typeface="+mn-lt"/>
                <a:ea typeface="+mn-ea"/>
                <a:cs typeface="+mn-cs"/>
              </a:rPr>
              <a:t> data being sent to you?</a:t>
            </a:r>
          </a:p>
          <a:p>
            <a:r>
              <a:rPr lang="en-US" sz="1200" b="0" i="0" kern="1200">
                <a:solidFill>
                  <a:schemeClr val="tx1"/>
                </a:solidFill>
                <a:effectLst/>
                <a:latin typeface="+mn-lt"/>
                <a:ea typeface="+mn-ea"/>
                <a:cs typeface="+mn-cs"/>
              </a:rPr>
              <a:t>5) Can scan for counterfeit games</a:t>
            </a:r>
          </a:p>
          <a:p>
            <a:r>
              <a:rPr lang="en-US" sz="1200" b="0" i="0" kern="1200">
                <a:solidFill>
                  <a:schemeClr val="tx1"/>
                </a:solidFill>
                <a:effectLst/>
                <a:latin typeface="+mn-lt"/>
                <a:ea typeface="+mn-ea"/>
                <a:cs typeface="+mn-cs"/>
              </a:rPr>
              <a:t>Tech blog </a:t>
            </a:r>
            <a:r>
              <a:rPr lang="en-US" sz="1200" b="0" i="0" u="none" strike="noStrike" kern="1200">
                <a:solidFill>
                  <a:schemeClr val="tx1"/>
                </a:solidFill>
                <a:effectLst/>
                <a:latin typeface="+mn-lt"/>
                <a:ea typeface="+mn-ea"/>
                <a:cs typeface="+mn-cs"/>
                <a:hlinkClick r:id="rId11"/>
              </a:rPr>
              <a:t>Alpha</a:t>
            </a:r>
            <a:r>
              <a:rPr lang="en-US" sz="1200" b="0" i="0" kern="1200">
                <a:solidFill>
                  <a:schemeClr val="tx1"/>
                </a:solidFill>
                <a:effectLst/>
                <a:latin typeface="+mn-lt"/>
                <a:ea typeface="+mn-ea"/>
                <a:cs typeface="+mn-cs"/>
              </a:rPr>
              <a:t> noted late last week that the Windows 10 license agreement everyone agrees to (without reading) includes language that seems to allow the company to scan your computer for pirated games and disable them at will.</a:t>
            </a:r>
          </a:p>
          <a:p>
            <a:r>
              <a:rPr lang="en-US" sz="1200" b="0" i="0" kern="1200">
                <a:solidFill>
                  <a:schemeClr val="tx1"/>
                </a:solidFill>
                <a:effectLst/>
                <a:latin typeface="+mn-lt"/>
                <a:ea typeface="+mn-ea"/>
                <a:cs typeface="+mn-cs"/>
              </a:rPr>
              <a:t>"We may automatically check your version of the software and download software updates or configuration changes, including those that prevent you from accessing the Services, playing counterfeit games, or using unauthorized hardware peripheral devices."</a:t>
            </a:r>
          </a:p>
          <a:p>
            <a:r>
              <a:rPr lang="en-US" sz="1200" b="0" i="0" kern="1200">
                <a:solidFill>
                  <a:schemeClr val="tx1"/>
                </a:solidFill>
                <a:effectLst/>
                <a:latin typeface="+mn-lt"/>
                <a:ea typeface="+mn-ea"/>
                <a:cs typeface="+mn-cs"/>
              </a:rPr>
              <a:t>This applies to Windows 10 services, such as Xbox Live, not Windows 10 itself. So Microsoft isn't scanning your PC for illegal copies of Halo. But it's written like it could -- and Microsoft should make that clearer in its privacy statement.</a:t>
            </a:r>
          </a:p>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33</a:t>
            </a:fld>
            <a:endParaRPr lang="en-US"/>
          </a:p>
        </p:txBody>
      </p:sp>
    </p:spTree>
    <p:extLst>
      <p:ext uri="{BB962C8B-B14F-4D97-AF65-F5344CB8AC3E}">
        <p14:creationId xmlns:p14="http://schemas.microsoft.com/office/powerpoint/2010/main" val="169335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35</a:t>
            </a:fld>
            <a:endParaRPr lang="en-US"/>
          </a:p>
        </p:txBody>
      </p:sp>
    </p:spTree>
    <p:extLst>
      <p:ext uri="{BB962C8B-B14F-4D97-AF65-F5344CB8AC3E}">
        <p14:creationId xmlns:p14="http://schemas.microsoft.com/office/powerpoint/2010/main" val="3622780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36</a:t>
            </a:fld>
            <a:endParaRPr lang="en-US"/>
          </a:p>
        </p:txBody>
      </p:sp>
    </p:spTree>
    <p:extLst>
      <p:ext uri="{BB962C8B-B14F-4D97-AF65-F5344CB8AC3E}">
        <p14:creationId xmlns:p14="http://schemas.microsoft.com/office/powerpoint/2010/main" val="2303215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a:t>EEC is a recommendation and is nonbinding superseded by GDPR</a:t>
            </a:r>
          </a:p>
          <a:p>
            <a:r>
              <a:rPr lang="en-US"/>
              <a:t>Mass</a:t>
            </a:r>
            <a:r>
              <a:rPr lang="en-US" baseline="0"/>
              <a:t> law applies to all mass residents,  </a:t>
            </a:r>
          </a:p>
          <a:p>
            <a:r>
              <a:rPr lang="en-US" baseline="0" err="1"/>
              <a:t>Hipaa</a:t>
            </a:r>
            <a:r>
              <a:rPr lang="en-US" baseline="0"/>
              <a:t> now covers business associates</a:t>
            </a:r>
          </a:p>
        </p:txBody>
      </p:sp>
      <p:sp>
        <p:nvSpPr>
          <p:cNvPr id="4" name="Slide Number Placeholder 3"/>
          <p:cNvSpPr>
            <a:spLocks noGrp="1"/>
          </p:cNvSpPr>
          <p:nvPr>
            <p:ph type="sldNum" sz="quarter" idx="10"/>
          </p:nvPr>
        </p:nvSpPr>
        <p:spPr/>
        <p:txBody>
          <a:bodyPr/>
          <a:lstStyle/>
          <a:p>
            <a:fld id="{EBE13BA3-2BF5-478F-8F09-F40177E242D0}" type="slidenum">
              <a:rPr lang="en-US" smtClean="0"/>
              <a:t>37</a:t>
            </a:fld>
            <a:endParaRPr lang="en-US"/>
          </a:p>
        </p:txBody>
      </p:sp>
    </p:spTree>
    <p:extLst>
      <p:ext uri="{BB962C8B-B14F-4D97-AF65-F5344CB8AC3E}">
        <p14:creationId xmlns:p14="http://schemas.microsoft.com/office/powerpoint/2010/main" val="423992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a:t>Is do not track a browser</a:t>
            </a:r>
            <a:r>
              <a:rPr lang="en-US" baseline="0"/>
              <a:t> issue?</a:t>
            </a:r>
          </a:p>
          <a:p>
            <a:endParaRPr lang="en-US" baseline="0"/>
          </a:p>
          <a:p>
            <a:r>
              <a:rPr lang="en-US" baseline="0"/>
              <a:t>Redirect via the browser or a direct server-to-server call?</a:t>
            </a:r>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38</a:t>
            </a:fld>
            <a:endParaRPr lang="en-US"/>
          </a:p>
        </p:txBody>
      </p:sp>
    </p:spTree>
    <p:extLst>
      <p:ext uri="{BB962C8B-B14F-4D97-AF65-F5344CB8AC3E}">
        <p14:creationId xmlns:p14="http://schemas.microsoft.com/office/powerpoint/2010/main" val="381000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hlinkClick r:id="rId3"/>
              </a:rPr>
              <a:t>https://wordpress.com/wp-login.php</a:t>
            </a:r>
            <a:r>
              <a:rPr lang="en-US" dirty="0"/>
              <a:t>  27-MAR-2011</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52</a:t>
            </a:fld>
            <a:endParaRPr lang="en-US"/>
          </a:p>
        </p:txBody>
      </p:sp>
    </p:spTree>
    <p:extLst>
      <p:ext uri="{BB962C8B-B14F-4D97-AF65-F5344CB8AC3E}">
        <p14:creationId xmlns:p14="http://schemas.microsoft.com/office/powerpoint/2010/main" val="1877989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53</a:t>
            </a:fld>
            <a:endParaRPr lang="en-US"/>
          </a:p>
        </p:txBody>
      </p:sp>
    </p:spTree>
    <p:extLst>
      <p:ext uri="{BB962C8B-B14F-4D97-AF65-F5344CB8AC3E}">
        <p14:creationId xmlns:p14="http://schemas.microsoft.com/office/powerpoint/2010/main" val="2697933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54</a:t>
            </a:fld>
            <a:endParaRPr lang="en-US"/>
          </a:p>
        </p:txBody>
      </p:sp>
    </p:spTree>
    <p:extLst>
      <p:ext uri="{BB962C8B-B14F-4D97-AF65-F5344CB8AC3E}">
        <p14:creationId xmlns:p14="http://schemas.microsoft.com/office/powerpoint/2010/main" val="34307706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59</a:t>
            </a:fld>
            <a:endParaRPr lang="en-US"/>
          </a:p>
        </p:txBody>
      </p:sp>
    </p:spTree>
    <p:extLst>
      <p:ext uri="{BB962C8B-B14F-4D97-AF65-F5344CB8AC3E}">
        <p14:creationId xmlns:p14="http://schemas.microsoft.com/office/powerpoint/2010/main" val="2612587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60</a:t>
            </a:fld>
            <a:endParaRPr lang="en-US"/>
          </a:p>
        </p:txBody>
      </p:sp>
    </p:spTree>
    <p:extLst>
      <p:ext uri="{BB962C8B-B14F-4D97-AF65-F5344CB8AC3E}">
        <p14:creationId xmlns:p14="http://schemas.microsoft.com/office/powerpoint/2010/main" val="3537312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200400"/>
            <a:ext cx="8534400" cy="2438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Title 1"/>
          <p:cNvSpPr>
            <a:spLocks noGrp="1"/>
          </p:cNvSpPr>
          <p:nvPr>
            <p:ph type="ctrTitle" hasCustomPrompt="1"/>
          </p:nvPr>
        </p:nvSpPr>
        <p:spPr>
          <a:xfrm>
            <a:off x="609600" y="1295401"/>
            <a:ext cx="10972800" cy="1470025"/>
          </a:xfrm>
        </p:spPr>
        <p:txBody>
          <a:bodyPr/>
          <a:lstStyle>
            <a:lvl1pPr algn="ctr">
              <a:defRPr baseline="0"/>
            </a:lvl1pPr>
          </a:lstStyle>
          <a:p>
            <a:r>
              <a:rPr lang="en-US" dirty="0"/>
              <a:t>IT666 : Computer Security</a:t>
            </a:r>
          </a:p>
        </p:txBody>
      </p:sp>
      <p:sp>
        <p:nvSpPr>
          <p:cNvPr id="10" name="Date Placeholder 3"/>
          <p:cNvSpPr txBox="1">
            <a:spLocks/>
          </p:cNvSpPr>
          <p:nvPr/>
        </p:nvSpPr>
        <p:spPr>
          <a:xfrm>
            <a:off x="914400" y="6348476"/>
            <a:ext cx="284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p>
        </p:txBody>
      </p:sp>
      <p:sp>
        <p:nvSpPr>
          <p:cNvPr id="11" name="Footer Placeholder 4"/>
          <p:cNvSpPr txBox="1">
            <a:spLocks/>
          </p:cNvSpPr>
          <p:nvPr/>
        </p:nvSpPr>
        <p:spPr>
          <a:xfrm>
            <a:off x="7112000" y="6348475"/>
            <a:ext cx="4165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800" dirty="0"/>
              <a:t>Instructor : ken.graf@unh.edu</a:t>
            </a:r>
          </a:p>
        </p:txBody>
      </p:sp>
      <p:pic>
        <p:nvPicPr>
          <p:cNvPr id="12" name="Picture 2" descr="University of New Hampshire">
            <a:extLst>
              <a:ext uri="{FF2B5EF4-FFF2-40B4-BE49-F238E27FC236}">
                <a16:creationId xmlns:a16="http://schemas.microsoft.com/office/drawing/2014/main" id="{52E3954D-70A0-416F-A7AB-55B49D629F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304800"/>
            <a:ext cx="291465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1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208835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4"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1685878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3843233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143001"/>
            <a:ext cx="109728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73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dmarcian.com/domain-check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science/article/pii/S014829631630488X#f0005"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eugdpr.org/eugdpr.org.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webreprints.djreprints.com/4197300009442.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pages.nist.gov/800-63-3"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www.cs.unh.edu/~it666/reading_list/Usability/where_do_security_policies_come_from.pdf"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dirty="0"/>
              <a:t>Email, Phishing, &amp; Privacy</a:t>
            </a:r>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179328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D9A97-C4C4-41CE-8781-E4E351EFA721}"/>
              </a:ext>
            </a:extLst>
          </p:cNvPr>
          <p:cNvSpPr>
            <a:spLocks noGrp="1"/>
          </p:cNvSpPr>
          <p:nvPr>
            <p:ph type="title"/>
          </p:nvPr>
        </p:nvSpPr>
        <p:spPr/>
        <p:txBody>
          <a:bodyPr/>
          <a:lstStyle/>
          <a:p>
            <a:r>
              <a:rPr lang="en-US" dirty="0"/>
              <a:t>Phishing rate prior to training</a:t>
            </a:r>
          </a:p>
        </p:txBody>
      </p:sp>
      <p:pic>
        <p:nvPicPr>
          <p:cNvPr id="5" name="Content Placeholder 4">
            <a:extLst>
              <a:ext uri="{FF2B5EF4-FFF2-40B4-BE49-F238E27FC236}">
                <a16:creationId xmlns:a16="http://schemas.microsoft.com/office/drawing/2014/main" id="{FFD551E0-2316-4DF4-AB47-B8115D6EBC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3276" y="914400"/>
            <a:ext cx="11525449" cy="5668962"/>
          </a:xfrm>
        </p:spPr>
      </p:pic>
    </p:spTree>
    <p:extLst>
      <p:ext uri="{BB962C8B-B14F-4D97-AF65-F5344CB8AC3E}">
        <p14:creationId xmlns:p14="http://schemas.microsoft.com/office/powerpoint/2010/main" val="933003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D9A97-C4C4-41CE-8781-E4E351EFA721}"/>
              </a:ext>
            </a:extLst>
          </p:cNvPr>
          <p:cNvSpPr>
            <a:spLocks noGrp="1"/>
          </p:cNvSpPr>
          <p:nvPr>
            <p:ph type="title"/>
          </p:nvPr>
        </p:nvSpPr>
        <p:spPr/>
        <p:txBody>
          <a:bodyPr/>
          <a:lstStyle/>
          <a:p>
            <a:r>
              <a:rPr lang="en-US" dirty="0"/>
              <a:t>..after training</a:t>
            </a:r>
          </a:p>
        </p:txBody>
      </p:sp>
      <p:pic>
        <p:nvPicPr>
          <p:cNvPr id="7" name="Content Placeholder 6">
            <a:extLst>
              <a:ext uri="{FF2B5EF4-FFF2-40B4-BE49-F238E27FC236}">
                <a16:creationId xmlns:a16="http://schemas.microsoft.com/office/drawing/2014/main" id="{258C1F1F-3A72-422A-AC78-D50E6080D7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265" y="914400"/>
            <a:ext cx="11677471" cy="5668962"/>
          </a:xfrm>
        </p:spPr>
      </p:pic>
    </p:spTree>
    <p:extLst>
      <p:ext uri="{BB962C8B-B14F-4D97-AF65-F5344CB8AC3E}">
        <p14:creationId xmlns:p14="http://schemas.microsoft.com/office/powerpoint/2010/main" val="798539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3F85-52E1-40BE-91AE-0F8ABDB06BA0}"/>
              </a:ext>
            </a:extLst>
          </p:cNvPr>
          <p:cNvSpPr>
            <a:spLocks noGrp="1"/>
          </p:cNvSpPr>
          <p:nvPr>
            <p:ph type="title"/>
          </p:nvPr>
        </p:nvSpPr>
        <p:spPr/>
        <p:txBody>
          <a:bodyPr/>
          <a:lstStyle/>
          <a:p>
            <a:r>
              <a:rPr lang="en-US" dirty="0"/>
              <a:t>Email - SPF</a:t>
            </a:r>
          </a:p>
        </p:txBody>
      </p:sp>
      <p:pic>
        <p:nvPicPr>
          <p:cNvPr id="4" name="Content Placeholder 3">
            <a:extLst>
              <a:ext uri="{FF2B5EF4-FFF2-40B4-BE49-F238E27FC236}">
                <a16:creationId xmlns:a16="http://schemas.microsoft.com/office/drawing/2014/main" id="{542CE100-F258-4651-A8DD-A4CCEB2183F0}"/>
              </a:ext>
            </a:extLst>
          </p:cNvPr>
          <p:cNvPicPr>
            <a:picLocks noGrp="1" noChangeAspect="1"/>
          </p:cNvPicPr>
          <p:nvPr>
            <p:ph idx="1"/>
          </p:nvPr>
        </p:nvPicPr>
        <p:blipFill>
          <a:blip r:embed="rId3"/>
          <a:stretch>
            <a:fillRect/>
          </a:stretch>
        </p:blipFill>
        <p:spPr>
          <a:xfrm>
            <a:off x="609600" y="1700625"/>
            <a:ext cx="10972800" cy="4096512"/>
          </a:xfrm>
          <a:prstGeom prst="rect">
            <a:avLst/>
          </a:prstGeom>
        </p:spPr>
      </p:pic>
    </p:spTree>
    <p:extLst>
      <p:ext uri="{BB962C8B-B14F-4D97-AF65-F5344CB8AC3E}">
        <p14:creationId xmlns:p14="http://schemas.microsoft.com/office/powerpoint/2010/main" val="84158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01B6-0B11-4148-ADCE-95B9DA5B7869}"/>
              </a:ext>
            </a:extLst>
          </p:cNvPr>
          <p:cNvSpPr>
            <a:spLocks noGrp="1"/>
          </p:cNvSpPr>
          <p:nvPr>
            <p:ph type="title"/>
          </p:nvPr>
        </p:nvSpPr>
        <p:spPr/>
        <p:txBody>
          <a:bodyPr/>
          <a:lstStyle/>
          <a:p>
            <a:r>
              <a:rPr lang="en-US" dirty="0"/>
              <a:t>Email – DKIM</a:t>
            </a:r>
          </a:p>
        </p:txBody>
      </p:sp>
      <p:pic>
        <p:nvPicPr>
          <p:cNvPr id="4" name="Content Placeholder 3">
            <a:extLst>
              <a:ext uri="{FF2B5EF4-FFF2-40B4-BE49-F238E27FC236}">
                <a16:creationId xmlns:a16="http://schemas.microsoft.com/office/drawing/2014/main" id="{9165B41D-A516-49F1-A197-785F797813A1}"/>
              </a:ext>
            </a:extLst>
          </p:cNvPr>
          <p:cNvPicPr>
            <a:picLocks noGrp="1" noChangeAspect="1"/>
          </p:cNvPicPr>
          <p:nvPr>
            <p:ph idx="1"/>
          </p:nvPr>
        </p:nvPicPr>
        <p:blipFill>
          <a:blip r:embed="rId3"/>
          <a:stretch>
            <a:fillRect/>
          </a:stretch>
        </p:blipFill>
        <p:spPr>
          <a:xfrm>
            <a:off x="1377750" y="1371600"/>
            <a:ext cx="9436500" cy="4754563"/>
          </a:xfrm>
          <a:prstGeom prst="rect">
            <a:avLst/>
          </a:prstGeom>
        </p:spPr>
      </p:pic>
      <p:sp>
        <p:nvSpPr>
          <p:cNvPr id="5" name="TextBox 4">
            <a:extLst>
              <a:ext uri="{FF2B5EF4-FFF2-40B4-BE49-F238E27FC236}">
                <a16:creationId xmlns:a16="http://schemas.microsoft.com/office/drawing/2014/main" id="{235ED330-5543-4C2E-A500-86C1CE6A7D5E}"/>
              </a:ext>
            </a:extLst>
          </p:cNvPr>
          <p:cNvSpPr txBox="1"/>
          <p:nvPr/>
        </p:nvSpPr>
        <p:spPr>
          <a:xfrm>
            <a:off x="990600" y="6400800"/>
            <a:ext cx="914400" cy="914400"/>
          </a:xfrm>
          <a:prstGeom prst="rect">
            <a:avLst/>
          </a:prstGeom>
        </p:spPr>
        <p:txBody>
          <a:bodyPr vert="horz" wrap="none" lIns="91440" tIns="45720" rIns="91440" bIns="45720" rtlCol="0">
            <a:normAutofit/>
          </a:bodyPr>
          <a:lstStyle/>
          <a:p>
            <a:r>
              <a:rPr lang="en-US" sz="2400" dirty="0"/>
              <a:t>DMARC domain checker: </a:t>
            </a:r>
            <a:r>
              <a:rPr lang="en-US" sz="2400" dirty="0">
                <a:hlinkClick r:id="rId4"/>
              </a:rPr>
              <a:t>https://dmarcian.com/domain-checker/</a:t>
            </a:r>
            <a:endParaRPr lang="en-US" sz="2400" dirty="0"/>
          </a:p>
        </p:txBody>
      </p:sp>
    </p:spTree>
    <p:extLst>
      <p:ext uri="{BB962C8B-B14F-4D97-AF65-F5344CB8AC3E}">
        <p14:creationId xmlns:p14="http://schemas.microsoft.com/office/powerpoint/2010/main" val="419863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a:t>Privacy</a:t>
            </a:r>
            <a:endParaRPr lang="en-US" b="1" dirty="0"/>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800172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 you have a right to privacy?</a:t>
            </a:r>
          </a:p>
        </p:txBody>
      </p:sp>
      <p:sp>
        <p:nvSpPr>
          <p:cNvPr id="3" name="Content Placeholder 2"/>
          <p:cNvSpPr>
            <a:spLocks noGrp="1"/>
          </p:cNvSpPr>
          <p:nvPr>
            <p:ph idx="1"/>
          </p:nvPr>
        </p:nvSpPr>
        <p:spPr/>
        <p:txBody>
          <a:bodyPr/>
          <a:lstStyle/>
          <a:p>
            <a:r>
              <a:rPr lang="en-US"/>
              <a:t>Part of the constitution in 150 countries</a:t>
            </a:r>
          </a:p>
          <a:p>
            <a:pPr lvl="1"/>
            <a:r>
              <a:rPr lang="en-US"/>
              <a:t>Not specifically mentioned in the USA; but the Supreme Court has ruled for implied rights</a:t>
            </a:r>
          </a:p>
          <a:p>
            <a:r>
              <a:rPr lang="en-GB"/>
              <a:t>Does the right to privacy need to be forfeited as part of the social contract in order to bolster national defence?</a:t>
            </a:r>
          </a:p>
          <a:p>
            <a:r>
              <a:rPr lang="en-GB"/>
              <a:t>A legal mind field we will not cover in class</a:t>
            </a:r>
          </a:p>
          <a:p>
            <a:endParaRPr lang="en-US"/>
          </a:p>
        </p:txBody>
      </p:sp>
    </p:spTree>
    <p:extLst>
      <p:ext uri="{BB962C8B-B14F-4D97-AF65-F5344CB8AC3E}">
        <p14:creationId xmlns:p14="http://schemas.microsoft.com/office/powerpoint/2010/main" val="3048606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History: US laws started as crypto = munitions</a:t>
            </a:r>
          </a:p>
        </p:txBody>
      </p:sp>
      <p:sp>
        <p:nvSpPr>
          <p:cNvPr id="3" name="Content Placeholder 2"/>
          <p:cNvSpPr>
            <a:spLocks noGrp="1"/>
          </p:cNvSpPr>
          <p:nvPr>
            <p:ph idx="1"/>
          </p:nvPr>
        </p:nvSpPr>
        <p:spPr/>
        <p:txBody>
          <a:bodyPr/>
          <a:lstStyle/>
          <a:p>
            <a:r>
              <a:rPr lang="en-US"/>
              <a:t>US export laws</a:t>
            </a:r>
          </a:p>
          <a:p>
            <a:pPr lvl="1"/>
            <a:r>
              <a:rPr lang="en-US"/>
              <a:t>Flawed based on US as “the” source of crypto</a:t>
            </a:r>
          </a:p>
          <a:p>
            <a:r>
              <a:rPr lang="en-US"/>
              <a:t>Chinese law prevents import</a:t>
            </a:r>
          </a:p>
          <a:p>
            <a:r>
              <a:rPr lang="en-US"/>
              <a:t>Fundamentally governments want to spy on others</a:t>
            </a:r>
          </a:p>
          <a:p>
            <a:r>
              <a:rPr lang="en-US"/>
              <a:t>Snowden effect: trend is toward regulation that keeps information about citizens within the country or at least outside of the USA.</a:t>
            </a:r>
          </a:p>
        </p:txBody>
      </p:sp>
    </p:spTree>
    <p:extLst>
      <p:ext uri="{BB962C8B-B14F-4D97-AF65-F5344CB8AC3E}">
        <p14:creationId xmlns:p14="http://schemas.microsoft.com/office/powerpoint/2010/main" val="93542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Physical vs. Virtual is unresolved</a:t>
            </a:r>
          </a:p>
        </p:txBody>
      </p:sp>
      <p:sp>
        <p:nvSpPr>
          <p:cNvPr id="3" name="Content Placeholder 2"/>
          <p:cNvSpPr>
            <a:spLocks noGrp="1"/>
          </p:cNvSpPr>
          <p:nvPr>
            <p:ph idx="1"/>
          </p:nvPr>
        </p:nvSpPr>
        <p:spPr/>
        <p:txBody>
          <a:bodyPr>
            <a:normAutofit fontScale="92500" lnSpcReduction="10000"/>
          </a:bodyPr>
          <a:lstStyle/>
          <a:p>
            <a:r>
              <a:rPr lang="en-US"/>
              <a:t>Governments</a:t>
            </a:r>
          </a:p>
          <a:p>
            <a:pPr lvl="1"/>
            <a:r>
              <a:rPr lang="en-US"/>
              <a:t>Rely on tariffs</a:t>
            </a:r>
          </a:p>
          <a:p>
            <a:pPr lvl="1"/>
            <a:r>
              <a:rPr lang="en-US"/>
              <a:t>Enact laws to protect those tariffs</a:t>
            </a:r>
          </a:p>
          <a:p>
            <a:pPr lvl="1"/>
            <a:r>
              <a:rPr lang="en-US"/>
              <a:t>Make agreements to enforce tariffs</a:t>
            </a:r>
          </a:p>
          <a:p>
            <a:r>
              <a:rPr lang="en-US"/>
              <a:t>You buy Red Sox tickets online in your dorm:</a:t>
            </a:r>
          </a:p>
          <a:p>
            <a:pPr lvl="1"/>
            <a:r>
              <a:rPr lang="en-US"/>
              <a:t>Do you pay Mass taxes?</a:t>
            </a:r>
          </a:p>
          <a:p>
            <a:r>
              <a:rPr lang="en-US"/>
              <a:t>You sell ___ to someone in New York City</a:t>
            </a:r>
          </a:p>
          <a:p>
            <a:pPr lvl="1"/>
            <a:r>
              <a:rPr lang="en-US"/>
              <a:t>Do you need to collect NY state and NY city sales tax?</a:t>
            </a:r>
          </a:p>
          <a:p>
            <a:r>
              <a:rPr lang="en-US"/>
              <a:t>You provide online advice to EU residents:</a:t>
            </a:r>
          </a:p>
          <a:p>
            <a:pPr lvl="1"/>
            <a:r>
              <a:rPr lang="en-US"/>
              <a:t>Does GDPR apply?</a:t>
            </a:r>
          </a:p>
        </p:txBody>
      </p:sp>
    </p:spTree>
    <p:extLst>
      <p:ext uri="{BB962C8B-B14F-4D97-AF65-F5344CB8AC3E}">
        <p14:creationId xmlns:p14="http://schemas.microsoft.com/office/powerpoint/2010/main" val="4287431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34D10-794C-4BEE-85E9-B09EBA481966}"/>
              </a:ext>
            </a:extLst>
          </p:cNvPr>
          <p:cNvSpPr>
            <a:spLocks noGrp="1"/>
          </p:cNvSpPr>
          <p:nvPr>
            <p:ph type="title"/>
          </p:nvPr>
        </p:nvSpPr>
        <p:spPr/>
        <p:txBody>
          <a:bodyPr/>
          <a:lstStyle/>
          <a:p>
            <a:r>
              <a:rPr lang="en-US"/>
              <a:t>Disconnection of data collection and privacy</a:t>
            </a:r>
          </a:p>
        </p:txBody>
      </p:sp>
      <p:pic>
        <p:nvPicPr>
          <p:cNvPr id="4" name="Content Placeholder 3">
            <a:extLst>
              <a:ext uri="{FF2B5EF4-FFF2-40B4-BE49-F238E27FC236}">
                <a16:creationId xmlns:a16="http://schemas.microsoft.com/office/drawing/2014/main" id="{16554ECE-064A-4CBD-ACE1-1FC5683A90CF}"/>
              </a:ext>
            </a:extLst>
          </p:cNvPr>
          <p:cNvPicPr>
            <a:picLocks noGrp="1" noChangeAspect="1"/>
          </p:cNvPicPr>
          <p:nvPr>
            <p:ph idx="1"/>
          </p:nvPr>
        </p:nvPicPr>
        <p:blipFill>
          <a:blip r:embed="rId2"/>
          <a:stretch>
            <a:fillRect/>
          </a:stretch>
        </p:blipFill>
        <p:spPr>
          <a:xfrm>
            <a:off x="399691" y="1684949"/>
            <a:ext cx="11205712" cy="4185376"/>
          </a:xfrm>
          <a:prstGeom prst="rect">
            <a:avLst/>
          </a:prstGeom>
        </p:spPr>
      </p:pic>
      <p:sp>
        <p:nvSpPr>
          <p:cNvPr id="5" name="TextBox 4">
            <a:extLst>
              <a:ext uri="{FF2B5EF4-FFF2-40B4-BE49-F238E27FC236}">
                <a16:creationId xmlns:a16="http://schemas.microsoft.com/office/drawing/2014/main" id="{DBC67357-29A7-4CBA-8ED9-806C05D33C2D}"/>
              </a:ext>
            </a:extLst>
          </p:cNvPr>
          <p:cNvSpPr txBox="1"/>
          <p:nvPr/>
        </p:nvSpPr>
        <p:spPr>
          <a:xfrm>
            <a:off x="1981200" y="6477000"/>
            <a:ext cx="1752600" cy="381000"/>
          </a:xfrm>
          <a:prstGeom prst="rect">
            <a:avLst/>
          </a:prstGeom>
        </p:spPr>
        <p:txBody>
          <a:bodyPr vert="horz" wrap="none" lIns="91440" tIns="45720" rIns="91440" bIns="45720" rtlCol="0">
            <a:normAutofit lnSpcReduction="10000"/>
          </a:bodyPr>
          <a:lstStyle/>
          <a:p>
            <a:r>
              <a:rPr lang="en-US" sz="2000">
                <a:hlinkClick r:id="rId3"/>
              </a:rPr>
              <a:t>https://www.sciencedirect.com/science/article/pii/S014829631630488X#f0005</a:t>
            </a:r>
            <a:r>
              <a:rPr lang="en-US" sz="2000"/>
              <a:t> </a:t>
            </a:r>
          </a:p>
        </p:txBody>
      </p:sp>
    </p:spTree>
    <p:extLst>
      <p:ext uri="{BB962C8B-B14F-4D97-AF65-F5344CB8AC3E}">
        <p14:creationId xmlns:p14="http://schemas.microsoft.com/office/powerpoint/2010/main" val="860249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61C09-BBA7-49FC-9947-D9A02B48E3C7}"/>
              </a:ext>
            </a:extLst>
          </p:cNvPr>
          <p:cNvSpPr>
            <a:spLocks noGrp="1"/>
          </p:cNvSpPr>
          <p:nvPr>
            <p:ph type="title"/>
          </p:nvPr>
        </p:nvSpPr>
        <p:spPr/>
        <p:txBody>
          <a:bodyPr/>
          <a:lstStyle/>
          <a:p>
            <a:r>
              <a:rPr lang="en-US"/>
              <a:t>Privacy vs. Anonymity vs. Confidentiality</a:t>
            </a:r>
          </a:p>
        </p:txBody>
      </p:sp>
      <p:sp>
        <p:nvSpPr>
          <p:cNvPr id="3" name="Content Placeholder 2">
            <a:extLst>
              <a:ext uri="{FF2B5EF4-FFF2-40B4-BE49-F238E27FC236}">
                <a16:creationId xmlns:a16="http://schemas.microsoft.com/office/drawing/2014/main" id="{D12BCC9C-3F92-4306-9654-2080CF24F9AE}"/>
              </a:ext>
            </a:extLst>
          </p:cNvPr>
          <p:cNvSpPr>
            <a:spLocks noGrp="1"/>
          </p:cNvSpPr>
          <p:nvPr>
            <p:ph idx="1"/>
          </p:nvPr>
        </p:nvSpPr>
        <p:spPr/>
        <p:txBody>
          <a:bodyPr vert="horz" lIns="91440" tIns="45720" rIns="91440" bIns="45720" rtlCol="0" anchor="t">
            <a:normAutofit/>
          </a:bodyPr>
          <a:lstStyle/>
          <a:p>
            <a:r>
              <a:rPr lang="en-US"/>
              <a:t>Privacy</a:t>
            </a:r>
          </a:p>
          <a:p>
            <a:pPr lvl="1"/>
            <a:r>
              <a:rPr lang="en-US"/>
              <a:t>The ability to keep some things to yourself</a:t>
            </a:r>
            <a:endParaRPr lang="en-US">
              <a:cs typeface="Calibri"/>
            </a:endParaRPr>
          </a:p>
          <a:p>
            <a:r>
              <a:rPr lang="en-US"/>
              <a:t>Anonymity</a:t>
            </a:r>
            <a:endParaRPr lang="en-US">
              <a:cs typeface="Calibri"/>
            </a:endParaRPr>
          </a:p>
          <a:p>
            <a:pPr lvl="1"/>
            <a:r>
              <a:rPr lang="en-US"/>
              <a:t>You </a:t>
            </a:r>
            <a:r>
              <a:rPr lang="en-US" i="1"/>
              <a:t>want</a:t>
            </a:r>
            <a:r>
              <a:rPr lang="en-US"/>
              <a:t> your action to count, but not tied to you directly</a:t>
            </a:r>
            <a:endParaRPr lang="en-US">
              <a:cs typeface="Calibri"/>
            </a:endParaRPr>
          </a:p>
          <a:p>
            <a:r>
              <a:rPr lang="en-US"/>
              <a:t>Confidentiality</a:t>
            </a:r>
            <a:endParaRPr lang="en-US">
              <a:cs typeface="Calibri"/>
            </a:endParaRPr>
          </a:p>
          <a:p>
            <a:pPr lvl="1"/>
            <a:r>
              <a:rPr lang="en-US"/>
              <a:t>Sharing of private information</a:t>
            </a:r>
            <a:endParaRPr lang="en-US">
              <a:cs typeface="Calibri"/>
            </a:endParaRPr>
          </a:p>
        </p:txBody>
      </p:sp>
    </p:spTree>
    <p:extLst>
      <p:ext uri="{BB962C8B-B14F-4D97-AF65-F5344CB8AC3E}">
        <p14:creationId xmlns:p14="http://schemas.microsoft.com/office/powerpoint/2010/main" val="1473766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Personally Identifiable Information (examples)</a:t>
            </a:r>
          </a:p>
        </p:txBody>
      </p:sp>
      <p:sp>
        <p:nvSpPr>
          <p:cNvPr id="3" name="Content Placeholder 2"/>
          <p:cNvSpPr>
            <a:spLocks noGrp="1"/>
          </p:cNvSpPr>
          <p:nvPr>
            <p:ph idx="1"/>
          </p:nvPr>
        </p:nvSpPr>
        <p:spPr>
          <a:xfrm>
            <a:off x="1981200" y="1600200"/>
            <a:ext cx="8229600" cy="4953000"/>
          </a:xfrm>
        </p:spPr>
        <p:txBody>
          <a:bodyPr>
            <a:normAutofit fontScale="92500" lnSpcReduction="20000"/>
          </a:bodyPr>
          <a:lstStyle/>
          <a:p>
            <a:r>
              <a:rPr lang="en-US"/>
              <a:t>Name, address or phone number </a:t>
            </a:r>
          </a:p>
          <a:p>
            <a:r>
              <a:rPr lang="en-US"/>
              <a:t>Employment history </a:t>
            </a:r>
          </a:p>
          <a:p>
            <a:r>
              <a:rPr lang="en-US"/>
              <a:t>Job title </a:t>
            </a:r>
          </a:p>
          <a:p>
            <a:r>
              <a:rPr lang="en-US"/>
              <a:t>Work email address </a:t>
            </a:r>
          </a:p>
          <a:p>
            <a:r>
              <a:rPr lang="en-US"/>
              <a:t>Birth date </a:t>
            </a:r>
          </a:p>
          <a:p>
            <a:r>
              <a:rPr lang="en-US"/>
              <a:t>Passport </a:t>
            </a:r>
          </a:p>
          <a:p>
            <a:r>
              <a:rPr lang="en-US"/>
              <a:t>National ID </a:t>
            </a:r>
          </a:p>
          <a:p>
            <a:r>
              <a:rPr lang="en-US"/>
              <a:t>Photographs </a:t>
            </a:r>
          </a:p>
          <a:p>
            <a:r>
              <a:rPr lang="en-US"/>
              <a:t>Performance review</a:t>
            </a:r>
          </a:p>
          <a:p>
            <a:r>
              <a:rPr lang="en-US"/>
              <a:t>IP address  </a:t>
            </a:r>
          </a:p>
        </p:txBody>
      </p:sp>
    </p:spTree>
    <p:extLst>
      <p:ext uri="{BB962C8B-B14F-4D97-AF65-F5344CB8AC3E}">
        <p14:creationId xmlns:p14="http://schemas.microsoft.com/office/powerpoint/2010/main" val="910556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A.K.A.</a:t>
            </a:r>
          </a:p>
        </p:txBody>
      </p:sp>
      <p:sp>
        <p:nvSpPr>
          <p:cNvPr id="3" name="Content Placeholder 2"/>
          <p:cNvSpPr>
            <a:spLocks noGrp="1"/>
          </p:cNvSpPr>
          <p:nvPr>
            <p:ph idx="1"/>
          </p:nvPr>
        </p:nvSpPr>
        <p:spPr/>
        <p:txBody>
          <a:bodyPr/>
          <a:lstStyle/>
          <a:p>
            <a:r>
              <a:rPr lang="en-US"/>
              <a:t>PII : Personally Identifiable Information</a:t>
            </a:r>
          </a:p>
          <a:p>
            <a:r>
              <a:rPr lang="en-US"/>
              <a:t>PHI : Personal Health Information</a:t>
            </a:r>
          </a:p>
          <a:p>
            <a:r>
              <a:rPr lang="en-US"/>
              <a:t>NPPI : Non-Public Personal Information</a:t>
            </a:r>
          </a:p>
          <a:p>
            <a:endParaRPr lang="en-US"/>
          </a:p>
        </p:txBody>
      </p:sp>
    </p:spTree>
    <p:extLst>
      <p:ext uri="{BB962C8B-B14F-4D97-AF65-F5344CB8AC3E}">
        <p14:creationId xmlns:p14="http://schemas.microsoft.com/office/powerpoint/2010/main" val="1506811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1406-9952-4B38-BED3-C132EE8A65AA}"/>
              </a:ext>
            </a:extLst>
          </p:cNvPr>
          <p:cNvSpPr>
            <a:spLocks noGrp="1"/>
          </p:cNvSpPr>
          <p:nvPr>
            <p:ph type="title"/>
          </p:nvPr>
        </p:nvSpPr>
        <p:spPr/>
        <p:txBody>
          <a:bodyPr/>
          <a:lstStyle/>
          <a:p>
            <a:r>
              <a:rPr lang="en-US"/>
              <a:t>Internet laws are evolving</a:t>
            </a:r>
          </a:p>
        </p:txBody>
      </p:sp>
      <p:sp>
        <p:nvSpPr>
          <p:cNvPr id="3" name="Content Placeholder 2">
            <a:extLst>
              <a:ext uri="{FF2B5EF4-FFF2-40B4-BE49-F238E27FC236}">
                <a16:creationId xmlns:a16="http://schemas.microsoft.com/office/drawing/2014/main" id="{0EF95813-5C0D-4F4F-9CCB-43B47CFC3ECD}"/>
              </a:ext>
            </a:extLst>
          </p:cNvPr>
          <p:cNvSpPr>
            <a:spLocks noGrp="1"/>
          </p:cNvSpPr>
          <p:nvPr>
            <p:ph idx="1"/>
          </p:nvPr>
        </p:nvSpPr>
        <p:spPr/>
        <p:txBody>
          <a:bodyPr>
            <a:normAutofit/>
          </a:bodyPr>
          <a:lstStyle/>
          <a:p>
            <a:r>
              <a:rPr lang="en-US"/>
              <a:t>HIPAA</a:t>
            </a:r>
          </a:p>
          <a:p>
            <a:r>
              <a:rPr lang="en-US"/>
              <a:t>FERPA</a:t>
            </a:r>
          </a:p>
          <a:p>
            <a:r>
              <a:rPr lang="en-US"/>
              <a:t>Sarbanes-Oxley</a:t>
            </a:r>
          </a:p>
          <a:p>
            <a:r>
              <a:rPr lang="en-US"/>
              <a:t>PCI-DSS</a:t>
            </a:r>
          </a:p>
          <a:p>
            <a:r>
              <a:rPr lang="en-US"/>
              <a:t>Gramm-Leach-Bliley</a:t>
            </a:r>
          </a:p>
          <a:p>
            <a:r>
              <a:rPr lang="en-US"/>
              <a:t>GDPR</a:t>
            </a:r>
          </a:p>
          <a:p>
            <a:r>
              <a:rPr lang="en-US"/>
              <a:t>California data</a:t>
            </a:r>
          </a:p>
          <a:p>
            <a:r>
              <a:rPr lang="en-US"/>
              <a:t>NATO Cyberspace</a:t>
            </a:r>
          </a:p>
        </p:txBody>
      </p:sp>
    </p:spTree>
    <p:extLst>
      <p:ext uri="{BB962C8B-B14F-4D97-AF65-F5344CB8AC3E}">
        <p14:creationId xmlns:p14="http://schemas.microsoft.com/office/powerpoint/2010/main" val="3075134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40B75-1936-4D52-93C6-DD81580CAEFB}"/>
              </a:ext>
            </a:extLst>
          </p:cNvPr>
          <p:cNvSpPr>
            <a:spLocks noGrp="1"/>
          </p:cNvSpPr>
          <p:nvPr>
            <p:ph type="title"/>
          </p:nvPr>
        </p:nvSpPr>
        <p:spPr>
          <a:xfrm>
            <a:off x="1981200" y="274638"/>
            <a:ext cx="8534400" cy="639762"/>
          </a:xfrm>
        </p:spPr>
        <p:txBody>
          <a:bodyPr>
            <a:normAutofit/>
          </a:bodyPr>
          <a:lstStyle/>
          <a:p>
            <a:r>
              <a:rPr lang="en-US"/>
              <a:t>HIPAA–Health Info. Privacy &amp; Accountability Act</a:t>
            </a:r>
          </a:p>
        </p:txBody>
      </p:sp>
      <p:sp>
        <p:nvSpPr>
          <p:cNvPr id="3" name="Content Placeholder 2">
            <a:extLst>
              <a:ext uri="{FF2B5EF4-FFF2-40B4-BE49-F238E27FC236}">
                <a16:creationId xmlns:a16="http://schemas.microsoft.com/office/drawing/2014/main" id="{D273D72E-AA45-4FD9-888F-853D4B1222B9}"/>
              </a:ext>
            </a:extLst>
          </p:cNvPr>
          <p:cNvSpPr>
            <a:spLocks noGrp="1"/>
          </p:cNvSpPr>
          <p:nvPr>
            <p:ph idx="1"/>
          </p:nvPr>
        </p:nvSpPr>
        <p:spPr/>
        <p:txBody>
          <a:bodyPr>
            <a:normAutofit/>
          </a:bodyPr>
          <a:lstStyle/>
          <a:p>
            <a:r>
              <a:rPr lang="en-US"/>
              <a:t>Dept. of Health &amp; Human Services (2002)</a:t>
            </a:r>
          </a:p>
          <a:p>
            <a:r>
              <a:rPr lang="en-US"/>
              <a:t>Protect patient data</a:t>
            </a:r>
          </a:p>
          <a:p>
            <a:r>
              <a:rPr lang="en-US"/>
              <a:t>Health care providers must comply</a:t>
            </a:r>
          </a:p>
          <a:p>
            <a:r>
              <a:rPr lang="en-US"/>
              <a:t>Prison terms for non-compliance</a:t>
            </a:r>
          </a:p>
          <a:p>
            <a:r>
              <a:rPr lang="en-US"/>
              <a:t>Controls are mostly legal not technical</a:t>
            </a:r>
          </a:p>
          <a:p>
            <a:r>
              <a:rPr lang="en-US"/>
              <a:t>Patients normally sign away consent</a:t>
            </a:r>
          </a:p>
          <a:p>
            <a:r>
              <a:rPr lang="en-US" b="1"/>
              <a:t>Privacy and data management</a:t>
            </a:r>
          </a:p>
        </p:txBody>
      </p:sp>
    </p:spTree>
    <p:extLst>
      <p:ext uri="{BB962C8B-B14F-4D97-AF65-F5344CB8AC3E}">
        <p14:creationId xmlns:p14="http://schemas.microsoft.com/office/powerpoint/2010/main" val="85887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D7A79-1940-405B-9F75-DC363E1AD83B}"/>
              </a:ext>
            </a:extLst>
          </p:cNvPr>
          <p:cNvSpPr>
            <a:spLocks noGrp="1"/>
          </p:cNvSpPr>
          <p:nvPr>
            <p:ph type="title"/>
          </p:nvPr>
        </p:nvSpPr>
        <p:spPr/>
        <p:txBody>
          <a:bodyPr>
            <a:normAutofit/>
          </a:bodyPr>
          <a:lstStyle/>
          <a:p>
            <a:r>
              <a:rPr lang="en-US"/>
              <a:t>FERPA- Family Educational Rights and Privacy Act</a:t>
            </a:r>
          </a:p>
        </p:txBody>
      </p:sp>
      <p:sp>
        <p:nvSpPr>
          <p:cNvPr id="3" name="Content Placeholder 2">
            <a:extLst>
              <a:ext uri="{FF2B5EF4-FFF2-40B4-BE49-F238E27FC236}">
                <a16:creationId xmlns:a16="http://schemas.microsoft.com/office/drawing/2014/main" id="{9DA6F069-CDC5-473A-9885-A3FBC981FFB4}"/>
              </a:ext>
            </a:extLst>
          </p:cNvPr>
          <p:cNvSpPr>
            <a:spLocks noGrp="1"/>
          </p:cNvSpPr>
          <p:nvPr>
            <p:ph idx="1"/>
          </p:nvPr>
        </p:nvSpPr>
        <p:spPr/>
        <p:txBody>
          <a:bodyPr>
            <a:normAutofit fontScale="92500"/>
          </a:bodyPr>
          <a:lstStyle/>
          <a:p>
            <a:r>
              <a:rPr lang="en-US"/>
              <a:t>1974</a:t>
            </a:r>
          </a:p>
          <a:p>
            <a:r>
              <a:rPr lang="en-US"/>
              <a:t>FERPA gives parents access to their child's education records, an have the records amended, and some control over the disclosure. </a:t>
            </a:r>
          </a:p>
          <a:p>
            <a:r>
              <a:rPr lang="en-US"/>
              <a:t>Schools must have a student's consent prior to the disclosure of education records </a:t>
            </a:r>
            <a:r>
              <a:rPr lang="en-US" i="1"/>
              <a:t>after that student is 18 years old</a:t>
            </a:r>
            <a:r>
              <a:rPr lang="en-US"/>
              <a:t>.</a:t>
            </a:r>
          </a:p>
          <a:p>
            <a:r>
              <a:rPr lang="en-US"/>
              <a:t>The law applies only to educational agencies and institutions that receive funding under a program administered by the U.S. Department of Education.</a:t>
            </a:r>
          </a:p>
          <a:p>
            <a:r>
              <a:rPr lang="en-US" b="1"/>
              <a:t>Privacy and data management</a:t>
            </a:r>
          </a:p>
        </p:txBody>
      </p:sp>
    </p:spTree>
    <p:extLst>
      <p:ext uri="{BB962C8B-B14F-4D97-AF65-F5344CB8AC3E}">
        <p14:creationId xmlns:p14="http://schemas.microsoft.com/office/powerpoint/2010/main" val="3157602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68B3-4405-4B21-9948-963F4D878631}"/>
              </a:ext>
            </a:extLst>
          </p:cNvPr>
          <p:cNvSpPr>
            <a:spLocks noGrp="1"/>
          </p:cNvSpPr>
          <p:nvPr>
            <p:ph type="title"/>
          </p:nvPr>
        </p:nvSpPr>
        <p:spPr/>
        <p:txBody>
          <a:bodyPr/>
          <a:lstStyle/>
          <a:p>
            <a:r>
              <a:rPr lang="en-US"/>
              <a:t>Sarbanes-Oxley</a:t>
            </a:r>
          </a:p>
        </p:txBody>
      </p:sp>
      <p:sp>
        <p:nvSpPr>
          <p:cNvPr id="3" name="Content Placeholder 2">
            <a:extLst>
              <a:ext uri="{FF2B5EF4-FFF2-40B4-BE49-F238E27FC236}">
                <a16:creationId xmlns:a16="http://schemas.microsoft.com/office/drawing/2014/main" id="{FD310C5B-69AC-4CA9-B857-E48F3D407F09}"/>
              </a:ext>
            </a:extLst>
          </p:cNvPr>
          <p:cNvSpPr>
            <a:spLocks noGrp="1"/>
          </p:cNvSpPr>
          <p:nvPr>
            <p:ph idx="1"/>
          </p:nvPr>
        </p:nvSpPr>
        <p:spPr/>
        <p:txBody>
          <a:bodyPr/>
          <a:lstStyle/>
          <a:p>
            <a:r>
              <a:rPr lang="en-US"/>
              <a:t>Enacted July 30, 2002; also known as the "Public Company Accounting Reform and Investor Protection Act“</a:t>
            </a:r>
          </a:p>
          <a:p>
            <a:r>
              <a:rPr lang="en-US"/>
              <a:t>SEC enforcement</a:t>
            </a:r>
          </a:p>
          <a:p>
            <a:r>
              <a:rPr lang="en-US"/>
              <a:t>Cover responsibilities of a public corporation's board of directors</a:t>
            </a:r>
          </a:p>
          <a:p>
            <a:r>
              <a:rPr lang="en-US"/>
              <a:t>Adds criminal penalties for misconduct</a:t>
            </a:r>
          </a:p>
          <a:p>
            <a:r>
              <a:rPr lang="en-US" b="1"/>
              <a:t>Data integrity and audit trails</a:t>
            </a:r>
          </a:p>
          <a:p>
            <a:endParaRPr lang="en-US"/>
          </a:p>
        </p:txBody>
      </p:sp>
    </p:spTree>
    <p:extLst>
      <p:ext uri="{BB962C8B-B14F-4D97-AF65-F5344CB8AC3E}">
        <p14:creationId xmlns:p14="http://schemas.microsoft.com/office/powerpoint/2010/main" val="2754658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DCC6A-40EF-4413-97F0-95CE0B3E176B}"/>
              </a:ext>
            </a:extLst>
          </p:cNvPr>
          <p:cNvSpPr>
            <a:spLocks noGrp="1"/>
          </p:cNvSpPr>
          <p:nvPr>
            <p:ph type="title"/>
          </p:nvPr>
        </p:nvSpPr>
        <p:spPr/>
        <p:txBody>
          <a:bodyPr/>
          <a:lstStyle/>
          <a:p>
            <a:r>
              <a:rPr lang="en-US"/>
              <a:t>Gramm-Leach-Bliley</a:t>
            </a:r>
          </a:p>
        </p:txBody>
      </p:sp>
      <p:sp>
        <p:nvSpPr>
          <p:cNvPr id="3" name="Content Placeholder 2">
            <a:extLst>
              <a:ext uri="{FF2B5EF4-FFF2-40B4-BE49-F238E27FC236}">
                <a16:creationId xmlns:a16="http://schemas.microsoft.com/office/drawing/2014/main" id="{4AD68EB6-6BA3-43CA-8A5E-BE441D504302}"/>
              </a:ext>
            </a:extLst>
          </p:cNvPr>
          <p:cNvSpPr>
            <a:spLocks noGrp="1"/>
          </p:cNvSpPr>
          <p:nvPr>
            <p:ph idx="1"/>
          </p:nvPr>
        </p:nvSpPr>
        <p:spPr/>
        <p:txBody>
          <a:bodyPr/>
          <a:lstStyle/>
          <a:p>
            <a:r>
              <a:rPr lang="en-US"/>
              <a:t>Also known as the Financial Services Modernization Act of 1999</a:t>
            </a:r>
          </a:p>
          <a:p>
            <a:r>
              <a:rPr lang="en-US"/>
              <a:t>Financial institutions must provide clients:</a:t>
            </a:r>
          </a:p>
          <a:p>
            <a:pPr lvl="1"/>
            <a:r>
              <a:rPr lang="en-US"/>
              <a:t>A privacy notice that explains what information the company gathers about the client</a:t>
            </a:r>
          </a:p>
          <a:p>
            <a:pPr lvl="1"/>
            <a:r>
              <a:rPr lang="en-US"/>
              <a:t>Where this information is shared</a:t>
            </a:r>
          </a:p>
          <a:p>
            <a:pPr lvl="1"/>
            <a:r>
              <a:rPr lang="en-US"/>
              <a:t>How the company safeguards that information. </a:t>
            </a:r>
          </a:p>
        </p:txBody>
      </p:sp>
    </p:spTree>
    <p:extLst>
      <p:ext uri="{BB962C8B-B14F-4D97-AF65-F5344CB8AC3E}">
        <p14:creationId xmlns:p14="http://schemas.microsoft.com/office/powerpoint/2010/main" val="2374593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2DEAC-92E8-472F-A90F-E2BD8817A476}"/>
              </a:ext>
            </a:extLst>
          </p:cNvPr>
          <p:cNvSpPr>
            <a:spLocks noGrp="1"/>
          </p:cNvSpPr>
          <p:nvPr>
            <p:ph type="title"/>
          </p:nvPr>
        </p:nvSpPr>
        <p:spPr>
          <a:xfrm>
            <a:off x="1981200" y="274638"/>
            <a:ext cx="8458200" cy="639762"/>
          </a:xfrm>
        </p:spPr>
        <p:txBody>
          <a:bodyPr>
            <a:normAutofit fontScale="90000"/>
          </a:bodyPr>
          <a:lstStyle/>
          <a:p>
            <a:r>
              <a:rPr lang="en-US" err="1"/>
              <a:t>PCI-DSS:Payment</a:t>
            </a:r>
            <a:r>
              <a:rPr lang="en-US"/>
              <a:t> Card Industry Data Security Standard</a:t>
            </a:r>
          </a:p>
        </p:txBody>
      </p:sp>
      <p:sp>
        <p:nvSpPr>
          <p:cNvPr id="3" name="Content Placeholder 2">
            <a:extLst>
              <a:ext uri="{FF2B5EF4-FFF2-40B4-BE49-F238E27FC236}">
                <a16:creationId xmlns:a16="http://schemas.microsoft.com/office/drawing/2014/main" id="{3A3133CA-E33B-48BF-871E-F215C1B1DB03}"/>
              </a:ext>
            </a:extLst>
          </p:cNvPr>
          <p:cNvSpPr>
            <a:spLocks noGrp="1"/>
          </p:cNvSpPr>
          <p:nvPr>
            <p:ph idx="1"/>
          </p:nvPr>
        </p:nvSpPr>
        <p:spPr>
          <a:xfrm>
            <a:off x="1981200" y="1371600"/>
            <a:ext cx="8229600" cy="5105400"/>
          </a:xfrm>
        </p:spPr>
        <p:txBody>
          <a:bodyPr>
            <a:normAutofit lnSpcReduction="10000"/>
          </a:bodyPr>
          <a:lstStyle/>
          <a:p>
            <a:r>
              <a:rPr lang="en-US"/>
              <a:t>VISA, Mastercard, AMEX, Discover, JCB: 2004</a:t>
            </a:r>
          </a:p>
          <a:p>
            <a:r>
              <a:rPr lang="en-US"/>
              <a:t>Must pass an audit</a:t>
            </a:r>
          </a:p>
          <a:p>
            <a:r>
              <a:rPr lang="en-US"/>
              <a:t>External assessment by a qualified assessor</a:t>
            </a:r>
          </a:p>
          <a:p>
            <a:r>
              <a:rPr lang="en-US"/>
              <a:t>Requirements:</a:t>
            </a:r>
          </a:p>
          <a:p>
            <a:pPr lvl="1"/>
            <a:r>
              <a:rPr lang="en-US"/>
              <a:t>Build and Maintain a Secure Network and Systems</a:t>
            </a:r>
          </a:p>
          <a:p>
            <a:pPr lvl="1"/>
            <a:r>
              <a:rPr lang="en-US"/>
              <a:t>Protect Cardholder Data</a:t>
            </a:r>
          </a:p>
          <a:p>
            <a:pPr lvl="1"/>
            <a:r>
              <a:rPr lang="en-US"/>
              <a:t>Maintain a Vulnerability Management Program</a:t>
            </a:r>
          </a:p>
          <a:p>
            <a:pPr lvl="1"/>
            <a:r>
              <a:rPr lang="en-US"/>
              <a:t>Implement Strong Access Control Measures</a:t>
            </a:r>
          </a:p>
          <a:p>
            <a:pPr lvl="1"/>
            <a:r>
              <a:rPr lang="en-US"/>
              <a:t>Regularly Monitor and Test Networks</a:t>
            </a:r>
          </a:p>
          <a:p>
            <a:pPr lvl="1"/>
            <a:r>
              <a:rPr lang="en-US"/>
              <a:t>Maintain an Information Security Policy</a:t>
            </a:r>
          </a:p>
        </p:txBody>
      </p:sp>
    </p:spTree>
    <p:extLst>
      <p:ext uri="{BB962C8B-B14F-4D97-AF65-F5344CB8AC3E}">
        <p14:creationId xmlns:p14="http://schemas.microsoft.com/office/powerpoint/2010/main" val="4086679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B18A9-D563-4EF7-8FBD-D48D854C0F72}"/>
              </a:ext>
            </a:extLst>
          </p:cNvPr>
          <p:cNvSpPr>
            <a:spLocks noGrp="1"/>
          </p:cNvSpPr>
          <p:nvPr>
            <p:ph type="title"/>
          </p:nvPr>
        </p:nvSpPr>
        <p:spPr/>
        <p:txBody>
          <a:bodyPr>
            <a:normAutofit/>
          </a:bodyPr>
          <a:lstStyle/>
          <a:p>
            <a:r>
              <a:rPr lang="en-US"/>
              <a:t>General Data Protection Regulation (GDPR)</a:t>
            </a:r>
          </a:p>
        </p:txBody>
      </p:sp>
      <p:sp>
        <p:nvSpPr>
          <p:cNvPr id="3" name="Content Placeholder 2">
            <a:extLst>
              <a:ext uri="{FF2B5EF4-FFF2-40B4-BE49-F238E27FC236}">
                <a16:creationId xmlns:a16="http://schemas.microsoft.com/office/drawing/2014/main" id="{C4646B47-67B4-41FE-903A-CD5BFAA3CF96}"/>
              </a:ext>
            </a:extLst>
          </p:cNvPr>
          <p:cNvSpPr>
            <a:spLocks noGrp="1"/>
          </p:cNvSpPr>
          <p:nvPr>
            <p:ph idx="1"/>
          </p:nvPr>
        </p:nvSpPr>
        <p:spPr/>
        <p:txBody>
          <a:bodyPr/>
          <a:lstStyle/>
          <a:p>
            <a:r>
              <a:rPr lang="en-US"/>
              <a:t>EU legislation drafted to regulate the data privacy protections of EU residents</a:t>
            </a:r>
          </a:p>
          <a:p>
            <a:r>
              <a:rPr lang="en-US"/>
              <a:t>Went into effect in May 2018</a:t>
            </a:r>
          </a:p>
          <a:p>
            <a:r>
              <a:rPr lang="en-US"/>
              <a:t>Compliance for anyone doing business in EU</a:t>
            </a:r>
          </a:p>
          <a:p>
            <a:pPr lvl="1"/>
            <a:r>
              <a:rPr lang="en-US"/>
              <a:t>Customers must be notified within 72 hours</a:t>
            </a:r>
          </a:p>
          <a:p>
            <a:pPr lvl="1"/>
            <a:r>
              <a:rPr lang="en-US"/>
              <a:t>Fines of up to 20 million euro or 4% of the company’s revenue </a:t>
            </a:r>
          </a:p>
        </p:txBody>
      </p:sp>
    </p:spTree>
    <p:extLst>
      <p:ext uri="{BB962C8B-B14F-4D97-AF65-F5344CB8AC3E}">
        <p14:creationId xmlns:p14="http://schemas.microsoft.com/office/powerpoint/2010/main" val="2307071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EB85-2EA8-4DEB-83D2-F873C9043D6F}"/>
              </a:ext>
            </a:extLst>
          </p:cNvPr>
          <p:cNvSpPr>
            <a:spLocks noGrp="1"/>
          </p:cNvSpPr>
          <p:nvPr>
            <p:ph type="title"/>
          </p:nvPr>
        </p:nvSpPr>
        <p:spPr/>
        <p:txBody>
          <a:bodyPr/>
          <a:lstStyle/>
          <a:p>
            <a:r>
              <a:rPr lang="en-US"/>
              <a:t>GDPR concerns</a:t>
            </a:r>
          </a:p>
        </p:txBody>
      </p:sp>
      <p:sp>
        <p:nvSpPr>
          <p:cNvPr id="3" name="Content Placeholder 2">
            <a:extLst>
              <a:ext uri="{FF2B5EF4-FFF2-40B4-BE49-F238E27FC236}">
                <a16:creationId xmlns:a16="http://schemas.microsoft.com/office/drawing/2014/main" id="{B03E14F4-2F87-4199-8BA8-04CBA1879F32}"/>
              </a:ext>
            </a:extLst>
          </p:cNvPr>
          <p:cNvSpPr>
            <a:spLocks noGrp="1"/>
          </p:cNvSpPr>
          <p:nvPr>
            <p:ph idx="1"/>
          </p:nvPr>
        </p:nvSpPr>
        <p:spPr/>
        <p:txBody>
          <a:bodyPr>
            <a:normAutofit lnSpcReduction="10000"/>
          </a:bodyPr>
          <a:lstStyle/>
          <a:p>
            <a:r>
              <a:rPr lang="en-US"/>
              <a:t>Applies if you retain PII about EU citizens</a:t>
            </a:r>
          </a:p>
          <a:p>
            <a:pPr lvl="1"/>
            <a:r>
              <a:rPr lang="en-US"/>
              <a:t>States laws in US have a similar reach</a:t>
            </a:r>
          </a:p>
          <a:p>
            <a:r>
              <a:rPr lang="en-US"/>
              <a:t>Understand what PII you have</a:t>
            </a:r>
          </a:p>
          <a:p>
            <a:r>
              <a:rPr lang="en-US"/>
              <a:t>Must notify in 72 hours</a:t>
            </a:r>
          </a:p>
          <a:p>
            <a:pPr lvl="1"/>
            <a:r>
              <a:rPr lang="en-US"/>
              <a:t>This requires having a breach notification plan</a:t>
            </a:r>
          </a:p>
          <a:p>
            <a:r>
              <a:rPr lang="en-US"/>
              <a:t>Affects the entire organization</a:t>
            </a:r>
          </a:p>
          <a:p>
            <a:r>
              <a:rPr lang="en-US"/>
              <a:t>Give customers control of their data</a:t>
            </a:r>
          </a:p>
          <a:p>
            <a:r>
              <a:rPr lang="en-US"/>
              <a:t>Train/Hire a data protection officer</a:t>
            </a:r>
          </a:p>
          <a:p>
            <a:r>
              <a:rPr lang="en-US"/>
              <a:t>Fines are significant</a:t>
            </a:r>
          </a:p>
        </p:txBody>
      </p:sp>
    </p:spTree>
    <p:extLst>
      <p:ext uri="{BB962C8B-B14F-4D97-AF65-F5344CB8AC3E}">
        <p14:creationId xmlns:p14="http://schemas.microsoft.com/office/powerpoint/2010/main" val="3688037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6B730-9EA1-4796-81B4-047795A4383B}"/>
              </a:ext>
            </a:extLst>
          </p:cNvPr>
          <p:cNvSpPr>
            <a:spLocks noGrp="1"/>
          </p:cNvSpPr>
          <p:nvPr>
            <p:ph type="title"/>
          </p:nvPr>
        </p:nvSpPr>
        <p:spPr/>
        <p:txBody>
          <a:bodyPr/>
          <a:lstStyle/>
          <a:p>
            <a:r>
              <a:rPr lang="en-US"/>
              <a:t>EU - General Data Privacy Reg (GDPR)</a:t>
            </a:r>
          </a:p>
        </p:txBody>
      </p:sp>
      <p:sp>
        <p:nvSpPr>
          <p:cNvPr id="3" name="Content Placeholder 2">
            <a:extLst>
              <a:ext uri="{FF2B5EF4-FFF2-40B4-BE49-F238E27FC236}">
                <a16:creationId xmlns:a16="http://schemas.microsoft.com/office/drawing/2014/main" id="{8EA86F38-CC19-4880-AA52-29DBE82E8770}"/>
              </a:ext>
            </a:extLst>
          </p:cNvPr>
          <p:cNvSpPr>
            <a:spLocks noGrp="1"/>
          </p:cNvSpPr>
          <p:nvPr>
            <p:ph idx="1"/>
          </p:nvPr>
        </p:nvSpPr>
        <p:spPr/>
        <p:txBody>
          <a:bodyPr>
            <a:normAutofit/>
          </a:bodyPr>
          <a:lstStyle/>
          <a:p>
            <a:r>
              <a:rPr lang="en-US" b="1"/>
              <a:t>What constitutes personal data?</a:t>
            </a:r>
            <a:br>
              <a:rPr lang="en-US" b="1"/>
            </a:br>
            <a:r>
              <a:rPr lang="en-US"/>
              <a:t>Any information related to a natural person or ‘Data Subject’, that can be used to directly or indirectly identify the person. It can be anything from a name, a photo, an email address, bank details, posts on social networking websites, medical information, or a computer IP address.</a:t>
            </a:r>
          </a:p>
        </p:txBody>
      </p:sp>
      <p:sp>
        <p:nvSpPr>
          <p:cNvPr id="4" name="TextBox 3">
            <a:extLst>
              <a:ext uri="{FF2B5EF4-FFF2-40B4-BE49-F238E27FC236}">
                <a16:creationId xmlns:a16="http://schemas.microsoft.com/office/drawing/2014/main" id="{08401B4F-E397-4356-ABEC-661ACFCED9F9}"/>
              </a:ext>
            </a:extLst>
          </p:cNvPr>
          <p:cNvSpPr txBox="1"/>
          <p:nvPr/>
        </p:nvSpPr>
        <p:spPr>
          <a:xfrm>
            <a:off x="2209800" y="5943600"/>
            <a:ext cx="914400" cy="914400"/>
          </a:xfrm>
          <a:prstGeom prst="rect">
            <a:avLst/>
          </a:prstGeom>
        </p:spPr>
        <p:txBody>
          <a:bodyPr vert="horz" wrap="none" lIns="91440" tIns="45720" rIns="91440" bIns="45720" rtlCol="0">
            <a:normAutofit/>
          </a:bodyPr>
          <a:lstStyle/>
          <a:p>
            <a:r>
              <a:rPr lang="en-US" sz="2400">
                <a:hlinkClick r:id="rId2"/>
              </a:rPr>
              <a:t>https://www.eugdpr.org/eugdpr.org.html</a:t>
            </a:r>
            <a:r>
              <a:rPr lang="en-US" sz="2400"/>
              <a:t> </a:t>
            </a:r>
          </a:p>
        </p:txBody>
      </p:sp>
    </p:spTree>
    <p:extLst>
      <p:ext uri="{BB962C8B-B14F-4D97-AF65-F5344CB8AC3E}">
        <p14:creationId xmlns:p14="http://schemas.microsoft.com/office/powerpoint/2010/main" val="77508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5681F-CF17-40DC-86B3-A68103CA7240}"/>
              </a:ext>
            </a:extLst>
          </p:cNvPr>
          <p:cNvSpPr>
            <a:spLocks noGrp="1"/>
          </p:cNvSpPr>
          <p:nvPr>
            <p:ph type="title"/>
          </p:nvPr>
        </p:nvSpPr>
        <p:spPr/>
        <p:txBody>
          <a:bodyPr/>
          <a:lstStyle/>
          <a:p>
            <a:r>
              <a:rPr lang="en-US">
                <a:cs typeface="Calibri"/>
              </a:rPr>
              <a:t>California Consumer Protection Act (CCPA)</a:t>
            </a:r>
            <a:endParaRPr lang="en-US"/>
          </a:p>
        </p:txBody>
      </p:sp>
      <p:sp>
        <p:nvSpPr>
          <p:cNvPr id="3" name="Content Placeholder 2">
            <a:extLst>
              <a:ext uri="{FF2B5EF4-FFF2-40B4-BE49-F238E27FC236}">
                <a16:creationId xmlns:a16="http://schemas.microsoft.com/office/drawing/2014/main" id="{1A406229-B200-44CD-97CF-024CC2861ACF}"/>
              </a:ext>
            </a:extLst>
          </p:cNvPr>
          <p:cNvSpPr>
            <a:spLocks noGrp="1"/>
          </p:cNvSpPr>
          <p:nvPr>
            <p:ph idx="1"/>
          </p:nvPr>
        </p:nvSpPr>
        <p:spPr/>
        <p:txBody>
          <a:bodyPr vert="horz" lIns="91440" tIns="45720" rIns="91440" bIns="45720" rtlCol="0" anchor="t">
            <a:normAutofit fontScale="92500" lnSpcReduction="20000"/>
          </a:bodyPr>
          <a:lstStyle/>
          <a:p>
            <a:r>
              <a:rPr lang="en-US" b="1">
                <a:cs typeface="Calibri"/>
              </a:rPr>
              <a:t>Who or What Is Regulated by the CCPA?</a:t>
            </a:r>
            <a:endParaRPr lang="en-US">
              <a:cs typeface="Calibri"/>
            </a:endParaRPr>
          </a:p>
          <a:p>
            <a:pPr lvl="1"/>
            <a:r>
              <a:rPr lang="en-US" sz="3300">
                <a:cs typeface="Calibri"/>
              </a:rPr>
              <a:t>Must “do[ ] business” in California for profit or for the financial benefit of shareholders, and must meet or surpass one of the following three minimum thresholds:</a:t>
            </a:r>
          </a:p>
          <a:p>
            <a:pPr lvl="1"/>
            <a:r>
              <a:rPr lang="en-US" sz="3600">
                <a:cs typeface="Calibri"/>
              </a:rPr>
              <a:t>$25 million in annual gross revenue</a:t>
            </a:r>
          </a:p>
          <a:p>
            <a:pPr lvl="1"/>
            <a:r>
              <a:rPr lang="en-US" sz="3600">
                <a:cs typeface="Calibri"/>
              </a:rPr>
              <a:t>Buy, receive for commercial purposes, sell, or share for commercial purposes, the personal information of 50,000 or more consumers</a:t>
            </a:r>
          </a:p>
          <a:p>
            <a:pPr lvl="1"/>
            <a:r>
              <a:rPr lang="en-US" sz="3600">
                <a:cs typeface="Calibri"/>
              </a:rPr>
              <a:t>Derive 50 percent or more of annual revenue from selling consumers’ personal information</a:t>
            </a:r>
          </a:p>
          <a:p>
            <a:endParaRPr lang="en-US"/>
          </a:p>
          <a:p>
            <a:endParaRPr lang="en-US">
              <a:cs typeface="Calibri"/>
            </a:endParaRPr>
          </a:p>
        </p:txBody>
      </p:sp>
    </p:spTree>
    <p:extLst>
      <p:ext uri="{BB962C8B-B14F-4D97-AF65-F5344CB8AC3E}">
        <p14:creationId xmlns:p14="http://schemas.microsoft.com/office/powerpoint/2010/main" val="22067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A282-8607-4C98-80AD-14AD6A9B1E81}"/>
              </a:ext>
            </a:extLst>
          </p:cNvPr>
          <p:cNvSpPr>
            <a:spLocks noGrp="1"/>
          </p:cNvSpPr>
          <p:nvPr>
            <p:ph type="title"/>
          </p:nvPr>
        </p:nvSpPr>
        <p:spPr/>
        <p:txBody>
          <a:bodyPr/>
          <a:lstStyle/>
          <a:p>
            <a:r>
              <a:rPr lang="en-US"/>
              <a:t>NATO Cyberspace</a:t>
            </a:r>
          </a:p>
        </p:txBody>
      </p:sp>
      <p:sp>
        <p:nvSpPr>
          <p:cNvPr id="3" name="Content Placeholder 2">
            <a:extLst>
              <a:ext uri="{FF2B5EF4-FFF2-40B4-BE49-F238E27FC236}">
                <a16:creationId xmlns:a16="http://schemas.microsoft.com/office/drawing/2014/main" id="{775E1C93-3DFB-445E-A199-E711147F510F}"/>
              </a:ext>
            </a:extLst>
          </p:cNvPr>
          <p:cNvSpPr>
            <a:spLocks noGrp="1"/>
          </p:cNvSpPr>
          <p:nvPr>
            <p:ph idx="1"/>
          </p:nvPr>
        </p:nvSpPr>
        <p:spPr>
          <a:xfrm>
            <a:off x="1981200" y="1371600"/>
            <a:ext cx="8229600" cy="5211762"/>
          </a:xfrm>
        </p:spPr>
        <p:txBody>
          <a:bodyPr>
            <a:normAutofit fontScale="70000" lnSpcReduction="20000"/>
          </a:bodyPr>
          <a:lstStyle/>
          <a:p>
            <a:r>
              <a:rPr lang="en-US"/>
              <a:t>Cyber defense is part of NATO’s core task of collective defense.</a:t>
            </a:r>
          </a:p>
          <a:p>
            <a:r>
              <a:rPr lang="en-US"/>
              <a:t>NATO has affirmed that international law applies in cyberspace.</a:t>
            </a:r>
          </a:p>
          <a:p>
            <a:r>
              <a:rPr lang="en-US"/>
              <a:t>NATO's main focus in cyber defense is to protect its own networks.</a:t>
            </a:r>
          </a:p>
          <a:p>
            <a:r>
              <a:rPr lang="en-US"/>
              <a:t>In July 2016, recognized cyberspace as a domain of operations in which NATO must defend itself </a:t>
            </a:r>
          </a:p>
          <a:p>
            <a:r>
              <a:rPr lang="en-US"/>
              <a:t>Cyber Defense Pledge in July 2016 to enhance their cyber defenses, as a matter of priority. </a:t>
            </a:r>
          </a:p>
          <a:p>
            <a:r>
              <a:rPr lang="en-US"/>
              <a:t>NATO Cyber Rapid Reaction teams are on standby to assist Allies, 24 hours a day</a:t>
            </a:r>
          </a:p>
          <a:p>
            <a:r>
              <a:rPr lang="en-US"/>
              <a:t>At the Brussels Summit in 2018, Allies agreed to set up a new Cyberspace Operations Centre </a:t>
            </a:r>
          </a:p>
          <a:p>
            <a:r>
              <a:rPr lang="en-US"/>
              <a:t>NATO and the European Union (EU) are cooperating through a Technical Arrangement on cyber defense.</a:t>
            </a:r>
          </a:p>
          <a:p>
            <a:r>
              <a:rPr lang="en-US"/>
              <a:t>NATO is intensifying its cooperation with industry through the NATO Industry Cyber Partnership.</a:t>
            </a:r>
          </a:p>
        </p:txBody>
      </p:sp>
    </p:spTree>
    <p:extLst>
      <p:ext uri="{BB962C8B-B14F-4D97-AF65-F5344CB8AC3E}">
        <p14:creationId xmlns:p14="http://schemas.microsoft.com/office/powerpoint/2010/main" val="3333321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Collecting and Processing Sensitive Data </a:t>
            </a:r>
          </a:p>
        </p:txBody>
      </p:sp>
      <p:sp>
        <p:nvSpPr>
          <p:cNvPr id="3" name="Content Placeholder 2"/>
          <p:cNvSpPr>
            <a:spLocks noGrp="1"/>
          </p:cNvSpPr>
          <p:nvPr>
            <p:ph idx="1"/>
          </p:nvPr>
        </p:nvSpPr>
        <p:spPr/>
        <p:txBody>
          <a:bodyPr>
            <a:normAutofit fontScale="92500" lnSpcReduction="10000"/>
          </a:bodyPr>
          <a:lstStyle/>
          <a:p>
            <a:r>
              <a:rPr lang="en-US"/>
              <a:t>You must be particularly careful when collecting and processing a specific category of personal data called sensitive data. </a:t>
            </a:r>
          </a:p>
          <a:p>
            <a:r>
              <a:rPr lang="en-US"/>
              <a:t>Sensitive data is personal information that reveals a person's: </a:t>
            </a:r>
          </a:p>
          <a:p>
            <a:pPr lvl="1"/>
            <a:r>
              <a:rPr lang="en-US"/>
              <a:t>medical information </a:t>
            </a:r>
          </a:p>
          <a:p>
            <a:pPr lvl="1"/>
            <a:r>
              <a:rPr lang="en-US"/>
              <a:t>sexual preference </a:t>
            </a:r>
          </a:p>
          <a:p>
            <a:pPr lvl="1"/>
            <a:r>
              <a:rPr lang="en-US"/>
              <a:t>racial or ethnic origin </a:t>
            </a:r>
          </a:p>
          <a:p>
            <a:pPr lvl="1"/>
            <a:r>
              <a:rPr lang="en-US"/>
              <a:t>political opinions </a:t>
            </a:r>
          </a:p>
          <a:p>
            <a:pPr lvl="1"/>
            <a:r>
              <a:rPr lang="en-US"/>
              <a:t>religious or philosophical beliefs </a:t>
            </a:r>
          </a:p>
          <a:p>
            <a:pPr lvl="1"/>
            <a:r>
              <a:rPr lang="en-US"/>
              <a:t>criminal record</a:t>
            </a:r>
          </a:p>
          <a:p>
            <a:pPr lvl="1"/>
            <a:r>
              <a:rPr lang="en-US"/>
              <a:t>trade union membership </a:t>
            </a:r>
          </a:p>
          <a:p>
            <a:endParaRPr lang="en-US"/>
          </a:p>
        </p:txBody>
      </p:sp>
    </p:spTree>
    <p:extLst>
      <p:ext uri="{BB962C8B-B14F-4D97-AF65-F5344CB8AC3E}">
        <p14:creationId xmlns:p14="http://schemas.microsoft.com/office/powerpoint/2010/main" val="2631012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Collecting and Processing Personal Data </a:t>
            </a:r>
          </a:p>
        </p:txBody>
      </p:sp>
      <p:sp>
        <p:nvSpPr>
          <p:cNvPr id="3" name="Content Placeholder 2"/>
          <p:cNvSpPr>
            <a:spLocks noGrp="1"/>
          </p:cNvSpPr>
          <p:nvPr>
            <p:ph idx="1"/>
          </p:nvPr>
        </p:nvSpPr>
        <p:spPr/>
        <p:txBody>
          <a:bodyPr>
            <a:normAutofit fontScale="85000" lnSpcReduction="10000"/>
          </a:bodyPr>
          <a:lstStyle/>
          <a:p>
            <a:r>
              <a:rPr lang="en-US"/>
              <a:t>Under the EU Data Protection laws, collecting and processing personal data about EU residents is illegal unless certain conditions apply. </a:t>
            </a:r>
          </a:p>
          <a:p>
            <a:pPr lvl="1"/>
            <a:r>
              <a:rPr lang="en-US"/>
              <a:t>Data subjects have freely and clearly consented to the data collection</a:t>
            </a:r>
          </a:p>
          <a:p>
            <a:pPr lvl="1"/>
            <a:r>
              <a:rPr lang="en-US"/>
              <a:t>And understand how the data will be used.</a:t>
            </a:r>
          </a:p>
          <a:p>
            <a:pPr lvl="1"/>
            <a:r>
              <a:rPr lang="en-US"/>
              <a:t>Even with consent, you may not be allowed to process sensitive data. </a:t>
            </a:r>
          </a:p>
          <a:p>
            <a:r>
              <a:rPr lang="en-US"/>
              <a:t>You may collect and process personal data if it is required for: </a:t>
            </a:r>
          </a:p>
          <a:p>
            <a:pPr lvl="1"/>
            <a:r>
              <a:rPr lang="en-US"/>
              <a:t>the performance of a contract,</a:t>
            </a:r>
          </a:p>
          <a:p>
            <a:pPr lvl="1"/>
            <a:r>
              <a:rPr lang="en-US"/>
              <a:t>a legal obligation, such as tax reporting on an employee's salary </a:t>
            </a:r>
          </a:p>
          <a:p>
            <a:pPr lvl="1"/>
            <a:r>
              <a:rPr lang="en-US"/>
              <a:t>protecting the vital interests of the data subject, such as in a medical emergency </a:t>
            </a:r>
          </a:p>
          <a:p>
            <a:pPr lvl="1"/>
            <a:r>
              <a:rPr lang="en-US"/>
              <a:t>In some limited cases, data can be processed for legitimate business interests if those interests are not outweighed by the data subject's right to privacy. </a:t>
            </a:r>
          </a:p>
          <a:p>
            <a:endParaRPr lang="en-US"/>
          </a:p>
        </p:txBody>
      </p:sp>
    </p:spTree>
    <p:extLst>
      <p:ext uri="{BB962C8B-B14F-4D97-AF65-F5344CB8AC3E}">
        <p14:creationId xmlns:p14="http://schemas.microsoft.com/office/powerpoint/2010/main" val="1612846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t>Foundational Privacy Tenets</a:t>
            </a:r>
            <a:endParaRPr lang="en-US"/>
          </a:p>
        </p:txBody>
      </p:sp>
      <p:sp>
        <p:nvSpPr>
          <p:cNvPr id="3" name="Content Placeholder 2"/>
          <p:cNvSpPr>
            <a:spLocks noGrp="1"/>
          </p:cNvSpPr>
          <p:nvPr>
            <p:ph idx="1"/>
          </p:nvPr>
        </p:nvSpPr>
        <p:spPr/>
        <p:txBody>
          <a:bodyPr>
            <a:normAutofit fontScale="92500" lnSpcReduction="10000"/>
          </a:bodyPr>
          <a:lstStyle/>
          <a:p>
            <a:r>
              <a:rPr lang="en-GB"/>
              <a:t>Respect each individual’s right to the privacy</a:t>
            </a:r>
          </a:p>
          <a:p>
            <a:r>
              <a:rPr lang="en-GB"/>
              <a:t>Collect only the personal information needed</a:t>
            </a:r>
          </a:p>
          <a:p>
            <a:r>
              <a:rPr lang="en-GB"/>
              <a:t>Provide notice of privacy practices</a:t>
            </a:r>
          </a:p>
          <a:p>
            <a:r>
              <a:rPr lang="en-GB"/>
              <a:t>Maintain accurate records</a:t>
            </a:r>
          </a:p>
          <a:p>
            <a:r>
              <a:rPr lang="en-GB"/>
              <a:t>Provide individuals reasonable access to their personal information</a:t>
            </a:r>
          </a:p>
          <a:p>
            <a:r>
              <a:rPr lang="en-GB"/>
              <a:t>Safeguard personal information</a:t>
            </a:r>
          </a:p>
          <a:p>
            <a:r>
              <a:rPr lang="en-GB"/>
              <a:t>Do not sell personal information to marketers</a:t>
            </a:r>
          </a:p>
          <a:p>
            <a:r>
              <a:rPr lang="en-GB"/>
              <a:t>Retain PII only for as long as needed</a:t>
            </a:r>
          </a:p>
          <a:p>
            <a:r>
              <a:rPr lang="en-GB"/>
              <a:t>Securely dispose of the information</a:t>
            </a:r>
          </a:p>
          <a:p>
            <a:endParaRPr lang="en-US"/>
          </a:p>
        </p:txBody>
      </p:sp>
    </p:spTree>
    <p:extLst>
      <p:ext uri="{BB962C8B-B14F-4D97-AF65-F5344CB8AC3E}">
        <p14:creationId xmlns:p14="http://schemas.microsoft.com/office/powerpoint/2010/main" val="2076965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The Rights of EU Residents </a:t>
            </a:r>
          </a:p>
        </p:txBody>
      </p:sp>
      <p:sp>
        <p:nvSpPr>
          <p:cNvPr id="3" name="Content Placeholder 2"/>
          <p:cNvSpPr>
            <a:spLocks noGrp="1"/>
          </p:cNvSpPr>
          <p:nvPr>
            <p:ph idx="1"/>
          </p:nvPr>
        </p:nvSpPr>
        <p:spPr/>
        <p:txBody>
          <a:bodyPr>
            <a:normAutofit fontScale="70000" lnSpcReduction="20000"/>
          </a:bodyPr>
          <a:lstStyle/>
          <a:p>
            <a:pPr marL="0" indent="0">
              <a:buNone/>
            </a:pPr>
            <a:r>
              <a:rPr lang="en-US"/>
              <a:t>The EU Data Protection Directive and local EU data protection laws give EU  residents extensive rights concerning their personal data and how it is processed, including the right to: </a:t>
            </a:r>
          </a:p>
          <a:p>
            <a:r>
              <a:rPr lang="en-US"/>
              <a:t>be informed when personal information is collected, </a:t>
            </a:r>
          </a:p>
          <a:p>
            <a:r>
              <a:rPr lang="en-US"/>
              <a:t>know the identity of the data controller, </a:t>
            </a:r>
          </a:p>
          <a:p>
            <a:r>
              <a:rPr lang="en-US"/>
              <a:t>review any available information about the sources of the data, </a:t>
            </a:r>
          </a:p>
          <a:p>
            <a:r>
              <a:rPr lang="en-US"/>
              <a:t>know when and why data is being processed, </a:t>
            </a:r>
          </a:p>
          <a:p>
            <a:r>
              <a:rPr lang="en-US"/>
              <a:t>access personal data about themselves in an intelligible form</a:t>
            </a:r>
          </a:p>
          <a:p>
            <a:r>
              <a:rPr lang="en-US"/>
              <a:t>have inaccurate personal data amended and third parties notified of the change. </a:t>
            </a:r>
          </a:p>
          <a:p>
            <a:pPr marL="0" indent="0">
              <a:buNone/>
            </a:pPr>
            <a:endParaRPr lang="en-US"/>
          </a:p>
          <a:p>
            <a:pPr marL="0" indent="0">
              <a:buNone/>
            </a:pPr>
            <a:r>
              <a:rPr lang="en-US"/>
              <a:t>Data controllers are expected to respond to an individual's request for access to his or her personal information in a "reasonable" amount of time. In some member states, the data controller may charge a "reasonable" fee for providing access: in others, this service must be free or charge. </a:t>
            </a:r>
          </a:p>
          <a:p>
            <a:endParaRPr lang="en-US"/>
          </a:p>
        </p:txBody>
      </p:sp>
    </p:spTree>
    <p:extLst>
      <p:ext uri="{BB962C8B-B14F-4D97-AF65-F5344CB8AC3E}">
        <p14:creationId xmlns:p14="http://schemas.microsoft.com/office/powerpoint/2010/main" val="1083466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D229-1737-45CF-9161-CC5C358BA25F}"/>
              </a:ext>
            </a:extLst>
          </p:cNvPr>
          <p:cNvSpPr>
            <a:spLocks noGrp="1"/>
          </p:cNvSpPr>
          <p:nvPr>
            <p:ph type="title"/>
          </p:nvPr>
        </p:nvSpPr>
        <p:spPr/>
        <p:txBody>
          <a:bodyPr/>
          <a:lstStyle/>
          <a:p>
            <a:r>
              <a:rPr lang="en-US">
                <a:cs typeface="Calibri"/>
              </a:rPr>
              <a:t>CCPA Rights</a:t>
            </a:r>
            <a:endParaRPr lang="en-US"/>
          </a:p>
        </p:txBody>
      </p:sp>
      <p:sp>
        <p:nvSpPr>
          <p:cNvPr id="3" name="Content Placeholder 2">
            <a:extLst>
              <a:ext uri="{FF2B5EF4-FFF2-40B4-BE49-F238E27FC236}">
                <a16:creationId xmlns:a16="http://schemas.microsoft.com/office/drawing/2014/main" id="{856D0CFD-C99D-4932-8C88-04E20D8F1817}"/>
              </a:ext>
            </a:extLst>
          </p:cNvPr>
          <p:cNvSpPr>
            <a:spLocks noGrp="1"/>
          </p:cNvSpPr>
          <p:nvPr>
            <p:ph idx="1"/>
          </p:nvPr>
        </p:nvSpPr>
        <p:spPr/>
        <p:txBody>
          <a:bodyPr vert="horz" lIns="91440" tIns="45720" rIns="91440" bIns="45720" rtlCol="0" anchor="t">
            <a:normAutofit/>
          </a:bodyPr>
          <a:lstStyle/>
          <a:p>
            <a:r>
              <a:rPr lang="en-US">
                <a:cs typeface="Calibri"/>
              </a:rPr>
              <a:t>Right to Know What Information Is Collected About You</a:t>
            </a:r>
          </a:p>
          <a:p>
            <a:r>
              <a:rPr lang="en-US">
                <a:cs typeface="Calibri"/>
              </a:rPr>
              <a:t>Right to Request Deletion</a:t>
            </a:r>
          </a:p>
          <a:p>
            <a:r>
              <a:rPr lang="en-US">
                <a:cs typeface="Calibri"/>
              </a:rPr>
              <a:t>Right to Request Disclosures About Personal Information That Is Sold</a:t>
            </a:r>
          </a:p>
          <a:p>
            <a:r>
              <a:rPr lang="en-US">
                <a:cs typeface="Calibri"/>
              </a:rPr>
              <a:t>Right to Opt Out of the Sale of Personal Information</a:t>
            </a:r>
          </a:p>
          <a:p>
            <a:r>
              <a:rPr lang="en-US">
                <a:cs typeface="Calibri"/>
              </a:rPr>
              <a:t>Right to Be Free From Discrimination</a:t>
            </a:r>
          </a:p>
        </p:txBody>
      </p:sp>
    </p:spTree>
    <p:extLst>
      <p:ext uri="{BB962C8B-B14F-4D97-AF65-F5344CB8AC3E}">
        <p14:creationId xmlns:p14="http://schemas.microsoft.com/office/powerpoint/2010/main" val="4102417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PII Principals</a:t>
            </a:r>
          </a:p>
        </p:txBody>
      </p:sp>
      <p:sp>
        <p:nvSpPr>
          <p:cNvPr id="3" name="Content Placeholder 2"/>
          <p:cNvSpPr>
            <a:spLocks noGrp="1"/>
          </p:cNvSpPr>
          <p:nvPr>
            <p:ph idx="1"/>
          </p:nvPr>
        </p:nvSpPr>
        <p:spPr>
          <a:xfrm>
            <a:off x="1981200" y="1371600"/>
            <a:ext cx="8229600" cy="5181600"/>
          </a:xfrm>
        </p:spPr>
        <p:txBody>
          <a:bodyPr>
            <a:normAutofit fontScale="77500" lnSpcReduction="20000"/>
          </a:bodyPr>
          <a:lstStyle/>
          <a:p>
            <a:pPr marL="514350" indent="-514350">
              <a:buFont typeface="+mj-lt"/>
              <a:buAutoNum type="arabicPeriod"/>
            </a:pPr>
            <a:r>
              <a:rPr lang="en-US" b="1"/>
              <a:t>Notice</a:t>
            </a:r>
            <a:r>
              <a:rPr lang="en-US"/>
              <a:t>— data subjects should be given notice when their data is being collected;</a:t>
            </a:r>
          </a:p>
          <a:p>
            <a:pPr marL="514350" indent="-514350">
              <a:buFont typeface="+mj-lt"/>
              <a:buAutoNum type="arabicPeriod"/>
            </a:pPr>
            <a:r>
              <a:rPr lang="en-US" b="1"/>
              <a:t>Purpose</a:t>
            </a:r>
            <a:r>
              <a:rPr lang="en-US"/>
              <a:t>— data should only be used for the purpose stated and not for any other purposes;</a:t>
            </a:r>
          </a:p>
          <a:p>
            <a:pPr marL="514350" indent="-514350">
              <a:buFont typeface="+mj-lt"/>
              <a:buAutoNum type="arabicPeriod"/>
            </a:pPr>
            <a:r>
              <a:rPr lang="en-US" b="1"/>
              <a:t>Consent</a:t>
            </a:r>
            <a:r>
              <a:rPr lang="en-US"/>
              <a:t>— data should not be disclosed without the data subject’s consent;</a:t>
            </a:r>
          </a:p>
          <a:p>
            <a:pPr marL="514350" indent="-514350">
              <a:buFont typeface="+mj-lt"/>
              <a:buAutoNum type="arabicPeriod"/>
            </a:pPr>
            <a:r>
              <a:rPr lang="en-US" b="1"/>
              <a:t>Security</a:t>
            </a:r>
            <a:r>
              <a:rPr lang="en-US"/>
              <a:t>— collected data should be kept secure from any potential abuses;</a:t>
            </a:r>
          </a:p>
          <a:p>
            <a:pPr marL="514350" indent="-514350">
              <a:buFont typeface="+mj-lt"/>
              <a:buAutoNum type="arabicPeriod"/>
            </a:pPr>
            <a:r>
              <a:rPr lang="en-US" b="1"/>
              <a:t>Disclosure</a:t>
            </a:r>
            <a:r>
              <a:rPr lang="en-US"/>
              <a:t>— data subjects should be informed as to who is collecting their data;</a:t>
            </a:r>
          </a:p>
          <a:p>
            <a:pPr marL="514350" indent="-514350">
              <a:buFont typeface="+mj-lt"/>
              <a:buAutoNum type="arabicPeriod"/>
            </a:pPr>
            <a:r>
              <a:rPr lang="en-US" b="1"/>
              <a:t>Access</a:t>
            </a:r>
            <a:r>
              <a:rPr lang="en-US"/>
              <a:t>— data subjects should be allowed to access their data and make corrections to any inaccurate data; and</a:t>
            </a:r>
          </a:p>
          <a:p>
            <a:pPr marL="514350" indent="-514350">
              <a:buFont typeface="+mj-lt"/>
              <a:buAutoNum type="arabicPeriod"/>
            </a:pPr>
            <a:r>
              <a:rPr lang="en-US" b="1"/>
              <a:t>Accountability</a:t>
            </a:r>
            <a:r>
              <a:rPr lang="en-US"/>
              <a:t>— data subjects should have a method available to them to hold data collectors accountable for following the above principles</a:t>
            </a:r>
          </a:p>
        </p:txBody>
      </p:sp>
    </p:spTree>
    <p:extLst>
      <p:ext uri="{BB962C8B-B14F-4D97-AF65-F5344CB8AC3E}">
        <p14:creationId xmlns:p14="http://schemas.microsoft.com/office/powerpoint/2010/main" val="1334664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5399-BA8D-4569-8217-F0F9747BC181}"/>
              </a:ext>
            </a:extLst>
          </p:cNvPr>
          <p:cNvSpPr>
            <a:spLocks noGrp="1"/>
          </p:cNvSpPr>
          <p:nvPr>
            <p:ph type="title"/>
          </p:nvPr>
        </p:nvSpPr>
        <p:spPr/>
        <p:txBody>
          <a:bodyPr>
            <a:normAutofit/>
          </a:bodyPr>
          <a:lstStyle/>
          <a:p>
            <a:r>
              <a:rPr lang="en-US"/>
              <a:t>Equifax: Does the promised service uphold privacy?</a:t>
            </a:r>
          </a:p>
        </p:txBody>
      </p:sp>
      <p:sp>
        <p:nvSpPr>
          <p:cNvPr id="3" name="Content Placeholder 2">
            <a:extLst>
              <a:ext uri="{FF2B5EF4-FFF2-40B4-BE49-F238E27FC236}">
                <a16:creationId xmlns:a16="http://schemas.microsoft.com/office/drawing/2014/main" id="{594E38C4-7386-4AB2-AE65-201234C7556E}"/>
              </a:ext>
            </a:extLst>
          </p:cNvPr>
          <p:cNvSpPr>
            <a:spLocks noGrp="1"/>
          </p:cNvSpPr>
          <p:nvPr>
            <p:ph idx="1"/>
          </p:nvPr>
        </p:nvSpPr>
        <p:spPr>
          <a:xfrm>
            <a:off x="1981200" y="1143000"/>
            <a:ext cx="8229600" cy="5334000"/>
          </a:xfrm>
        </p:spPr>
        <p:txBody>
          <a:bodyPr>
            <a:noAutofit/>
          </a:bodyPr>
          <a:lstStyle/>
          <a:p>
            <a:r>
              <a:rPr lang="en-US" sz="2800" b="1"/>
              <a:t>Notice</a:t>
            </a:r>
            <a:r>
              <a:rPr lang="en-US" sz="2800"/>
              <a:t>— No, a freeze does not stop data collection</a:t>
            </a:r>
          </a:p>
          <a:p>
            <a:r>
              <a:rPr lang="en-US" sz="2800" b="1"/>
              <a:t>Purpose</a:t>
            </a:r>
            <a:r>
              <a:rPr lang="en-US" sz="2800"/>
              <a:t>— No, if unfrozen who gets data?</a:t>
            </a:r>
          </a:p>
          <a:p>
            <a:r>
              <a:rPr lang="en-US" sz="2800" b="1"/>
              <a:t>Consent</a:t>
            </a:r>
            <a:r>
              <a:rPr lang="en-US" sz="2800"/>
              <a:t>— Yes, but customer action required </a:t>
            </a:r>
          </a:p>
          <a:p>
            <a:r>
              <a:rPr lang="en-US" sz="2800" b="1"/>
              <a:t>Security</a:t>
            </a:r>
            <a:r>
              <a:rPr lang="en-US" sz="2800"/>
              <a:t>— No, commitment to best practices, peer reviews, or publishing audits of operations</a:t>
            </a:r>
          </a:p>
          <a:p>
            <a:r>
              <a:rPr lang="en-US" sz="2800" b="1"/>
              <a:t>Disclosure</a:t>
            </a:r>
            <a:r>
              <a:rPr lang="en-US" sz="2800"/>
              <a:t>— No, still unknown requestors</a:t>
            </a:r>
          </a:p>
          <a:p>
            <a:r>
              <a:rPr lang="en-US" sz="2800" b="1"/>
              <a:t>Access</a:t>
            </a:r>
            <a:r>
              <a:rPr lang="en-US" sz="2800"/>
              <a:t>— No, statement about fixing inaccurate data</a:t>
            </a:r>
          </a:p>
          <a:p>
            <a:r>
              <a:rPr lang="en-US" sz="2800" b="1"/>
              <a:t>Accountability</a:t>
            </a:r>
            <a:r>
              <a:rPr lang="en-US" sz="2800"/>
              <a:t>— No, commitment should be (SMART) Specific, Measurable, Assignable, Relevant, Timely</a:t>
            </a:r>
          </a:p>
          <a:p>
            <a:endParaRPr lang="en-US" sz="2800"/>
          </a:p>
        </p:txBody>
      </p:sp>
      <p:sp>
        <p:nvSpPr>
          <p:cNvPr id="4" name="TextBox 3">
            <a:extLst>
              <a:ext uri="{FF2B5EF4-FFF2-40B4-BE49-F238E27FC236}">
                <a16:creationId xmlns:a16="http://schemas.microsoft.com/office/drawing/2014/main" id="{5B054278-57E2-4D34-92ED-8F7FC24EA6FC}"/>
              </a:ext>
            </a:extLst>
          </p:cNvPr>
          <p:cNvSpPr txBox="1"/>
          <p:nvPr/>
        </p:nvSpPr>
        <p:spPr>
          <a:xfrm>
            <a:off x="2209800" y="6019800"/>
            <a:ext cx="1295400" cy="685800"/>
          </a:xfrm>
          <a:prstGeom prst="rect">
            <a:avLst/>
          </a:prstGeom>
        </p:spPr>
        <p:txBody>
          <a:bodyPr vert="horz" wrap="none" lIns="91440" tIns="45720" rIns="91440" bIns="45720" rtlCol="0">
            <a:normAutofit/>
          </a:bodyPr>
          <a:lstStyle/>
          <a:p>
            <a:r>
              <a:rPr lang="en-US" sz="2400">
                <a:hlinkClick r:id="rId2"/>
              </a:rPr>
              <a:t>http://webreprints.djreprints.com/4197300009442.html</a:t>
            </a:r>
            <a:endParaRPr lang="en-US" sz="2400"/>
          </a:p>
          <a:p>
            <a:endParaRPr lang="en-US" sz="2400"/>
          </a:p>
        </p:txBody>
      </p:sp>
    </p:spTree>
    <p:extLst>
      <p:ext uri="{BB962C8B-B14F-4D97-AF65-F5344CB8AC3E}">
        <p14:creationId xmlns:p14="http://schemas.microsoft.com/office/powerpoint/2010/main" val="1848022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Categorize PII</a:t>
            </a:r>
          </a:p>
        </p:txBody>
      </p:sp>
      <p:sp>
        <p:nvSpPr>
          <p:cNvPr id="3" name="Content Placeholder 2"/>
          <p:cNvSpPr>
            <a:spLocks noGrp="1"/>
          </p:cNvSpPr>
          <p:nvPr>
            <p:ph idx="1"/>
          </p:nvPr>
        </p:nvSpPr>
        <p:spPr>
          <a:xfrm>
            <a:off x="1981200" y="1600200"/>
            <a:ext cx="8229600" cy="4876800"/>
          </a:xfrm>
        </p:spPr>
        <p:txBody>
          <a:bodyPr>
            <a:normAutofit fontScale="92500" lnSpcReduction="10000"/>
          </a:bodyPr>
          <a:lstStyle/>
          <a:p>
            <a:r>
              <a:rPr lang="en-US"/>
              <a:t>Unique or a set people</a:t>
            </a:r>
          </a:p>
          <a:p>
            <a:pPr lvl="1"/>
            <a:r>
              <a:rPr lang="en-US"/>
              <a:t>SSN vs. hometown</a:t>
            </a:r>
          </a:p>
          <a:p>
            <a:r>
              <a:rPr lang="en-US"/>
              <a:t>Number of PII records</a:t>
            </a:r>
          </a:p>
          <a:p>
            <a:pPr lvl="1"/>
            <a:r>
              <a:rPr lang="en-US"/>
              <a:t>Risk increase as numbers increase</a:t>
            </a:r>
          </a:p>
          <a:p>
            <a:r>
              <a:rPr lang="en-US"/>
              <a:t>Data field sensitivity</a:t>
            </a:r>
          </a:p>
          <a:p>
            <a:pPr lvl="1"/>
            <a:r>
              <a:rPr lang="en-US"/>
              <a:t>Bank number vs. phone number</a:t>
            </a:r>
          </a:p>
          <a:p>
            <a:r>
              <a:rPr lang="en-US"/>
              <a:t>Context</a:t>
            </a:r>
          </a:p>
          <a:p>
            <a:pPr lvl="1"/>
            <a:r>
              <a:rPr lang="en-US"/>
              <a:t>Email subscriber list vs. system admin list</a:t>
            </a:r>
          </a:p>
          <a:p>
            <a:r>
              <a:rPr lang="en-US"/>
              <a:t>Legal Obligations</a:t>
            </a:r>
          </a:p>
          <a:p>
            <a:pPr lvl="1"/>
            <a:r>
              <a:rPr lang="en-US"/>
              <a:t>PCI, HIPAA</a:t>
            </a:r>
          </a:p>
        </p:txBody>
      </p:sp>
    </p:spTree>
    <p:extLst>
      <p:ext uri="{BB962C8B-B14F-4D97-AF65-F5344CB8AC3E}">
        <p14:creationId xmlns:p14="http://schemas.microsoft.com/office/powerpoint/2010/main" val="1832013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Windows 10 Privacy</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400"/>
              <a:t>Shares your personal information with Microsoft by default</a:t>
            </a:r>
          </a:p>
          <a:p>
            <a:pPr marL="914400" lvl="1" indent="-514350"/>
            <a:r>
              <a:rPr lang="en-US" sz="2000"/>
              <a:t>You can turn off, but 13 privacy screens to do it</a:t>
            </a:r>
          </a:p>
          <a:p>
            <a:pPr marL="514350" indent="-514350">
              <a:buFont typeface="+mj-lt"/>
              <a:buAutoNum type="arabicPeriod"/>
            </a:pPr>
            <a:r>
              <a:rPr lang="en-US" sz="2400"/>
              <a:t>Borrows bandwidth from your home Internet connection</a:t>
            </a:r>
          </a:p>
          <a:p>
            <a:pPr marL="914400" lvl="1" indent="-514350"/>
            <a:r>
              <a:rPr lang="en-US" sz="2000"/>
              <a:t>Windows Update Delivery Optimization</a:t>
            </a:r>
          </a:p>
          <a:p>
            <a:pPr marL="514350" indent="-514350">
              <a:buFont typeface="+mj-lt"/>
              <a:buAutoNum type="arabicPeriod"/>
            </a:pPr>
            <a:r>
              <a:rPr lang="en-US" sz="2400"/>
              <a:t>Shares your wireless password with other PCs</a:t>
            </a:r>
          </a:p>
          <a:p>
            <a:pPr marL="914400" lvl="1" indent="-514350"/>
            <a:r>
              <a:rPr lang="en-US" sz="2000" err="1"/>
              <a:t>WiFi</a:t>
            </a:r>
            <a:r>
              <a:rPr lang="en-US" sz="2000"/>
              <a:t> Sense (password shared with friends, and not by default)</a:t>
            </a:r>
          </a:p>
          <a:p>
            <a:pPr marL="514350" indent="-514350">
              <a:buFont typeface="+mj-lt"/>
              <a:buAutoNum type="arabicPeriod"/>
            </a:pPr>
            <a:r>
              <a:rPr lang="en-US" sz="2400"/>
              <a:t>Will continue to send information to Microsoft after you disable data-sharing settings</a:t>
            </a:r>
          </a:p>
          <a:p>
            <a:pPr marL="914400" lvl="1" indent="-514350"/>
            <a:r>
              <a:rPr lang="en-US" sz="2000"/>
              <a:t>Behavior data not the queries</a:t>
            </a:r>
          </a:p>
          <a:p>
            <a:pPr marL="514350" indent="-514350">
              <a:buFont typeface="+mj-lt"/>
              <a:buAutoNum type="arabicPeriod"/>
            </a:pPr>
            <a:r>
              <a:rPr lang="en-US" sz="2400"/>
              <a:t>Scans for counterfeit games</a:t>
            </a:r>
          </a:p>
          <a:p>
            <a:pPr marL="914400" lvl="1" indent="-514350"/>
            <a:r>
              <a:rPr lang="en-US" sz="2000"/>
              <a:t>License agreement does allow Microsoft to disable the game</a:t>
            </a:r>
          </a:p>
        </p:txBody>
      </p:sp>
    </p:spTree>
    <p:extLst>
      <p:ext uri="{BB962C8B-B14F-4D97-AF65-F5344CB8AC3E}">
        <p14:creationId xmlns:p14="http://schemas.microsoft.com/office/powerpoint/2010/main" val="1697527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Windows 10 good or bad?</a:t>
            </a:r>
          </a:p>
        </p:txBody>
      </p:sp>
      <p:sp>
        <p:nvSpPr>
          <p:cNvPr id="3" name="Content Placeholder 2"/>
          <p:cNvSpPr>
            <a:spLocks noGrp="1"/>
          </p:cNvSpPr>
          <p:nvPr>
            <p:ph idx="1"/>
          </p:nvPr>
        </p:nvSpPr>
        <p:spPr/>
        <p:txBody>
          <a:bodyPr/>
          <a:lstStyle/>
          <a:p>
            <a:r>
              <a:rPr lang="en-US"/>
              <a:t>Privacy advocates unhappy with Windows 10.</a:t>
            </a:r>
          </a:p>
          <a:p>
            <a:r>
              <a:rPr lang="en-US"/>
              <a:t>But Microsoft isn't doing itself any favors</a:t>
            </a:r>
          </a:p>
          <a:p>
            <a:pPr lvl="1"/>
            <a:r>
              <a:rPr lang="en-US"/>
              <a:t>Overly broad privacy statements</a:t>
            </a:r>
          </a:p>
          <a:p>
            <a:pPr lvl="1"/>
            <a:r>
              <a:rPr lang="en-US"/>
              <a:t>Difficult-to-navigate privacy settings</a:t>
            </a:r>
          </a:p>
          <a:p>
            <a:pPr lvl="1"/>
            <a:r>
              <a:rPr lang="en-US"/>
              <a:t>General lack of transparency</a:t>
            </a:r>
          </a:p>
          <a:p>
            <a:endParaRPr lang="en-US"/>
          </a:p>
        </p:txBody>
      </p:sp>
    </p:spTree>
    <p:extLst>
      <p:ext uri="{BB962C8B-B14F-4D97-AF65-F5344CB8AC3E}">
        <p14:creationId xmlns:p14="http://schemas.microsoft.com/office/powerpoint/2010/main" val="1238394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Controls</a:t>
            </a:r>
          </a:p>
        </p:txBody>
      </p:sp>
      <p:sp>
        <p:nvSpPr>
          <p:cNvPr id="3" name="Content Placeholder 2"/>
          <p:cNvSpPr>
            <a:spLocks noGrp="1"/>
          </p:cNvSpPr>
          <p:nvPr>
            <p:ph idx="1"/>
          </p:nvPr>
        </p:nvSpPr>
        <p:spPr>
          <a:xfrm>
            <a:off x="1981200" y="1600200"/>
            <a:ext cx="8229600" cy="4876800"/>
          </a:xfrm>
        </p:spPr>
        <p:txBody>
          <a:bodyPr>
            <a:normAutofit lnSpcReduction="10000"/>
          </a:bodyPr>
          <a:lstStyle/>
          <a:p>
            <a:r>
              <a:rPr lang="en-US"/>
              <a:t>Policy</a:t>
            </a:r>
          </a:p>
          <a:p>
            <a:pPr lvl="1"/>
            <a:r>
              <a:rPr lang="en-US"/>
              <a:t>HIPAA enforcements are typically paper not technology</a:t>
            </a:r>
          </a:p>
          <a:p>
            <a:pPr lvl="1"/>
            <a:r>
              <a:rPr lang="en-US"/>
              <a:t>Training</a:t>
            </a:r>
          </a:p>
          <a:p>
            <a:pPr lvl="1"/>
            <a:r>
              <a:rPr lang="en-US"/>
              <a:t>Threat of termination</a:t>
            </a:r>
          </a:p>
          <a:p>
            <a:r>
              <a:rPr lang="en-US"/>
              <a:t>Audits</a:t>
            </a:r>
          </a:p>
          <a:p>
            <a:pPr lvl="1"/>
            <a:r>
              <a:rPr lang="en-US"/>
              <a:t>PCI-DSS relies upon approved 3</a:t>
            </a:r>
            <a:r>
              <a:rPr lang="en-US" baseline="30000"/>
              <a:t>rd</a:t>
            </a:r>
            <a:r>
              <a:rPr lang="en-US"/>
              <a:t> parties to perform annual audits</a:t>
            </a:r>
          </a:p>
          <a:p>
            <a:r>
              <a:rPr lang="en-US"/>
              <a:t>Logs</a:t>
            </a:r>
          </a:p>
          <a:p>
            <a:pPr lvl="1"/>
            <a:r>
              <a:rPr lang="en-US"/>
              <a:t>Forensics and investigations after the fact</a:t>
            </a:r>
          </a:p>
        </p:txBody>
      </p:sp>
    </p:spTree>
    <p:extLst>
      <p:ext uri="{BB962C8B-B14F-4D97-AF65-F5344CB8AC3E}">
        <p14:creationId xmlns:p14="http://schemas.microsoft.com/office/powerpoint/2010/main" val="1417534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Minimize PII Usage and Replication</a:t>
            </a:r>
          </a:p>
        </p:txBody>
      </p:sp>
      <p:sp>
        <p:nvSpPr>
          <p:cNvPr id="3" name="Content Placeholder 2"/>
          <p:cNvSpPr>
            <a:spLocks noGrp="1"/>
          </p:cNvSpPr>
          <p:nvPr>
            <p:ph idx="1"/>
          </p:nvPr>
        </p:nvSpPr>
        <p:spPr/>
        <p:txBody>
          <a:bodyPr/>
          <a:lstStyle/>
          <a:p>
            <a:r>
              <a:rPr lang="en-US"/>
              <a:t>Services to perform PII related actions</a:t>
            </a:r>
          </a:p>
          <a:p>
            <a:pPr lvl="1"/>
            <a:r>
              <a:rPr lang="en-US"/>
              <a:t>Federated logins</a:t>
            </a:r>
          </a:p>
          <a:p>
            <a:pPr lvl="1"/>
            <a:r>
              <a:rPr lang="en-US"/>
              <a:t>Payment systems</a:t>
            </a:r>
          </a:p>
          <a:p>
            <a:r>
              <a:rPr lang="en-US"/>
              <a:t>Asking the right question</a:t>
            </a:r>
          </a:p>
          <a:p>
            <a:pPr lvl="1"/>
            <a:r>
              <a:rPr lang="en-US"/>
              <a:t>Birthdate vs. (Over 13 / Legal drinking age)</a:t>
            </a:r>
          </a:p>
          <a:p>
            <a:r>
              <a:rPr lang="en-US"/>
              <a:t>Attribute vs. Full record retrieval</a:t>
            </a:r>
          </a:p>
          <a:p>
            <a:r>
              <a:rPr lang="en-US"/>
              <a:t>Backups and offline access</a:t>
            </a:r>
          </a:p>
          <a:p>
            <a:endParaRPr lang="en-US"/>
          </a:p>
        </p:txBody>
      </p:sp>
    </p:spTree>
    <p:extLst>
      <p:ext uri="{BB962C8B-B14F-4D97-AF65-F5344CB8AC3E}">
        <p14:creationId xmlns:p14="http://schemas.microsoft.com/office/powerpoint/2010/main" val="1456936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Legal Domains</a:t>
            </a:r>
          </a:p>
        </p:txBody>
      </p:sp>
      <p:sp>
        <p:nvSpPr>
          <p:cNvPr id="3" name="Content Placeholder 2"/>
          <p:cNvSpPr>
            <a:spLocks noGrp="1"/>
          </p:cNvSpPr>
          <p:nvPr>
            <p:ph idx="1"/>
          </p:nvPr>
        </p:nvSpPr>
        <p:spPr/>
        <p:txBody>
          <a:bodyPr/>
          <a:lstStyle/>
          <a:p>
            <a:r>
              <a:rPr lang="en-US"/>
              <a:t>Does UNH need to follow …</a:t>
            </a:r>
          </a:p>
          <a:p>
            <a:pPr lvl="1"/>
            <a:r>
              <a:rPr lang="en-US"/>
              <a:t>Massachusetts 201 CMR 17?</a:t>
            </a:r>
          </a:p>
          <a:p>
            <a:pPr lvl="1"/>
            <a:r>
              <a:rPr lang="en-US"/>
              <a:t>U.S. HIPAA?</a:t>
            </a:r>
          </a:p>
          <a:p>
            <a:pPr lvl="1"/>
            <a:r>
              <a:rPr lang="en-US"/>
              <a:t>GDPR?</a:t>
            </a:r>
          </a:p>
        </p:txBody>
      </p:sp>
    </p:spTree>
    <p:extLst>
      <p:ext uri="{BB962C8B-B14F-4D97-AF65-F5344CB8AC3E}">
        <p14:creationId xmlns:p14="http://schemas.microsoft.com/office/powerpoint/2010/main" val="143240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Federal Laws</a:t>
            </a:r>
          </a:p>
        </p:txBody>
      </p:sp>
      <p:sp>
        <p:nvSpPr>
          <p:cNvPr id="3" name="Content Placeholder 2"/>
          <p:cNvSpPr>
            <a:spLocks noGrp="1"/>
          </p:cNvSpPr>
          <p:nvPr>
            <p:ph idx="1"/>
          </p:nvPr>
        </p:nvSpPr>
        <p:spPr/>
        <p:txBody>
          <a:bodyPr>
            <a:normAutofit/>
          </a:bodyPr>
          <a:lstStyle/>
          <a:p>
            <a:r>
              <a:rPr lang="en-US"/>
              <a:t>Do not track</a:t>
            </a:r>
          </a:p>
          <a:p>
            <a:pPr lvl="1"/>
            <a:r>
              <a:rPr lang="en-US"/>
              <a:t>Provides an option for consumers to opt out of online tracking that advertisers use to target ads</a:t>
            </a:r>
          </a:p>
          <a:p>
            <a:r>
              <a:rPr lang="en-US"/>
              <a:t>Red flags rules</a:t>
            </a:r>
          </a:p>
          <a:p>
            <a:pPr lvl="1"/>
            <a:r>
              <a:rPr lang="en-US"/>
              <a:t>Requires organizations to have a written identity theft prevention program designed to detect the warning signs  (red flags) of identity theft in their day-to-day operations.</a:t>
            </a:r>
          </a:p>
          <a:p>
            <a:r>
              <a:rPr lang="en-US"/>
              <a:t>Regulations</a:t>
            </a:r>
          </a:p>
          <a:p>
            <a:pPr lvl="1"/>
            <a:r>
              <a:rPr lang="en-US"/>
              <a:t>HIPAA, SOX</a:t>
            </a:r>
          </a:p>
        </p:txBody>
      </p:sp>
    </p:spTree>
    <p:extLst>
      <p:ext uri="{BB962C8B-B14F-4D97-AF65-F5344CB8AC3E}">
        <p14:creationId xmlns:p14="http://schemas.microsoft.com/office/powerpoint/2010/main" val="265196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3E36-AC76-49EF-89DB-AD5CCE757BCD}"/>
              </a:ext>
            </a:extLst>
          </p:cNvPr>
          <p:cNvSpPr>
            <a:spLocks noGrp="1"/>
          </p:cNvSpPr>
          <p:nvPr>
            <p:ph type="title"/>
          </p:nvPr>
        </p:nvSpPr>
        <p:spPr/>
        <p:txBody>
          <a:bodyPr/>
          <a:lstStyle/>
          <a:p>
            <a:endParaRPr lang="en-US"/>
          </a:p>
        </p:txBody>
      </p:sp>
      <p:pic>
        <p:nvPicPr>
          <p:cNvPr id="5" name="Content Placeholder 4" descr="Screen Clipping">
            <a:extLst>
              <a:ext uri="{FF2B5EF4-FFF2-40B4-BE49-F238E27FC236}">
                <a16:creationId xmlns:a16="http://schemas.microsoft.com/office/drawing/2014/main" id="{2678BB93-2DF2-49A8-BD09-A2F7BDB519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228601"/>
            <a:ext cx="8633374" cy="6434813"/>
          </a:xfrm>
        </p:spPr>
      </p:pic>
      <p:pic>
        <p:nvPicPr>
          <p:cNvPr id="4" name="Picture 3">
            <a:extLst>
              <a:ext uri="{FF2B5EF4-FFF2-40B4-BE49-F238E27FC236}">
                <a16:creationId xmlns:a16="http://schemas.microsoft.com/office/drawing/2014/main" id="{9EC834A4-27AB-4120-8242-33AF29778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953" y="1219201"/>
            <a:ext cx="8357511" cy="5490251"/>
          </a:xfrm>
          <a:prstGeom prst="rect">
            <a:avLst/>
          </a:prstGeom>
        </p:spPr>
      </p:pic>
    </p:spTree>
    <p:extLst>
      <p:ext uri="{BB962C8B-B14F-4D97-AF65-F5344CB8AC3E}">
        <p14:creationId xmlns:p14="http://schemas.microsoft.com/office/powerpoint/2010/main" val="392898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2667000" y="3200400"/>
            <a:ext cx="7010400" cy="2438400"/>
          </a:xfrm>
        </p:spPr>
        <p:txBody>
          <a:bodyPr>
            <a:normAutofit/>
          </a:bodyPr>
          <a:lstStyle/>
          <a:p>
            <a:r>
              <a:rPr lang="en-US" b="1" dirty="0"/>
              <a:t>Governance, Risk &amp; Compliance (GRC)</a:t>
            </a:r>
          </a:p>
          <a:p>
            <a:r>
              <a:rPr lang="en-US" sz="2400" i="1" dirty="0"/>
              <a:t>Auditing Mechanisms</a:t>
            </a:r>
          </a:p>
          <a:p>
            <a:r>
              <a:rPr lang="en-US" sz="2400" i="1" dirty="0"/>
              <a:t>Standards</a:t>
            </a:r>
          </a:p>
          <a:p>
            <a:r>
              <a:rPr lang="en-US" sz="2400" i="1" dirty="0"/>
              <a:t>Case Study: UNH UAP</a:t>
            </a:r>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4157386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ECC4-5CE7-4572-8ABA-7F02220BD821}"/>
              </a:ext>
            </a:extLst>
          </p:cNvPr>
          <p:cNvSpPr>
            <a:spLocks noGrp="1"/>
          </p:cNvSpPr>
          <p:nvPr>
            <p:ph type="title"/>
          </p:nvPr>
        </p:nvSpPr>
        <p:spPr/>
        <p:txBody>
          <a:bodyPr/>
          <a:lstStyle/>
          <a:p>
            <a:r>
              <a:rPr lang="en-US" dirty="0"/>
              <a:t>Regulatory Complexity</a:t>
            </a:r>
          </a:p>
        </p:txBody>
      </p:sp>
      <p:sp>
        <p:nvSpPr>
          <p:cNvPr id="3" name="Content Placeholder 2">
            <a:extLst>
              <a:ext uri="{FF2B5EF4-FFF2-40B4-BE49-F238E27FC236}">
                <a16:creationId xmlns:a16="http://schemas.microsoft.com/office/drawing/2014/main" id="{6967F414-C404-41FB-85EC-50A743158E5D}"/>
              </a:ext>
            </a:extLst>
          </p:cNvPr>
          <p:cNvSpPr>
            <a:spLocks noGrp="1"/>
          </p:cNvSpPr>
          <p:nvPr>
            <p:ph idx="1"/>
          </p:nvPr>
        </p:nvSpPr>
        <p:spPr/>
        <p:txBody>
          <a:bodyPr/>
          <a:lstStyle/>
          <a:p>
            <a:r>
              <a:rPr lang="en-US" dirty="0"/>
              <a:t>Potentially thousands of requirements</a:t>
            </a:r>
          </a:p>
          <a:p>
            <a:r>
              <a:rPr lang="en-US" dirty="0"/>
              <a:t>Need to reduce overlaps</a:t>
            </a:r>
          </a:p>
          <a:p>
            <a:r>
              <a:rPr lang="en-US" dirty="0"/>
              <a:t>Manage changes to requirements</a:t>
            </a:r>
          </a:p>
          <a:p>
            <a:r>
              <a:rPr lang="en-US" dirty="0"/>
              <a:t>Manage adoption of new technology</a:t>
            </a:r>
          </a:p>
        </p:txBody>
      </p:sp>
    </p:spTree>
    <p:extLst>
      <p:ext uri="{BB962C8B-B14F-4D97-AF65-F5344CB8AC3E}">
        <p14:creationId xmlns:p14="http://schemas.microsoft.com/office/powerpoint/2010/main" val="4080699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A64BF-B040-450C-8D77-A123A55E0B59}"/>
              </a:ext>
            </a:extLst>
          </p:cNvPr>
          <p:cNvSpPr>
            <a:spLocks noGrp="1"/>
          </p:cNvSpPr>
          <p:nvPr>
            <p:ph type="title"/>
          </p:nvPr>
        </p:nvSpPr>
        <p:spPr/>
        <p:txBody>
          <a:bodyPr/>
          <a:lstStyle/>
          <a:p>
            <a:r>
              <a:rPr lang="en-US" dirty="0"/>
              <a:t>Privacy and IP Protection</a:t>
            </a:r>
          </a:p>
        </p:txBody>
      </p:sp>
      <p:sp>
        <p:nvSpPr>
          <p:cNvPr id="3" name="Content Placeholder 2">
            <a:extLst>
              <a:ext uri="{FF2B5EF4-FFF2-40B4-BE49-F238E27FC236}">
                <a16:creationId xmlns:a16="http://schemas.microsoft.com/office/drawing/2014/main" id="{A3B67A38-EC1C-4227-B7A8-7BA51DD26B8E}"/>
              </a:ext>
            </a:extLst>
          </p:cNvPr>
          <p:cNvSpPr>
            <a:spLocks noGrp="1"/>
          </p:cNvSpPr>
          <p:nvPr>
            <p:ph idx="1"/>
          </p:nvPr>
        </p:nvSpPr>
        <p:spPr/>
        <p:txBody>
          <a:bodyPr/>
          <a:lstStyle/>
          <a:p>
            <a:r>
              <a:rPr lang="en-US" dirty="0"/>
              <a:t>Data is highly dynamic</a:t>
            </a:r>
          </a:p>
          <a:p>
            <a:r>
              <a:rPr lang="en-US" dirty="0"/>
              <a:t>Different local, state, and country policies</a:t>
            </a:r>
          </a:p>
          <a:p>
            <a:r>
              <a:rPr lang="en-US" dirty="0"/>
              <a:t>Cloud and data mining</a:t>
            </a:r>
          </a:p>
          <a:p>
            <a:r>
              <a:rPr lang="en-US" dirty="0"/>
              <a:t>3</a:t>
            </a:r>
            <a:r>
              <a:rPr lang="en-US" baseline="30000" dirty="0"/>
              <a:t>rd</a:t>
            </a:r>
            <a:r>
              <a:rPr lang="en-US" dirty="0"/>
              <a:t> Party access</a:t>
            </a:r>
          </a:p>
          <a:p>
            <a:r>
              <a:rPr lang="en-US" dirty="0"/>
              <a:t>Most espionage focused in this area</a:t>
            </a:r>
          </a:p>
        </p:txBody>
      </p:sp>
    </p:spTree>
    <p:extLst>
      <p:ext uri="{BB962C8B-B14F-4D97-AF65-F5344CB8AC3E}">
        <p14:creationId xmlns:p14="http://schemas.microsoft.com/office/powerpoint/2010/main" val="839656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1B97-1FAD-4691-AD4A-BC2BC45B13AD}"/>
              </a:ext>
            </a:extLst>
          </p:cNvPr>
          <p:cNvSpPr>
            <a:spLocks noGrp="1"/>
          </p:cNvSpPr>
          <p:nvPr>
            <p:ph type="title"/>
          </p:nvPr>
        </p:nvSpPr>
        <p:spPr/>
        <p:txBody>
          <a:bodyPr/>
          <a:lstStyle/>
          <a:p>
            <a:r>
              <a:rPr lang="en-US" dirty="0"/>
              <a:t>Cybersecurity Risks</a:t>
            </a:r>
          </a:p>
        </p:txBody>
      </p:sp>
      <p:sp>
        <p:nvSpPr>
          <p:cNvPr id="3" name="Content Placeholder 2">
            <a:extLst>
              <a:ext uri="{FF2B5EF4-FFF2-40B4-BE49-F238E27FC236}">
                <a16:creationId xmlns:a16="http://schemas.microsoft.com/office/drawing/2014/main" id="{103FDF10-183C-445F-8F19-E3E9FAC19BB1}"/>
              </a:ext>
            </a:extLst>
          </p:cNvPr>
          <p:cNvSpPr>
            <a:spLocks noGrp="1"/>
          </p:cNvSpPr>
          <p:nvPr>
            <p:ph idx="1"/>
          </p:nvPr>
        </p:nvSpPr>
        <p:spPr/>
        <p:txBody>
          <a:bodyPr/>
          <a:lstStyle/>
          <a:p>
            <a:r>
              <a:rPr lang="en-US" dirty="0"/>
              <a:t>Loss of direct control over data</a:t>
            </a:r>
          </a:p>
          <a:p>
            <a:pPr lvl="1"/>
            <a:r>
              <a:rPr lang="en-US" dirty="0"/>
              <a:t>Cloud, BYOD, social networks</a:t>
            </a:r>
          </a:p>
          <a:p>
            <a:r>
              <a:rPr lang="en-US" dirty="0"/>
              <a:t>Attacks via social engineering can be difficult to detect</a:t>
            </a:r>
          </a:p>
          <a:p>
            <a:r>
              <a:rPr lang="en-US" dirty="0"/>
              <a:t>Complex global network of partners and suppliers</a:t>
            </a:r>
          </a:p>
          <a:p>
            <a:r>
              <a:rPr lang="en-US" dirty="0"/>
              <a:t>Silos within an organization can prevent collaboration</a:t>
            </a:r>
          </a:p>
        </p:txBody>
      </p:sp>
    </p:spTree>
    <p:extLst>
      <p:ext uri="{BB962C8B-B14F-4D97-AF65-F5344CB8AC3E}">
        <p14:creationId xmlns:p14="http://schemas.microsoft.com/office/powerpoint/2010/main" val="4470812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Secure Training</a:t>
            </a:r>
          </a:p>
        </p:txBody>
      </p:sp>
      <p:sp>
        <p:nvSpPr>
          <p:cNvPr id="5" name="Title 4">
            <a:extLst>
              <a:ext uri="{FF2B5EF4-FFF2-40B4-BE49-F238E27FC236}">
                <a16:creationId xmlns:a16="http://schemas.microsoft.com/office/drawing/2014/main" id="{8D5BFD35-505B-4EC0-957C-993CA69FE49B}"/>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41231626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Capitalize on Interest by Senior Executives</a:t>
            </a:r>
          </a:p>
        </p:txBody>
      </p:sp>
      <p:sp>
        <p:nvSpPr>
          <p:cNvPr id="3" name="Content Placeholder 2"/>
          <p:cNvSpPr>
            <a:spLocks noGrp="1"/>
          </p:cNvSpPr>
          <p:nvPr>
            <p:ph idx="1"/>
          </p:nvPr>
        </p:nvSpPr>
        <p:spPr/>
        <p:txBody>
          <a:bodyPr>
            <a:normAutofit/>
          </a:bodyPr>
          <a:lstStyle/>
          <a:p>
            <a:r>
              <a:rPr lang="en-US" dirty="0"/>
              <a:t>An appropriate tone at the top is critical</a:t>
            </a:r>
          </a:p>
          <a:p>
            <a:r>
              <a:rPr lang="en-US" dirty="0"/>
              <a:t>Build a concise business case for awareness spending.</a:t>
            </a:r>
          </a:p>
          <a:p>
            <a:r>
              <a:rPr lang="en-US" dirty="0"/>
              <a:t>Identify and understand employee behaviors</a:t>
            </a:r>
          </a:p>
          <a:p>
            <a:endParaRPr lang="en-US" dirty="0"/>
          </a:p>
        </p:txBody>
      </p:sp>
    </p:spTree>
    <p:extLst>
      <p:ext uri="{BB962C8B-B14F-4D97-AF65-F5344CB8AC3E}">
        <p14:creationId xmlns:p14="http://schemas.microsoft.com/office/powerpoint/2010/main" val="5550491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 and Target Employee Population</a:t>
            </a:r>
          </a:p>
        </p:txBody>
      </p:sp>
      <p:sp>
        <p:nvSpPr>
          <p:cNvPr id="3" name="Content Placeholder 2"/>
          <p:cNvSpPr>
            <a:spLocks noGrp="1"/>
          </p:cNvSpPr>
          <p:nvPr>
            <p:ph idx="1"/>
          </p:nvPr>
        </p:nvSpPr>
        <p:spPr/>
        <p:txBody>
          <a:bodyPr>
            <a:normAutofit/>
          </a:bodyPr>
          <a:lstStyle/>
          <a:p>
            <a:r>
              <a:rPr lang="en-US" dirty="0"/>
              <a:t>Companies that use a uniform set of security awareness tactics for all employees receive limited results and/or encounter employee disengagement.</a:t>
            </a:r>
          </a:p>
          <a:p>
            <a:r>
              <a:rPr lang="en-US" dirty="0"/>
              <a:t>In particular, the psychological reasons for secure behavior can differ and campaigns should target those underlying psychological drivers.</a:t>
            </a:r>
          </a:p>
          <a:p>
            <a:r>
              <a:rPr lang="en-US" dirty="0"/>
              <a:t>There are differences in how securely employees behave across countries.</a:t>
            </a:r>
          </a:p>
        </p:txBody>
      </p:sp>
    </p:spTree>
    <p:extLst>
      <p:ext uri="{BB962C8B-B14F-4D97-AF65-F5344CB8AC3E}">
        <p14:creationId xmlns:p14="http://schemas.microsoft.com/office/powerpoint/2010/main" val="2922033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Training</a:t>
            </a:r>
          </a:p>
        </p:txBody>
      </p:sp>
      <p:sp>
        <p:nvSpPr>
          <p:cNvPr id="3" name="Content Placeholder 2"/>
          <p:cNvSpPr>
            <a:spLocks noGrp="1"/>
          </p:cNvSpPr>
          <p:nvPr>
            <p:ph idx="1"/>
          </p:nvPr>
        </p:nvSpPr>
        <p:spPr/>
        <p:txBody>
          <a:bodyPr/>
          <a:lstStyle/>
          <a:p>
            <a:r>
              <a:rPr lang="en-US" dirty="0"/>
              <a:t>Traditional</a:t>
            </a:r>
          </a:p>
          <a:p>
            <a:pPr lvl="1"/>
            <a:r>
              <a:rPr lang="en-US" dirty="0"/>
              <a:t>Books, Seminars, Classes</a:t>
            </a:r>
          </a:p>
          <a:p>
            <a:pPr lvl="1"/>
            <a:r>
              <a:rPr lang="en-US" dirty="0"/>
              <a:t>Posters</a:t>
            </a:r>
          </a:p>
          <a:p>
            <a:r>
              <a:rPr lang="en-US" dirty="0"/>
              <a:t>Competitions</a:t>
            </a:r>
          </a:p>
          <a:p>
            <a:pPr lvl="1"/>
            <a:r>
              <a:rPr lang="en-US" dirty="0"/>
              <a:t>Capture The Flag (CTF)</a:t>
            </a:r>
          </a:p>
          <a:p>
            <a:pPr lvl="1"/>
            <a:r>
              <a:rPr lang="en-US" dirty="0"/>
              <a:t>Games/Puzzles</a:t>
            </a:r>
          </a:p>
          <a:p>
            <a:r>
              <a:rPr lang="en-US" dirty="0"/>
              <a:t>Simulations</a:t>
            </a:r>
          </a:p>
          <a:p>
            <a:r>
              <a:rPr lang="en-US" dirty="0"/>
              <a:t>Behavior gamification</a:t>
            </a:r>
          </a:p>
        </p:txBody>
      </p:sp>
    </p:spTree>
    <p:extLst>
      <p:ext uri="{BB962C8B-B14F-4D97-AF65-F5344CB8AC3E}">
        <p14:creationId xmlns:p14="http://schemas.microsoft.com/office/powerpoint/2010/main" val="34734025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companies want security trained employees</a:t>
            </a:r>
          </a:p>
        </p:txBody>
      </p:sp>
      <p:sp>
        <p:nvSpPr>
          <p:cNvPr id="3" name="Content Placeholder 2"/>
          <p:cNvSpPr>
            <a:spLocks noGrp="1"/>
          </p:cNvSpPr>
          <p:nvPr>
            <p:ph idx="1"/>
          </p:nvPr>
        </p:nvSpPr>
        <p:spPr/>
        <p:txBody>
          <a:bodyPr>
            <a:normAutofit/>
          </a:bodyPr>
          <a:lstStyle/>
          <a:p>
            <a:r>
              <a:rPr lang="en-US" dirty="0"/>
              <a:t>Your are the first line of defense</a:t>
            </a:r>
          </a:p>
          <a:p>
            <a:r>
              <a:rPr lang="en-US" dirty="0"/>
              <a:t>Comply with regulatory requirements</a:t>
            </a:r>
          </a:p>
          <a:p>
            <a:r>
              <a:rPr lang="en-US" dirty="0"/>
              <a:t>Build customer trust and loyalty</a:t>
            </a:r>
          </a:p>
          <a:p>
            <a:r>
              <a:rPr lang="en-US" dirty="0"/>
              <a:t>You understand personal and enterprise risk</a:t>
            </a:r>
          </a:p>
          <a:p>
            <a:r>
              <a:rPr lang="en-US" dirty="0"/>
              <a:t>Teach and advice others</a:t>
            </a:r>
          </a:p>
          <a:p>
            <a:r>
              <a:rPr lang="en-US" dirty="0"/>
              <a:t>You can work with security technology</a:t>
            </a:r>
          </a:p>
          <a:p>
            <a:r>
              <a:rPr lang="en-US" dirty="0"/>
              <a:t>Mindset aligned to corporate objectives</a:t>
            </a:r>
          </a:p>
        </p:txBody>
      </p:sp>
    </p:spTree>
    <p:extLst>
      <p:ext uri="{BB962C8B-B14F-4D97-AF65-F5344CB8AC3E}">
        <p14:creationId xmlns:p14="http://schemas.microsoft.com/office/powerpoint/2010/main" val="134973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companies embrace training</a:t>
            </a:r>
          </a:p>
        </p:txBody>
      </p:sp>
      <p:sp>
        <p:nvSpPr>
          <p:cNvPr id="3" name="Content Placeholder 2"/>
          <p:cNvSpPr>
            <a:spLocks noGrp="1"/>
          </p:cNvSpPr>
          <p:nvPr>
            <p:ph idx="1"/>
          </p:nvPr>
        </p:nvSpPr>
        <p:spPr/>
        <p:txBody>
          <a:bodyPr>
            <a:normAutofit/>
          </a:bodyPr>
          <a:lstStyle/>
          <a:p>
            <a:r>
              <a:rPr lang="en-US" dirty="0"/>
              <a:t>Most data breaches are caused by human error</a:t>
            </a:r>
          </a:p>
          <a:p>
            <a:r>
              <a:rPr lang="en-US" dirty="0"/>
              <a:t>Hackers target users via Social Engineering</a:t>
            </a:r>
          </a:p>
          <a:p>
            <a:r>
              <a:rPr lang="en-US" dirty="0"/>
              <a:t>“Spear” phishing is hard to spot</a:t>
            </a:r>
          </a:p>
          <a:p>
            <a:r>
              <a:rPr lang="en-US" dirty="0"/>
              <a:t>Younger employees are less sensitive to security issues</a:t>
            </a:r>
          </a:p>
          <a:p>
            <a:pPr lvl="1"/>
            <a:r>
              <a:rPr lang="en-US" dirty="0"/>
              <a:t>They choose efficiency over security</a:t>
            </a:r>
          </a:p>
          <a:p>
            <a:r>
              <a:rPr lang="en-US" dirty="0"/>
              <a:t>Small reductions have a big impact</a:t>
            </a:r>
          </a:p>
        </p:txBody>
      </p:sp>
    </p:spTree>
    <p:extLst>
      <p:ext uri="{BB962C8B-B14F-4D97-AF65-F5344CB8AC3E}">
        <p14:creationId xmlns:p14="http://schemas.microsoft.com/office/powerpoint/2010/main" val="1699128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Greater Use of Incentives</a:t>
            </a:r>
          </a:p>
        </p:txBody>
      </p:sp>
      <p:sp>
        <p:nvSpPr>
          <p:cNvPr id="3" name="Content Placeholder 2"/>
          <p:cNvSpPr>
            <a:spLocks noGrp="1"/>
          </p:cNvSpPr>
          <p:nvPr>
            <p:ph idx="1"/>
          </p:nvPr>
        </p:nvSpPr>
        <p:spPr/>
        <p:txBody>
          <a:bodyPr>
            <a:normAutofit/>
          </a:bodyPr>
          <a:lstStyle/>
          <a:p>
            <a:r>
              <a:rPr lang="en-US" dirty="0"/>
              <a:t>While incentives are powerful tactics to increase employee awareness and possibly change behavior, they are typically underutilized by awareness campaigns</a:t>
            </a:r>
          </a:p>
          <a:p>
            <a:r>
              <a:rPr lang="en-US" dirty="0"/>
              <a:t>Globally less than 10% of employees are praised by their manager for exhibiting secure behavior.</a:t>
            </a:r>
          </a:p>
        </p:txBody>
      </p:sp>
    </p:spTree>
    <p:extLst>
      <p:ext uri="{BB962C8B-B14F-4D97-AF65-F5344CB8AC3E}">
        <p14:creationId xmlns:p14="http://schemas.microsoft.com/office/powerpoint/2010/main" val="4246851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dirty="0"/>
              <a:t>Usability</a:t>
            </a:r>
          </a:p>
          <a:p>
            <a:r>
              <a:rPr lang="en-US" sz="2400" i="1" dirty="0"/>
              <a:t>Auditing Mechanisms</a:t>
            </a:r>
          </a:p>
          <a:p>
            <a:r>
              <a:rPr lang="en-US" sz="2400" i="1" dirty="0"/>
              <a:t>Standards</a:t>
            </a:r>
          </a:p>
          <a:p>
            <a:r>
              <a:rPr lang="en-US" sz="2400" i="1" dirty="0"/>
              <a:t>Case Study: UNH AUP</a:t>
            </a:r>
          </a:p>
        </p:txBody>
      </p:sp>
      <p:sp>
        <p:nvSpPr>
          <p:cNvPr id="3" name="Title 2">
            <a:extLst>
              <a:ext uri="{FF2B5EF4-FFF2-40B4-BE49-F238E27FC236}">
                <a16:creationId xmlns:a16="http://schemas.microsoft.com/office/drawing/2014/main" id="{3B503467-0A4E-4DD6-AB43-E05B78F00722}"/>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471514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wrong?</a:t>
            </a:r>
          </a:p>
        </p:txBody>
      </p:sp>
      <p:sp>
        <p:nvSpPr>
          <p:cNvPr id="3" name="Content Placeholder 2">
            <a:extLst>
              <a:ext uri="{FF2B5EF4-FFF2-40B4-BE49-F238E27FC236}">
                <a16:creationId xmlns:a16="http://schemas.microsoft.com/office/drawing/2014/main" id="{38FABEAA-7B45-43C1-A26D-D7DC07BFD8CF}"/>
              </a:ext>
            </a:extLst>
          </p:cNvPr>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530" y="33696"/>
            <a:ext cx="5270470" cy="659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01738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Northwestern University’s Password Requirements</a:t>
            </a:r>
          </a:p>
        </p:txBody>
      </p:sp>
      <p:sp>
        <p:nvSpPr>
          <p:cNvPr id="3" name="Content Placeholder 2"/>
          <p:cNvSpPr>
            <a:spLocks noGrp="1"/>
          </p:cNvSpPr>
          <p:nvPr>
            <p:ph idx="1"/>
          </p:nvPr>
        </p:nvSpPr>
        <p:spPr/>
        <p:txBody>
          <a:bodyPr>
            <a:noAutofit/>
          </a:bodyPr>
          <a:lstStyle/>
          <a:p>
            <a:r>
              <a:rPr lang="en-US" sz="2000" b="1" dirty="0"/>
              <a:t>It must:</a:t>
            </a:r>
          </a:p>
          <a:p>
            <a:pPr lvl="1"/>
            <a:r>
              <a:rPr lang="en-US" sz="1600" dirty="0"/>
              <a:t>be six to eight characters in length. </a:t>
            </a:r>
          </a:p>
          <a:p>
            <a:pPr lvl="1"/>
            <a:r>
              <a:rPr lang="en-US" sz="1600" dirty="0"/>
              <a:t>contain a </a:t>
            </a:r>
            <a:r>
              <a:rPr lang="en-US" sz="1600" dirty="0" err="1"/>
              <a:t>nonalphabetical</a:t>
            </a:r>
            <a:r>
              <a:rPr lang="en-US" sz="1600" dirty="0"/>
              <a:t> character such as  1 2 3 ! $ &amp; * , ? + = </a:t>
            </a:r>
          </a:p>
          <a:p>
            <a:pPr lvl="1"/>
            <a:r>
              <a:rPr lang="en-US" sz="1600" dirty="0"/>
              <a:t>contain one or more </a:t>
            </a:r>
            <a:r>
              <a:rPr lang="en-US" sz="1600" dirty="0" err="1"/>
              <a:t>nonalphabetical</a:t>
            </a:r>
            <a:r>
              <a:rPr lang="en-US" sz="1600" dirty="0"/>
              <a:t> characters  between alphabetical characters (example: “A3b,” “j3;M”).</a:t>
            </a:r>
          </a:p>
          <a:p>
            <a:r>
              <a:rPr lang="en-US" sz="2000" b="1" dirty="0"/>
              <a:t>It cannot: </a:t>
            </a:r>
          </a:p>
          <a:p>
            <a:pPr lvl="1"/>
            <a:r>
              <a:rPr lang="en-US" sz="1600" dirty="0"/>
              <a:t>be a password used in the previous 18 months. </a:t>
            </a:r>
          </a:p>
          <a:p>
            <a:pPr lvl="1"/>
            <a:r>
              <a:rPr lang="en-US" sz="1600" dirty="0"/>
              <a:t>be similar to your previous password. </a:t>
            </a:r>
          </a:p>
          <a:p>
            <a:pPr lvl="1"/>
            <a:r>
              <a:rPr lang="en-US" sz="1600" dirty="0"/>
              <a:t>be a palindrome (example: “</a:t>
            </a:r>
            <a:r>
              <a:rPr lang="en-US" sz="1600" dirty="0" err="1"/>
              <a:t>abc.cba</a:t>
            </a:r>
            <a:r>
              <a:rPr lang="en-US" sz="1600" dirty="0"/>
              <a:t>,” “</a:t>
            </a:r>
            <a:r>
              <a:rPr lang="en-US" sz="1600" dirty="0" err="1"/>
              <a:t>cb</a:t>
            </a:r>
            <a:r>
              <a:rPr lang="en-US" sz="1600" dirty="0"/>
              <a:t>,,</a:t>
            </a:r>
            <a:r>
              <a:rPr lang="en-US" sz="1600" dirty="0" err="1"/>
              <a:t>bc</a:t>
            </a:r>
            <a:r>
              <a:rPr lang="en-US" sz="1600" dirty="0"/>
              <a:t>”). </a:t>
            </a:r>
          </a:p>
          <a:p>
            <a:pPr lvl="1"/>
            <a:r>
              <a:rPr lang="en-US" sz="1600" dirty="0"/>
              <a:t>include the characters # @ ‘ “ ` \ </a:t>
            </a:r>
          </a:p>
          <a:p>
            <a:pPr lvl="1"/>
            <a:r>
              <a:rPr lang="en-US" sz="1600" dirty="0"/>
              <a:t>include character strings from any part of  your name (examples for “James Smith”:, “</a:t>
            </a:r>
            <a:r>
              <a:rPr lang="en-US" sz="1600" dirty="0" err="1"/>
              <a:t>ames</a:t>
            </a:r>
            <a:r>
              <a:rPr lang="en-US" sz="1600" dirty="0"/>
              <a:t>,”). </a:t>
            </a:r>
          </a:p>
          <a:p>
            <a:pPr lvl="1"/>
            <a:r>
              <a:rPr lang="en-US" sz="1600" dirty="0"/>
              <a:t>include part of your name with uppercase characters (example: “</a:t>
            </a:r>
            <a:r>
              <a:rPr lang="en-US" sz="1600" dirty="0" err="1"/>
              <a:t>AmeS</a:t>
            </a:r>
            <a:r>
              <a:rPr lang="en-US" sz="1600" dirty="0"/>
              <a:t>”). </a:t>
            </a:r>
          </a:p>
          <a:p>
            <a:pPr lvl="1"/>
            <a:r>
              <a:rPr lang="en-US" sz="1600" dirty="0"/>
              <a:t>include part of your name with numbers substituted for letters (example: “j4m3s”). </a:t>
            </a:r>
          </a:p>
          <a:p>
            <a:pPr lvl="1"/>
            <a:r>
              <a:rPr lang="en-US" sz="1600" dirty="0"/>
              <a:t>include reserved strings (example: “wild,” “cats”). </a:t>
            </a:r>
          </a:p>
          <a:p>
            <a:pPr lvl="1"/>
            <a:r>
              <a:rPr lang="en-US" sz="1600" dirty="0"/>
              <a:t>include part of reserved strings with uppercase characters (example: “</a:t>
            </a:r>
            <a:r>
              <a:rPr lang="en-US" sz="1600" dirty="0" err="1"/>
              <a:t>WilD</a:t>
            </a:r>
            <a:r>
              <a:rPr lang="en-US" sz="1600" dirty="0"/>
              <a:t>,” “</a:t>
            </a:r>
            <a:r>
              <a:rPr lang="en-US" sz="1600" dirty="0" err="1"/>
              <a:t>cAtS</a:t>
            </a:r>
            <a:r>
              <a:rPr lang="en-US" sz="1600" dirty="0"/>
              <a:t>”).</a:t>
            </a:r>
          </a:p>
          <a:p>
            <a:pPr lvl="1"/>
            <a:r>
              <a:rPr lang="en-US" sz="1600" dirty="0"/>
              <a:t>include part of reserved strings with numbers substituted for letters (example: “wi1d,” “E3e3”). </a:t>
            </a:r>
          </a:p>
          <a:p>
            <a:pPr lvl="1"/>
            <a:r>
              <a:rPr lang="en-US" sz="1600" dirty="0"/>
              <a:t>include repeated letters or numbers  (example: “</a:t>
            </a:r>
            <a:r>
              <a:rPr lang="en-US" sz="1600" dirty="0" err="1"/>
              <a:t>AaAa</a:t>
            </a:r>
            <a:r>
              <a:rPr lang="en-US" sz="1600" dirty="0"/>
              <a:t>,” “3E3e,” “</a:t>
            </a:r>
            <a:r>
              <a:rPr lang="en-US" sz="1600" dirty="0" err="1"/>
              <a:t>aaaa</a:t>
            </a:r>
            <a:r>
              <a:rPr lang="en-US" sz="1600" dirty="0"/>
              <a:t>”). </a:t>
            </a:r>
          </a:p>
          <a:p>
            <a:pPr lvl="1"/>
            <a:r>
              <a:rPr lang="en-US" sz="1600" dirty="0"/>
              <a:t>include runs of adjacent keys (example: “</a:t>
            </a:r>
            <a:r>
              <a:rPr lang="en-US" sz="1600" dirty="0" err="1"/>
              <a:t>hjkl</a:t>
            </a:r>
            <a:r>
              <a:rPr lang="en-US" sz="1600" dirty="0"/>
              <a:t>”)</a:t>
            </a:r>
          </a:p>
        </p:txBody>
      </p:sp>
    </p:spTree>
    <p:extLst>
      <p:ext uri="{BB962C8B-B14F-4D97-AF65-F5344CB8AC3E}">
        <p14:creationId xmlns:p14="http://schemas.microsoft.com/office/powerpoint/2010/main" val="28024173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Policies Based on Evidence?</a:t>
            </a:r>
          </a:p>
        </p:txBody>
      </p:sp>
      <p:sp>
        <p:nvSpPr>
          <p:cNvPr id="3" name="Content Placeholder 2"/>
          <p:cNvSpPr>
            <a:spLocks noGrp="1"/>
          </p:cNvSpPr>
          <p:nvPr>
            <p:ph idx="1"/>
          </p:nvPr>
        </p:nvSpPr>
        <p:spPr/>
        <p:txBody>
          <a:bodyPr/>
          <a:lstStyle/>
          <a:p>
            <a:r>
              <a:rPr lang="en-US" dirty="0"/>
              <a:t>A breach + lax policy = getting fired</a:t>
            </a:r>
          </a:p>
          <a:p>
            <a:r>
              <a:rPr lang="en-US" dirty="0"/>
              <a:t>Policies cannot be changed easily</a:t>
            </a:r>
          </a:p>
          <a:p>
            <a:r>
              <a:rPr lang="en-US" dirty="0"/>
              <a:t>Only when policies are too lax does a site get any evidence of brute-forcing</a:t>
            </a:r>
          </a:p>
          <a:p>
            <a:r>
              <a:rPr lang="en-US" dirty="0"/>
              <a:t>Best practices prevent gathering of data because </a:t>
            </a:r>
            <a:r>
              <a:rPr lang="en-US" i="1" dirty="0"/>
              <a:t>“sharing security data is bad”</a:t>
            </a:r>
          </a:p>
          <a:p>
            <a:r>
              <a:rPr lang="en-US" dirty="0"/>
              <a:t>Sites cannot necessarily distinguish brute-force from other attacks</a:t>
            </a:r>
          </a:p>
        </p:txBody>
      </p:sp>
    </p:spTree>
    <p:extLst>
      <p:ext uri="{BB962C8B-B14F-4D97-AF65-F5344CB8AC3E}">
        <p14:creationId xmlns:p14="http://schemas.microsoft.com/office/powerpoint/2010/main" val="26163881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NIST Password Guidance</a:t>
            </a:r>
          </a:p>
        </p:txBody>
      </p:sp>
      <p:sp>
        <p:nvSpPr>
          <p:cNvPr id="3" name="Content Placeholder 2"/>
          <p:cNvSpPr>
            <a:spLocks noGrp="1"/>
          </p:cNvSpPr>
          <p:nvPr>
            <p:ph idx="1"/>
          </p:nvPr>
        </p:nvSpPr>
        <p:spPr/>
        <p:txBody>
          <a:bodyPr>
            <a:normAutofit/>
          </a:bodyPr>
          <a:lstStyle/>
          <a:p>
            <a:pPr fontAlgn="base"/>
            <a:r>
              <a:rPr lang="en-GB" dirty="0"/>
              <a:t>Favour the user</a:t>
            </a:r>
          </a:p>
          <a:p>
            <a:pPr lvl="1" fontAlgn="base"/>
            <a:r>
              <a:rPr lang="en-GB" dirty="0"/>
              <a:t>To begin with, make your password policies </a:t>
            </a:r>
            <a:r>
              <a:rPr lang="en-GB" i="1" dirty="0"/>
              <a:t>user friendly</a:t>
            </a:r>
            <a:r>
              <a:rPr lang="en-GB" dirty="0"/>
              <a:t> and put the </a:t>
            </a:r>
            <a:r>
              <a:rPr lang="en-GB" i="1" dirty="0"/>
              <a:t>burden on the verifier</a:t>
            </a:r>
            <a:r>
              <a:rPr lang="en-GB" dirty="0"/>
              <a:t> when possible.</a:t>
            </a:r>
          </a:p>
          <a:p>
            <a:pPr lvl="1" fontAlgn="base"/>
            <a:r>
              <a:rPr lang="en-GB" dirty="0"/>
              <a:t>In other words, we need to stop asking users to do things that aren’t actually improving security.</a:t>
            </a:r>
          </a:p>
          <a:p>
            <a:pPr lvl="1" fontAlgn="base"/>
            <a:r>
              <a:rPr lang="en-GB" dirty="0"/>
              <a:t>Much research has gone into the efficacy of many of our so-called “best practices” and it turns out they don’t help enough to be worth the pain they cause.</a:t>
            </a:r>
          </a:p>
        </p:txBody>
      </p:sp>
      <p:sp>
        <p:nvSpPr>
          <p:cNvPr id="4" name="TextBox 3"/>
          <p:cNvSpPr txBox="1"/>
          <p:nvPr/>
        </p:nvSpPr>
        <p:spPr>
          <a:xfrm>
            <a:off x="2286000" y="6126163"/>
            <a:ext cx="914400" cy="914400"/>
          </a:xfrm>
          <a:prstGeom prst="rect">
            <a:avLst/>
          </a:prstGeom>
        </p:spPr>
        <p:txBody>
          <a:bodyPr vert="horz" wrap="none" lIns="91440" tIns="45720" rIns="91440" bIns="45720" rtlCol="0">
            <a:normAutofit/>
          </a:bodyPr>
          <a:lstStyle/>
          <a:p>
            <a:r>
              <a:rPr lang="en-US" u="sng" dirty="0">
                <a:hlinkClick r:id="rId2"/>
              </a:rPr>
              <a:t>https://pages.nist.gov/800-63-3</a:t>
            </a:r>
            <a:endParaRPr lang="en-US" sz="2400" dirty="0"/>
          </a:p>
        </p:txBody>
      </p:sp>
    </p:spTree>
    <p:extLst>
      <p:ext uri="{BB962C8B-B14F-4D97-AF65-F5344CB8AC3E}">
        <p14:creationId xmlns:p14="http://schemas.microsoft.com/office/powerpoint/2010/main" val="12638136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NIST Password Guidance (continued)</a:t>
            </a:r>
          </a:p>
        </p:txBody>
      </p:sp>
      <p:sp>
        <p:nvSpPr>
          <p:cNvPr id="3" name="Content Placeholder 2"/>
          <p:cNvSpPr>
            <a:spLocks noGrp="1"/>
          </p:cNvSpPr>
          <p:nvPr>
            <p:ph idx="1"/>
          </p:nvPr>
        </p:nvSpPr>
        <p:spPr/>
        <p:txBody>
          <a:bodyPr vert="horz" lIns="91440" tIns="45720" rIns="91440" bIns="45720" rtlCol="0" anchor="t">
            <a:normAutofit lnSpcReduction="10000"/>
          </a:bodyPr>
          <a:lstStyle/>
          <a:p>
            <a:pPr fontAlgn="base"/>
            <a:r>
              <a:rPr lang="en-GB" sz="2400" dirty="0"/>
              <a:t>A minimum of 8 characters. (</a:t>
            </a:r>
          </a:p>
          <a:p>
            <a:pPr lvl="1" fontAlgn="base"/>
            <a:r>
              <a:rPr lang="en-GB" sz="2000" dirty="0"/>
              <a:t>That’s not a maximum minimum – you can increase the minimum password length for more sensitive accounts</a:t>
            </a:r>
            <a:endParaRPr lang="en-US" sz="2000" dirty="0"/>
          </a:p>
          <a:p>
            <a:pPr fontAlgn="base"/>
            <a:r>
              <a:rPr lang="en-GB" sz="2400" dirty="0"/>
              <a:t>A maximum length of at least 64</a:t>
            </a:r>
          </a:p>
          <a:p>
            <a:pPr lvl="1" fontAlgn="base"/>
            <a:r>
              <a:rPr lang="en-GB" sz="2400" dirty="0"/>
              <a:t>So no more “Sorry, your password can’t be longer than 16 characters.”</a:t>
            </a:r>
          </a:p>
          <a:p>
            <a:pPr lvl="1" fontAlgn="base"/>
            <a:r>
              <a:rPr lang="en-GB" sz="2400" dirty="0"/>
              <a:t>Considering that passwords must be salted and hashed when stored which means a fixed-length representation in storage</a:t>
            </a:r>
            <a:endParaRPr lang="en-US" sz="2400" dirty="0"/>
          </a:p>
          <a:p>
            <a:pPr fontAlgn="base"/>
            <a:r>
              <a:rPr lang="en-GB" sz="2400" dirty="0"/>
              <a:t>Applications must allow all printable ASCII characters</a:t>
            </a:r>
          </a:p>
          <a:p>
            <a:pPr lvl="1" fontAlgn="base"/>
            <a:r>
              <a:rPr lang="en-GB" sz="2400" dirty="0"/>
              <a:t>Including spaces, and should accept all UNICODE characters, too, including emoji!</a:t>
            </a:r>
          </a:p>
          <a:p>
            <a:pPr fontAlgn="base"/>
            <a:r>
              <a:rPr lang="en-GB" sz="2400" dirty="0"/>
              <a:t>We often advise people to use passphrases</a:t>
            </a:r>
          </a:p>
          <a:p>
            <a:pPr lvl="1" fontAlgn="base"/>
            <a:r>
              <a:rPr lang="en-GB" sz="2400" dirty="0"/>
              <a:t>So they should be allowed to use all common punctuation characters</a:t>
            </a:r>
          </a:p>
          <a:p>
            <a:pPr lvl="1" fontAlgn="base"/>
            <a:r>
              <a:rPr lang="en-GB" sz="2400" dirty="0"/>
              <a:t>Any language to improve usability and increase variety.</a:t>
            </a:r>
          </a:p>
        </p:txBody>
      </p:sp>
    </p:spTree>
    <p:extLst>
      <p:ext uri="{BB962C8B-B14F-4D97-AF65-F5344CB8AC3E}">
        <p14:creationId xmlns:p14="http://schemas.microsoft.com/office/powerpoint/2010/main" val="29014430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NIST Password Guidance (continued)</a:t>
            </a:r>
          </a:p>
        </p:txBody>
      </p:sp>
      <p:sp>
        <p:nvSpPr>
          <p:cNvPr id="3" name="Content Placeholder 2"/>
          <p:cNvSpPr>
            <a:spLocks noGrp="1"/>
          </p:cNvSpPr>
          <p:nvPr>
            <p:ph idx="1"/>
          </p:nvPr>
        </p:nvSpPr>
        <p:spPr/>
        <p:txBody>
          <a:bodyPr/>
          <a:lstStyle/>
          <a:p>
            <a:r>
              <a:rPr lang="en-GB" dirty="0"/>
              <a:t>Check new passwords against a dictionary of known-bad choices. You don’t want to let people use </a:t>
            </a:r>
            <a:r>
              <a:rPr lang="en-GB" dirty="0" err="1"/>
              <a:t>ChangeMe</a:t>
            </a:r>
            <a:r>
              <a:rPr lang="en-GB" dirty="0"/>
              <a:t>, </a:t>
            </a:r>
            <a:r>
              <a:rPr lang="en-GB" dirty="0" err="1"/>
              <a:t>thisisapassword</a:t>
            </a:r>
            <a:r>
              <a:rPr lang="en-GB" dirty="0"/>
              <a:t>, patriots, and so on.</a:t>
            </a:r>
          </a:p>
          <a:p>
            <a:endParaRPr lang="en-GB" dirty="0"/>
          </a:p>
          <a:p>
            <a:r>
              <a:rPr lang="en-GB" dirty="0"/>
              <a:t>More research needs to be done into how to choose and use your “banned list,” 100,000 entries is a good starting point.</a:t>
            </a:r>
            <a:endParaRPr lang="en-US" dirty="0"/>
          </a:p>
        </p:txBody>
      </p:sp>
    </p:spTree>
    <p:extLst>
      <p:ext uri="{BB962C8B-B14F-4D97-AF65-F5344CB8AC3E}">
        <p14:creationId xmlns:p14="http://schemas.microsoft.com/office/powerpoint/2010/main" val="6375087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NIST Password Guidance (continued)</a:t>
            </a:r>
          </a:p>
        </p:txBody>
      </p:sp>
      <p:sp>
        <p:nvSpPr>
          <p:cNvPr id="3" name="Content Placeholder 2"/>
          <p:cNvSpPr>
            <a:spLocks noGrp="1"/>
          </p:cNvSpPr>
          <p:nvPr>
            <p:ph idx="1"/>
          </p:nvPr>
        </p:nvSpPr>
        <p:spPr/>
        <p:txBody>
          <a:bodyPr>
            <a:normAutofit fontScale="70000" lnSpcReduction="20000"/>
          </a:bodyPr>
          <a:lstStyle/>
          <a:p>
            <a:r>
              <a:rPr lang="en-GB" dirty="0"/>
              <a:t>No composition rules</a:t>
            </a:r>
          </a:p>
          <a:p>
            <a:pPr lvl="1"/>
            <a:r>
              <a:rPr lang="en-GB" dirty="0"/>
              <a:t>No rules that force you to use particular characters or combinations</a:t>
            </a:r>
          </a:p>
          <a:p>
            <a:pPr lvl="1"/>
            <a:r>
              <a:rPr lang="en-GB" dirty="0"/>
              <a:t>Encourage longer phrases instead of hard-to-remember passwords or illusory complexity such as pA55w+rd</a:t>
            </a:r>
          </a:p>
          <a:p>
            <a:r>
              <a:rPr lang="en-GB" dirty="0"/>
              <a:t>No password hints</a:t>
            </a:r>
          </a:p>
          <a:p>
            <a:pPr lvl="1"/>
            <a:r>
              <a:rPr lang="en-GB" dirty="0"/>
              <a:t>People set password hints like rhymes with </a:t>
            </a:r>
            <a:r>
              <a:rPr lang="en-GB" dirty="0" err="1"/>
              <a:t>assword</a:t>
            </a:r>
            <a:r>
              <a:rPr lang="en-GB" dirty="0"/>
              <a:t> when you allow hints</a:t>
            </a:r>
          </a:p>
          <a:p>
            <a:r>
              <a:rPr lang="en-GB" dirty="0"/>
              <a:t>Knowledge-based authentication (KBA) is out</a:t>
            </a:r>
          </a:p>
          <a:p>
            <a:pPr lvl="1"/>
            <a:r>
              <a:rPr lang="en-GB" dirty="0"/>
              <a:t>Why guess the password when you can guess the KBA?</a:t>
            </a:r>
          </a:p>
          <a:p>
            <a:r>
              <a:rPr lang="en-GB" dirty="0"/>
              <a:t>No more expiration without reason</a:t>
            </a:r>
          </a:p>
          <a:p>
            <a:pPr lvl="1"/>
            <a:r>
              <a:rPr lang="en-GB" dirty="0"/>
              <a:t>If we want users to comply and choose long, hard-to-guess passwords, we shouldn’t make them change those passwords unnecessarily</a:t>
            </a:r>
          </a:p>
          <a:p>
            <a:pPr lvl="1"/>
            <a:r>
              <a:rPr lang="en-GB" dirty="0"/>
              <a:t>Requires that the user is informed when their account is used from a </a:t>
            </a:r>
            <a:r>
              <a:rPr lang="en-GB"/>
              <a:t>new device</a:t>
            </a:r>
            <a:endParaRPr lang="en-GB" dirty="0"/>
          </a:p>
          <a:p>
            <a:pPr lvl="1"/>
            <a:r>
              <a:rPr lang="en-GB"/>
              <a:t>The </a:t>
            </a:r>
            <a:r>
              <a:rPr lang="en-GB" dirty="0"/>
              <a:t>only time passwords should be reset is when they are forgotten, if they have been phished, or if you think (or know) that your password database has been stolen and could therefore be subjected to an offline brute-force attack.</a:t>
            </a:r>
            <a:endParaRPr lang="en-US" dirty="0"/>
          </a:p>
        </p:txBody>
      </p:sp>
    </p:spTree>
    <p:extLst>
      <p:ext uri="{BB962C8B-B14F-4D97-AF65-F5344CB8AC3E}">
        <p14:creationId xmlns:p14="http://schemas.microsoft.com/office/powerpoint/2010/main" val="3158286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765173"/>
            <a:ext cx="8305800" cy="5594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Min. Required Password Entropy</a:t>
            </a:r>
          </a:p>
        </p:txBody>
      </p:sp>
      <p:sp>
        <p:nvSpPr>
          <p:cNvPr id="3" name="Content Placeholder 2">
            <a:extLst>
              <a:ext uri="{FF2B5EF4-FFF2-40B4-BE49-F238E27FC236}">
                <a16:creationId xmlns:a16="http://schemas.microsoft.com/office/drawing/2014/main" id="{C4BFB4F8-40B0-4AE9-842D-010D2D277DEC}"/>
              </a:ext>
            </a:extLst>
          </p:cNvPr>
          <p:cNvSpPr>
            <a:spLocks noGrp="1"/>
          </p:cNvSpPr>
          <p:nvPr>
            <p:ph idx="1"/>
          </p:nvPr>
        </p:nvSpPr>
        <p:spPr/>
        <p:txBody>
          <a:bodyPr/>
          <a:lstStyle/>
          <a:p>
            <a:endParaRPr lang="en-US"/>
          </a:p>
        </p:txBody>
      </p:sp>
      <p:sp>
        <p:nvSpPr>
          <p:cNvPr id="4" name="TextBox 3"/>
          <p:cNvSpPr txBox="1"/>
          <p:nvPr/>
        </p:nvSpPr>
        <p:spPr>
          <a:xfrm>
            <a:off x="1447801" y="6488668"/>
            <a:ext cx="9447907" cy="369332"/>
          </a:xfrm>
          <a:prstGeom prst="rect">
            <a:avLst/>
          </a:prstGeom>
          <a:noFill/>
        </p:spPr>
        <p:txBody>
          <a:bodyPr wrap="none" rtlCol="0">
            <a:spAutoFit/>
          </a:bodyPr>
          <a:lstStyle/>
          <a:p>
            <a:r>
              <a:rPr lang="en-US" dirty="0">
                <a:hlinkClick r:id="rId4"/>
              </a:rPr>
              <a:t>http://www.cs.unh.edu/~it666/reading_list/Usability/where_do_security_policies_come_from.pdf</a:t>
            </a:r>
            <a:endParaRPr lang="en-US" dirty="0"/>
          </a:p>
        </p:txBody>
      </p:sp>
    </p:spTree>
    <p:extLst>
      <p:ext uri="{BB962C8B-B14F-4D97-AF65-F5344CB8AC3E}">
        <p14:creationId xmlns:p14="http://schemas.microsoft.com/office/powerpoint/2010/main" val="25828702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Browsers Borrow Usability Features</a:t>
            </a:r>
          </a:p>
        </p:txBody>
      </p:sp>
      <p:sp>
        <p:nvSpPr>
          <p:cNvPr id="3" name="Content Placeholder 2"/>
          <p:cNvSpPr>
            <a:spLocks noGrp="1"/>
          </p:cNvSpPr>
          <p:nvPr>
            <p:ph idx="1"/>
          </p:nvPr>
        </p:nvSpPr>
        <p:spPr/>
        <p:txBody>
          <a:bodyPr>
            <a:normAutofit fontScale="92500" lnSpcReduction="10000"/>
          </a:bodyPr>
          <a:lstStyle/>
          <a:p>
            <a:r>
              <a:rPr lang="en-US" dirty="0"/>
              <a:t>HTTPS lock icon</a:t>
            </a:r>
          </a:p>
          <a:p>
            <a:r>
              <a:rPr lang="en-US" dirty="0"/>
              <a:t>New SmartScreen Filter “Collects”:</a:t>
            </a:r>
          </a:p>
          <a:p>
            <a:pPr lvl="1"/>
            <a:r>
              <a:rPr lang="en-US" dirty="0"/>
              <a:t>URLs</a:t>
            </a:r>
          </a:p>
          <a:p>
            <a:pPr lvl="1"/>
            <a:r>
              <a:rPr lang="en-US" dirty="0"/>
              <a:t>Referrer URL</a:t>
            </a:r>
          </a:p>
          <a:p>
            <a:pPr lvl="1"/>
            <a:r>
              <a:rPr lang="en-US" dirty="0"/>
              <a:t>Program downloads</a:t>
            </a:r>
          </a:p>
          <a:p>
            <a:pPr lvl="2"/>
            <a:r>
              <a:rPr lang="en-US" dirty="0"/>
              <a:t>Hashes</a:t>
            </a:r>
          </a:p>
          <a:p>
            <a:pPr lvl="2"/>
            <a:r>
              <a:rPr lang="en-US" dirty="0"/>
              <a:t>Antivirus results</a:t>
            </a:r>
          </a:p>
          <a:p>
            <a:pPr lvl="2"/>
            <a:r>
              <a:rPr lang="en-US" dirty="0"/>
              <a:t>Digital Certificates</a:t>
            </a:r>
          </a:p>
          <a:p>
            <a:r>
              <a:rPr lang="en-US" dirty="0"/>
              <a:t>Suggested Sites “Collect”</a:t>
            </a:r>
          </a:p>
          <a:p>
            <a:pPr lvl="1"/>
            <a:r>
              <a:rPr lang="en-US" dirty="0"/>
              <a:t>Information about keystrokes, video and images</a:t>
            </a:r>
          </a:p>
          <a:p>
            <a:pPr lvl="1"/>
            <a:endParaRPr lang="en-US" dirty="0"/>
          </a:p>
        </p:txBody>
      </p:sp>
    </p:spTree>
    <p:extLst>
      <p:ext uri="{BB962C8B-B14F-4D97-AF65-F5344CB8AC3E}">
        <p14:creationId xmlns:p14="http://schemas.microsoft.com/office/powerpoint/2010/main" val="1148071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FC1C-1243-40E5-98FA-3586A73C1066}"/>
              </a:ext>
            </a:extLst>
          </p:cNvPr>
          <p:cNvSpPr>
            <a:spLocks noGrp="1"/>
          </p:cNvSpPr>
          <p:nvPr>
            <p:ph type="title"/>
          </p:nvPr>
        </p:nvSpPr>
        <p:spPr/>
        <p:txBody>
          <a:bodyPr/>
          <a:lstStyle/>
          <a:p>
            <a:r>
              <a:rPr lang="en-US" dirty="0"/>
              <a:t>Security as an Enabler</a:t>
            </a:r>
          </a:p>
        </p:txBody>
      </p:sp>
      <p:sp>
        <p:nvSpPr>
          <p:cNvPr id="3" name="Content Placeholder 2">
            <a:extLst>
              <a:ext uri="{FF2B5EF4-FFF2-40B4-BE49-F238E27FC236}">
                <a16:creationId xmlns:a16="http://schemas.microsoft.com/office/drawing/2014/main" id="{2601DA0A-B5CD-4494-B973-1F9CD2671467}"/>
              </a:ext>
            </a:extLst>
          </p:cNvPr>
          <p:cNvSpPr>
            <a:spLocks noGrp="1"/>
          </p:cNvSpPr>
          <p:nvPr>
            <p:ph idx="1"/>
          </p:nvPr>
        </p:nvSpPr>
        <p:spPr/>
        <p:txBody>
          <a:bodyPr/>
          <a:lstStyle/>
          <a:p>
            <a:r>
              <a:rPr lang="en-US" dirty="0"/>
              <a:t>Apple’s </a:t>
            </a:r>
            <a:r>
              <a:rPr lang="en-US" dirty="0" err="1"/>
              <a:t>FaceID</a:t>
            </a:r>
            <a:r>
              <a:rPr lang="en-US" dirty="0"/>
              <a:t> – no password compromise</a:t>
            </a:r>
          </a:p>
          <a:p>
            <a:r>
              <a:rPr lang="en-US" dirty="0"/>
              <a:t>TPM – secrets in hardware</a:t>
            </a:r>
          </a:p>
          <a:p>
            <a:r>
              <a:rPr lang="en-US" dirty="0"/>
              <a:t>Cloud storage file backups – address data loss</a:t>
            </a:r>
          </a:p>
          <a:p>
            <a:r>
              <a:rPr lang="en-US" dirty="0"/>
              <a:t>“Docker” style containers - manifests</a:t>
            </a:r>
          </a:p>
          <a:p>
            <a:r>
              <a:rPr lang="en-US" dirty="0"/>
              <a:t>SDN – mix-n-match network functions</a:t>
            </a:r>
          </a:p>
          <a:p>
            <a:r>
              <a:rPr lang="en-US" dirty="0" err="1"/>
              <a:t>DevSecOps</a:t>
            </a:r>
            <a:r>
              <a:rPr lang="en-US" dirty="0"/>
              <a:t> – automation drives compliance</a:t>
            </a:r>
          </a:p>
          <a:p>
            <a:r>
              <a:rPr lang="en-US" dirty="0"/>
              <a:t>OAuth – reduce </a:t>
            </a:r>
            <a:r>
              <a:rPr lang="en-US"/>
              <a:t>authentication attempts</a:t>
            </a:r>
            <a:endParaRPr lang="en-US" dirty="0"/>
          </a:p>
        </p:txBody>
      </p:sp>
    </p:spTree>
    <p:extLst>
      <p:ext uri="{BB962C8B-B14F-4D97-AF65-F5344CB8AC3E}">
        <p14:creationId xmlns:p14="http://schemas.microsoft.com/office/powerpoint/2010/main" val="3568254819"/>
      </p:ext>
    </p:extLst>
  </p:cSld>
  <p:clrMapOvr>
    <a:masterClrMapping/>
  </p:clrMapOvr>
</p:sld>
</file>

<file path=ppt/theme/theme1.xml><?xml version="1.0" encoding="utf-8"?>
<a:theme xmlns:a="http://schemas.openxmlformats.org/drawingml/2006/main" name="IT66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a:bodyPr>
      <a:lstStyle>
        <a:defPPr>
          <a:defRPr sz="2400" dirty="0" smtClean="0"/>
        </a:defPPr>
      </a:lstStyle>
    </a:txDef>
  </a:objectDefaults>
  <a:extraClrSchemeLst/>
  <a:extLst>
    <a:ext uri="{05A4C25C-085E-4340-85A3-A5531E510DB2}">
      <thm15:themeFamily xmlns:thm15="http://schemas.microsoft.com/office/thememl/2012/main" name="Presentation21" id="{E6424F00-CB15-469C-8ED9-E12AE889829C}" vid="{5DE17743-287A-437B-9EC9-957D32FAF4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8B0CB13E69F42B54D3DE424488AFE" ma:contentTypeVersion="13" ma:contentTypeDescription="Create a new document." ma:contentTypeScope="" ma:versionID="c580b450af3975084ea9d9a74b1aa1c3">
  <xsd:schema xmlns:xsd="http://www.w3.org/2001/XMLSchema" xmlns:xs="http://www.w3.org/2001/XMLSchema" xmlns:p="http://schemas.microsoft.com/office/2006/metadata/properties" xmlns:ns3="6e27e843-6876-4ec5-817f-dbc394bc1606" xmlns:ns4="1ea98ed5-bdea-415e-9a90-b2f6afa71452" targetNamespace="http://schemas.microsoft.com/office/2006/metadata/properties" ma:root="true" ma:fieldsID="ee979d553edbfea5e3efbc24595909db" ns3:_="" ns4:_="">
    <xsd:import namespace="6e27e843-6876-4ec5-817f-dbc394bc1606"/>
    <xsd:import namespace="1ea98ed5-bdea-415e-9a90-b2f6afa71452"/>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Tags" minOccurs="0"/>
                <xsd:element ref="ns3:MediaServiceDateTaken"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7e843-6876-4ec5-817f-dbc394bc16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a98ed5-bdea-415e-9a90-b2f6afa71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2F2E2A-6D82-4B29-B9EA-9BB67068F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27e843-6876-4ec5-817f-dbc394bc1606"/>
    <ds:schemaRef ds:uri="1ea98ed5-bdea-415e-9a90-b2f6afa714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9EDA2D-2D25-4C9B-B388-2626A106A5DE}">
  <ds:schemaRefs>
    <ds:schemaRef ds:uri="http://schemas.microsoft.com/sharepoint/v3/contenttype/forms"/>
  </ds:schemaRefs>
</ds:datastoreItem>
</file>

<file path=customXml/itemProps3.xml><?xml version="1.0" encoding="utf-8"?>
<ds:datastoreItem xmlns:ds="http://schemas.openxmlformats.org/officeDocument/2006/customXml" ds:itemID="{2DB4A837-8F3B-4881-BE2E-1CD30F9388A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UNH-lecture-template</Template>
  <TotalTime>755</TotalTime>
  <Words>5288</Words>
  <Application>Microsoft Office PowerPoint</Application>
  <PresentationFormat>Widescreen</PresentationFormat>
  <Paragraphs>468</Paragraphs>
  <Slides>61</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IT666</vt:lpstr>
      <vt:lpstr>PowerPoint Presentation</vt:lpstr>
      <vt:lpstr>Phishing rate prior to training</vt:lpstr>
      <vt:lpstr>..after training</vt:lpstr>
      <vt:lpstr>Email - SPF</vt:lpstr>
      <vt:lpstr>Email – DKIM</vt:lpstr>
      <vt:lpstr>PowerPoint Presentation</vt:lpstr>
      <vt:lpstr>Do you have a right to privacy?</vt:lpstr>
      <vt:lpstr>History: US laws started as crypto = munitions</vt:lpstr>
      <vt:lpstr>Physical vs. Virtual is unresolved</vt:lpstr>
      <vt:lpstr>Disconnection of data collection and privacy</vt:lpstr>
      <vt:lpstr>Privacy vs. Anonymity vs. Confidentiality</vt:lpstr>
      <vt:lpstr>Personally Identifiable Information (examples)</vt:lpstr>
      <vt:lpstr>A.K.A.</vt:lpstr>
      <vt:lpstr>Internet laws are evolving</vt:lpstr>
      <vt:lpstr>HIPAA–Health Info. Privacy &amp; Accountability Act</vt:lpstr>
      <vt:lpstr>FERPA- Family Educational Rights and Privacy Act</vt:lpstr>
      <vt:lpstr>Sarbanes-Oxley</vt:lpstr>
      <vt:lpstr>Gramm-Leach-Bliley</vt:lpstr>
      <vt:lpstr>PCI-DSS:Payment Card Industry Data Security Standard</vt:lpstr>
      <vt:lpstr>General Data Protection Regulation (GDPR)</vt:lpstr>
      <vt:lpstr>GDPR concerns</vt:lpstr>
      <vt:lpstr>EU - General Data Privacy Reg (GDPR)</vt:lpstr>
      <vt:lpstr>California Consumer Protection Act (CCPA)</vt:lpstr>
      <vt:lpstr>NATO Cyberspace</vt:lpstr>
      <vt:lpstr>Collecting and Processing Sensitive Data </vt:lpstr>
      <vt:lpstr>Collecting and Processing Personal Data </vt:lpstr>
      <vt:lpstr>Foundational Privacy Tenets</vt:lpstr>
      <vt:lpstr>The Rights of EU Residents </vt:lpstr>
      <vt:lpstr>CCPA Rights</vt:lpstr>
      <vt:lpstr>PII Principals</vt:lpstr>
      <vt:lpstr>Equifax: Does the promised service uphold privacy?</vt:lpstr>
      <vt:lpstr>Categorize PII</vt:lpstr>
      <vt:lpstr>Windows 10 Privacy</vt:lpstr>
      <vt:lpstr>Windows 10 good or bad?</vt:lpstr>
      <vt:lpstr>Controls</vt:lpstr>
      <vt:lpstr>How to Minimize PII Usage and Replication</vt:lpstr>
      <vt:lpstr>Legal Domains</vt:lpstr>
      <vt:lpstr>Federal Laws</vt:lpstr>
      <vt:lpstr>PowerPoint Presentation</vt:lpstr>
      <vt:lpstr>PowerPoint Presentation</vt:lpstr>
      <vt:lpstr>Regulatory Complexity</vt:lpstr>
      <vt:lpstr>Privacy and IP Protection</vt:lpstr>
      <vt:lpstr>Cybersecurity Risks</vt:lpstr>
      <vt:lpstr>PowerPoint Presentation</vt:lpstr>
      <vt:lpstr>Capitalize on Interest by Senior Executives</vt:lpstr>
      <vt:lpstr>Segment and Target Employee Population</vt:lpstr>
      <vt:lpstr>Types of Training</vt:lpstr>
      <vt:lpstr>Why companies want security trained employees</vt:lpstr>
      <vt:lpstr>Why companies embrace training</vt:lpstr>
      <vt:lpstr>Make Greater Use of Incentives</vt:lpstr>
      <vt:lpstr>PowerPoint Presentation</vt:lpstr>
      <vt:lpstr>What is wrong?</vt:lpstr>
      <vt:lpstr>Northwestern University’s Password Requirements</vt:lpstr>
      <vt:lpstr>Are Policies Based on Evidence?</vt:lpstr>
      <vt:lpstr>NIST Password Guidance</vt:lpstr>
      <vt:lpstr>NIST Password Guidance (continued)</vt:lpstr>
      <vt:lpstr>NIST Password Guidance (continued)</vt:lpstr>
      <vt:lpstr>NIST Password Guidance (continued)</vt:lpstr>
      <vt:lpstr>Min. Required Password Entropy</vt:lpstr>
      <vt:lpstr>Browsers Borrow Usability Features</vt:lpstr>
      <vt:lpstr>Security as an Enabler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Graf</dc:creator>
  <cp:lastModifiedBy>Ken Graf</cp:lastModifiedBy>
  <cp:revision>8</cp:revision>
  <cp:lastPrinted>2015-03-25T21:04:44Z</cp:lastPrinted>
  <dcterms:created xsi:type="dcterms:W3CDTF">2020-01-07T22:06:18Z</dcterms:created>
  <dcterms:modified xsi:type="dcterms:W3CDTF">2020-02-01T23:20:17Z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0x010100BD48B0CB13E69F42B54D3DE424488AFE</vt:lpwstr>
  </property>
</Properties>
</file>