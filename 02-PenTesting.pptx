
<file path=[Content_Types].xml><?xml version="1.0" encoding="utf-8"?>
<Types xmlns="http://schemas.openxmlformats.org/package/2006/content-types">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4"/>
  </p:sldMasterIdLst>
  <p:notesMasterIdLst>
    <p:notesMasterId r:id="rId29"/>
  </p:notesMasterIdLst>
  <p:sldIdLst>
    <p:sldId id="267" r:id="rId5"/>
    <p:sldId id="259" r:id="rId6"/>
    <p:sldId id="260" r:id="rId7"/>
    <p:sldId id="283" r:id="rId8"/>
    <p:sldId id="261" r:id="rId9"/>
    <p:sldId id="262" r:id="rId10"/>
    <p:sldId id="264" r:id="rId11"/>
    <p:sldId id="265" r:id="rId12"/>
    <p:sldId id="269" r:id="rId13"/>
    <p:sldId id="274" r:id="rId14"/>
    <p:sldId id="276" r:id="rId15"/>
    <p:sldId id="279" r:id="rId16"/>
    <p:sldId id="280" r:id="rId17"/>
    <p:sldId id="277" r:id="rId18"/>
    <p:sldId id="278" r:id="rId19"/>
    <p:sldId id="268" r:id="rId20"/>
    <p:sldId id="337" r:id="rId21"/>
    <p:sldId id="332" r:id="rId22"/>
    <p:sldId id="333" r:id="rId23"/>
    <p:sldId id="284" r:id="rId24"/>
    <p:sldId id="334" r:id="rId25"/>
    <p:sldId id="335" r:id="rId26"/>
    <p:sldId id="336" r:id="rId27"/>
    <p:sldId id="285" r:id="rId28"/>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F4B9D8-BB65-CD89-782D-AF144868D9CB}" v="2" dt="2020-02-05T21:20:34.8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8" autoAdjust="0"/>
    <p:restoredTop sz="96532" autoAdjust="0"/>
  </p:normalViewPr>
  <p:slideViewPr>
    <p:cSldViewPr>
      <p:cViewPr varScale="1">
        <p:scale>
          <a:sx n="67" d="100"/>
          <a:sy n="67" d="100"/>
        </p:scale>
        <p:origin x="84" y="456"/>
      </p:cViewPr>
      <p:guideLst>
        <p:guide orient="horz" pos="2160"/>
        <p:guide pos="3840"/>
      </p:guideLst>
    </p:cSldViewPr>
  </p:slideViewPr>
  <p:outlineViewPr>
    <p:cViewPr>
      <p:scale>
        <a:sx n="33" d="100"/>
        <a:sy n="33" d="100"/>
      </p:scale>
      <p:origin x="0" y="-5514"/>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85" d="100"/>
          <a:sy n="85" d="100"/>
        </p:scale>
        <p:origin x="1116" y="6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nneth Graf" userId="d1890dd4-deb6-4a9b-a156-5113ac77bda8" providerId="ADAL" clId="{C0C03189-B161-4753-93B5-2716D0CE7EEA}"/>
    <pc:docChg chg="custSel addSld delSld modSld sldOrd">
      <pc:chgData name="Kenneth Graf" userId="d1890dd4-deb6-4a9b-a156-5113ac77bda8" providerId="ADAL" clId="{C0C03189-B161-4753-93B5-2716D0CE7EEA}" dt="2020-02-01T19:44:00.325" v="632" actId="47"/>
      <pc:docMkLst>
        <pc:docMk/>
      </pc:docMkLst>
      <pc:sldChg chg="add">
        <pc:chgData name="Kenneth Graf" userId="d1890dd4-deb6-4a9b-a156-5113ac77bda8" providerId="ADAL" clId="{C0C03189-B161-4753-93B5-2716D0CE7EEA}" dt="2020-01-08T20:46:32.033" v="0"/>
        <pc:sldMkLst>
          <pc:docMk/>
          <pc:sldMk cId="821840071" sldId="259"/>
        </pc:sldMkLst>
      </pc:sldChg>
      <pc:sldChg chg="add">
        <pc:chgData name="Kenneth Graf" userId="d1890dd4-deb6-4a9b-a156-5113ac77bda8" providerId="ADAL" clId="{C0C03189-B161-4753-93B5-2716D0CE7EEA}" dt="2020-01-08T20:46:32.033" v="0"/>
        <pc:sldMkLst>
          <pc:docMk/>
          <pc:sldMk cId="3662304031" sldId="260"/>
        </pc:sldMkLst>
      </pc:sldChg>
      <pc:sldChg chg="add">
        <pc:chgData name="Kenneth Graf" userId="d1890dd4-deb6-4a9b-a156-5113ac77bda8" providerId="ADAL" clId="{C0C03189-B161-4753-93B5-2716D0CE7EEA}" dt="2020-01-08T20:46:32.033" v="0"/>
        <pc:sldMkLst>
          <pc:docMk/>
          <pc:sldMk cId="1329737345" sldId="261"/>
        </pc:sldMkLst>
      </pc:sldChg>
      <pc:sldChg chg="add">
        <pc:chgData name="Kenneth Graf" userId="d1890dd4-deb6-4a9b-a156-5113ac77bda8" providerId="ADAL" clId="{C0C03189-B161-4753-93B5-2716D0CE7EEA}" dt="2020-01-08T20:46:32.033" v="0"/>
        <pc:sldMkLst>
          <pc:docMk/>
          <pc:sldMk cId="24861803" sldId="262"/>
        </pc:sldMkLst>
      </pc:sldChg>
      <pc:sldChg chg="modSp add">
        <pc:chgData name="Kenneth Graf" userId="d1890dd4-deb6-4a9b-a156-5113ac77bda8" providerId="ADAL" clId="{C0C03189-B161-4753-93B5-2716D0CE7EEA}" dt="2020-01-08T20:46:40.792" v="2" actId="27636"/>
        <pc:sldMkLst>
          <pc:docMk/>
          <pc:sldMk cId="1633741448" sldId="264"/>
        </pc:sldMkLst>
        <pc:spChg chg="mod">
          <ac:chgData name="Kenneth Graf" userId="d1890dd4-deb6-4a9b-a156-5113ac77bda8" providerId="ADAL" clId="{C0C03189-B161-4753-93B5-2716D0CE7EEA}" dt="2020-01-08T20:46:40.792" v="2" actId="27636"/>
          <ac:spMkLst>
            <pc:docMk/>
            <pc:sldMk cId="1633741448" sldId="264"/>
            <ac:spMk id="3" creationId="{00000000-0000-0000-0000-000000000000}"/>
          </ac:spMkLst>
        </pc:spChg>
      </pc:sldChg>
      <pc:sldChg chg="modSp add">
        <pc:chgData name="Kenneth Graf" userId="d1890dd4-deb6-4a9b-a156-5113ac77bda8" providerId="ADAL" clId="{C0C03189-B161-4753-93B5-2716D0CE7EEA}" dt="2020-02-01T19:42:30.529" v="628" actId="20577"/>
        <pc:sldMkLst>
          <pc:docMk/>
          <pc:sldMk cId="3781191585" sldId="265"/>
        </pc:sldMkLst>
        <pc:spChg chg="mod">
          <ac:chgData name="Kenneth Graf" userId="d1890dd4-deb6-4a9b-a156-5113ac77bda8" providerId="ADAL" clId="{C0C03189-B161-4753-93B5-2716D0CE7EEA}" dt="2020-02-01T19:42:30.529" v="628" actId="20577"/>
          <ac:spMkLst>
            <pc:docMk/>
            <pc:sldMk cId="3781191585" sldId="265"/>
            <ac:spMk id="3" creationId="{00000000-0000-0000-0000-000000000000}"/>
          </ac:spMkLst>
        </pc:spChg>
      </pc:sldChg>
      <pc:sldChg chg="modSp add del">
        <pc:chgData name="Kenneth Graf" userId="d1890dd4-deb6-4a9b-a156-5113ac77bda8" providerId="ADAL" clId="{C0C03189-B161-4753-93B5-2716D0CE7EEA}" dt="2020-01-19T04:34:37.232" v="301" actId="47"/>
        <pc:sldMkLst>
          <pc:docMk/>
          <pc:sldMk cId="942355885" sldId="266"/>
        </pc:sldMkLst>
        <pc:spChg chg="mod">
          <ac:chgData name="Kenneth Graf" userId="d1890dd4-deb6-4a9b-a156-5113ac77bda8" providerId="ADAL" clId="{C0C03189-B161-4753-93B5-2716D0CE7EEA}" dt="2020-01-09T05:30:41.434" v="288" actId="27636"/>
          <ac:spMkLst>
            <pc:docMk/>
            <pc:sldMk cId="942355885" sldId="266"/>
            <ac:spMk id="3" creationId="{00000000-0000-0000-0000-000000000000}"/>
          </ac:spMkLst>
        </pc:spChg>
      </pc:sldChg>
      <pc:sldChg chg="modSp add del">
        <pc:chgData name="Kenneth Graf" userId="d1890dd4-deb6-4a9b-a156-5113ac77bda8" providerId="ADAL" clId="{C0C03189-B161-4753-93B5-2716D0CE7EEA}" dt="2020-01-08T20:49:54.648" v="246" actId="47"/>
        <pc:sldMkLst>
          <pc:docMk/>
          <pc:sldMk cId="1298418403" sldId="268"/>
        </pc:sldMkLst>
        <pc:spChg chg="mod">
          <ac:chgData name="Kenneth Graf" userId="d1890dd4-deb6-4a9b-a156-5113ac77bda8" providerId="ADAL" clId="{C0C03189-B161-4753-93B5-2716D0CE7EEA}" dt="2020-01-08T20:46:32.111" v="1" actId="27636"/>
          <ac:spMkLst>
            <pc:docMk/>
            <pc:sldMk cId="1298418403" sldId="268"/>
            <ac:spMk id="3" creationId="{00000000-0000-0000-0000-000000000000}"/>
          </ac:spMkLst>
        </pc:spChg>
      </pc:sldChg>
      <pc:sldChg chg="modSp add">
        <pc:chgData name="Kenneth Graf" userId="d1890dd4-deb6-4a9b-a156-5113ac77bda8" providerId="ADAL" clId="{C0C03189-B161-4753-93B5-2716D0CE7EEA}" dt="2020-01-09T05:30:41.446" v="290" actId="27636"/>
        <pc:sldMkLst>
          <pc:docMk/>
          <pc:sldMk cId="2371068049" sldId="268"/>
        </pc:sldMkLst>
        <pc:spChg chg="mod">
          <ac:chgData name="Kenneth Graf" userId="d1890dd4-deb6-4a9b-a156-5113ac77bda8" providerId="ADAL" clId="{C0C03189-B161-4753-93B5-2716D0CE7EEA}" dt="2020-01-09T05:30:41.446" v="290" actId="27636"/>
          <ac:spMkLst>
            <pc:docMk/>
            <pc:sldMk cId="2371068049" sldId="268"/>
            <ac:spMk id="3" creationId="{00000000-0000-0000-0000-000000000000}"/>
          </ac:spMkLst>
        </pc:spChg>
      </pc:sldChg>
      <pc:sldChg chg="add">
        <pc:chgData name="Kenneth Graf" userId="d1890dd4-deb6-4a9b-a156-5113ac77bda8" providerId="ADAL" clId="{C0C03189-B161-4753-93B5-2716D0CE7EEA}" dt="2020-01-08T20:46:32.033" v="0"/>
        <pc:sldMkLst>
          <pc:docMk/>
          <pc:sldMk cId="2434467325" sldId="269"/>
        </pc:sldMkLst>
      </pc:sldChg>
      <pc:sldChg chg="modSp add">
        <pc:chgData name="Kenneth Graf" userId="d1890dd4-deb6-4a9b-a156-5113ac77bda8" providerId="ADAL" clId="{C0C03189-B161-4753-93B5-2716D0CE7EEA}" dt="2020-02-01T19:43:11.847" v="631" actId="167"/>
        <pc:sldMkLst>
          <pc:docMk/>
          <pc:sldMk cId="2377607290" sldId="274"/>
        </pc:sldMkLst>
        <pc:picChg chg="mod ord">
          <ac:chgData name="Kenneth Graf" userId="d1890dd4-deb6-4a9b-a156-5113ac77bda8" providerId="ADAL" clId="{C0C03189-B161-4753-93B5-2716D0CE7EEA}" dt="2020-02-01T19:43:11.847" v="631" actId="167"/>
          <ac:picMkLst>
            <pc:docMk/>
            <pc:sldMk cId="2377607290" sldId="274"/>
            <ac:picMk id="4" creationId="{00000000-0000-0000-0000-000000000000}"/>
          </ac:picMkLst>
        </pc:picChg>
      </pc:sldChg>
      <pc:sldChg chg="addSp delSp modSp add del">
        <pc:chgData name="Kenneth Graf" userId="d1890dd4-deb6-4a9b-a156-5113ac77bda8" providerId="ADAL" clId="{C0C03189-B161-4753-93B5-2716D0CE7EEA}" dt="2020-01-19T04:34:41.932" v="302" actId="47"/>
        <pc:sldMkLst>
          <pc:docMk/>
          <pc:sldMk cId="3486261797" sldId="275"/>
        </pc:sldMkLst>
        <pc:spChg chg="add del mod">
          <ac:chgData name="Kenneth Graf" userId="d1890dd4-deb6-4a9b-a156-5113ac77bda8" providerId="ADAL" clId="{C0C03189-B161-4753-93B5-2716D0CE7EEA}" dt="2020-01-09T05:30:50.591" v="293"/>
          <ac:spMkLst>
            <pc:docMk/>
            <pc:sldMk cId="3486261797" sldId="275"/>
            <ac:spMk id="2" creationId="{81E59C96-6274-459A-A0F1-222C313CFDDD}"/>
          </ac:spMkLst>
        </pc:spChg>
        <pc:spChg chg="add mod">
          <ac:chgData name="Kenneth Graf" userId="d1890dd4-deb6-4a9b-a156-5113ac77bda8" providerId="ADAL" clId="{C0C03189-B161-4753-93B5-2716D0CE7EEA}" dt="2020-01-09T05:30:50.591" v="293"/>
          <ac:spMkLst>
            <pc:docMk/>
            <pc:sldMk cId="3486261797" sldId="275"/>
            <ac:spMk id="3" creationId="{F263CA2D-6971-4E48-9A51-09AFC256819B}"/>
          </ac:spMkLst>
        </pc:spChg>
        <pc:spChg chg="del">
          <ac:chgData name="Kenneth Graf" userId="d1890dd4-deb6-4a9b-a156-5113ac77bda8" providerId="ADAL" clId="{C0C03189-B161-4753-93B5-2716D0CE7EEA}" dt="2020-01-09T05:30:45.481" v="291"/>
          <ac:spMkLst>
            <pc:docMk/>
            <pc:sldMk cId="3486261797" sldId="275"/>
            <ac:spMk id="4" creationId="{00000000-0000-0000-0000-000000000000}"/>
          </ac:spMkLst>
        </pc:spChg>
      </pc:sldChg>
      <pc:sldChg chg="modSp add">
        <pc:chgData name="Kenneth Graf" userId="d1890dd4-deb6-4a9b-a156-5113ac77bda8" providerId="ADAL" clId="{C0C03189-B161-4753-93B5-2716D0CE7EEA}" dt="2020-01-08T20:50:24.194" v="251" actId="1076"/>
        <pc:sldMkLst>
          <pc:docMk/>
          <pc:sldMk cId="1887115412" sldId="276"/>
        </pc:sldMkLst>
        <pc:picChg chg="mod ord">
          <ac:chgData name="Kenneth Graf" userId="d1890dd4-deb6-4a9b-a156-5113ac77bda8" providerId="ADAL" clId="{C0C03189-B161-4753-93B5-2716D0CE7EEA}" dt="2020-01-08T20:50:24.194" v="251" actId="1076"/>
          <ac:picMkLst>
            <pc:docMk/>
            <pc:sldMk cId="1887115412" sldId="276"/>
            <ac:picMk id="4" creationId="{00000000-0000-0000-0000-000000000000}"/>
          </ac:picMkLst>
        </pc:picChg>
      </pc:sldChg>
      <pc:sldChg chg="modSp add">
        <pc:chgData name="Kenneth Graf" userId="d1890dd4-deb6-4a9b-a156-5113ac77bda8" providerId="ADAL" clId="{C0C03189-B161-4753-93B5-2716D0CE7EEA}" dt="2020-01-08T20:46:40.804" v="3" actId="27636"/>
        <pc:sldMkLst>
          <pc:docMk/>
          <pc:sldMk cId="3794759631" sldId="277"/>
        </pc:sldMkLst>
        <pc:spChg chg="mod">
          <ac:chgData name="Kenneth Graf" userId="d1890dd4-deb6-4a9b-a156-5113ac77bda8" providerId="ADAL" clId="{C0C03189-B161-4753-93B5-2716D0CE7EEA}" dt="2020-01-08T20:46:40.804" v="3" actId="27636"/>
          <ac:spMkLst>
            <pc:docMk/>
            <pc:sldMk cId="3794759631" sldId="277"/>
            <ac:spMk id="3" creationId="{00000000-0000-0000-0000-000000000000}"/>
          </ac:spMkLst>
        </pc:spChg>
      </pc:sldChg>
      <pc:sldChg chg="add">
        <pc:chgData name="Kenneth Graf" userId="d1890dd4-deb6-4a9b-a156-5113ac77bda8" providerId="ADAL" clId="{C0C03189-B161-4753-93B5-2716D0CE7EEA}" dt="2020-01-08T20:46:32.033" v="0"/>
        <pc:sldMkLst>
          <pc:docMk/>
          <pc:sldMk cId="3767314171" sldId="278"/>
        </pc:sldMkLst>
      </pc:sldChg>
      <pc:sldChg chg="modSp add">
        <pc:chgData name="Kenneth Graf" userId="d1890dd4-deb6-4a9b-a156-5113ac77bda8" providerId="ADAL" clId="{C0C03189-B161-4753-93B5-2716D0CE7EEA}" dt="2020-01-19T04:45:31.863" v="536" actId="20577"/>
        <pc:sldMkLst>
          <pc:docMk/>
          <pc:sldMk cId="1458558083" sldId="279"/>
        </pc:sldMkLst>
        <pc:spChg chg="mod">
          <ac:chgData name="Kenneth Graf" userId="d1890dd4-deb6-4a9b-a156-5113ac77bda8" providerId="ADAL" clId="{C0C03189-B161-4753-93B5-2716D0CE7EEA}" dt="2020-01-08T20:51:20.397" v="282" actId="20577"/>
          <ac:spMkLst>
            <pc:docMk/>
            <pc:sldMk cId="1458558083" sldId="279"/>
            <ac:spMk id="2" creationId="{18CCDEAE-91B1-4DE4-A635-58CC3EB34667}"/>
          </ac:spMkLst>
        </pc:spChg>
        <pc:spChg chg="mod">
          <ac:chgData name="Kenneth Graf" userId="d1890dd4-deb6-4a9b-a156-5113ac77bda8" providerId="ADAL" clId="{C0C03189-B161-4753-93B5-2716D0CE7EEA}" dt="2020-01-19T04:45:31.863" v="536" actId="20577"/>
          <ac:spMkLst>
            <pc:docMk/>
            <pc:sldMk cId="1458558083" sldId="279"/>
            <ac:spMk id="3" creationId="{30792AA5-3901-4F1E-BBD6-A2E406C1A134}"/>
          </ac:spMkLst>
        </pc:spChg>
      </pc:sldChg>
      <pc:sldChg chg="addSp delSp modSp add">
        <pc:chgData name="Kenneth Graf" userId="d1890dd4-deb6-4a9b-a156-5113ac77bda8" providerId="ADAL" clId="{C0C03189-B161-4753-93B5-2716D0CE7EEA}" dt="2020-01-19T04:41:10.068" v="340" actId="931"/>
        <pc:sldMkLst>
          <pc:docMk/>
          <pc:sldMk cId="1831638851" sldId="280"/>
        </pc:sldMkLst>
        <pc:spChg chg="mod">
          <ac:chgData name="Kenneth Graf" userId="d1890dd4-deb6-4a9b-a156-5113ac77bda8" providerId="ADAL" clId="{C0C03189-B161-4753-93B5-2716D0CE7EEA}" dt="2020-01-19T04:37:24.205" v="339"/>
          <ac:spMkLst>
            <pc:docMk/>
            <pc:sldMk cId="1831638851" sldId="280"/>
            <ac:spMk id="2" creationId="{2D8293BA-E6D9-4AD1-BB96-46770C82DC71}"/>
          </ac:spMkLst>
        </pc:spChg>
        <pc:spChg chg="del">
          <ac:chgData name="Kenneth Graf" userId="d1890dd4-deb6-4a9b-a156-5113ac77bda8" providerId="ADAL" clId="{C0C03189-B161-4753-93B5-2716D0CE7EEA}" dt="2020-01-19T04:41:10.068" v="340" actId="931"/>
          <ac:spMkLst>
            <pc:docMk/>
            <pc:sldMk cId="1831638851" sldId="280"/>
            <ac:spMk id="3" creationId="{BE638FC9-27EB-453E-93C2-F14040DD63A3}"/>
          </ac:spMkLst>
        </pc:spChg>
        <pc:picChg chg="add mod">
          <ac:chgData name="Kenneth Graf" userId="d1890dd4-deb6-4a9b-a156-5113ac77bda8" providerId="ADAL" clId="{C0C03189-B161-4753-93B5-2716D0CE7EEA}" dt="2020-01-19T04:41:10.068" v="340" actId="931"/>
          <ac:picMkLst>
            <pc:docMk/>
            <pc:sldMk cId="1831638851" sldId="280"/>
            <ac:picMk id="5" creationId="{C06393FE-752E-4832-A6B1-E28E4094A7E6}"/>
          </ac:picMkLst>
        </pc:picChg>
      </pc:sldChg>
      <pc:sldChg chg="add del">
        <pc:chgData name="Kenneth Graf" userId="d1890dd4-deb6-4a9b-a156-5113ac77bda8" providerId="ADAL" clId="{C0C03189-B161-4753-93B5-2716D0CE7EEA}" dt="2020-01-19T04:34:20.459" v="295" actId="47"/>
        <pc:sldMkLst>
          <pc:docMk/>
          <pc:sldMk cId="2631577984" sldId="281"/>
        </pc:sldMkLst>
      </pc:sldChg>
      <pc:sldChg chg="add del">
        <pc:chgData name="Kenneth Graf" userId="d1890dd4-deb6-4a9b-a156-5113ac77bda8" providerId="ADAL" clId="{C0C03189-B161-4753-93B5-2716D0CE7EEA}" dt="2020-01-19T04:34:22.632" v="296" actId="47"/>
        <pc:sldMkLst>
          <pc:docMk/>
          <pc:sldMk cId="155065143" sldId="282"/>
        </pc:sldMkLst>
      </pc:sldChg>
      <pc:sldChg chg="add del">
        <pc:chgData name="Kenneth Graf" userId="d1890dd4-deb6-4a9b-a156-5113ac77bda8" providerId="ADAL" clId="{C0C03189-B161-4753-93B5-2716D0CE7EEA}" dt="2020-01-19T04:34:24.216" v="297" actId="47"/>
        <pc:sldMkLst>
          <pc:docMk/>
          <pc:sldMk cId="410970583" sldId="283"/>
        </pc:sldMkLst>
      </pc:sldChg>
      <pc:sldChg chg="modSp add">
        <pc:chgData name="Kenneth Graf" userId="d1890dd4-deb6-4a9b-a156-5113ac77bda8" providerId="ADAL" clId="{C0C03189-B161-4753-93B5-2716D0CE7EEA}" dt="2020-01-19T15:20:39.528" v="606" actId="6549"/>
        <pc:sldMkLst>
          <pc:docMk/>
          <pc:sldMk cId="2340052965" sldId="283"/>
        </pc:sldMkLst>
        <pc:spChg chg="mod">
          <ac:chgData name="Kenneth Graf" userId="d1890dd4-deb6-4a9b-a156-5113ac77bda8" providerId="ADAL" clId="{C0C03189-B161-4753-93B5-2716D0CE7EEA}" dt="2020-01-19T15:20:39.528" v="606" actId="6549"/>
          <ac:spMkLst>
            <pc:docMk/>
            <pc:sldMk cId="2340052965" sldId="283"/>
            <ac:spMk id="2" creationId="{00000000-0000-0000-0000-000000000000}"/>
          </ac:spMkLst>
        </pc:spChg>
      </pc:sldChg>
      <pc:sldChg chg="add del">
        <pc:chgData name="Kenneth Graf" userId="d1890dd4-deb6-4a9b-a156-5113ac77bda8" providerId="ADAL" clId="{C0C03189-B161-4753-93B5-2716D0CE7EEA}" dt="2020-01-19T04:34:25.041" v="298" actId="47"/>
        <pc:sldMkLst>
          <pc:docMk/>
          <pc:sldMk cId="74699524" sldId="284"/>
        </pc:sldMkLst>
      </pc:sldChg>
      <pc:sldChg chg="modSp add">
        <pc:chgData name="Kenneth Graf" userId="d1890dd4-deb6-4a9b-a156-5113ac77bda8" providerId="ADAL" clId="{C0C03189-B161-4753-93B5-2716D0CE7EEA}" dt="2020-01-19T04:55:27.306" v="561" actId="14100"/>
        <pc:sldMkLst>
          <pc:docMk/>
          <pc:sldMk cId="2683788707" sldId="284"/>
        </pc:sldMkLst>
        <pc:picChg chg="mod">
          <ac:chgData name="Kenneth Graf" userId="d1890dd4-deb6-4a9b-a156-5113ac77bda8" providerId="ADAL" clId="{C0C03189-B161-4753-93B5-2716D0CE7EEA}" dt="2020-01-19T04:55:27.306" v="561" actId="14100"/>
          <ac:picMkLst>
            <pc:docMk/>
            <pc:sldMk cId="2683788707" sldId="284"/>
            <ac:picMk id="8" creationId="{2B372C85-DF9F-4EF8-9E8D-433E8F1B718D}"/>
          </ac:picMkLst>
        </pc:picChg>
      </pc:sldChg>
      <pc:sldChg chg="modSp add del">
        <pc:chgData name="Kenneth Graf" userId="d1890dd4-deb6-4a9b-a156-5113ac77bda8" providerId="ADAL" clId="{C0C03189-B161-4753-93B5-2716D0CE7EEA}" dt="2020-01-19T04:34:26.720" v="299" actId="47"/>
        <pc:sldMkLst>
          <pc:docMk/>
          <pc:sldMk cId="121876195" sldId="285"/>
        </pc:sldMkLst>
        <pc:spChg chg="mod">
          <ac:chgData name="Kenneth Graf" userId="d1890dd4-deb6-4a9b-a156-5113ac77bda8" providerId="ADAL" clId="{C0C03189-B161-4753-93B5-2716D0CE7EEA}" dt="2020-01-09T05:30:45.514" v="292" actId="27636"/>
          <ac:spMkLst>
            <pc:docMk/>
            <pc:sldMk cId="121876195" sldId="285"/>
            <ac:spMk id="3" creationId="{00000000-0000-0000-0000-000000000000}"/>
          </ac:spMkLst>
        </pc:spChg>
      </pc:sldChg>
      <pc:sldChg chg="add">
        <pc:chgData name="Kenneth Graf" userId="d1890dd4-deb6-4a9b-a156-5113ac77bda8" providerId="ADAL" clId="{C0C03189-B161-4753-93B5-2716D0CE7EEA}" dt="2020-01-19T04:54:32.571" v="537"/>
        <pc:sldMkLst>
          <pc:docMk/>
          <pc:sldMk cId="1241432961" sldId="285"/>
        </pc:sldMkLst>
      </pc:sldChg>
      <pc:sldChg chg="add del">
        <pc:chgData name="Kenneth Graf" userId="d1890dd4-deb6-4a9b-a156-5113ac77bda8" providerId="ADAL" clId="{C0C03189-B161-4753-93B5-2716D0CE7EEA}" dt="2020-01-19T04:34:28.240" v="300" actId="47"/>
        <pc:sldMkLst>
          <pc:docMk/>
          <pc:sldMk cId="2257591854" sldId="286"/>
        </pc:sldMkLst>
      </pc:sldChg>
      <pc:sldChg chg="modSp add del">
        <pc:chgData name="Kenneth Graf" userId="d1890dd4-deb6-4a9b-a156-5113ac77bda8" providerId="ADAL" clId="{C0C03189-B161-4753-93B5-2716D0CE7EEA}" dt="2020-01-19T04:34:57.623" v="303" actId="47"/>
        <pc:sldMkLst>
          <pc:docMk/>
          <pc:sldMk cId="1298418403" sldId="287"/>
        </pc:sldMkLst>
        <pc:spChg chg="mod">
          <ac:chgData name="Kenneth Graf" userId="d1890dd4-deb6-4a9b-a156-5113ac77bda8" providerId="ADAL" clId="{C0C03189-B161-4753-93B5-2716D0CE7EEA}" dt="2020-01-09T05:30:41.441" v="289" actId="27636"/>
          <ac:spMkLst>
            <pc:docMk/>
            <pc:sldMk cId="1298418403" sldId="287"/>
            <ac:spMk id="3" creationId="{00000000-0000-0000-0000-000000000000}"/>
          </ac:spMkLst>
        </pc:spChg>
      </pc:sldChg>
      <pc:sldChg chg="add del">
        <pc:chgData name="Kenneth Graf" userId="d1890dd4-deb6-4a9b-a156-5113ac77bda8" providerId="ADAL" clId="{C0C03189-B161-4753-93B5-2716D0CE7EEA}" dt="2020-01-19T04:34:12.055" v="294" actId="47"/>
        <pc:sldMkLst>
          <pc:docMk/>
          <pc:sldMk cId="1521363268" sldId="288"/>
        </pc:sldMkLst>
      </pc:sldChg>
      <pc:sldChg chg="add del">
        <pc:chgData name="Kenneth Graf" userId="d1890dd4-deb6-4a9b-a156-5113ac77bda8" providerId="ADAL" clId="{C0C03189-B161-4753-93B5-2716D0CE7EEA}" dt="2020-02-01T19:44:00.325" v="632" actId="47"/>
        <pc:sldMkLst>
          <pc:docMk/>
          <pc:sldMk cId="999736854" sldId="289"/>
        </pc:sldMkLst>
      </pc:sldChg>
      <pc:sldChg chg="add del">
        <pc:chgData name="Kenneth Graf" userId="d1890dd4-deb6-4a9b-a156-5113ac77bda8" providerId="ADAL" clId="{C0C03189-B161-4753-93B5-2716D0CE7EEA}" dt="2020-01-19T04:56:20.848" v="564" actId="47"/>
        <pc:sldMkLst>
          <pc:docMk/>
          <pc:sldMk cId="4176950490" sldId="290"/>
        </pc:sldMkLst>
      </pc:sldChg>
      <pc:sldChg chg="modSp add">
        <pc:chgData name="Kenneth Graf" userId="d1890dd4-deb6-4a9b-a156-5113ac77bda8" providerId="ADAL" clId="{C0C03189-B161-4753-93B5-2716D0CE7EEA}" dt="2020-01-19T04:55:05.499" v="559" actId="20577"/>
        <pc:sldMkLst>
          <pc:docMk/>
          <pc:sldMk cId="3060862333" sldId="332"/>
        </pc:sldMkLst>
        <pc:spChg chg="mod">
          <ac:chgData name="Kenneth Graf" userId="d1890dd4-deb6-4a9b-a156-5113ac77bda8" providerId="ADAL" clId="{C0C03189-B161-4753-93B5-2716D0CE7EEA}" dt="2020-01-19T04:55:05.499" v="559" actId="20577"/>
          <ac:spMkLst>
            <pc:docMk/>
            <pc:sldMk cId="3060862333" sldId="332"/>
            <ac:spMk id="2" creationId="{F414B74F-417D-48E1-8782-8E86C23643B1}"/>
          </ac:spMkLst>
        </pc:spChg>
      </pc:sldChg>
      <pc:sldChg chg="add">
        <pc:chgData name="Kenneth Graf" userId="d1890dd4-deb6-4a9b-a156-5113ac77bda8" providerId="ADAL" clId="{C0C03189-B161-4753-93B5-2716D0CE7EEA}" dt="2020-01-19T04:54:32.571" v="537"/>
        <pc:sldMkLst>
          <pc:docMk/>
          <pc:sldMk cId="2770323180" sldId="333"/>
        </pc:sldMkLst>
      </pc:sldChg>
      <pc:sldChg chg="add">
        <pc:chgData name="Kenneth Graf" userId="d1890dd4-deb6-4a9b-a156-5113ac77bda8" providerId="ADAL" clId="{C0C03189-B161-4753-93B5-2716D0CE7EEA}" dt="2020-01-19T04:54:32.571" v="537"/>
        <pc:sldMkLst>
          <pc:docMk/>
          <pc:sldMk cId="3787937310" sldId="334"/>
        </pc:sldMkLst>
      </pc:sldChg>
      <pc:sldChg chg="add">
        <pc:chgData name="Kenneth Graf" userId="d1890dd4-deb6-4a9b-a156-5113ac77bda8" providerId="ADAL" clId="{C0C03189-B161-4753-93B5-2716D0CE7EEA}" dt="2020-01-19T04:54:32.571" v="537"/>
        <pc:sldMkLst>
          <pc:docMk/>
          <pc:sldMk cId="1292164341" sldId="335"/>
        </pc:sldMkLst>
      </pc:sldChg>
      <pc:sldChg chg="add">
        <pc:chgData name="Kenneth Graf" userId="d1890dd4-deb6-4a9b-a156-5113ac77bda8" providerId="ADAL" clId="{C0C03189-B161-4753-93B5-2716D0CE7EEA}" dt="2020-01-19T04:54:32.571" v="537"/>
        <pc:sldMkLst>
          <pc:docMk/>
          <pc:sldMk cId="287758716" sldId="336"/>
        </pc:sldMkLst>
      </pc:sldChg>
      <pc:sldChg chg="add ord">
        <pc:chgData name="Kenneth Graf" userId="d1890dd4-deb6-4a9b-a156-5113ac77bda8" providerId="ADAL" clId="{C0C03189-B161-4753-93B5-2716D0CE7EEA}" dt="2020-01-19T04:56:13.624" v="563"/>
        <pc:sldMkLst>
          <pc:docMk/>
          <pc:sldMk cId="3575505853" sldId="337"/>
        </pc:sldMkLst>
      </pc:sldChg>
    </pc:docChg>
  </pc:docChgLst>
  <pc:docChgLst>
    <pc:chgData name="Graf, Kenneth" userId="S::kmh722@unh.edu::d1890dd4-deb6-4a9b-a156-5113ac77bda8" providerId="AD" clId="Web-{9AF4B9D8-BB65-CD89-782D-AF144868D9CB}"/>
    <pc:docChg chg="modSld sldOrd">
      <pc:chgData name="Graf, Kenneth" userId="S::kmh722@unh.edu::d1890dd4-deb6-4a9b-a156-5113ac77bda8" providerId="AD" clId="Web-{9AF4B9D8-BB65-CD89-782D-AF144868D9CB}" dt="2020-02-05T21:20:34.845" v="1" actId="1076"/>
      <pc:docMkLst>
        <pc:docMk/>
      </pc:docMkLst>
      <pc:sldChg chg="modSp">
        <pc:chgData name="Graf, Kenneth" userId="S::kmh722@unh.edu::d1890dd4-deb6-4a9b-a156-5113ac77bda8" providerId="AD" clId="Web-{9AF4B9D8-BB65-CD89-782D-AF144868D9CB}" dt="2020-02-05T21:20:34.845" v="1" actId="1076"/>
        <pc:sldMkLst>
          <pc:docMk/>
          <pc:sldMk cId="3662304031" sldId="260"/>
        </pc:sldMkLst>
        <pc:spChg chg="mod">
          <ac:chgData name="Graf, Kenneth" userId="S::kmh722@unh.edu::d1890dd4-deb6-4a9b-a156-5113ac77bda8" providerId="AD" clId="Web-{9AF4B9D8-BB65-CD89-782D-AF144868D9CB}" dt="2020-02-05T21:20:34.845" v="1" actId="1076"/>
          <ac:spMkLst>
            <pc:docMk/>
            <pc:sldMk cId="3662304031" sldId="260"/>
            <ac:spMk id="3" creationId="{00000000-0000-0000-0000-000000000000}"/>
          </ac:spMkLst>
        </pc:spChg>
      </pc:sldChg>
      <pc:sldChg chg="ord">
        <pc:chgData name="Graf, Kenneth" userId="S::kmh722@unh.edu::d1890dd4-deb6-4a9b-a156-5113ac77bda8" providerId="AD" clId="Web-{9AF4B9D8-BB65-CD89-782D-AF144868D9CB}" dt="2020-02-05T20:49:34.363" v="0"/>
        <pc:sldMkLst>
          <pc:docMk/>
          <pc:sldMk cId="2340052965" sldId="28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A8F3AA64-1AA2-40FC-9C4D-FF0C9CC41531}" type="datetimeFigureOut">
              <a:rPr lang="en-US" smtClean="0"/>
              <a:t>2/5/2020</a:t>
            </a:fld>
            <a:endParaRPr lang="en-US" dirty="0"/>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EBE13BA3-2BF5-478F-8F09-F40177E242D0}" type="slidenum">
              <a:rPr lang="en-US" smtClean="0"/>
              <a:t>‹#›</a:t>
            </a:fld>
            <a:endParaRPr lang="en-US" dirty="0"/>
          </a:p>
        </p:txBody>
      </p:sp>
    </p:spTree>
    <p:extLst>
      <p:ext uri="{BB962C8B-B14F-4D97-AF65-F5344CB8AC3E}">
        <p14:creationId xmlns:p14="http://schemas.microsoft.com/office/powerpoint/2010/main" val="45420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blog.existentialize.com/the-story-of-the-gnutls-bug.html"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s://www.openssl.org/support/donations.html"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first.org/cvss/"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part of the fix was this:</a:t>
            </a:r>
          </a:p>
          <a:p>
            <a:r>
              <a:rPr lang="en-US" dirty="0"/>
              <a:t>/* Read type and payload length first */ if (1 + 2 + 16 &gt; s-&gt;s3-&gt;</a:t>
            </a:r>
            <a:r>
              <a:rPr lang="en-US" dirty="0" err="1"/>
              <a:t>rrec.length</a:t>
            </a:r>
            <a:r>
              <a:rPr lang="en-US" dirty="0"/>
              <a:t>) return 0; /* silently discard */ </a:t>
            </a:r>
            <a:r>
              <a:rPr lang="en-US" dirty="0" err="1"/>
              <a:t>hbtype</a:t>
            </a:r>
            <a:r>
              <a:rPr lang="en-US" dirty="0"/>
              <a:t> = *p++; n2s(p, payload); if (1 + 2 + payload + 16 &gt; s-&gt;s3-&gt;</a:t>
            </a:r>
            <a:r>
              <a:rPr lang="en-US" dirty="0" err="1"/>
              <a:t>rrec.length</a:t>
            </a:r>
            <a:r>
              <a:rPr lang="en-US" dirty="0"/>
              <a:t>) return 0; /* silently discard per RFC 6520 sec. 4 */ </a:t>
            </a:r>
            <a:r>
              <a:rPr lang="en-US" dirty="0" err="1"/>
              <a:t>pl</a:t>
            </a:r>
            <a:r>
              <a:rPr lang="en-US" dirty="0"/>
              <a:t> = p; </a:t>
            </a:r>
          </a:p>
          <a:p>
            <a:r>
              <a:rPr lang="en-US" dirty="0"/>
              <a:t>This does two things: the first check stops zero-length heartbeats. The second check checks to make sure that the actual record length is sufficiently long. That's it.</a:t>
            </a:r>
          </a:p>
          <a:p>
            <a:r>
              <a:rPr lang="en-US" dirty="0"/>
              <a:t>Lessons</a:t>
            </a:r>
          </a:p>
          <a:p>
            <a:r>
              <a:rPr lang="en-US" dirty="0"/>
              <a:t>What can we learn from this?</a:t>
            </a:r>
          </a:p>
          <a:p>
            <a:r>
              <a:rPr lang="en-US" dirty="0"/>
              <a:t>I'm a fan of C. It was my first programming language and it was the first language I felt comfortable using professionally. But I see its limitations more clearly now than I have ever before.</a:t>
            </a:r>
          </a:p>
          <a:p>
            <a:r>
              <a:rPr lang="en-US" dirty="0"/>
              <a:t>Between this and the </a:t>
            </a:r>
            <a:r>
              <a:rPr lang="en-US" dirty="0" err="1">
                <a:hlinkClick r:id="rId3"/>
              </a:rPr>
              <a:t>GnuTLS</a:t>
            </a:r>
            <a:r>
              <a:rPr lang="en-US" dirty="0">
                <a:hlinkClick r:id="rId3"/>
              </a:rPr>
              <a:t> bug</a:t>
            </a:r>
            <a:r>
              <a:rPr lang="en-US" dirty="0"/>
              <a:t>, I think that we need to do three things:</a:t>
            </a:r>
          </a:p>
          <a:p>
            <a:r>
              <a:rPr lang="en-US" dirty="0">
                <a:hlinkClick r:id="rId4"/>
              </a:rPr>
              <a:t>Pay money for security audits</a:t>
            </a:r>
            <a:r>
              <a:rPr lang="en-US" dirty="0"/>
              <a:t> of critical security infrastructure like </a:t>
            </a:r>
            <a:r>
              <a:rPr lang="en-US" dirty="0" err="1"/>
              <a:t>OpenSSL</a:t>
            </a:r>
            <a:endParaRPr lang="en-US" dirty="0"/>
          </a:p>
          <a:p>
            <a:r>
              <a:rPr lang="en-US" dirty="0"/>
              <a:t>Write lots of unit and integration tests for these libraries</a:t>
            </a:r>
          </a:p>
          <a:p>
            <a:r>
              <a:rPr lang="en-US" dirty="0"/>
              <a:t>Start writing alternatives in safer languages</a:t>
            </a:r>
          </a:p>
          <a:p>
            <a:endParaRPr lang="en-US" dirty="0"/>
          </a:p>
        </p:txBody>
      </p:sp>
      <p:sp>
        <p:nvSpPr>
          <p:cNvPr id="4" name="Slide Number Placeholder 3"/>
          <p:cNvSpPr>
            <a:spLocks noGrp="1"/>
          </p:cNvSpPr>
          <p:nvPr>
            <p:ph type="sldNum" sz="quarter" idx="10"/>
          </p:nvPr>
        </p:nvSpPr>
        <p:spPr/>
        <p:txBody>
          <a:bodyPr/>
          <a:lstStyle/>
          <a:p>
            <a:fld id="{EBE13BA3-2BF5-478F-8F09-F40177E242D0}" type="slidenum">
              <a:rPr lang="en-US" smtClean="0"/>
              <a:t>3</a:t>
            </a:fld>
            <a:endParaRPr lang="en-US"/>
          </a:p>
        </p:txBody>
      </p:sp>
    </p:spTree>
    <p:extLst>
      <p:ext uri="{BB962C8B-B14F-4D97-AF65-F5344CB8AC3E}">
        <p14:creationId xmlns:p14="http://schemas.microsoft.com/office/powerpoint/2010/main" val="560306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BE13BA3-2BF5-478F-8F09-F40177E242D0}" type="slidenum">
              <a:rPr lang="en-US" smtClean="0"/>
              <a:t>4</a:t>
            </a:fld>
            <a:endParaRPr lang="en-US"/>
          </a:p>
        </p:txBody>
      </p:sp>
    </p:spTree>
    <p:extLst>
      <p:ext uri="{BB962C8B-B14F-4D97-AF65-F5344CB8AC3E}">
        <p14:creationId xmlns:p14="http://schemas.microsoft.com/office/powerpoint/2010/main" val="1552934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BE13BA3-2BF5-478F-8F09-F40177E242D0}" type="slidenum">
              <a:rPr lang="en-US" smtClean="0"/>
              <a:t>5</a:t>
            </a:fld>
            <a:endParaRPr lang="en-US"/>
          </a:p>
        </p:txBody>
      </p:sp>
    </p:spTree>
    <p:extLst>
      <p:ext uri="{BB962C8B-B14F-4D97-AF65-F5344CB8AC3E}">
        <p14:creationId xmlns:p14="http://schemas.microsoft.com/office/powerpoint/2010/main" val="14641208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BE13BA3-2BF5-478F-8F09-F40177E242D0}" type="slidenum">
              <a:rPr lang="en-US" smtClean="0"/>
              <a:t>6</a:t>
            </a:fld>
            <a:endParaRPr lang="en-US"/>
          </a:p>
        </p:txBody>
      </p:sp>
    </p:spTree>
    <p:extLst>
      <p:ext uri="{BB962C8B-B14F-4D97-AF65-F5344CB8AC3E}">
        <p14:creationId xmlns:p14="http://schemas.microsoft.com/office/powerpoint/2010/main" val="42409925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Laitenberger</a:t>
            </a:r>
            <a:r>
              <a:rPr lang="en-US" dirty="0"/>
              <a:t> and </a:t>
            </a:r>
            <a:r>
              <a:rPr lang="en-US" dirty="0" err="1"/>
              <a:t>DeBaud</a:t>
            </a:r>
            <a:r>
              <a:rPr lang="en-US" dirty="0"/>
              <a:t> (1997)</a:t>
            </a:r>
          </a:p>
          <a:p>
            <a:r>
              <a:rPr lang="en-US" dirty="0"/>
              <a:t>report that 200-300 lines of C code is a right size of document to inspect within two hours frame.</a:t>
            </a:r>
          </a:p>
          <a:p>
            <a:endParaRPr lang="en-US" dirty="0"/>
          </a:p>
          <a:p>
            <a:r>
              <a:rPr lang="en-US" dirty="0"/>
              <a:t>At 100 lines/hour Linux will take</a:t>
            </a:r>
            <a:r>
              <a:rPr lang="en-US" baseline="0" dirty="0"/>
              <a:t> 25 man-years to review</a:t>
            </a:r>
            <a:endParaRPr lang="en-US" dirty="0"/>
          </a:p>
        </p:txBody>
      </p:sp>
      <p:sp>
        <p:nvSpPr>
          <p:cNvPr id="4" name="Slide Number Placeholder 3"/>
          <p:cNvSpPr>
            <a:spLocks noGrp="1"/>
          </p:cNvSpPr>
          <p:nvPr>
            <p:ph type="sldNum" sz="quarter" idx="10"/>
          </p:nvPr>
        </p:nvSpPr>
        <p:spPr/>
        <p:txBody>
          <a:bodyPr/>
          <a:lstStyle/>
          <a:p>
            <a:fld id="{EBE13BA3-2BF5-478F-8F09-F40177E242D0}" type="slidenum">
              <a:rPr lang="en-US" smtClean="0"/>
              <a:t>7</a:t>
            </a:fld>
            <a:endParaRPr lang="en-US"/>
          </a:p>
        </p:txBody>
      </p:sp>
    </p:spTree>
    <p:extLst>
      <p:ext uri="{BB962C8B-B14F-4D97-AF65-F5344CB8AC3E}">
        <p14:creationId xmlns:p14="http://schemas.microsoft.com/office/powerpoint/2010/main" val="8211882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world sometimes refers</a:t>
            </a:r>
            <a:r>
              <a:rPr lang="en-US" baseline="0" dirty="0"/>
              <a:t> to pen testing vs. static code analysis</a:t>
            </a:r>
            <a:endParaRPr lang="en-US" dirty="0"/>
          </a:p>
        </p:txBody>
      </p:sp>
      <p:sp>
        <p:nvSpPr>
          <p:cNvPr id="4" name="Slide Number Placeholder 3"/>
          <p:cNvSpPr>
            <a:spLocks noGrp="1"/>
          </p:cNvSpPr>
          <p:nvPr>
            <p:ph type="sldNum" sz="quarter" idx="10"/>
          </p:nvPr>
        </p:nvSpPr>
        <p:spPr/>
        <p:txBody>
          <a:bodyPr/>
          <a:lstStyle/>
          <a:p>
            <a:fld id="{EBE13BA3-2BF5-478F-8F09-F40177E242D0}" type="slidenum">
              <a:rPr lang="en-US" smtClean="0"/>
              <a:t>8</a:t>
            </a:fld>
            <a:endParaRPr lang="en-US"/>
          </a:p>
        </p:txBody>
      </p:sp>
    </p:spTree>
    <p:extLst>
      <p:ext uri="{BB962C8B-B14F-4D97-AF65-F5344CB8AC3E}">
        <p14:creationId xmlns:p14="http://schemas.microsoft.com/office/powerpoint/2010/main" val="40343863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BE13BA3-2BF5-478F-8F09-F40177E242D0}" type="slidenum">
              <a:rPr lang="en-US" smtClean="0"/>
              <a:t>9</a:t>
            </a:fld>
            <a:endParaRPr lang="en-US" dirty="0"/>
          </a:p>
        </p:txBody>
      </p:sp>
    </p:spTree>
    <p:extLst>
      <p:ext uri="{BB962C8B-B14F-4D97-AF65-F5344CB8AC3E}">
        <p14:creationId xmlns:p14="http://schemas.microsoft.com/office/powerpoint/2010/main" val="25728970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https://www.first.org/cvss/</a:t>
            </a:r>
            <a:endParaRPr lang="en-US" dirty="0"/>
          </a:p>
        </p:txBody>
      </p:sp>
      <p:sp>
        <p:nvSpPr>
          <p:cNvPr id="4" name="Slide Number Placeholder 3"/>
          <p:cNvSpPr>
            <a:spLocks noGrp="1"/>
          </p:cNvSpPr>
          <p:nvPr>
            <p:ph type="sldNum" sz="quarter" idx="10"/>
          </p:nvPr>
        </p:nvSpPr>
        <p:spPr/>
        <p:txBody>
          <a:bodyPr/>
          <a:lstStyle/>
          <a:p>
            <a:fld id="{EBE13BA3-2BF5-478F-8F09-F40177E242D0}" type="slidenum">
              <a:rPr lang="en-US" smtClean="0"/>
              <a:t>14</a:t>
            </a:fld>
            <a:endParaRPr lang="en-US"/>
          </a:p>
        </p:txBody>
      </p:sp>
    </p:spTree>
    <p:extLst>
      <p:ext uri="{BB962C8B-B14F-4D97-AF65-F5344CB8AC3E}">
        <p14:creationId xmlns:p14="http://schemas.microsoft.com/office/powerpoint/2010/main" val="13742045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r>
              <a:rPr lang="en-US" dirty="0"/>
              <a:t>To compare OS to RTOS security the [NIST] NVD database has tracked:</a:t>
            </a:r>
          </a:p>
          <a:p>
            <a:pPr defTabSz="931774">
              <a:defRPr/>
            </a:pPr>
            <a:endParaRPr lang="en-US" dirty="0"/>
          </a:p>
          <a:p>
            <a:pPr defTabSz="931774">
              <a:defRPr/>
            </a:pPr>
            <a:r>
              <a:rPr lang="en-US" dirty="0"/>
              <a:t>162 vulnerabilities in Vista</a:t>
            </a:r>
          </a:p>
          <a:p>
            <a:pPr defTabSz="931774">
              <a:defRPr/>
            </a:pPr>
            <a:r>
              <a:rPr lang="en-US" dirty="0"/>
              <a:t>442 in Linux</a:t>
            </a:r>
          </a:p>
          <a:p>
            <a:pPr defTabSz="931774">
              <a:defRPr/>
            </a:pPr>
            <a:r>
              <a:rPr lang="en-US" dirty="0"/>
              <a:t>1 in QNX</a:t>
            </a:r>
          </a:p>
          <a:p>
            <a:pPr defTabSz="931774">
              <a:defRPr/>
            </a:pPr>
            <a:r>
              <a:rPr lang="en-US" dirty="0"/>
              <a:t>zero(0) in ThreadX.</a:t>
            </a:r>
          </a:p>
          <a:p>
            <a:pPr defTabSz="931774">
              <a:defRPr/>
            </a:pPr>
            <a:endParaRPr lang="en-US" dirty="0"/>
          </a:p>
          <a:p>
            <a:pPr defTabSz="931774">
              <a:defRPr/>
            </a:pPr>
            <a:r>
              <a:rPr lang="en-US" dirty="0"/>
              <a:t>  Clear evidence that smaller better defined TCBs are more secure.</a:t>
            </a:r>
          </a:p>
          <a:p>
            <a:endParaRPr lang="en-US" dirty="0"/>
          </a:p>
        </p:txBody>
      </p:sp>
      <p:sp>
        <p:nvSpPr>
          <p:cNvPr id="4" name="Slide Number Placeholder 3"/>
          <p:cNvSpPr>
            <a:spLocks noGrp="1"/>
          </p:cNvSpPr>
          <p:nvPr>
            <p:ph type="sldNum" sz="quarter" idx="10"/>
          </p:nvPr>
        </p:nvSpPr>
        <p:spPr/>
        <p:txBody>
          <a:bodyPr/>
          <a:lstStyle/>
          <a:p>
            <a:fld id="{EBE13BA3-2BF5-478F-8F09-F40177E242D0}" type="slidenum">
              <a:rPr lang="en-US" smtClean="0"/>
              <a:t>16</a:t>
            </a:fld>
            <a:endParaRPr lang="en-US" dirty="0"/>
          </a:p>
        </p:txBody>
      </p:sp>
    </p:spTree>
    <p:extLst>
      <p:ext uri="{BB962C8B-B14F-4D97-AF65-F5344CB8AC3E}">
        <p14:creationId xmlns:p14="http://schemas.microsoft.com/office/powerpoint/2010/main" val="18331297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BE13BA3-2BF5-478F-8F09-F40177E242D0}" type="slidenum">
              <a:rPr lang="en-US" smtClean="0"/>
              <a:t>21</a:t>
            </a:fld>
            <a:endParaRPr lang="en-US" dirty="0"/>
          </a:p>
        </p:txBody>
      </p:sp>
    </p:spTree>
    <p:extLst>
      <p:ext uri="{BB962C8B-B14F-4D97-AF65-F5344CB8AC3E}">
        <p14:creationId xmlns:p14="http://schemas.microsoft.com/office/powerpoint/2010/main" val="42449780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828800" y="3200400"/>
            <a:ext cx="8534400" cy="24384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7" name="Title 1"/>
          <p:cNvSpPr>
            <a:spLocks noGrp="1"/>
          </p:cNvSpPr>
          <p:nvPr>
            <p:ph type="ctrTitle" hasCustomPrompt="1"/>
          </p:nvPr>
        </p:nvSpPr>
        <p:spPr>
          <a:xfrm>
            <a:off x="609600" y="1295401"/>
            <a:ext cx="10972800" cy="1470025"/>
          </a:xfrm>
        </p:spPr>
        <p:txBody>
          <a:bodyPr/>
          <a:lstStyle>
            <a:lvl1pPr algn="ctr">
              <a:defRPr baseline="0"/>
            </a:lvl1pPr>
          </a:lstStyle>
          <a:p>
            <a:r>
              <a:rPr lang="en-US" dirty="0"/>
              <a:t>IT666 : Computer Security</a:t>
            </a:r>
          </a:p>
        </p:txBody>
      </p:sp>
      <p:sp>
        <p:nvSpPr>
          <p:cNvPr id="10" name="Date Placeholder 3"/>
          <p:cNvSpPr txBox="1">
            <a:spLocks/>
          </p:cNvSpPr>
          <p:nvPr/>
        </p:nvSpPr>
        <p:spPr>
          <a:xfrm>
            <a:off x="914400" y="6348476"/>
            <a:ext cx="284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p>
        </p:txBody>
      </p:sp>
      <p:sp>
        <p:nvSpPr>
          <p:cNvPr id="11" name="Footer Placeholder 4"/>
          <p:cNvSpPr txBox="1">
            <a:spLocks/>
          </p:cNvSpPr>
          <p:nvPr/>
        </p:nvSpPr>
        <p:spPr>
          <a:xfrm>
            <a:off x="7112000" y="6348475"/>
            <a:ext cx="41656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800" dirty="0"/>
              <a:t>Instructor : ken.graf@unh.edu</a:t>
            </a:r>
          </a:p>
        </p:txBody>
      </p:sp>
      <p:pic>
        <p:nvPicPr>
          <p:cNvPr id="12" name="Picture 2" descr="University of New Hampshire">
            <a:extLst>
              <a:ext uri="{FF2B5EF4-FFF2-40B4-BE49-F238E27FC236}">
                <a16:creationId xmlns:a16="http://schemas.microsoft.com/office/drawing/2014/main" id="{52E3954D-70A0-416F-A7AB-55B49D629FD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09600" y="304800"/>
            <a:ext cx="2914650" cy="76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0512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639762"/>
          </a:xfrm>
        </p:spPr>
        <p:txBody>
          <a:bodyPr>
            <a:normAutofit/>
          </a:bodyPr>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609600" y="1371601"/>
            <a:ext cx="10972800" cy="4754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3"/>
          <p:cNvSpPr>
            <a:spLocks noGrp="1"/>
          </p:cNvSpPr>
          <p:nvPr>
            <p:ph type="ftr" sz="quarter" idx="11"/>
          </p:nvPr>
        </p:nvSpPr>
        <p:spPr>
          <a:xfrm>
            <a:off x="609600" y="6356351"/>
            <a:ext cx="10972800" cy="365125"/>
          </a:xfrm>
          <a:prstGeom prst="rect">
            <a:avLst/>
          </a:prstGeom>
        </p:spPr>
        <p:txBody>
          <a:bodyPr/>
          <a:lstStyle/>
          <a:p>
            <a:endParaRPr lang="en-US" dirty="0"/>
          </a:p>
        </p:txBody>
      </p:sp>
    </p:spTree>
    <p:extLst>
      <p:ext uri="{BB962C8B-B14F-4D97-AF65-F5344CB8AC3E}">
        <p14:creationId xmlns:p14="http://schemas.microsoft.com/office/powerpoint/2010/main" val="20883533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639762"/>
          </a:xfrm>
        </p:spPr>
        <p:txBody>
          <a:bodyPr>
            <a:normAutofit/>
          </a:bodyPr>
          <a:lstStyle>
            <a:lvl1pPr algn="l">
              <a:defRPr sz="3200"/>
            </a:lvl1pPr>
          </a:lstStyle>
          <a:p>
            <a:r>
              <a:rPr lang="en-US"/>
              <a:t>Click to edit Master title style</a:t>
            </a:r>
            <a:endParaRPr lang="en-US" dirty="0"/>
          </a:p>
        </p:txBody>
      </p:sp>
      <p:sp>
        <p:nvSpPr>
          <p:cNvPr id="4" name="Footer Placeholder 3"/>
          <p:cNvSpPr>
            <a:spLocks noGrp="1"/>
          </p:cNvSpPr>
          <p:nvPr>
            <p:ph type="ftr" sz="quarter" idx="11"/>
          </p:nvPr>
        </p:nvSpPr>
        <p:spPr>
          <a:xfrm>
            <a:off x="609600" y="6356351"/>
            <a:ext cx="10972800" cy="365125"/>
          </a:xfrm>
          <a:prstGeom prst="rect">
            <a:avLst/>
          </a:prstGeom>
        </p:spPr>
        <p:txBody>
          <a:bodyPr/>
          <a:lstStyle/>
          <a:p>
            <a:endParaRPr lang="en-US" dirty="0"/>
          </a:p>
        </p:txBody>
      </p:sp>
    </p:spTree>
    <p:extLst>
      <p:ext uri="{BB962C8B-B14F-4D97-AF65-F5344CB8AC3E}">
        <p14:creationId xmlns:p14="http://schemas.microsoft.com/office/powerpoint/2010/main" val="1685878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609600" y="6356351"/>
            <a:ext cx="10972800" cy="365125"/>
          </a:xfrm>
          <a:prstGeom prst="rect">
            <a:avLst/>
          </a:prstGeom>
        </p:spPr>
        <p:txBody>
          <a:bodyPr/>
          <a:lstStyle/>
          <a:p>
            <a:endParaRPr lang="en-US" dirty="0"/>
          </a:p>
        </p:txBody>
      </p:sp>
    </p:spTree>
    <p:extLst>
      <p:ext uri="{BB962C8B-B14F-4D97-AF65-F5344CB8AC3E}">
        <p14:creationId xmlns:p14="http://schemas.microsoft.com/office/powerpoint/2010/main" val="384323323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56356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143001"/>
            <a:ext cx="10972800" cy="4983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41473956"/>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Lst>
  <p:txStyles>
    <p:titleStyle>
      <a:lvl1pPr algn="l" defTabSz="914400" rtl="0" eaLnBrk="1" latinLnBrk="0" hangingPunct="1">
        <a:spcBef>
          <a:spcPct val="0"/>
        </a:spcBef>
        <a:buNone/>
        <a:defRPr sz="32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tmp"/></Relationships>
</file>

<file path=ppt/slides/_rels/slide4.xml.rels><?xml version="1.0" encoding="UTF-8" standalone="yes"?>
<Relationships xmlns="http://schemas.openxmlformats.org/package/2006/relationships"><Relationship Id="rId3" Type="http://schemas.openxmlformats.org/officeDocument/2006/relationships/image" Target="../media/image4.tmp"/><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vimeo.com/47959189" TargetMode="External"/><Relationship Id="rId2" Type="http://schemas.openxmlformats.org/officeDocument/2006/relationships/image" Target="../media/image5.tmp"/><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resources.infosecinstitute.com/a-world-of-vulnerabilities/"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hyperlink" Target="https://nvd.nist.gov/"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image" Target="../media/image11.tmp"/><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tmp"/><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b="1" dirty="0"/>
              <a:t>Penetration </a:t>
            </a:r>
            <a:r>
              <a:rPr lang="en-US" b="1"/>
              <a:t>Testing Process</a:t>
            </a:r>
            <a:endParaRPr lang="en-US" b="1" dirty="0"/>
          </a:p>
        </p:txBody>
      </p:sp>
      <p:sp>
        <p:nvSpPr>
          <p:cNvPr id="4" name="Title 3"/>
          <p:cNvSpPr>
            <a:spLocks noGrp="1"/>
          </p:cNvSpPr>
          <p:nvPr>
            <p:ph type="ctrTitle"/>
          </p:nvPr>
        </p:nvSpPr>
        <p:spPr/>
        <p:txBody>
          <a:bodyPr/>
          <a:lstStyle/>
          <a:p>
            <a:endParaRPr lang="en-US"/>
          </a:p>
        </p:txBody>
      </p:sp>
    </p:spTree>
    <p:extLst>
      <p:ext uri="{BB962C8B-B14F-4D97-AF65-F5344CB8AC3E}">
        <p14:creationId xmlns:p14="http://schemas.microsoft.com/office/powerpoint/2010/main" val="1793285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Heartbleed</a:t>
            </a:r>
            <a:endParaRPr lang="en-US" dirty="0"/>
          </a:p>
        </p:txBody>
      </p:sp>
      <p:sp>
        <p:nvSpPr>
          <p:cNvPr id="3" name="Content Placeholder 2"/>
          <p:cNvSpPr>
            <a:spLocks noGrp="1"/>
          </p:cNvSpPr>
          <p:nvPr>
            <p:ph idx="1"/>
          </p:nvPr>
        </p:nvSpPr>
        <p:spPr/>
        <p:txBody>
          <a:bodyPr/>
          <a:lstStyle/>
          <a:p>
            <a:r>
              <a:rPr lang="en-US" dirty="0" err="1"/>
              <a:t>OpenSSL</a:t>
            </a:r>
            <a:r>
              <a:rPr lang="en-US" dirty="0"/>
              <a:t> TLS heartbeat code flaw</a:t>
            </a:r>
          </a:p>
          <a:p>
            <a:pPr lvl="1"/>
            <a:r>
              <a:rPr lang="en-US" dirty="0"/>
              <a:t>Affects versions 1.0.1 – 1.0.1f</a:t>
            </a:r>
          </a:p>
          <a:p>
            <a:r>
              <a:rPr lang="en-US" dirty="0" err="1"/>
              <a:t>OpenSSL</a:t>
            </a:r>
            <a:r>
              <a:rPr lang="en-US" dirty="0"/>
              <a:t> is default SSL library</a:t>
            </a:r>
          </a:p>
          <a:p>
            <a:pPr lvl="1"/>
            <a:r>
              <a:rPr lang="en-US" dirty="0"/>
              <a:t>Linux and </a:t>
            </a:r>
            <a:r>
              <a:rPr lang="en-US" dirty="0" err="1"/>
              <a:t>nginx</a:t>
            </a:r>
            <a:r>
              <a:rPr lang="en-US" dirty="0"/>
              <a:t> (66% of enterprise web servers)</a:t>
            </a:r>
          </a:p>
          <a:p>
            <a:r>
              <a:rPr lang="en-US" dirty="0"/>
              <a:t>Allows anonymous retrieval of 64K of memory</a:t>
            </a:r>
          </a:p>
          <a:p>
            <a:endParaRPr lang="en-US" dirty="0"/>
          </a:p>
        </p:txBody>
      </p:sp>
    </p:spTree>
    <p:extLst>
      <p:ext uri="{BB962C8B-B14F-4D97-AF65-F5344CB8AC3E}">
        <p14:creationId xmlns:p14="http://schemas.microsoft.com/office/powerpoint/2010/main" val="8218400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Bounds checking</a:t>
            </a:r>
          </a:p>
        </p:txBody>
      </p:sp>
      <p:sp>
        <p:nvSpPr>
          <p:cNvPr id="3" name="Content Placeholder 2"/>
          <p:cNvSpPr>
            <a:spLocks noGrp="1"/>
          </p:cNvSpPr>
          <p:nvPr>
            <p:ph idx="1"/>
          </p:nvPr>
        </p:nvSpPr>
        <p:spPr>
          <a:xfrm>
            <a:off x="399143" y="457201"/>
            <a:ext cx="10972800" cy="4754563"/>
          </a:xfrm>
        </p:spPr>
        <p:txBody>
          <a:bodyPr/>
          <a:lstStyle/>
          <a:p>
            <a:r>
              <a:rPr lang="en-US" dirty="0"/>
              <a:t>The first check stops zero-length heartbeats.</a:t>
            </a:r>
          </a:p>
          <a:p>
            <a:r>
              <a:rPr lang="en-US" dirty="0"/>
              <a:t>The second check checks to make sure that the actual record length is sufficiently long. </a:t>
            </a:r>
          </a:p>
        </p:txBody>
      </p:sp>
      <p:pic>
        <p:nvPicPr>
          <p:cNvPr id="4" name="Picture 3"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1865" y="3429001"/>
            <a:ext cx="8548271" cy="2498725"/>
          </a:xfrm>
          <a:prstGeom prst="rect">
            <a:avLst/>
          </a:prstGeom>
        </p:spPr>
      </p:pic>
      <p:pic>
        <p:nvPicPr>
          <p:cNvPr id="5" name="Picture 4"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57669" y="5843269"/>
            <a:ext cx="6699452" cy="282894"/>
          </a:xfrm>
          <a:prstGeom prst="rect">
            <a:avLst/>
          </a:prstGeom>
        </p:spPr>
      </p:pic>
      <p:sp>
        <p:nvSpPr>
          <p:cNvPr id="6" name="Rectangle 5"/>
          <p:cNvSpPr/>
          <p:nvPr/>
        </p:nvSpPr>
        <p:spPr>
          <a:xfrm>
            <a:off x="1981200" y="3810000"/>
            <a:ext cx="8229600" cy="60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951299" y="4953000"/>
            <a:ext cx="8229600" cy="60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2304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6"/>
                                        </p:tgtEl>
                                      </p:cBhvr>
                                    </p:animEffect>
                                    <p:set>
                                      <p:cBhvr>
                                        <p:cTn id="10"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Flaw fixed </a:t>
            </a:r>
            <a:r>
              <a:rPr lang="en-US" dirty="0"/>
              <a:t>in iOS 10.9.2 </a:t>
            </a:r>
          </a:p>
        </p:txBody>
      </p:sp>
      <p:pic>
        <p:nvPicPr>
          <p:cNvPr id="4" name="Content Placeholder 3" descr="Screen Clipping"/>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1143000"/>
            <a:ext cx="10437089" cy="5251263"/>
          </a:xfrm>
        </p:spPr>
      </p:pic>
    </p:spTree>
    <p:extLst>
      <p:ext uri="{BB962C8B-B14F-4D97-AF65-F5344CB8AC3E}">
        <p14:creationId xmlns:p14="http://schemas.microsoft.com/office/powerpoint/2010/main" val="2340052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a:t>
            </a:r>
          </a:p>
        </p:txBody>
      </p:sp>
      <p:sp>
        <p:nvSpPr>
          <p:cNvPr id="3" name="Content Placeholder 2"/>
          <p:cNvSpPr>
            <a:spLocks noGrp="1"/>
          </p:cNvSpPr>
          <p:nvPr>
            <p:ph idx="1"/>
          </p:nvPr>
        </p:nvSpPr>
        <p:spPr/>
        <p:txBody>
          <a:bodyPr>
            <a:normAutofit/>
          </a:bodyPr>
          <a:lstStyle/>
          <a:p>
            <a:pPr marL="0" indent="0">
              <a:buNone/>
            </a:pPr>
            <a:r>
              <a:rPr lang="en-US" dirty="0"/>
              <a:t>public void operation(String s) { </a:t>
            </a:r>
          </a:p>
          <a:p>
            <a:pPr marL="0" indent="0">
              <a:buNone/>
            </a:pPr>
            <a:r>
              <a:rPr lang="en-US" dirty="0"/>
              <a:t>try { </a:t>
            </a:r>
          </a:p>
          <a:p>
            <a:pPr marL="0" indent="0">
              <a:buNone/>
            </a:pPr>
            <a:r>
              <a:rPr lang="en-US" dirty="0"/>
              <a:t>  String </a:t>
            </a:r>
            <a:r>
              <a:rPr lang="en-US" dirty="0" err="1"/>
              <a:t>sql</a:t>
            </a:r>
            <a:r>
              <a:rPr lang="en-US" dirty="0"/>
              <a:t> =</a:t>
            </a:r>
          </a:p>
          <a:p>
            <a:pPr marL="0" indent="0">
              <a:buNone/>
            </a:pPr>
            <a:r>
              <a:rPr lang="en-US" dirty="0"/>
              <a:t>	</a:t>
            </a:r>
            <a:r>
              <a:rPr lang="en-US" b="1" dirty="0">
                <a:solidFill>
                  <a:srgbClr val="FF0000"/>
                </a:solidFill>
              </a:rPr>
              <a:t>"</a:t>
            </a:r>
            <a:r>
              <a:rPr lang="en-US" dirty="0"/>
              <a:t>DELETE FROM table WHERE id='</a:t>
            </a:r>
            <a:r>
              <a:rPr lang="en-US" b="1" dirty="0">
                <a:solidFill>
                  <a:srgbClr val="FF0000"/>
                </a:solidFill>
              </a:rPr>
              <a:t>"</a:t>
            </a:r>
            <a:r>
              <a:rPr lang="en-US" dirty="0"/>
              <a:t> + s + </a:t>
            </a:r>
            <a:r>
              <a:rPr lang="en-US" b="1" dirty="0">
                <a:solidFill>
                  <a:srgbClr val="FF0000"/>
                </a:solidFill>
              </a:rPr>
              <a:t>"</a:t>
            </a:r>
            <a:r>
              <a:rPr lang="en-US" dirty="0"/>
              <a:t>'</a:t>
            </a:r>
            <a:r>
              <a:rPr lang="en-US" b="1" dirty="0">
                <a:solidFill>
                  <a:srgbClr val="FF0000"/>
                </a:solidFill>
              </a:rPr>
              <a:t>"</a:t>
            </a:r>
            <a:r>
              <a:rPr lang="en-US" dirty="0"/>
              <a:t>; </a:t>
            </a:r>
          </a:p>
          <a:p>
            <a:pPr marL="0" indent="0">
              <a:buNone/>
            </a:pPr>
            <a:r>
              <a:rPr lang="en-US" dirty="0"/>
              <a:t>  </a:t>
            </a:r>
            <a:r>
              <a:rPr lang="en-US" dirty="0" err="1"/>
              <a:t>statement.executeUpdate</a:t>
            </a:r>
            <a:r>
              <a:rPr lang="en-US" dirty="0"/>
              <a:t>( </a:t>
            </a:r>
            <a:r>
              <a:rPr lang="en-US" dirty="0" err="1"/>
              <a:t>sql</a:t>
            </a:r>
            <a:r>
              <a:rPr lang="en-US" dirty="0"/>
              <a:t> ); </a:t>
            </a:r>
          </a:p>
          <a:p>
            <a:pPr marL="0" indent="0">
              <a:buNone/>
            </a:pPr>
            <a:r>
              <a:rPr lang="en-US" dirty="0"/>
              <a:t> } </a:t>
            </a:r>
          </a:p>
          <a:p>
            <a:pPr marL="0" indent="0">
              <a:buNone/>
            </a:pPr>
            <a:r>
              <a:rPr lang="en-US" dirty="0"/>
              <a:t>catch (</a:t>
            </a:r>
            <a:r>
              <a:rPr lang="en-US" dirty="0" err="1"/>
              <a:t>SQLException</a:t>
            </a:r>
            <a:r>
              <a:rPr lang="en-US" dirty="0"/>
              <a:t> se) {}</a:t>
            </a:r>
          </a:p>
          <a:p>
            <a:pPr marL="0" indent="0">
              <a:buNone/>
            </a:pPr>
            <a:r>
              <a:rPr lang="en-US" dirty="0"/>
              <a:t>}</a:t>
            </a:r>
          </a:p>
        </p:txBody>
      </p:sp>
    </p:spTree>
    <p:extLst>
      <p:ext uri="{BB962C8B-B14F-4D97-AF65-F5344CB8AC3E}">
        <p14:creationId xmlns:p14="http://schemas.microsoft.com/office/powerpoint/2010/main" val="13297373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2?</a:t>
            </a:r>
          </a:p>
        </p:txBody>
      </p:sp>
      <p:sp>
        <p:nvSpPr>
          <p:cNvPr id="3" name="Content Placeholder 2"/>
          <p:cNvSpPr>
            <a:spLocks noGrp="1"/>
          </p:cNvSpPr>
          <p:nvPr>
            <p:ph idx="1"/>
          </p:nvPr>
        </p:nvSpPr>
        <p:spPr/>
        <p:txBody>
          <a:bodyPr>
            <a:normAutofit fontScale="92500" lnSpcReduction="10000"/>
          </a:bodyPr>
          <a:lstStyle/>
          <a:p>
            <a:pPr marL="0" indent="0">
              <a:buNone/>
            </a:pPr>
            <a:r>
              <a:rPr lang="en-US" dirty="0"/>
              <a:t>public void operation( String s ) { </a:t>
            </a:r>
          </a:p>
          <a:p>
            <a:pPr marL="0" indent="0">
              <a:buNone/>
            </a:pPr>
            <a:r>
              <a:rPr lang="en-US" dirty="0"/>
              <a:t>   int i = </a:t>
            </a:r>
            <a:r>
              <a:rPr lang="en-US" dirty="0" err="1"/>
              <a:t>Integer.parseInt</a:t>
            </a:r>
            <a:r>
              <a:rPr lang="en-US" dirty="0"/>
              <a:t>(s); </a:t>
            </a:r>
          </a:p>
          <a:p>
            <a:pPr marL="0" indent="0">
              <a:buNone/>
            </a:pPr>
            <a:r>
              <a:rPr lang="en-US" dirty="0"/>
              <a:t>   try { </a:t>
            </a:r>
          </a:p>
          <a:p>
            <a:pPr marL="0" indent="0">
              <a:buNone/>
            </a:pPr>
            <a:r>
              <a:rPr lang="en-US" dirty="0"/>
              <a:t>	String </a:t>
            </a:r>
            <a:r>
              <a:rPr lang="en-US" dirty="0" err="1"/>
              <a:t>sql</a:t>
            </a:r>
            <a:r>
              <a:rPr lang="en-US" dirty="0"/>
              <a:t> = </a:t>
            </a:r>
          </a:p>
          <a:p>
            <a:pPr marL="0" indent="0">
              <a:buNone/>
            </a:pPr>
            <a:r>
              <a:rPr lang="en-US" dirty="0"/>
              <a:t>	</a:t>
            </a:r>
            <a:r>
              <a:rPr lang="en-US" b="1" dirty="0">
                <a:solidFill>
                  <a:srgbClr val="FF0000"/>
                </a:solidFill>
              </a:rPr>
              <a:t>"</a:t>
            </a:r>
            <a:r>
              <a:rPr lang="en-US" dirty="0"/>
              <a:t>DELETE FROM table WHERE id='</a:t>
            </a:r>
            <a:r>
              <a:rPr lang="en-US" b="1" dirty="0">
                <a:solidFill>
                  <a:srgbClr val="FF0000"/>
                </a:solidFill>
              </a:rPr>
              <a:t>"</a:t>
            </a:r>
            <a:r>
              <a:rPr lang="en-US" dirty="0"/>
              <a:t> + s + </a:t>
            </a:r>
            <a:r>
              <a:rPr lang="en-US" b="1" dirty="0">
                <a:solidFill>
                  <a:srgbClr val="FF0000"/>
                </a:solidFill>
              </a:rPr>
              <a:t>"</a:t>
            </a:r>
            <a:r>
              <a:rPr lang="en-US" dirty="0"/>
              <a:t>'</a:t>
            </a:r>
            <a:r>
              <a:rPr lang="en-US" b="1" dirty="0">
                <a:solidFill>
                  <a:srgbClr val="FF0000"/>
                </a:solidFill>
              </a:rPr>
              <a:t>"</a:t>
            </a:r>
            <a:r>
              <a:rPr lang="en-US" dirty="0"/>
              <a:t>; </a:t>
            </a:r>
          </a:p>
          <a:p>
            <a:pPr marL="0" indent="0">
              <a:buNone/>
            </a:pPr>
            <a:r>
              <a:rPr lang="en-US" dirty="0"/>
              <a:t>  	</a:t>
            </a:r>
            <a:r>
              <a:rPr lang="en-US" dirty="0" err="1"/>
              <a:t>statement.executeUpdate</a:t>
            </a:r>
            <a:r>
              <a:rPr lang="en-US" dirty="0"/>
              <a:t>(</a:t>
            </a:r>
            <a:r>
              <a:rPr lang="en-US" dirty="0" err="1"/>
              <a:t>sql</a:t>
            </a:r>
            <a:r>
              <a:rPr lang="en-US" dirty="0"/>
              <a:t>); </a:t>
            </a:r>
          </a:p>
          <a:p>
            <a:pPr marL="0" indent="0">
              <a:buNone/>
            </a:pPr>
            <a:r>
              <a:rPr lang="en-US" dirty="0"/>
              <a:t>   }</a:t>
            </a:r>
          </a:p>
          <a:p>
            <a:pPr marL="0" indent="0">
              <a:buNone/>
            </a:pPr>
            <a:r>
              <a:rPr lang="en-US" dirty="0"/>
              <a:t>   catch (</a:t>
            </a:r>
            <a:r>
              <a:rPr lang="en-US" dirty="0" err="1"/>
              <a:t>SQLException</a:t>
            </a:r>
            <a:r>
              <a:rPr lang="en-US" dirty="0"/>
              <a:t> se) {} </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24861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Historically Testing is Expensive</a:t>
            </a:r>
          </a:p>
        </p:txBody>
      </p:sp>
      <p:sp>
        <p:nvSpPr>
          <p:cNvPr id="3" name="Content Placeholder 2"/>
          <p:cNvSpPr>
            <a:spLocks noGrp="1"/>
          </p:cNvSpPr>
          <p:nvPr>
            <p:ph idx="1"/>
          </p:nvPr>
        </p:nvSpPr>
        <p:spPr/>
        <p:txBody>
          <a:bodyPr vert="horz" lIns="91440" tIns="45720" rIns="91440" bIns="45720" rtlCol="0" anchor="t">
            <a:normAutofit fontScale="85000" lnSpcReduction="10000"/>
          </a:bodyPr>
          <a:lstStyle/>
          <a:p>
            <a:r>
              <a:rPr lang="en-US" dirty="0"/>
              <a:t>An inspection (line-by-line)</a:t>
            </a:r>
          </a:p>
          <a:p>
            <a:pPr lvl="1"/>
            <a:r>
              <a:rPr lang="en-US" dirty="0"/>
              <a:t>Is a visual examination of a software product to detect and identify software anomalies, including errors and deviations from standards and specifications</a:t>
            </a:r>
          </a:p>
          <a:p>
            <a:r>
              <a:rPr lang="en-US" dirty="0"/>
              <a:t>A walkthrough (module)</a:t>
            </a:r>
          </a:p>
          <a:p>
            <a:pPr lvl="1"/>
            <a:r>
              <a:rPr lang="en-US" dirty="0"/>
              <a:t>Is a static analysis technique in which a designer or programmer leads members of the development team and other interested parties through a software product, and the participants ask questions and make comments about possible errors, violation of development standards, and other problems</a:t>
            </a:r>
          </a:p>
          <a:p>
            <a:r>
              <a:rPr lang="en-US" dirty="0"/>
              <a:t>An architecture review (system)</a:t>
            </a:r>
            <a:endParaRPr lang="en-US" dirty="0">
              <a:cs typeface="Calibri"/>
            </a:endParaRPr>
          </a:p>
          <a:p>
            <a:pPr lvl="1"/>
            <a:r>
              <a:rPr lang="en-US" dirty="0"/>
              <a:t>Is a process or meeting during which a software product is presented to project personnel, managers, users, customers, user representatives, or other interested parties for comment or approval</a:t>
            </a:r>
          </a:p>
        </p:txBody>
      </p:sp>
    </p:spTree>
    <p:extLst>
      <p:ext uri="{BB962C8B-B14F-4D97-AF65-F5344CB8AC3E}">
        <p14:creationId xmlns:p14="http://schemas.microsoft.com/office/powerpoint/2010/main" val="16337414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Black-box vs. White-box</a:t>
            </a:r>
          </a:p>
        </p:txBody>
      </p:sp>
      <p:sp>
        <p:nvSpPr>
          <p:cNvPr id="3" name="Content Placeholder 2"/>
          <p:cNvSpPr>
            <a:spLocks noGrp="1"/>
          </p:cNvSpPr>
          <p:nvPr>
            <p:ph idx="1"/>
          </p:nvPr>
        </p:nvSpPr>
        <p:spPr/>
        <p:txBody>
          <a:bodyPr>
            <a:normAutofit/>
          </a:bodyPr>
          <a:lstStyle/>
          <a:p>
            <a:r>
              <a:rPr lang="en-US" dirty="0"/>
              <a:t>Black box</a:t>
            </a:r>
          </a:p>
          <a:p>
            <a:pPr lvl="1"/>
            <a:r>
              <a:rPr lang="en-US" dirty="0"/>
              <a:t>Uses available inputs and expected outputs</a:t>
            </a:r>
          </a:p>
          <a:p>
            <a:pPr lvl="1"/>
            <a:r>
              <a:rPr lang="en-US" dirty="0"/>
              <a:t>Not concerned with (can not see) inner workings</a:t>
            </a:r>
          </a:p>
          <a:p>
            <a:pPr lvl="1"/>
            <a:r>
              <a:rPr lang="en-US" dirty="0"/>
              <a:t>Most tools use a coordinated approach</a:t>
            </a:r>
          </a:p>
          <a:p>
            <a:pPr lvl="1"/>
            <a:r>
              <a:rPr lang="en-US" dirty="0"/>
              <a:t>Plus: Easier to use, Quicker test cases, Simplicity, No programming</a:t>
            </a:r>
          </a:p>
          <a:p>
            <a:r>
              <a:rPr lang="en-US" dirty="0"/>
              <a:t>White-box</a:t>
            </a:r>
          </a:p>
          <a:p>
            <a:pPr lvl="1"/>
            <a:r>
              <a:rPr lang="en-US" dirty="0"/>
              <a:t>Tester able to see “inside” an application</a:t>
            </a:r>
          </a:p>
          <a:p>
            <a:pPr lvl="1"/>
            <a:r>
              <a:rPr lang="en-US" dirty="0"/>
              <a:t>Able to interact with and manipulate runtime objects</a:t>
            </a:r>
          </a:p>
          <a:p>
            <a:pPr lvl="1"/>
            <a:r>
              <a:rPr lang="en-US" dirty="0"/>
              <a:t>Plus: Introspection, Code coverage, Instrumentation</a:t>
            </a:r>
          </a:p>
        </p:txBody>
      </p:sp>
    </p:spTree>
    <p:extLst>
      <p:ext uri="{BB962C8B-B14F-4D97-AF65-F5344CB8AC3E}">
        <p14:creationId xmlns:p14="http://schemas.microsoft.com/office/powerpoint/2010/main" val="3781191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YAGNI Principals</a:t>
            </a:r>
          </a:p>
        </p:txBody>
      </p:sp>
      <p:sp>
        <p:nvSpPr>
          <p:cNvPr id="3" name="Content Placeholder 2"/>
          <p:cNvSpPr>
            <a:spLocks noGrp="1"/>
          </p:cNvSpPr>
          <p:nvPr>
            <p:ph idx="1"/>
          </p:nvPr>
        </p:nvSpPr>
        <p:spPr/>
        <p:txBody>
          <a:bodyPr/>
          <a:lstStyle/>
          <a:p>
            <a:r>
              <a:rPr lang="en-US" dirty="0"/>
              <a:t>Complexity</a:t>
            </a:r>
          </a:p>
          <a:p>
            <a:pPr lvl="1"/>
            <a:r>
              <a:rPr lang="en-US" dirty="0"/>
              <a:t>Adds costs</a:t>
            </a:r>
          </a:p>
          <a:p>
            <a:pPr lvl="1"/>
            <a:r>
              <a:rPr lang="en-US" dirty="0"/>
              <a:t>Adds unknowns</a:t>
            </a:r>
          </a:p>
          <a:p>
            <a:r>
              <a:rPr lang="en-US" dirty="0"/>
              <a:t>Volume (number)</a:t>
            </a:r>
          </a:p>
          <a:p>
            <a:pPr lvl="1"/>
            <a:r>
              <a:rPr lang="en-US" dirty="0"/>
              <a:t>Makes complete accountability harder</a:t>
            </a:r>
          </a:p>
          <a:p>
            <a:r>
              <a:rPr lang="en-US" dirty="0"/>
              <a:t>3</a:t>
            </a:r>
            <a:r>
              <a:rPr lang="en-US" baseline="30000" dirty="0"/>
              <a:t>rd</a:t>
            </a:r>
            <a:r>
              <a:rPr lang="en-US" dirty="0"/>
              <a:t> Parties</a:t>
            </a:r>
          </a:p>
          <a:p>
            <a:pPr lvl="1"/>
            <a:r>
              <a:rPr lang="en-US" dirty="0"/>
              <a:t>Loss of control</a:t>
            </a:r>
          </a:p>
        </p:txBody>
      </p:sp>
    </p:spTree>
    <p:extLst>
      <p:ext uri="{BB962C8B-B14F-4D97-AF65-F5344CB8AC3E}">
        <p14:creationId xmlns:p14="http://schemas.microsoft.com/office/powerpoint/2010/main" val="243446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33442" y="497112"/>
            <a:ext cx="6281660" cy="5827488"/>
          </a:xfrm>
        </p:spPr>
      </p:pic>
      <p:sp>
        <p:nvSpPr>
          <p:cNvPr id="2" name="Title 1"/>
          <p:cNvSpPr>
            <a:spLocks noGrp="1"/>
          </p:cNvSpPr>
          <p:nvPr>
            <p:ph type="title"/>
          </p:nvPr>
        </p:nvSpPr>
        <p:spPr/>
        <p:txBody>
          <a:bodyPr/>
          <a:lstStyle/>
          <a:p>
            <a:r>
              <a:rPr lang="en-US" dirty="0"/>
              <a:t>How Google Tests Software</a:t>
            </a:r>
          </a:p>
        </p:txBody>
      </p:sp>
      <p:sp>
        <p:nvSpPr>
          <p:cNvPr id="5" name="TextBox 4"/>
          <p:cNvSpPr txBox="1"/>
          <p:nvPr/>
        </p:nvSpPr>
        <p:spPr>
          <a:xfrm>
            <a:off x="1899782" y="6488668"/>
            <a:ext cx="5644943" cy="369332"/>
          </a:xfrm>
          <a:prstGeom prst="rect">
            <a:avLst/>
          </a:prstGeom>
          <a:noFill/>
        </p:spPr>
        <p:txBody>
          <a:bodyPr wrap="none" rtlCol="0">
            <a:spAutoFit/>
          </a:bodyPr>
          <a:lstStyle/>
          <a:p>
            <a:r>
              <a:rPr lang="en-US" dirty="0"/>
              <a:t>How Google Tests Software: </a:t>
            </a:r>
            <a:r>
              <a:rPr lang="en-US" dirty="0">
                <a:hlinkClick r:id="rId3"/>
              </a:rPr>
              <a:t>https://vimeo.com/47959189</a:t>
            </a:r>
            <a:endParaRPr lang="en-US" dirty="0"/>
          </a:p>
        </p:txBody>
      </p:sp>
    </p:spTree>
    <p:extLst>
      <p:ext uri="{BB962C8B-B14F-4D97-AF65-F5344CB8AC3E}">
        <p14:creationId xmlns:p14="http://schemas.microsoft.com/office/powerpoint/2010/main" val="23776072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636285" y="689369"/>
            <a:ext cx="6919430" cy="5479262"/>
          </a:xfrm>
          <a:prstGeom prst="rect">
            <a:avLst/>
          </a:prstGeom>
        </p:spPr>
      </p:pic>
      <p:sp>
        <p:nvSpPr>
          <p:cNvPr id="2" name="Title 1"/>
          <p:cNvSpPr>
            <a:spLocks noGrp="1"/>
          </p:cNvSpPr>
          <p:nvPr>
            <p:ph type="title"/>
          </p:nvPr>
        </p:nvSpPr>
        <p:spPr/>
        <p:txBody>
          <a:bodyPr/>
          <a:lstStyle/>
          <a:p>
            <a:r>
              <a:rPr lang="en-US"/>
              <a:t>Disclosure Increases Attacks</a:t>
            </a:r>
          </a:p>
        </p:txBody>
      </p:sp>
      <p:sp>
        <p:nvSpPr>
          <p:cNvPr id="5" name="TextBox 4"/>
          <p:cNvSpPr txBox="1"/>
          <p:nvPr/>
        </p:nvSpPr>
        <p:spPr>
          <a:xfrm>
            <a:off x="3048000" y="6398695"/>
            <a:ext cx="6233630" cy="369332"/>
          </a:xfrm>
          <a:prstGeom prst="rect">
            <a:avLst/>
          </a:prstGeom>
          <a:noFill/>
        </p:spPr>
        <p:txBody>
          <a:bodyPr wrap="none" rtlCol="0">
            <a:spAutoFit/>
          </a:bodyPr>
          <a:lstStyle/>
          <a:p>
            <a:r>
              <a:rPr lang="en-US">
                <a:hlinkClick r:id="rId3"/>
              </a:rPr>
              <a:t>http://resources.infosecinstitute.com/a-world-of-vulnerabilities/</a:t>
            </a:r>
            <a:r>
              <a:rPr lang="en-US"/>
              <a:t> </a:t>
            </a:r>
          </a:p>
        </p:txBody>
      </p:sp>
    </p:spTree>
    <p:extLst>
      <p:ext uri="{BB962C8B-B14F-4D97-AF65-F5344CB8AC3E}">
        <p14:creationId xmlns:p14="http://schemas.microsoft.com/office/powerpoint/2010/main" val="18871154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CDEAE-91B1-4DE4-A635-58CC3EB34667}"/>
              </a:ext>
            </a:extLst>
          </p:cNvPr>
          <p:cNvSpPr>
            <a:spLocks noGrp="1"/>
          </p:cNvSpPr>
          <p:nvPr>
            <p:ph type="title"/>
          </p:nvPr>
        </p:nvSpPr>
        <p:spPr/>
        <p:txBody>
          <a:bodyPr/>
          <a:lstStyle/>
          <a:p>
            <a:r>
              <a:rPr lang="en-US" dirty="0"/>
              <a:t>Handling vulnerabilities</a:t>
            </a:r>
          </a:p>
        </p:txBody>
      </p:sp>
      <p:sp>
        <p:nvSpPr>
          <p:cNvPr id="3" name="Content Placeholder 2">
            <a:extLst>
              <a:ext uri="{FF2B5EF4-FFF2-40B4-BE49-F238E27FC236}">
                <a16:creationId xmlns:a16="http://schemas.microsoft.com/office/drawing/2014/main" id="{30792AA5-3901-4F1E-BBD6-A2E406C1A134}"/>
              </a:ext>
            </a:extLst>
          </p:cNvPr>
          <p:cNvSpPr>
            <a:spLocks noGrp="1"/>
          </p:cNvSpPr>
          <p:nvPr>
            <p:ph idx="1"/>
          </p:nvPr>
        </p:nvSpPr>
        <p:spPr/>
        <p:txBody>
          <a:bodyPr/>
          <a:lstStyle/>
          <a:p>
            <a:r>
              <a:rPr lang="en-US" dirty="0"/>
              <a:t>Once placed in the NVD, everyone (Metasploit) knows</a:t>
            </a:r>
          </a:p>
          <a:p>
            <a:r>
              <a:rPr lang="en-US" dirty="0"/>
              <a:t>This drives the need for patching</a:t>
            </a:r>
          </a:p>
          <a:p>
            <a:r>
              <a:rPr lang="en-US" dirty="0"/>
              <a:t>Need to know what to patch, this drives inventory</a:t>
            </a:r>
          </a:p>
          <a:p>
            <a:r>
              <a:rPr lang="en-US" dirty="0"/>
              <a:t>Having up to date inventory, drives automation</a:t>
            </a:r>
          </a:p>
        </p:txBody>
      </p:sp>
    </p:spTree>
    <p:extLst>
      <p:ext uri="{BB962C8B-B14F-4D97-AF65-F5344CB8AC3E}">
        <p14:creationId xmlns:p14="http://schemas.microsoft.com/office/powerpoint/2010/main" val="14585580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293BA-E6D9-4AD1-BB96-46770C82DC71}"/>
              </a:ext>
            </a:extLst>
          </p:cNvPr>
          <p:cNvSpPr>
            <a:spLocks noGrp="1"/>
          </p:cNvSpPr>
          <p:nvPr>
            <p:ph type="title"/>
          </p:nvPr>
        </p:nvSpPr>
        <p:spPr/>
        <p:txBody>
          <a:bodyPr/>
          <a:lstStyle/>
          <a:p>
            <a:r>
              <a:rPr lang="en-US" dirty="0"/>
              <a:t>National Vulnerability Database (NVD) </a:t>
            </a:r>
            <a:r>
              <a:rPr lang="en-US" dirty="0">
                <a:hlinkClick r:id="rId2"/>
              </a:rPr>
              <a:t>https://nvd.nist.gov/</a:t>
            </a:r>
            <a:endParaRPr lang="en-US" dirty="0"/>
          </a:p>
        </p:txBody>
      </p:sp>
      <p:pic>
        <p:nvPicPr>
          <p:cNvPr id="5" name="Content Placeholder 4">
            <a:extLst>
              <a:ext uri="{FF2B5EF4-FFF2-40B4-BE49-F238E27FC236}">
                <a16:creationId xmlns:a16="http://schemas.microsoft.com/office/drawing/2014/main" id="{C06393FE-752E-4832-A6B1-E28E4094A7E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984067" y="1371600"/>
            <a:ext cx="8223866" cy="4754563"/>
          </a:xfrm>
        </p:spPr>
      </p:pic>
    </p:spTree>
    <p:extLst>
      <p:ext uri="{BB962C8B-B14F-4D97-AF65-F5344CB8AC3E}">
        <p14:creationId xmlns:p14="http://schemas.microsoft.com/office/powerpoint/2010/main" val="18316388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Common Vuln. Scoring Sys. (CVSS)</a:t>
            </a:r>
          </a:p>
        </p:txBody>
      </p:sp>
      <p:sp>
        <p:nvSpPr>
          <p:cNvPr id="3" name="Content Placeholder 2"/>
          <p:cNvSpPr>
            <a:spLocks noGrp="1"/>
          </p:cNvSpPr>
          <p:nvPr>
            <p:ph idx="1"/>
          </p:nvPr>
        </p:nvSpPr>
        <p:spPr/>
        <p:txBody>
          <a:bodyPr>
            <a:normAutofit/>
          </a:bodyPr>
          <a:lstStyle/>
          <a:p>
            <a:r>
              <a:rPr lang="en-US" b="1" dirty="0"/>
              <a:t>Base</a:t>
            </a:r>
            <a:r>
              <a:rPr lang="en-US" dirty="0"/>
              <a:t>: Constant over time and user environments.</a:t>
            </a:r>
          </a:p>
          <a:p>
            <a:r>
              <a:rPr lang="en-US" b="1" dirty="0"/>
              <a:t>Temporal</a:t>
            </a:r>
            <a:r>
              <a:rPr lang="en-US" dirty="0"/>
              <a:t>: Changes over time, as we learn.</a:t>
            </a:r>
          </a:p>
          <a:p>
            <a:r>
              <a:rPr lang="en-US" b="1" dirty="0"/>
              <a:t>Environmental</a:t>
            </a:r>
            <a:r>
              <a:rPr lang="en-US" dirty="0"/>
              <a:t>: Relevant and unique to a particular user's environment.</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4191000"/>
            <a:ext cx="8706118"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947596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 Microsoft DREAD</a:t>
            </a:r>
          </a:p>
        </p:txBody>
      </p:sp>
      <p:graphicFrame>
        <p:nvGraphicFramePr>
          <p:cNvPr id="4" name="Content Placeholder 3"/>
          <p:cNvGraphicFramePr>
            <a:graphicFrameLocks noGrp="1"/>
          </p:cNvGraphicFramePr>
          <p:nvPr>
            <p:ph idx="1"/>
          </p:nvPr>
        </p:nvGraphicFramePr>
        <p:xfrm>
          <a:off x="609600" y="1371600"/>
          <a:ext cx="10972799" cy="4076700"/>
        </p:xfrm>
        <a:graphic>
          <a:graphicData uri="http://schemas.openxmlformats.org/drawingml/2006/table">
            <a:tbl>
              <a:tblPr firstRow="1" bandRow="1">
                <a:tableStyleId>{5C22544A-7EE6-4342-B048-85BDC9FD1C3A}</a:tableStyleId>
              </a:tblPr>
              <a:tblGrid>
                <a:gridCol w="904973">
                  <a:extLst>
                    <a:ext uri="{9D8B030D-6E8A-4147-A177-3AD203B41FA5}">
                      <a16:colId xmlns:a16="http://schemas.microsoft.com/office/drawing/2014/main" val="1718374438"/>
                    </a:ext>
                  </a:extLst>
                </a:gridCol>
                <a:gridCol w="1470581">
                  <a:extLst>
                    <a:ext uri="{9D8B030D-6E8A-4147-A177-3AD203B41FA5}">
                      <a16:colId xmlns:a16="http://schemas.microsoft.com/office/drawing/2014/main" val="922524012"/>
                    </a:ext>
                  </a:extLst>
                </a:gridCol>
                <a:gridCol w="2907645">
                  <a:extLst>
                    <a:ext uri="{9D8B030D-6E8A-4147-A177-3AD203B41FA5}">
                      <a16:colId xmlns:a16="http://schemas.microsoft.com/office/drawing/2014/main" val="3478647813"/>
                    </a:ext>
                  </a:extLst>
                </a:gridCol>
                <a:gridCol w="2861559">
                  <a:extLst>
                    <a:ext uri="{9D8B030D-6E8A-4147-A177-3AD203B41FA5}">
                      <a16:colId xmlns:a16="http://schemas.microsoft.com/office/drawing/2014/main" val="2090149520"/>
                    </a:ext>
                  </a:extLst>
                </a:gridCol>
                <a:gridCol w="2828041">
                  <a:extLst>
                    <a:ext uri="{9D8B030D-6E8A-4147-A177-3AD203B41FA5}">
                      <a16:colId xmlns:a16="http://schemas.microsoft.com/office/drawing/2014/main" val="3321847878"/>
                    </a:ext>
                  </a:extLst>
                </a:gridCol>
              </a:tblGrid>
              <a:tr h="381000">
                <a:tc>
                  <a:txBody>
                    <a:bodyPr/>
                    <a:lstStyle/>
                    <a:p>
                      <a:pPr algn="ctr"/>
                      <a:br>
                        <a:rPr lang="en-US" sz="600">
                          <a:solidFill>
                            <a:schemeClr val="bg1"/>
                          </a:solidFill>
                          <a:effectLst/>
                        </a:rPr>
                      </a:br>
                      <a:endParaRPr lang="en-US" sz="600">
                        <a:solidFill>
                          <a:schemeClr val="bg1"/>
                        </a:solidFill>
                        <a:effectLst/>
                      </a:endParaRPr>
                    </a:p>
                  </a:txBody>
                  <a:tcPr marL="101600" marR="101600" marT="95250" marB="95250" anchor="ctr"/>
                </a:tc>
                <a:tc>
                  <a:txBody>
                    <a:bodyPr/>
                    <a:lstStyle/>
                    <a:p>
                      <a:pPr algn="ctr"/>
                      <a:endParaRPr lang="en-US" sz="1200">
                        <a:solidFill>
                          <a:schemeClr val="bg1"/>
                        </a:solidFill>
                        <a:effectLst/>
                      </a:endParaRPr>
                    </a:p>
                  </a:txBody>
                  <a:tcPr marL="101600" marR="101600" marT="95250" marB="95250" anchor="ctr"/>
                </a:tc>
                <a:tc>
                  <a:txBody>
                    <a:bodyPr/>
                    <a:lstStyle/>
                    <a:p>
                      <a:pPr algn="ctr"/>
                      <a:r>
                        <a:rPr lang="en-US" sz="1200">
                          <a:solidFill>
                            <a:schemeClr val="bg1"/>
                          </a:solidFill>
                          <a:effectLst/>
                        </a:rPr>
                        <a:t>High (3)</a:t>
                      </a:r>
                    </a:p>
                  </a:txBody>
                  <a:tcPr marL="101600" marR="101600" marT="95250" marB="95250" anchor="ctr"/>
                </a:tc>
                <a:tc>
                  <a:txBody>
                    <a:bodyPr/>
                    <a:lstStyle/>
                    <a:p>
                      <a:pPr algn="ctr"/>
                      <a:r>
                        <a:rPr lang="en-US" sz="1200">
                          <a:solidFill>
                            <a:schemeClr val="bg1"/>
                          </a:solidFill>
                          <a:effectLst/>
                        </a:rPr>
                        <a:t>Medium</a:t>
                      </a:r>
                      <a:r>
                        <a:rPr lang="en-US" sz="1200" baseline="0">
                          <a:solidFill>
                            <a:schemeClr val="bg1"/>
                          </a:solidFill>
                          <a:effectLst/>
                        </a:rPr>
                        <a:t> (2)</a:t>
                      </a:r>
                      <a:endParaRPr lang="en-US" sz="1200">
                        <a:solidFill>
                          <a:schemeClr val="bg1"/>
                        </a:solidFill>
                        <a:effectLst/>
                      </a:endParaRPr>
                    </a:p>
                  </a:txBody>
                  <a:tcPr marL="101600" marR="101600" marT="95250" marB="95250" anchor="ctr"/>
                </a:tc>
                <a:tc>
                  <a:txBody>
                    <a:bodyPr/>
                    <a:lstStyle/>
                    <a:p>
                      <a:pPr algn="ctr"/>
                      <a:r>
                        <a:rPr lang="en-US" sz="1200">
                          <a:solidFill>
                            <a:schemeClr val="bg1"/>
                          </a:solidFill>
                        </a:rPr>
                        <a:t>Low (1)</a:t>
                      </a:r>
                    </a:p>
                  </a:txBody>
                  <a:tcPr marL="121920" marR="121920" anchor="ctr"/>
                </a:tc>
                <a:extLst>
                  <a:ext uri="{0D108BD9-81ED-4DB2-BD59-A6C34878D82A}">
                    <a16:rowId xmlns:a16="http://schemas.microsoft.com/office/drawing/2014/main" val="118004590"/>
                  </a:ext>
                </a:extLst>
              </a:tr>
              <a:tr h="370840">
                <a:tc>
                  <a:txBody>
                    <a:bodyPr/>
                    <a:lstStyle/>
                    <a:p>
                      <a:pPr algn="ctr" fontAlgn="t"/>
                      <a:r>
                        <a:rPr lang="en-US" sz="1800">
                          <a:solidFill>
                            <a:srgbClr val="2A2A2A"/>
                          </a:solidFill>
                          <a:effectLst/>
                        </a:rPr>
                        <a:t>D</a:t>
                      </a:r>
                    </a:p>
                  </a:txBody>
                  <a:tcPr marL="101600" marR="101600" marT="95250" marB="95250" anchor="ctr"/>
                </a:tc>
                <a:tc>
                  <a:txBody>
                    <a:bodyPr/>
                    <a:lstStyle/>
                    <a:p>
                      <a:pPr fontAlgn="t"/>
                      <a:r>
                        <a:rPr lang="en-US" sz="1200">
                          <a:solidFill>
                            <a:srgbClr val="2A2A2A"/>
                          </a:solidFill>
                          <a:effectLst/>
                        </a:rPr>
                        <a:t>Damage potential</a:t>
                      </a:r>
                    </a:p>
                  </a:txBody>
                  <a:tcPr marL="101600" marR="101600" marT="95250" marB="95250" anchor="ctr"/>
                </a:tc>
                <a:tc>
                  <a:txBody>
                    <a:bodyPr/>
                    <a:lstStyle/>
                    <a:p>
                      <a:pPr fontAlgn="t"/>
                      <a:r>
                        <a:rPr lang="en-GB" sz="1200">
                          <a:solidFill>
                            <a:srgbClr val="2A2A2A"/>
                          </a:solidFill>
                          <a:effectLst/>
                        </a:rPr>
                        <a:t>The attacker can subvert the security system; get full trust authorization; run as administrator; upload content.</a:t>
                      </a:r>
                    </a:p>
                  </a:txBody>
                  <a:tcPr marL="101600" marR="101600" marT="95250" marB="95250"/>
                </a:tc>
                <a:tc>
                  <a:txBody>
                    <a:bodyPr/>
                    <a:lstStyle/>
                    <a:p>
                      <a:pPr fontAlgn="t"/>
                      <a:r>
                        <a:rPr lang="en-US" sz="1200">
                          <a:solidFill>
                            <a:srgbClr val="2A2A2A"/>
                          </a:solidFill>
                          <a:effectLst/>
                        </a:rPr>
                        <a:t>Leaking sensitive information</a:t>
                      </a:r>
                    </a:p>
                  </a:txBody>
                  <a:tcPr marL="101600" marR="101600" marT="95250" marB="95250"/>
                </a:tc>
                <a:tc>
                  <a:txBody>
                    <a:bodyPr/>
                    <a:lstStyle/>
                    <a:p>
                      <a:pPr fontAlgn="t"/>
                      <a:r>
                        <a:rPr lang="en-US" sz="1200">
                          <a:solidFill>
                            <a:srgbClr val="2A2A2A"/>
                          </a:solidFill>
                          <a:effectLst/>
                        </a:rPr>
                        <a:t>Leaking trivial information</a:t>
                      </a:r>
                    </a:p>
                  </a:txBody>
                  <a:tcPr marL="101600" marR="101600" marT="95250" marB="95250"/>
                </a:tc>
                <a:extLst>
                  <a:ext uri="{0D108BD9-81ED-4DB2-BD59-A6C34878D82A}">
                    <a16:rowId xmlns:a16="http://schemas.microsoft.com/office/drawing/2014/main" val="263747015"/>
                  </a:ext>
                </a:extLst>
              </a:tr>
              <a:tr h="370840">
                <a:tc>
                  <a:txBody>
                    <a:bodyPr/>
                    <a:lstStyle/>
                    <a:p>
                      <a:pPr algn="ctr" fontAlgn="t"/>
                      <a:r>
                        <a:rPr lang="en-US" sz="1800">
                          <a:solidFill>
                            <a:srgbClr val="2A2A2A"/>
                          </a:solidFill>
                          <a:effectLst/>
                        </a:rPr>
                        <a:t>R</a:t>
                      </a:r>
                    </a:p>
                  </a:txBody>
                  <a:tcPr marL="101600" marR="101600" marT="95250" marB="95250" anchor="ctr"/>
                </a:tc>
                <a:tc>
                  <a:txBody>
                    <a:bodyPr/>
                    <a:lstStyle/>
                    <a:p>
                      <a:pPr fontAlgn="t"/>
                      <a:r>
                        <a:rPr lang="en-US" sz="1200">
                          <a:solidFill>
                            <a:srgbClr val="2A2A2A"/>
                          </a:solidFill>
                          <a:effectLst/>
                        </a:rPr>
                        <a:t>Reproducibility</a:t>
                      </a:r>
                    </a:p>
                  </a:txBody>
                  <a:tcPr marL="101600" marR="101600" marT="95250" marB="95250" anchor="ctr"/>
                </a:tc>
                <a:tc>
                  <a:txBody>
                    <a:bodyPr/>
                    <a:lstStyle/>
                    <a:p>
                      <a:pPr fontAlgn="t"/>
                      <a:r>
                        <a:rPr lang="en-GB" sz="1200">
                          <a:solidFill>
                            <a:srgbClr val="2A2A2A"/>
                          </a:solidFill>
                          <a:effectLst/>
                        </a:rPr>
                        <a:t>The attack can be reproduced every time and does not require a timing window.</a:t>
                      </a:r>
                    </a:p>
                  </a:txBody>
                  <a:tcPr marL="101600" marR="101600" marT="95250" marB="95250"/>
                </a:tc>
                <a:tc>
                  <a:txBody>
                    <a:bodyPr/>
                    <a:lstStyle/>
                    <a:p>
                      <a:pPr fontAlgn="t"/>
                      <a:r>
                        <a:rPr lang="en-GB" sz="1200">
                          <a:solidFill>
                            <a:srgbClr val="2A2A2A"/>
                          </a:solidFill>
                          <a:effectLst/>
                        </a:rPr>
                        <a:t>The attack can be reproduced, but only with a timing window and a particular race situation.</a:t>
                      </a:r>
                    </a:p>
                  </a:txBody>
                  <a:tcPr marL="101600" marR="101600" marT="95250" marB="95250"/>
                </a:tc>
                <a:tc>
                  <a:txBody>
                    <a:bodyPr/>
                    <a:lstStyle/>
                    <a:p>
                      <a:pPr fontAlgn="t"/>
                      <a:r>
                        <a:rPr lang="en-GB" sz="1200">
                          <a:solidFill>
                            <a:srgbClr val="2A2A2A"/>
                          </a:solidFill>
                          <a:effectLst/>
                        </a:rPr>
                        <a:t>The attack is very difficult to reproduce, even with knowledge of the security hole.</a:t>
                      </a:r>
                    </a:p>
                  </a:txBody>
                  <a:tcPr marL="101600" marR="101600" marT="95250" marB="95250"/>
                </a:tc>
                <a:extLst>
                  <a:ext uri="{0D108BD9-81ED-4DB2-BD59-A6C34878D82A}">
                    <a16:rowId xmlns:a16="http://schemas.microsoft.com/office/drawing/2014/main" val="997643619"/>
                  </a:ext>
                </a:extLst>
              </a:tr>
              <a:tr h="370840">
                <a:tc>
                  <a:txBody>
                    <a:bodyPr/>
                    <a:lstStyle/>
                    <a:p>
                      <a:pPr algn="ctr" fontAlgn="t"/>
                      <a:r>
                        <a:rPr lang="en-US" sz="1800">
                          <a:solidFill>
                            <a:srgbClr val="2A2A2A"/>
                          </a:solidFill>
                          <a:effectLst/>
                        </a:rPr>
                        <a:t>E</a:t>
                      </a:r>
                    </a:p>
                  </a:txBody>
                  <a:tcPr marL="101600" marR="101600" marT="95250" marB="95250" anchor="ctr"/>
                </a:tc>
                <a:tc>
                  <a:txBody>
                    <a:bodyPr/>
                    <a:lstStyle/>
                    <a:p>
                      <a:pPr fontAlgn="t"/>
                      <a:r>
                        <a:rPr lang="en-US" sz="1200">
                          <a:solidFill>
                            <a:srgbClr val="2A2A2A"/>
                          </a:solidFill>
                          <a:effectLst/>
                        </a:rPr>
                        <a:t>Exploitability</a:t>
                      </a:r>
                    </a:p>
                  </a:txBody>
                  <a:tcPr marL="101600" marR="101600" marT="95250" marB="95250" anchor="ctr"/>
                </a:tc>
                <a:tc>
                  <a:txBody>
                    <a:bodyPr/>
                    <a:lstStyle/>
                    <a:p>
                      <a:pPr fontAlgn="t"/>
                      <a:r>
                        <a:rPr lang="en-GB" sz="1200">
                          <a:solidFill>
                            <a:srgbClr val="2A2A2A"/>
                          </a:solidFill>
                          <a:effectLst/>
                        </a:rPr>
                        <a:t>A novice programmer could make the attack in a short time.</a:t>
                      </a:r>
                    </a:p>
                  </a:txBody>
                  <a:tcPr marL="101600" marR="101600" marT="95250" marB="95250"/>
                </a:tc>
                <a:tc>
                  <a:txBody>
                    <a:bodyPr/>
                    <a:lstStyle/>
                    <a:p>
                      <a:pPr fontAlgn="t"/>
                      <a:r>
                        <a:rPr lang="en-GB" sz="1200">
                          <a:solidFill>
                            <a:srgbClr val="2A2A2A"/>
                          </a:solidFill>
                          <a:effectLst/>
                        </a:rPr>
                        <a:t>A skilled programmer could make the attack, then repeat the steps.</a:t>
                      </a:r>
                    </a:p>
                  </a:txBody>
                  <a:tcPr marL="101600" marR="101600" marT="95250" marB="95250"/>
                </a:tc>
                <a:tc>
                  <a:txBody>
                    <a:bodyPr/>
                    <a:lstStyle/>
                    <a:p>
                      <a:pPr fontAlgn="t"/>
                      <a:r>
                        <a:rPr lang="en-GB" sz="1200">
                          <a:solidFill>
                            <a:srgbClr val="2A2A2A"/>
                          </a:solidFill>
                          <a:effectLst/>
                        </a:rPr>
                        <a:t>The attack requires an extremely skilled person and in-depth knowledge every time to exploit.</a:t>
                      </a:r>
                    </a:p>
                  </a:txBody>
                  <a:tcPr marL="101600" marR="101600" marT="95250" marB="95250"/>
                </a:tc>
                <a:extLst>
                  <a:ext uri="{0D108BD9-81ED-4DB2-BD59-A6C34878D82A}">
                    <a16:rowId xmlns:a16="http://schemas.microsoft.com/office/drawing/2014/main" val="3723739381"/>
                  </a:ext>
                </a:extLst>
              </a:tr>
              <a:tr h="370840">
                <a:tc>
                  <a:txBody>
                    <a:bodyPr/>
                    <a:lstStyle/>
                    <a:p>
                      <a:pPr algn="ctr" fontAlgn="t"/>
                      <a:r>
                        <a:rPr lang="en-US" sz="1800">
                          <a:solidFill>
                            <a:srgbClr val="2A2A2A"/>
                          </a:solidFill>
                          <a:effectLst/>
                        </a:rPr>
                        <a:t>A</a:t>
                      </a:r>
                    </a:p>
                  </a:txBody>
                  <a:tcPr marL="101600" marR="101600" marT="95250" marB="95250" anchor="ctr"/>
                </a:tc>
                <a:tc>
                  <a:txBody>
                    <a:bodyPr/>
                    <a:lstStyle/>
                    <a:p>
                      <a:pPr fontAlgn="t"/>
                      <a:r>
                        <a:rPr lang="en-US" sz="1200">
                          <a:solidFill>
                            <a:srgbClr val="2A2A2A"/>
                          </a:solidFill>
                          <a:effectLst/>
                        </a:rPr>
                        <a:t>Affected users</a:t>
                      </a:r>
                    </a:p>
                  </a:txBody>
                  <a:tcPr marL="101600" marR="101600" marT="95250" marB="95250" anchor="ctr"/>
                </a:tc>
                <a:tc>
                  <a:txBody>
                    <a:bodyPr/>
                    <a:lstStyle/>
                    <a:p>
                      <a:pPr fontAlgn="t"/>
                      <a:r>
                        <a:rPr lang="en-GB" sz="1200">
                          <a:solidFill>
                            <a:srgbClr val="2A2A2A"/>
                          </a:solidFill>
                          <a:effectLst/>
                        </a:rPr>
                        <a:t>All users, default configuration, key customers</a:t>
                      </a:r>
                    </a:p>
                  </a:txBody>
                  <a:tcPr marL="101600" marR="101600" marT="95250" marB="95250"/>
                </a:tc>
                <a:tc>
                  <a:txBody>
                    <a:bodyPr/>
                    <a:lstStyle/>
                    <a:p>
                      <a:pPr fontAlgn="t"/>
                      <a:r>
                        <a:rPr lang="en-US" sz="1200">
                          <a:solidFill>
                            <a:srgbClr val="2A2A2A"/>
                          </a:solidFill>
                          <a:effectLst/>
                        </a:rPr>
                        <a:t>Some users, non-default configuration</a:t>
                      </a:r>
                    </a:p>
                  </a:txBody>
                  <a:tcPr marL="101600" marR="101600" marT="95250" marB="95250"/>
                </a:tc>
                <a:tc>
                  <a:txBody>
                    <a:bodyPr/>
                    <a:lstStyle/>
                    <a:p>
                      <a:pPr fontAlgn="t"/>
                      <a:r>
                        <a:rPr lang="en-GB" sz="1200">
                          <a:solidFill>
                            <a:srgbClr val="2A2A2A"/>
                          </a:solidFill>
                          <a:effectLst/>
                        </a:rPr>
                        <a:t>Very small percentage of users, obscure feature; affects anonymous users</a:t>
                      </a:r>
                    </a:p>
                  </a:txBody>
                  <a:tcPr marL="101600" marR="101600" marT="95250" marB="95250"/>
                </a:tc>
                <a:extLst>
                  <a:ext uri="{0D108BD9-81ED-4DB2-BD59-A6C34878D82A}">
                    <a16:rowId xmlns:a16="http://schemas.microsoft.com/office/drawing/2014/main" val="2514228333"/>
                  </a:ext>
                </a:extLst>
              </a:tr>
              <a:tr h="370840">
                <a:tc>
                  <a:txBody>
                    <a:bodyPr/>
                    <a:lstStyle/>
                    <a:p>
                      <a:pPr algn="ctr" fontAlgn="t"/>
                      <a:r>
                        <a:rPr lang="en-US" sz="1800">
                          <a:solidFill>
                            <a:srgbClr val="2A2A2A"/>
                          </a:solidFill>
                          <a:effectLst/>
                        </a:rPr>
                        <a:t>D</a:t>
                      </a:r>
                    </a:p>
                  </a:txBody>
                  <a:tcPr marL="101600" marR="101600" marT="95250" marB="95250" anchor="ctr"/>
                </a:tc>
                <a:tc>
                  <a:txBody>
                    <a:bodyPr/>
                    <a:lstStyle/>
                    <a:p>
                      <a:pPr fontAlgn="t"/>
                      <a:r>
                        <a:rPr lang="en-US" sz="1200">
                          <a:solidFill>
                            <a:srgbClr val="2A2A2A"/>
                          </a:solidFill>
                          <a:effectLst/>
                        </a:rPr>
                        <a:t>Discoverability</a:t>
                      </a:r>
                    </a:p>
                  </a:txBody>
                  <a:tcPr marL="101600" marR="101600" marT="95250" marB="95250" anchor="ctr"/>
                </a:tc>
                <a:tc>
                  <a:txBody>
                    <a:bodyPr/>
                    <a:lstStyle/>
                    <a:p>
                      <a:pPr fontAlgn="t"/>
                      <a:r>
                        <a:rPr lang="en-GB" sz="1200">
                          <a:solidFill>
                            <a:srgbClr val="2A2A2A"/>
                          </a:solidFill>
                          <a:effectLst/>
                        </a:rPr>
                        <a:t>Published information explains the attack. The vulnerability is found in the most commonly used feature and is very noticeable.</a:t>
                      </a:r>
                    </a:p>
                  </a:txBody>
                  <a:tcPr marL="101600" marR="101600" marT="95250" marB="95250"/>
                </a:tc>
                <a:tc>
                  <a:txBody>
                    <a:bodyPr/>
                    <a:lstStyle/>
                    <a:p>
                      <a:pPr fontAlgn="t"/>
                      <a:r>
                        <a:rPr lang="en-GB" sz="1200">
                          <a:solidFill>
                            <a:srgbClr val="2A2A2A"/>
                          </a:solidFill>
                          <a:effectLst/>
                        </a:rPr>
                        <a:t>The vulnerability is in a seldom-used part of the product, and only a few users should come across it. It would take some thinking to see malicious use.</a:t>
                      </a:r>
                    </a:p>
                  </a:txBody>
                  <a:tcPr marL="101600" marR="101600" marT="95250" marB="95250"/>
                </a:tc>
                <a:tc>
                  <a:txBody>
                    <a:bodyPr/>
                    <a:lstStyle/>
                    <a:p>
                      <a:pPr fontAlgn="t"/>
                      <a:r>
                        <a:rPr lang="en-GB" sz="1200">
                          <a:solidFill>
                            <a:srgbClr val="2A2A2A"/>
                          </a:solidFill>
                          <a:effectLst/>
                        </a:rPr>
                        <a:t>The bug is obscure, and it is unlikely that users will work out damage potential.</a:t>
                      </a:r>
                    </a:p>
                  </a:txBody>
                  <a:tcPr marL="101600" marR="101600" marT="95250" marB="95250"/>
                </a:tc>
                <a:extLst>
                  <a:ext uri="{0D108BD9-81ED-4DB2-BD59-A6C34878D82A}">
                    <a16:rowId xmlns:a16="http://schemas.microsoft.com/office/drawing/2014/main" val="4172921667"/>
                  </a:ext>
                </a:extLst>
              </a:tr>
            </a:tbl>
          </a:graphicData>
        </a:graphic>
      </p:graphicFrame>
    </p:spTree>
    <p:extLst>
      <p:ext uri="{BB962C8B-B14F-4D97-AF65-F5344CB8AC3E}">
        <p14:creationId xmlns:p14="http://schemas.microsoft.com/office/powerpoint/2010/main" val="37673141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Trusted Code Base (TCB) Size Matters</a:t>
            </a:r>
          </a:p>
        </p:txBody>
      </p:sp>
      <p:sp>
        <p:nvSpPr>
          <p:cNvPr id="3" name="Content Placeholder 2"/>
          <p:cNvSpPr>
            <a:spLocks noGrp="1"/>
          </p:cNvSpPr>
          <p:nvPr>
            <p:ph idx="1"/>
          </p:nvPr>
        </p:nvSpPr>
        <p:spPr/>
        <p:txBody>
          <a:bodyPr>
            <a:normAutofit fontScale="92500" lnSpcReduction="20000"/>
          </a:bodyPr>
          <a:lstStyle/>
          <a:p>
            <a:r>
              <a:rPr lang="en-US" dirty="0"/>
              <a:t>In an operating system the TCB includes the kernel and typically many system utilities and services, for example setuid and daemons.</a:t>
            </a:r>
          </a:p>
          <a:p>
            <a:r>
              <a:rPr lang="en-US" dirty="0"/>
              <a:t>The TCB can also extend to runtimes and shared libraries if they contain security features. </a:t>
            </a:r>
          </a:p>
          <a:p>
            <a:r>
              <a:rPr lang="en-US" dirty="0"/>
              <a:t>The boundary of the TCB defines the target of evaluation (TOE) in the [Common Criteria] security process.</a:t>
            </a:r>
          </a:p>
          <a:p>
            <a:r>
              <a:rPr lang="en-US" dirty="0"/>
              <a:t>Operating Systems are unreliable because their TCB is very large, hundreds of shared libraries and device drivers representing millions of lines of codes all running in kernel space with the ability to overwrite key data structures.  </a:t>
            </a:r>
          </a:p>
        </p:txBody>
      </p:sp>
    </p:spTree>
    <p:extLst>
      <p:ext uri="{BB962C8B-B14F-4D97-AF65-F5344CB8AC3E}">
        <p14:creationId xmlns:p14="http://schemas.microsoft.com/office/powerpoint/2010/main" val="23710680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Preventing the root cause</a:t>
            </a:r>
          </a:p>
        </p:txBody>
      </p:sp>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2095500" y="934278"/>
            <a:ext cx="8001000" cy="5562600"/>
          </a:xfrm>
          <a:prstGeom prst="rect">
            <a:avLst/>
          </a:prstGeom>
        </p:spPr>
      </p:pic>
    </p:spTree>
    <p:extLst>
      <p:ext uri="{BB962C8B-B14F-4D97-AF65-F5344CB8AC3E}">
        <p14:creationId xmlns:p14="http://schemas.microsoft.com/office/powerpoint/2010/main" val="35755058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4B74F-417D-48E1-8782-8E86C23643B1}"/>
              </a:ext>
            </a:extLst>
          </p:cNvPr>
          <p:cNvSpPr>
            <a:spLocks noGrp="1"/>
          </p:cNvSpPr>
          <p:nvPr>
            <p:ph type="title"/>
          </p:nvPr>
        </p:nvSpPr>
        <p:spPr/>
        <p:txBody>
          <a:bodyPr/>
          <a:lstStyle/>
          <a:p>
            <a:r>
              <a:rPr lang="en-US" dirty="0"/>
              <a:t>Verizon DBIR : Compromise timing</a:t>
            </a:r>
          </a:p>
        </p:txBody>
      </p:sp>
      <p:pic>
        <p:nvPicPr>
          <p:cNvPr id="5" name="Content Placeholder 4">
            <a:extLst>
              <a:ext uri="{FF2B5EF4-FFF2-40B4-BE49-F238E27FC236}">
                <a16:creationId xmlns:a16="http://schemas.microsoft.com/office/drawing/2014/main" id="{2B58E91F-7D88-416F-BA9C-ADE48AAD4BF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2000" y="1676400"/>
            <a:ext cx="10575600" cy="3874010"/>
          </a:xfrm>
        </p:spPr>
      </p:pic>
    </p:spTree>
    <p:extLst>
      <p:ext uri="{BB962C8B-B14F-4D97-AF65-F5344CB8AC3E}">
        <p14:creationId xmlns:p14="http://schemas.microsoft.com/office/powerpoint/2010/main" val="30608623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CE6A4-D7E4-47DA-BD83-54C208CA7D00}"/>
              </a:ext>
            </a:extLst>
          </p:cNvPr>
          <p:cNvSpPr>
            <a:spLocks noGrp="1"/>
          </p:cNvSpPr>
          <p:nvPr>
            <p:ph type="title"/>
          </p:nvPr>
        </p:nvSpPr>
        <p:spPr/>
        <p:txBody>
          <a:bodyPr/>
          <a:lstStyle/>
          <a:p>
            <a:r>
              <a:rPr lang="en-US" dirty="0"/>
              <a:t>Verizon DBIR</a:t>
            </a:r>
          </a:p>
        </p:txBody>
      </p:sp>
      <p:pic>
        <p:nvPicPr>
          <p:cNvPr id="6" name="Content Placeholder 5">
            <a:extLst>
              <a:ext uri="{FF2B5EF4-FFF2-40B4-BE49-F238E27FC236}">
                <a16:creationId xmlns:a16="http://schemas.microsoft.com/office/drawing/2014/main" id="{67F41036-67CF-4A86-B031-A713B5A34E5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29400" y="1068074"/>
            <a:ext cx="3505200" cy="5527430"/>
          </a:xfrm>
        </p:spPr>
      </p:pic>
      <p:pic>
        <p:nvPicPr>
          <p:cNvPr id="4" name="Picture 3">
            <a:extLst>
              <a:ext uri="{FF2B5EF4-FFF2-40B4-BE49-F238E27FC236}">
                <a16:creationId xmlns:a16="http://schemas.microsoft.com/office/drawing/2014/main" id="{A6868914-4FA8-4D33-ACF0-A6EC403329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3904" y="1068074"/>
            <a:ext cx="3707296" cy="5515288"/>
          </a:xfrm>
          <a:prstGeom prst="rect">
            <a:avLst/>
          </a:prstGeom>
        </p:spPr>
      </p:pic>
    </p:spTree>
    <p:extLst>
      <p:ext uri="{BB962C8B-B14F-4D97-AF65-F5344CB8AC3E}">
        <p14:creationId xmlns:p14="http://schemas.microsoft.com/office/powerpoint/2010/main" val="2770323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CE6A4-D7E4-47DA-BD83-54C208CA7D00}"/>
              </a:ext>
            </a:extLst>
          </p:cNvPr>
          <p:cNvSpPr>
            <a:spLocks noGrp="1"/>
          </p:cNvSpPr>
          <p:nvPr>
            <p:ph type="title"/>
          </p:nvPr>
        </p:nvSpPr>
        <p:spPr/>
        <p:txBody>
          <a:bodyPr/>
          <a:lstStyle/>
          <a:p>
            <a:r>
              <a:rPr lang="en-US" dirty="0"/>
              <a:t>Verizon DBIR</a:t>
            </a:r>
          </a:p>
        </p:txBody>
      </p:sp>
      <p:pic>
        <p:nvPicPr>
          <p:cNvPr id="8" name="Content Placeholder 7">
            <a:extLst>
              <a:ext uri="{FF2B5EF4-FFF2-40B4-BE49-F238E27FC236}">
                <a16:creationId xmlns:a16="http://schemas.microsoft.com/office/drawing/2014/main" id="{2B372C85-DF9F-4EF8-9E8D-433E8F1B718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52497" y="914400"/>
            <a:ext cx="10487003" cy="5668962"/>
          </a:xfrm>
        </p:spPr>
      </p:pic>
    </p:spTree>
    <p:extLst>
      <p:ext uri="{BB962C8B-B14F-4D97-AF65-F5344CB8AC3E}">
        <p14:creationId xmlns:p14="http://schemas.microsoft.com/office/powerpoint/2010/main" val="26837887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creen Clipping"/>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971800" y="91777"/>
            <a:ext cx="6324600" cy="6660141"/>
          </a:xfrm>
        </p:spPr>
      </p:pic>
    </p:spTree>
    <p:extLst>
      <p:ext uri="{BB962C8B-B14F-4D97-AF65-F5344CB8AC3E}">
        <p14:creationId xmlns:p14="http://schemas.microsoft.com/office/powerpoint/2010/main" val="37879373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62200" y="228600"/>
            <a:ext cx="7772400" cy="6361374"/>
          </a:xfrm>
        </p:spPr>
      </p:pic>
    </p:spTree>
    <p:extLst>
      <p:ext uri="{BB962C8B-B14F-4D97-AF65-F5344CB8AC3E}">
        <p14:creationId xmlns:p14="http://schemas.microsoft.com/office/powerpoint/2010/main" val="12921643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90800" y="75412"/>
            <a:ext cx="7086600" cy="6782589"/>
          </a:xfrm>
        </p:spPr>
      </p:pic>
    </p:spTree>
    <p:extLst>
      <p:ext uri="{BB962C8B-B14F-4D97-AF65-F5344CB8AC3E}">
        <p14:creationId xmlns:p14="http://schemas.microsoft.com/office/powerpoint/2010/main" val="2877587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93A16-0621-4FA6-A7B1-01508E8DC3B4}"/>
              </a:ext>
            </a:extLst>
          </p:cNvPr>
          <p:cNvSpPr>
            <a:spLocks noGrp="1"/>
          </p:cNvSpPr>
          <p:nvPr>
            <p:ph type="title"/>
          </p:nvPr>
        </p:nvSpPr>
        <p:spPr/>
        <p:txBody>
          <a:bodyPr/>
          <a:lstStyle/>
          <a:p>
            <a:r>
              <a:rPr lang="en-US" dirty="0"/>
              <a:t>PCI – Protecting data</a:t>
            </a:r>
          </a:p>
        </p:txBody>
      </p:sp>
      <p:pic>
        <p:nvPicPr>
          <p:cNvPr id="1026" name="Picture 2" descr="Azure Solutions Blueprint">
            <a:extLst>
              <a:ext uri="{FF2B5EF4-FFF2-40B4-BE49-F238E27FC236}">
                <a16:creationId xmlns:a16="http://schemas.microsoft.com/office/drawing/2014/main" id="{A5BC294F-6B1F-4ECF-8EBF-FD4906B4189F}"/>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763408" y="1905000"/>
            <a:ext cx="8737239"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1432961"/>
      </p:ext>
    </p:extLst>
  </p:cSld>
  <p:clrMapOvr>
    <a:masterClrMapping/>
  </p:clrMapOvr>
</p:sld>
</file>

<file path=ppt/theme/theme1.xml><?xml version="1.0" encoding="utf-8"?>
<a:theme xmlns:a="http://schemas.openxmlformats.org/drawingml/2006/main" name="IT666">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vert="horz" lIns="91440" tIns="45720" rIns="91440" bIns="45720" rtlCol="0">
        <a:normAutofit/>
      </a:bodyPr>
      <a:lstStyle>
        <a:defPPr>
          <a:defRPr sz="2400" dirty="0" smtClean="0"/>
        </a:defPPr>
      </a:lstStyle>
    </a:txDef>
  </a:objectDefaults>
  <a:extraClrSchemeLst/>
  <a:extLst>
    <a:ext uri="{05A4C25C-085E-4340-85A3-A5531E510DB2}">
      <thm15:themeFamily xmlns:thm15="http://schemas.microsoft.com/office/thememl/2012/main" name="Presentation21" id="{E6424F00-CB15-469C-8ED9-E12AE889829C}" vid="{5DE17743-287A-437B-9EC9-957D32FAF45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D48B0CB13E69F42B54D3DE424488AFE" ma:contentTypeVersion="13" ma:contentTypeDescription="Create a new document." ma:contentTypeScope="" ma:versionID="c580b450af3975084ea9d9a74b1aa1c3">
  <xsd:schema xmlns:xsd="http://www.w3.org/2001/XMLSchema" xmlns:xs="http://www.w3.org/2001/XMLSchema" xmlns:p="http://schemas.microsoft.com/office/2006/metadata/properties" xmlns:ns3="6e27e843-6876-4ec5-817f-dbc394bc1606" xmlns:ns4="1ea98ed5-bdea-415e-9a90-b2f6afa71452" targetNamespace="http://schemas.microsoft.com/office/2006/metadata/properties" ma:root="true" ma:fieldsID="ee979d553edbfea5e3efbc24595909db" ns3:_="" ns4:_="">
    <xsd:import namespace="6e27e843-6876-4ec5-817f-dbc394bc1606"/>
    <xsd:import namespace="1ea98ed5-bdea-415e-9a90-b2f6afa71452"/>
    <xsd:element name="properties">
      <xsd:complexType>
        <xsd:sequence>
          <xsd:element name="documentManagement">
            <xsd:complexType>
              <xsd:all>
                <xsd:element ref="ns3:MediaServiceMetadata" minOccurs="0"/>
                <xsd:element ref="ns3:MediaServiceFastMetadata" minOccurs="0"/>
                <xsd:element ref="ns3:MediaServiceEventHashCode" minOccurs="0"/>
                <xsd:element ref="ns3:MediaServiceGenerationTime" minOccurs="0"/>
                <xsd:element ref="ns4:SharedWithUsers" minOccurs="0"/>
                <xsd:element ref="ns4:SharedWithDetails" minOccurs="0"/>
                <xsd:element ref="ns4:SharingHintHash" minOccurs="0"/>
                <xsd:element ref="ns3:MediaServiceAutoTags" minOccurs="0"/>
                <xsd:element ref="ns3:MediaServiceDateTaken" minOccurs="0"/>
                <xsd:element ref="ns3:MediaServiceLocation" minOccurs="0"/>
                <xsd:element ref="ns3:MediaServiceOCR"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27e843-6876-4ec5-817f-dbc394bc16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ea98ed5-bdea-415e-9a90-b2f6afa714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DB4A837-8F3B-4881-BE2E-1CD30F9388AD}">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AE9EDA2D-2D25-4C9B-B388-2626A106A5DE}">
  <ds:schemaRefs>
    <ds:schemaRef ds:uri="http://schemas.microsoft.com/sharepoint/v3/contenttype/forms"/>
  </ds:schemaRefs>
</ds:datastoreItem>
</file>

<file path=customXml/itemProps3.xml><?xml version="1.0" encoding="utf-8"?>
<ds:datastoreItem xmlns:ds="http://schemas.openxmlformats.org/officeDocument/2006/customXml" ds:itemID="{472F2E2A-6D82-4B29-B9EA-9BB67068FB4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e27e843-6876-4ec5-817f-dbc394bc1606"/>
    <ds:schemaRef ds:uri="1ea98ed5-bdea-415e-9a90-b2f6afa714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UNH-lecture-template</Template>
  <TotalTime>79</TotalTime>
  <Words>1181</Words>
  <Application>Microsoft Office PowerPoint</Application>
  <PresentationFormat>Widescreen</PresentationFormat>
  <Paragraphs>143</Paragraphs>
  <Slides>24</Slides>
  <Notes>10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IT666</vt:lpstr>
      <vt:lpstr>PowerPoint Presentation</vt:lpstr>
      <vt:lpstr>Heartbleed</vt:lpstr>
      <vt:lpstr>Bounds checking</vt:lpstr>
      <vt:lpstr>Flaw fixed in iOS 10.9.2 </vt:lpstr>
      <vt:lpstr>Problem?</vt:lpstr>
      <vt:lpstr>Problem 2?</vt:lpstr>
      <vt:lpstr>Historically Testing is Expensive</vt:lpstr>
      <vt:lpstr>Black-box vs. White-box</vt:lpstr>
      <vt:lpstr>YAGNI Principals</vt:lpstr>
      <vt:lpstr>How Google Tests Software</vt:lpstr>
      <vt:lpstr>Disclosure Increases Attacks</vt:lpstr>
      <vt:lpstr>Handling vulnerabilities</vt:lpstr>
      <vt:lpstr>National Vulnerability Database (NVD) https://nvd.nist.gov/</vt:lpstr>
      <vt:lpstr>Common Vuln. Scoring Sys. (CVSS)</vt:lpstr>
      <vt:lpstr> Microsoft DREAD</vt:lpstr>
      <vt:lpstr>Trusted Code Base (TCB) Size Matters</vt:lpstr>
      <vt:lpstr>Preventing the root cause</vt:lpstr>
      <vt:lpstr>Verizon DBIR : Compromise timing</vt:lpstr>
      <vt:lpstr>Verizon DBIR</vt:lpstr>
      <vt:lpstr>Verizon DBIR</vt:lpstr>
      <vt:lpstr>PowerPoint Presentation</vt:lpstr>
      <vt:lpstr>PowerPoint Presentation</vt:lpstr>
      <vt:lpstr>PowerPoint Presentation</vt:lpstr>
      <vt:lpstr>PCI – Protecting data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Ken Graf</dc:creator>
  <cp:lastModifiedBy>Ken Graf</cp:lastModifiedBy>
  <cp:revision>6</cp:revision>
  <cp:lastPrinted>2015-03-25T21:04:44Z</cp:lastPrinted>
  <dcterms:created xsi:type="dcterms:W3CDTF">2020-01-07T22:06:18Z</dcterms:created>
  <dcterms:modified xsi:type="dcterms:W3CDTF">2020-02-05T21:20:35Z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0x010100BD48B0CB13E69F42B54D3DE424488AFE</vt:lpwstr>
  </property>
</Properties>
</file>